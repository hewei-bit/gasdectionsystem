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sdx" ContentType="application/vnd.ms-visio.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3"/>
    <p:sldMasterId id="2147483650" r:id="rId4"/>
  </p:sldMasterIdLst>
  <p:notesMasterIdLst>
    <p:notesMasterId r:id="rId25"/>
  </p:notesMasterIdLst>
  <p:handoutMasterIdLst>
    <p:handoutMasterId r:id="rId26"/>
  </p:handoutMasterIdLst>
  <p:sldIdLst>
    <p:sldId id="258" r:id="rId5"/>
    <p:sldId id="261" r:id="rId6"/>
    <p:sldId id="2096" r:id="rId7"/>
    <p:sldId id="2108" r:id="rId8"/>
    <p:sldId id="2092" r:id="rId9"/>
    <p:sldId id="2097" r:id="rId10"/>
    <p:sldId id="2106" r:id="rId11"/>
    <p:sldId id="2093" r:id="rId12"/>
    <p:sldId id="2105" r:id="rId13"/>
    <p:sldId id="2098" r:id="rId14"/>
    <p:sldId id="2107" r:id="rId15"/>
    <p:sldId id="2091" r:id="rId16"/>
    <p:sldId id="2104" r:id="rId17"/>
    <p:sldId id="2099" r:id="rId18"/>
    <p:sldId id="2090" r:id="rId19"/>
    <p:sldId id="2102" r:id="rId20"/>
    <p:sldId id="2100" r:id="rId21"/>
    <p:sldId id="2094" r:id="rId22"/>
    <p:sldId id="2101" r:id="rId23"/>
    <p:sldId id="278" r:id="rId24"/>
  </p:sldIdLst>
  <p:sldSz cx="9144000" cy="6858000" type="screen4x3"/>
  <p:notesSz cx="6761163" cy="9931400"/>
  <p:defaultTextStyle>
    <a:defPPr>
      <a:defRPr lang="zh-CN"/>
    </a:defPPr>
    <a:lvl1pPr algn="l" rtl="0" eaLnBrk="0" fontAlgn="base" hangingPunct="0">
      <a:spcBef>
        <a:spcPct val="0"/>
      </a:spcBef>
      <a:spcAft>
        <a:spcPct val="0"/>
      </a:spcAft>
      <a:defRPr sz="2400" b="1" kern="1200">
        <a:solidFill>
          <a:schemeClr val="tx1"/>
        </a:solidFill>
        <a:latin typeface="华文中宋" panose="02010600040101010101" pitchFamily="2" charset="-122"/>
        <a:ea typeface="华文中宋" panose="02010600040101010101" pitchFamily="2" charset="-122"/>
        <a:cs typeface="+mn-cs"/>
      </a:defRPr>
    </a:lvl1pPr>
    <a:lvl2pPr marL="457200" algn="l" rtl="0" eaLnBrk="0" fontAlgn="base" hangingPunct="0">
      <a:spcBef>
        <a:spcPct val="0"/>
      </a:spcBef>
      <a:spcAft>
        <a:spcPct val="0"/>
      </a:spcAft>
      <a:defRPr sz="2400" b="1" kern="1200">
        <a:solidFill>
          <a:schemeClr val="tx1"/>
        </a:solidFill>
        <a:latin typeface="华文中宋" panose="02010600040101010101" pitchFamily="2" charset="-122"/>
        <a:ea typeface="华文中宋" panose="02010600040101010101" pitchFamily="2" charset="-122"/>
        <a:cs typeface="+mn-cs"/>
      </a:defRPr>
    </a:lvl2pPr>
    <a:lvl3pPr marL="914400" algn="l" rtl="0" eaLnBrk="0" fontAlgn="base" hangingPunct="0">
      <a:spcBef>
        <a:spcPct val="0"/>
      </a:spcBef>
      <a:spcAft>
        <a:spcPct val="0"/>
      </a:spcAft>
      <a:defRPr sz="2400" b="1" kern="1200">
        <a:solidFill>
          <a:schemeClr val="tx1"/>
        </a:solidFill>
        <a:latin typeface="华文中宋" panose="02010600040101010101" pitchFamily="2" charset="-122"/>
        <a:ea typeface="华文中宋" panose="02010600040101010101" pitchFamily="2" charset="-122"/>
        <a:cs typeface="+mn-cs"/>
      </a:defRPr>
    </a:lvl3pPr>
    <a:lvl4pPr marL="1371600" algn="l" rtl="0" eaLnBrk="0" fontAlgn="base" hangingPunct="0">
      <a:spcBef>
        <a:spcPct val="0"/>
      </a:spcBef>
      <a:spcAft>
        <a:spcPct val="0"/>
      </a:spcAft>
      <a:defRPr sz="2400" b="1" kern="1200">
        <a:solidFill>
          <a:schemeClr val="tx1"/>
        </a:solidFill>
        <a:latin typeface="华文中宋" panose="02010600040101010101" pitchFamily="2" charset="-122"/>
        <a:ea typeface="华文中宋" panose="02010600040101010101" pitchFamily="2" charset="-122"/>
        <a:cs typeface="+mn-cs"/>
      </a:defRPr>
    </a:lvl4pPr>
    <a:lvl5pPr marL="1828800" algn="l" rtl="0" eaLnBrk="0" fontAlgn="base" hangingPunct="0">
      <a:spcBef>
        <a:spcPct val="0"/>
      </a:spcBef>
      <a:spcAft>
        <a:spcPct val="0"/>
      </a:spcAft>
      <a:defRPr sz="2400" b="1" kern="1200">
        <a:solidFill>
          <a:schemeClr val="tx1"/>
        </a:solidFill>
        <a:latin typeface="华文中宋" panose="02010600040101010101" pitchFamily="2" charset="-122"/>
        <a:ea typeface="华文中宋" panose="02010600040101010101" pitchFamily="2" charset="-122"/>
        <a:cs typeface="+mn-cs"/>
      </a:defRPr>
    </a:lvl5pPr>
    <a:lvl6pPr marL="2286000" algn="l" defTabSz="914400" rtl="0" eaLnBrk="1" latinLnBrk="0" hangingPunct="1">
      <a:defRPr sz="2400" b="1" kern="1200">
        <a:solidFill>
          <a:schemeClr val="tx1"/>
        </a:solidFill>
        <a:latin typeface="华文中宋" panose="02010600040101010101" pitchFamily="2" charset="-122"/>
        <a:ea typeface="华文中宋" panose="02010600040101010101" pitchFamily="2" charset="-122"/>
        <a:cs typeface="+mn-cs"/>
      </a:defRPr>
    </a:lvl6pPr>
    <a:lvl7pPr marL="2743200" algn="l" defTabSz="914400" rtl="0" eaLnBrk="1" latinLnBrk="0" hangingPunct="1">
      <a:defRPr sz="2400" b="1" kern="1200">
        <a:solidFill>
          <a:schemeClr val="tx1"/>
        </a:solidFill>
        <a:latin typeface="华文中宋" panose="02010600040101010101" pitchFamily="2" charset="-122"/>
        <a:ea typeface="华文中宋" panose="02010600040101010101" pitchFamily="2" charset="-122"/>
        <a:cs typeface="+mn-cs"/>
      </a:defRPr>
    </a:lvl7pPr>
    <a:lvl8pPr marL="3200400" algn="l" defTabSz="914400" rtl="0" eaLnBrk="1" latinLnBrk="0" hangingPunct="1">
      <a:defRPr sz="2400" b="1" kern="1200">
        <a:solidFill>
          <a:schemeClr val="tx1"/>
        </a:solidFill>
        <a:latin typeface="华文中宋" panose="02010600040101010101" pitchFamily="2" charset="-122"/>
        <a:ea typeface="华文中宋" panose="02010600040101010101" pitchFamily="2" charset="-122"/>
        <a:cs typeface="+mn-cs"/>
      </a:defRPr>
    </a:lvl8pPr>
    <a:lvl9pPr marL="3657600" algn="l" defTabSz="914400" rtl="0" eaLnBrk="1" latinLnBrk="0" hangingPunct="1">
      <a:defRPr sz="2400" b="1" kern="1200">
        <a:solidFill>
          <a:schemeClr val="tx1"/>
        </a:solidFill>
        <a:latin typeface="华文中宋" panose="02010600040101010101" pitchFamily="2" charset="-122"/>
        <a:ea typeface="华文中宋" panose="02010600040101010101" pitchFamily="2" charset="-122"/>
        <a:cs typeface="+mn-cs"/>
      </a:defRPr>
    </a:lvl9pPr>
  </p:defaultTextStyle>
  <p:extLst>
    <p:ext uri="{EFAFB233-063F-42B5-8137-9DF3F51BA10A}">
      <p15:sldGuideLst xmlns:p15="http://schemas.microsoft.com/office/powerpoint/2012/main">
        <p15:guide id="1" orient="horz" pos="624" userDrawn="1">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 Mingzhi" initials="LM"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9900"/>
    <a:srgbClr val="B6DCDF"/>
    <a:srgbClr val="E6E6E6"/>
    <a:srgbClr val="EA0000"/>
    <a:srgbClr val="3366FF"/>
    <a:srgbClr val="000066"/>
    <a:srgbClr val="006600"/>
    <a:srgbClr val="006666"/>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中度样式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1EBBBCC-DAD2-459C-BE2E-F6DE35CF9A28}" styleName="深色样式 2 - 强调 3/强调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93D81CF-94F2-401A-BA57-92F5A7B2D0C5}" styleName="中度样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E171933-4619-4E11-9A3F-F7608DF75F80}" styleName="中度样式 1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761" autoAdjust="0"/>
    <p:restoredTop sz="80846" autoAdjust="0"/>
  </p:normalViewPr>
  <p:slideViewPr>
    <p:cSldViewPr>
      <p:cViewPr varScale="1">
        <p:scale>
          <a:sx n="92" d="100"/>
          <a:sy n="92" d="100"/>
        </p:scale>
        <p:origin x="1800" y="66"/>
      </p:cViewPr>
      <p:guideLst>
        <p:guide orient="horz" pos="624"/>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742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slideMaster" Target="slideMasters/slideMaster1.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2.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826" name="Rectangle 2"/>
          <p:cNvSpPr>
            <a:spLocks noGrp="1" noChangeArrowheads="1"/>
          </p:cNvSpPr>
          <p:nvPr>
            <p:ph type="hdr" sz="quarter"/>
          </p:nvPr>
        </p:nvSpPr>
        <p:spPr bwMode="auto">
          <a:xfrm>
            <a:off x="0" y="0"/>
            <a:ext cx="2930525"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lnSpc>
                <a:spcPct val="100000"/>
              </a:lnSpc>
              <a:spcBef>
                <a:spcPct val="0"/>
              </a:spcBef>
              <a:defRPr sz="1200" b="0">
                <a:latin typeface="Arial" charset="0"/>
                <a:ea typeface="宋体" pitchFamily="2" charset="-122"/>
              </a:defRPr>
            </a:lvl1pPr>
          </a:lstStyle>
          <a:p>
            <a:pPr>
              <a:defRPr/>
            </a:pPr>
            <a:endParaRPr lang="en-US" altLang="zh-CN"/>
          </a:p>
        </p:txBody>
      </p:sp>
      <p:sp>
        <p:nvSpPr>
          <p:cNvPr id="205827" name="Rectangle 3"/>
          <p:cNvSpPr>
            <a:spLocks noGrp="1" noChangeArrowheads="1"/>
          </p:cNvSpPr>
          <p:nvPr>
            <p:ph type="dt" sz="quarter" idx="1"/>
          </p:nvPr>
        </p:nvSpPr>
        <p:spPr bwMode="auto">
          <a:xfrm>
            <a:off x="3829050" y="0"/>
            <a:ext cx="2930525"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lnSpc>
                <a:spcPct val="100000"/>
              </a:lnSpc>
              <a:spcBef>
                <a:spcPct val="0"/>
              </a:spcBef>
              <a:defRPr sz="1200" b="0">
                <a:latin typeface="Arial" charset="0"/>
                <a:ea typeface="宋体" pitchFamily="2" charset="-122"/>
              </a:defRPr>
            </a:lvl1pPr>
          </a:lstStyle>
          <a:p>
            <a:pPr>
              <a:defRPr/>
            </a:pPr>
            <a:endParaRPr lang="en-US" altLang="zh-CN"/>
          </a:p>
        </p:txBody>
      </p:sp>
      <p:sp>
        <p:nvSpPr>
          <p:cNvPr id="205828" name="Rectangle 4"/>
          <p:cNvSpPr>
            <a:spLocks noGrp="1" noChangeArrowheads="1"/>
          </p:cNvSpPr>
          <p:nvPr>
            <p:ph type="ftr" sz="quarter" idx="2"/>
          </p:nvPr>
        </p:nvSpPr>
        <p:spPr bwMode="auto">
          <a:xfrm>
            <a:off x="0" y="9432925"/>
            <a:ext cx="2930525"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lnSpc>
                <a:spcPct val="100000"/>
              </a:lnSpc>
              <a:spcBef>
                <a:spcPct val="0"/>
              </a:spcBef>
              <a:defRPr sz="1200" b="0">
                <a:latin typeface="Arial" charset="0"/>
                <a:ea typeface="宋体" pitchFamily="2" charset="-122"/>
              </a:defRPr>
            </a:lvl1pPr>
          </a:lstStyle>
          <a:p>
            <a:pPr>
              <a:defRPr/>
            </a:pPr>
            <a:endParaRPr lang="en-US" altLang="zh-CN"/>
          </a:p>
        </p:txBody>
      </p:sp>
      <p:sp>
        <p:nvSpPr>
          <p:cNvPr id="205829" name="Rectangle 5"/>
          <p:cNvSpPr>
            <a:spLocks noGrp="1" noChangeArrowheads="1"/>
          </p:cNvSpPr>
          <p:nvPr>
            <p:ph type="sldNum" sz="quarter" idx="3"/>
          </p:nvPr>
        </p:nvSpPr>
        <p:spPr bwMode="auto">
          <a:xfrm>
            <a:off x="3829050" y="9432925"/>
            <a:ext cx="2930525"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atin typeface="Arial" panose="020B0604020202020204" pitchFamily="34" charset="0"/>
                <a:ea typeface="宋体" panose="02010600030101010101" pitchFamily="2" charset="-122"/>
              </a:defRPr>
            </a:lvl1pPr>
          </a:lstStyle>
          <a:p>
            <a:pPr>
              <a:defRPr/>
            </a:pPr>
            <a:fld id="{42D09D49-A201-44CD-945C-3383099FA051}" type="slidenum">
              <a:rPr lang="en-US" altLang="zh-CN"/>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hdr" sz="quarter"/>
          </p:nvPr>
        </p:nvSpPr>
        <p:spPr bwMode="auto">
          <a:xfrm>
            <a:off x="0" y="0"/>
            <a:ext cx="2930525"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lnSpc>
                <a:spcPct val="100000"/>
              </a:lnSpc>
              <a:spcBef>
                <a:spcPct val="0"/>
              </a:spcBef>
              <a:defRPr sz="1200" b="0">
                <a:latin typeface="Arial" charset="0"/>
                <a:ea typeface="宋体" pitchFamily="2" charset="-122"/>
              </a:defRPr>
            </a:lvl1pPr>
          </a:lstStyle>
          <a:p>
            <a:pPr>
              <a:defRPr/>
            </a:pPr>
            <a:endParaRPr lang="en-US" altLang="zh-CN"/>
          </a:p>
        </p:txBody>
      </p:sp>
      <p:sp>
        <p:nvSpPr>
          <p:cNvPr id="21507" name="Rectangle 3"/>
          <p:cNvSpPr>
            <a:spLocks noGrp="1" noChangeArrowheads="1"/>
          </p:cNvSpPr>
          <p:nvPr>
            <p:ph type="dt" idx="1"/>
          </p:nvPr>
        </p:nvSpPr>
        <p:spPr bwMode="auto">
          <a:xfrm>
            <a:off x="3829050" y="0"/>
            <a:ext cx="2930525"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lnSpc>
                <a:spcPct val="100000"/>
              </a:lnSpc>
              <a:spcBef>
                <a:spcPct val="0"/>
              </a:spcBef>
              <a:defRPr sz="1200" b="0">
                <a:latin typeface="Arial" charset="0"/>
                <a:ea typeface="宋体" pitchFamily="2" charset="-122"/>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898525" y="744538"/>
            <a:ext cx="4965700" cy="37242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9" name="Rectangle 5"/>
          <p:cNvSpPr>
            <a:spLocks noGrp="1" noChangeArrowheads="1"/>
          </p:cNvSpPr>
          <p:nvPr>
            <p:ph type="body" sz="quarter" idx="3"/>
          </p:nvPr>
        </p:nvSpPr>
        <p:spPr bwMode="auto">
          <a:xfrm>
            <a:off x="676275" y="4718050"/>
            <a:ext cx="5408613" cy="44688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1510" name="Rectangle 6"/>
          <p:cNvSpPr>
            <a:spLocks noGrp="1" noChangeArrowheads="1"/>
          </p:cNvSpPr>
          <p:nvPr>
            <p:ph type="ftr" sz="quarter" idx="4"/>
          </p:nvPr>
        </p:nvSpPr>
        <p:spPr bwMode="auto">
          <a:xfrm>
            <a:off x="0" y="9432925"/>
            <a:ext cx="2930525"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lnSpc>
                <a:spcPct val="100000"/>
              </a:lnSpc>
              <a:spcBef>
                <a:spcPct val="0"/>
              </a:spcBef>
              <a:defRPr sz="1200" b="0">
                <a:latin typeface="Arial" charset="0"/>
                <a:ea typeface="宋体" pitchFamily="2" charset="-122"/>
              </a:defRPr>
            </a:lvl1pPr>
          </a:lstStyle>
          <a:p>
            <a:pPr>
              <a:defRPr/>
            </a:pPr>
            <a:endParaRPr lang="en-US" altLang="zh-CN"/>
          </a:p>
        </p:txBody>
      </p:sp>
      <p:sp>
        <p:nvSpPr>
          <p:cNvPr id="21511" name="Rectangle 7"/>
          <p:cNvSpPr>
            <a:spLocks noGrp="1" noChangeArrowheads="1"/>
          </p:cNvSpPr>
          <p:nvPr>
            <p:ph type="sldNum" sz="quarter" idx="5"/>
          </p:nvPr>
        </p:nvSpPr>
        <p:spPr bwMode="auto">
          <a:xfrm>
            <a:off x="3829050" y="9432925"/>
            <a:ext cx="2930525"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atin typeface="Arial" panose="020B0604020202020204" pitchFamily="34" charset="0"/>
                <a:ea typeface="宋体" panose="02010600030101010101" pitchFamily="2" charset="-122"/>
              </a:defRPr>
            </a:lvl1pPr>
          </a:lstStyle>
          <a:p>
            <a:pPr>
              <a:defRPr/>
            </a:pPr>
            <a:fld id="{9770C5EC-84B7-458F-83C1-E384414A78AA}" type="slidenum">
              <a:rPr lang="en-US" altLang="zh-CN"/>
              <a:pPr>
                <a:defRPr/>
              </a:pPr>
              <a:t>‹#›</a:t>
            </a:fld>
            <a:endParaRPr lang="en-US" altLang="zh-CN"/>
          </a:p>
        </p:txBody>
      </p:sp>
    </p:spTree>
    <p:extLst>
      <p:ext uri="{BB962C8B-B14F-4D97-AF65-F5344CB8AC3E}">
        <p14:creationId xmlns:p14="http://schemas.microsoft.com/office/powerpoint/2010/main" val="359228553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半导体激光器在温度控制模块和驱动模块的控制下输出覆盖目标气体吸收谱线的扫描光信号，激光经过光纤传输到达气体吸收池，经过吸收后的激光准直汇聚后照射到光电检测器，利用光电检测器的光电效应使光信号产生相应的电流信号，电流信号经过跨阻放大电路转变为相应的电压信号，再通过数据采集系统将模拟信号转为数字信号后采集并处理，得到待测气体的吸收谱线，然后通过吸收谱线中心波长处的峰值反演待测气体的浓度信息。</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考虑到二极管激光的技术要求与实际成本，在此次设计研究中，通过</a:t>
            </a:r>
            <a:r>
              <a:rPr lang="en-US" altLang="zh-CN" sz="1800" kern="100" dirty="0">
                <a:effectLst/>
                <a:latin typeface="Times New Roman" panose="02020603050405020304" pitchFamily="18" charset="0"/>
                <a:ea typeface="宋体" panose="02010600030101010101" pitchFamily="2" charset="-122"/>
              </a:rPr>
              <a:t>HITRAN</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数据库中对比甲烷气体的吸收谱线，本文选择了波长在</a:t>
            </a:r>
            <a:r>
              <a:rPr lang="en-US" altLang="zh-CN" sz="1800" kern="100" dirty="0">
                <a:effectLst/>
                <a:latin typeface="Times New Roman" panose="02020603050405020304" pitchFamily="18" charset="0"/>
                <a:ea typeface="宋体" panose="02010600030101010101" pitchFamily="2" charset="-122"/>
              </a:rPr>
              <a:t>1.654 </a:t>
            </a:r>
            <a:r>
              <a:rPr lang="en-US" altLang="zh-CN" sz="1800" kern="100" dirty="0" err="1">
                <a:effectLst/>
                <a:latin typeface="Times New Roman" panose="02020603050405020304" pitchFamily="18" charset="0"/>
                <a:ea typeface="宋体" panose="02010600030101010101" pitchFamily="2" charset="-122"/>
              </a:rPr>
              <a:t>μm</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的甲烷吸收谱线作为探测目标，其处于近红外波段，具有强吸收的特点</a:t>
            </a:r>
            <a:r>
              <a:rPr lang="en-US" altLang="zh-CN" sz="1800" baseline="30000" dirty="0">
                <a:solidFill>
                  <a:srgbClr val="080000"/>
                </a:solidFill>
                <a:effectLst/>
                <a:latin typeface="Times New Roman" panose="02020603050405020304" pitchFamily="18" charset="0"/>
                <a:ea typeface="宋体" panose="02010600030101010101" pitchFamily="2" charset="-122"/>
              </a:rPr>
              <a:t>[70]</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。该系统中采用可调谐的</a:t>
            </a:r>
            <a:r>
              <a:rPr lang="en-US" altLang="zh-CN" sz="1800" kern="100" dirty="0">
                <a:effectLst/>
                <a:latin typeface="Times New Roman" panose="02020603050405020304" pitchFamily="18" charset="0"/>
                <a:ea typeface="宋体" panose="02010600030101010101" pitchFamily="2" charset="-122"/>
              </a:rPr>
              <a:t>DFB</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激光器作为光源，并且该激光器中心波长是</a:t>
            </a:r>
            <a:r>
              <a:rPr lang="en-US" altLang="zh-CN" sz="1800" kern="100" dirty="0">
                <a:effectLst/>
                <a:latin typeface="Times New Roman" panose="02020603050405020304" pitchFamily="18" charset="0"/>
                <a:ea typeface="宋体" panose="02010600030101010101" pitchFamily="2" charset="-122"/>
              </a:rPr>
              <a:t>1.654μm</a:t>
            </a:r>
            <a:endParaRPr lang="zh-CN" altLang="en-US" dirty="0"/>
          </a:p>
        </p:txBody>
      </p:sp>
      <p:sp>
        <p:nvSpPr>
          <p:cNvPr id="4" name="灯片编号占位符 3"/>
          <p:cNvSpPr>
            <a:spLocks noGrp="1"/>
          </p:cNvSpPr>
          <p:nvPr>
            <p:ph type="sldNum" sz="quarter" idx="5"/>
          </p:nvPr>
        </p:nvSpPr>
        <p:spPr/>
        <p:txBody>
          <a:bodyPr/>
          <a:lstStyle/>
          <a:p>
            <a:pPr>
              <a:defRPr/>
            </a:pPr>
            <a:fld id="{9770C5EC-84B7-458F-83C1-E384414A78AA}" type="slidenum">
              <a:rPr lang="en-US" altLang="zh-CN" smtClean="0"/>
              <a:pPr>
                <a:defRPr/>
              </a:pPr>
              <a:t>6</a:t>
            </a:fld>
            <a:endParaRPr lang="en-US" altLang="zh-CN"/>
          </a:p>
        </p:txBody>
      </p:sp>
    </p:spTree>
    <p:extLst>
      <p:ext uri="{BB962C8B-B14F-4D97-AF65-F5344CB8AC3E}">
        <p14:creationId xmlns:p14="http://schemas.microsoft.com/office/powerpoint/2010/main" val="5295500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9770C5EC-84B7-458F-83C1-E384414A78AA}" type="slidenum">
              <a:rPr lang="en-US" altLang="zh-CN" smtClean="0"/>
              <a:pPr>
                <a:defRPr/>
              </a:pPr>
              <a:t>7</a:t>
            </a:fld>
            <a:endParaRPr lang="en-US" altLang="zh-CN"/>
          </a:p>
        </p:txBody>
      </p:sp>
    </p:spTree>
    <p:extLst>
      <p:ext uri="{BB962C8B-B14F-4D97-AF65-F5344CB8AC3E}">
        <p14:creationId xmlns:p14="http://schemas.microsoft.com/office/powerpoint/2010/main" val="37960084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整体设计分为四个部分，</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固定节点检测、大范围遥测节点、中继协调节点以及监控平台四个部分。</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一是将定点检测的气体检测器分别布置于管道的关键节点，二是基于开放光路式的遥测节点布置于开阔区域，与智能云台组合进行大范围的检测，检测节点均通过</a:t>
            </a:r>
            <a:r>
              <a:rPr lang="en-US" altLang="zh-CN" sz="1800" kern="100" dirty="0">
                <a:effectLst/>
                <a:latin typeface="Times New Roman" panose="02020603050405020304" pitchFamily="18" charset="0"/>
                <a:ea typeface="宋体" panose="02010600030101010101" pitchFamily="2" charset="-122"/>
              </a:rPr>
              <a:t>LoRa</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的无线传输，将数据传输至协调器进行数据整合，再由协调器通过</a:t>
            </a:r>
            <a:r>
              <a:rPr lang="en-US" altLang="zh-CN" sz="1800" kern="100" dirty="0">
                <a:effectLst/>
                <a:latin typeface="Times New Roman" panose="02020603050405020304" pitchFamily="18" charset="0"/>
                <a:ea typeface="宋体" panose="02010600030101010101" pitchFamily="2" charset="-122"/>
              </a:rPr>
              <a:t>RS232</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串口传输至上位机</a:t>
            </a:r>
            <a:endParaRPr lang="zh-CN" altLang="en-US" dirty="0"/>
          </a:p>
        </p:txBody>
      </p:sp>
      <p:sp>
        <p:nvSpPr>
          <p:cNvPr id="4" name="灯片编号占位符 3"/>
          <p:cNvSpPr>
            <a:spLocks noGrp="1"/>
          </p:cNvSpPr>
          <p:nvPr>
            <p:ph type="sldNum" sz="quarter" idx="5"/>
          </p:nvPr>
        </p:nvSpPr>
        <p:spPr/>
        <p:txBody>
          <a:bodyPr/>
          <a:lstStyle/>
          <a:p>
            <a:pPr>
              <a:defRPr/>
            </a:pPr>
            <a:fld id="{9770C5EC-84B7-458F-83C1-E384414A78AA}" type="slidenum">
              <a:rPr lang="en-US" altLang="zh-CN" smtClean="0"/>
              <a:pPr>
                <a:defRPr/>
              </a:pPr>
              <a:t>9</a:t>
            </a:fld>
            <a:endParaRPr lang="en-US" altLang="zh-CN"/>
          </a:p>
        </p:txBody>
      </p:sp>
    </p:spTree>
    <p:extLst>
      <p:ext uri="{BB962C8B-B14F-4D97-AF65-F5344CB8AC3E}">
        <p14:creationId xmlns:p14="http://schemas.microsoft.com/office/powerpoint/2010/main" val="20653366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9770C5EC-84B7-458F-83C1-E384414A78AA}" type="slidenum">
              <a:rPr lang="en-US" altLang="zh-CN" smtClean="0"/>
              <a:pPr>
                <a:defRPr/>
              </a:pPr>
              <a:t>11</a:t>
            </a:fld>
            <a:endParaRPr lang="en-US" altLang="zh-CN"/>
          </a:p>
        </p:txBody>
      </p:sp>
    </p:spTree>
    <p:extLst>
      <p:ext uri="{BB962C8B-B14F-4D97-AF65-F5344CB8AC3E}">
        <p14:creationId xmlns:p14="http://schemas.microsoft.com/office/powerpoint/2010/main" val="8081367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9770C5EC-84B7-458F-83C1-E384414A78AA}" type="slidenum">
              <a:rPr lang="en-US" altLang="zh-CN" smtClean="0"/>
              <a:pPr>
                <a:defRPr/>
              </a:pPr>
              <a:t>13</a:t>
            </a:fld>
            <a:endParaRPr lang="en-US" altLang="zh-CN"/>
          </a:p>
        </p:txBody>
      </p:sp>
    </p:spTree>
    <p:extLst>
      <p:ext uri="{BB962C8B-B14F-4D97-AF65-F5344CB8AC3E}">
        <p14:creationId xmlns:p14="http://schemas.microsoft.com/office/powerpoint/2010/main" val="28345701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a:ln/>
        </p:spPr>
      </p:sp>
      <p:sp>
        <p:nvSpPr>
          <p:cNvPr id="839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43E33E15-F474-4A7A-9863-DA3665EA2BF2}" type="slidenum">
              <a:rPr lang="en-US" altLang="zh-CN"/>
              <a:pPr>
                <a:defRPr/>
              </a:pPr>
              <a:t>‹#›</a:t>
            </a:fld>
            <a:endParaRPr lang="en-US" altLang="zh-CN"/>
          </a:p>
        </p:txBody>
      </p:sp>
    </p:spTree>
    <p:extLst>
      <p:ext uri="{BB962C8B-B14F-4D97-AF65-F5344CB8AC3E}">
        <p14:creationId xmlns:p14="http://schemas.microsoft.com/office/powerpoint/2010/main" val="11684269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DAEE0405-A2D7-4916-A361-03EFC86F1AE2}" type="slidenum">
              <a:rPr lang="en-US" altLang="zh-CN"/>
              <a:pPr>
                <a:defRPr/>
              </a:pPr>
              <a:t>‹#›</a:t>
            </a:fld>
            <a:endParaRPr lang="en-US" altLang="zh-CN"/>
          </a:p>
        </p:txBody>
      </p:sp>
    </p:spTree>
    <p:extLst>
      <p:ext uri="{BB962C8B-B14F-4D97-AF65-F5344CB8AC3E}">
        <p14:creationId xmlns:p14="http://schemas.microsoft.com/office/powerpoint/2010/main" val="3395709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pPr>
              <a:defRPr/>
            </a:pPr>
            <a:fld id="{DED1E19B-271D-459E-BF8F-DDB867B6DD10}" type="slidenum">
              <a:rPr lang="en-US" altLang="zh-CN"/>
              <a:pPr>
                <a:defRPr/>
              </a:pPr>
              <a:t>‹#›</a:t>
            </a:fld>
            <a:endParaRPr lang="en-US" altLang="zh-CN"/>
          </a:p>
        </p:txBody>
      </p:sp>
    </p:spTree>
    <p:extLst>
      <p:ext uri="{BB962C8B-B14F-4D97-AF65-F5344CB8AC3E}">
        <p14:creationId xmlns:p14="http://schemas.microsoft.com/office/powerpoint/2010/main" val="3659439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p:cNvSpPr>
            <a:spLocks noGrp="1" noChangeArrowheads="1"/>
          </p:cNvSpPr>
          <p:nvPr>
            <p:ph type="sldNum" sz="quarter" idx="10"/>
          </p:nvPr>
        </p:nvSpPr>
        <p:spPr>
          <a:ln/>
        </p:spPr>
        <p:txBody>
          <a:bodyPr/>
          <a:lstStyle>
            <a:lvl1pPr>
              <a:defRPr/>
            </a:lvl1pPr>
          </a:lstStyle>
          <a:p>
            <a:pPr>
              <a:defRPr/>
            </a:pPr>
            <a:fld id="{EE33039E-DE16-43A0-B99A-921FBBC37611}" type="slidenum">
              <a:rPr lang="en-US" altLang="zh-CN"/>
              <a:pPr>
                <a:defRPr/>
              </a:pPr>
              <a:t>‹#›</a:t>
            </a:fld>
            <a:endParaRPr lang="en-US" altLang="zh-CN"/>
          </a:p>
        </p:txBody>
      </p:sp>
    </p:spTree>
    <p:extLst>
      <p:ext uri="{BB962C8B-B14F-4D97-AF65-F5344CB8AC3E}">
        <p14:creationId xmlns:p14="http://schemas.microsoft.com/office/powerpoint/2010/main" val="28254516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p:cNvSpPr>
            <a:spLocks noGrp="1" noChangeArrowheads="1"/>
          </p:cNvSpPr>
          <p:nvPr>
            <p:ph type="sldNum" sz="quarter" idx="10"/>
          </p:nvPr>
        </p:nvSpPr>
        <p:spPr>
          <a:ln/>
        </p:spPr>
        <p:txBody>
          <a:bodyPr/>
          <a:lstStyle>
            <a:lvl1pPr>
              <a:defRPr/>
            </a:lvl1pPr>
          </a:lstStyle>
          <a:p>
            <a:pPr>
              <a:defRPr/>
            </a:pPr>
            <a:fld id="{B56EABE2-CB60-4EA9-8495-5EC48C7A2155}" type="slidenum">
              <a:rPr lang="en-US" altLang="zh-CN"/>
              <a:pPr>
                <a:defRPr/>
              </a:pPr>
              <a:t>‹#›</a:t>
            </a:fld>
            <a:endParaRPr lang="en-US" altLang="zh-CN"/>
          </a:p>
        </p:txBody>
      </p:sp>
    </p:spTree>
    <p:extLst>
      <p:ext uri="{BB962C8B-B14F-4D97-AF65-F5344CB8AC3E}">
        <p14:creationId xmlns:p14="http://schemas.microsoft.com/office/powerpoint/2010/main" val="15690689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Rectangle 6"/>
          <p:cNvSpPr>
            <a:spLocks noGrp="1" noChangeArrowheads="1"/>
          </p:cNvSpPr>
          <p:nvPr>
            <p:ph type="sldNum" sz="quarter" idx="10"/>
          </p:nvPr>
        </p:nvSpPr>
        <p:spPr>
          <a:ln/>
        </p:spPr>
        <p:txBody>
          <a:bodyPr/>
          <a:lstStyle>
            <a:lvl1pPr>
              <a:defRPr/>
            </a:lvl1pPr>
          </a:lstStyle>
          <a:p>
            <a:pPr>
              <a:defRPr/>
            </a:pPr>
            <a:fld id="{DE34D332-6F3A-452B-AC01-1191C0D3AF54}" type="slidenum">
              <a:rPr lang="en-US" altLang="zh-CN"/>
              <a:pPr>
                <a:defRPr/>
              </a:pPr>
              <a:t>‹#›</a:t>
            </a:fld>
            <a:endParaRPr lang="en-US" altLang="zh-CN"/>
          </a:p>
        </p:txBody>
      </p:sp>
    </p:spTree>
    <p:extLst>
      <p:ext uri="{BB962C8B-B14F-4D97-AF65-F5344CB8AC3E}">
        <p14:creationId xmlns:p14="http://schemas.microsoft.com/office/powerpoint/2010/main" val="18984410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76F7E8C5-97DF-488D-B841-A46E09C342F4}" type="slidenum">
              <a:rPr lang="en-US" altLang="zh-CN"/>
              <a:pPr>
                <a:defRPr/>
              </a:pPr>
              <a:t>‹#›</a:t>
            </a:fld>
            <a:endParaRPr lang="en-US" altLang="zh-CN"/>
          </a:p>
        </p:txBody>
      </p:sp>
      <p:cxnSp>
        <p:nvCxnSpPr>
          <p:cNvPr id="4" name="直接连接符 3">
            <a:extLst>
              <a:ext uri="{FF2B5EF4-FFF2-40B4-BE49-F238E27FC236}">
                <a16:creationId xmlns:a16="http://schemas.microsoft.com/office/drawing/2014/main" id="{2040B2B7-E3CB-4278-9D25-1466479EDD3A}"/>
              </a:ext>
            </a:extLst>
          </p:cNvPr>
          <p:cNvCxnSpPr/>
          <p:nvPr userDrawn="1"/>
        </p:nvCxnSpPr>
        <p:spPr bwMode="auto">
          <a:xfrm>
            <a:off x="0" y="990600"/>
            <a:ext cx="9144000" cy="0"/>
          </a:xfrm>
          <a:prstGeom prst="line">
            <a:avLst/>
          </a:prstGeom>
          <a:noFill/>
          <a:ln w="19050" cap="flat" cmpd="sng" algn="ctr">
            <a:solidFill>
              <a:srgbClr val="FF0000"/>
            </a:solidFill>
            <a:prstDash val="solid"/>
            <a:round/>
            <a:headEnd type="none" w="med" len="med"/>
            <a:tailEnd type="none" w="med" len="med"/>
          </a:ln>
          <a:effectLst/>
        </p:spPr>
      </p:cxnSp>
      <p:pic>
        <p:nvPicPr>
          <p:cNvPr id="9" name="图片 8">
            <a:extLst>
              <a:ext uri="{FF2B5EF4-FFF2-40B4-BE49-F238E27FC236}">
                <a16:creationId xmlns:a16="http://schemas.microsoft.com/office/drawing/2014/main" id="{94CA0F93-0BEE-4F12-A5F9-9D7DEDB3E82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433" t="10659" r="3863" b="8122"/>
          <a:stretch/>
        </p:blipFill>
        <p:spPr>
          <a:xfrm>
            <a:off x="-33997" y="241496"/>
            <a:ext cx="1933957" cy="716279"/>
          </a:xfrm>
          <a:prstGeom prst="rect">
            <a:avLst/>
          </a:prstGeom>
        </p:spPr>
      </p:pic>
    </p:spTree>
    <p:extLst>
      <p:ext uri="{BB962C8B-B14F-4D97-AF65-F5344CB8AC3E}">
        <p14:creationId xmlns:p14="http://schemas.microsoft.com/office/powerpoint/2010/main" val="503848718"/>
      </p:ext>
    </p:extLst>
  </p:cSld>
  <p:clrMapOvr>
    <a:masterClrMapping/>
  </p:clrMapOvr>
  <p:extLst>
    <p:ext uri="{DCECCB84-F9BA-43D5-87BE-67443E8EF086}">
      <p15:sldGuideLst xmlns:p15="http://schemas.microsoft.com/office/powerpoint/2012/main">
        <p15:guide id="1" orient="horz" pos="624"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15C2747D-8DA1-4D49-B439-F57E64232F84}" type="slidenum">
              <a:rPr lang="en-US" altLang="zh-CN"/>
              <a:pPr>
                <a:defRPr/>
              </a:pPr>
              <a:t>‹#›</a:t>
            </a:fld>
            <a:endParaRPr lang="en-US" altLang="zh-CN"/>
          </a:p>
        </p:txBody>
      </p:sp>
    </p:spTree>
    <p:extLst>
      <p:ext uri="{BB962C8B-B14F-4D97-AF65-F5344CB8AC3E}">
        <p14:creationId xmlns:p14="http://schemas.microsoft.com/office/powerpoint/2010/main" val="11173899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58F03F9B-30FF-47C6-A4EA-421220CEF759}" type="slidenum">
              <a:rPr lang="en-US" altLang="zh-CN"/>
              <a:pPr>
                <a:defRPr/>
              </a:pPr>
              <a:t>‹#›</a:t>
            </a:fld>
            <a:endParaRPr lang="en-US" altLang="zh-CN"/>
          </a:p>
        </p:txBody>
      </p:sp>
    </p:spTree>
    <p:extLst>
      <p:ext uri="{BB962C8B-B14F-4D97-AF65-F5344CB8AC3E}">
        <p14:creationId xmlns:p14="http://schemas.microsoft.com/office/powerpoint/2010/main" val="12574153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4522EEF1-BDAA-483B-B2AE-C6ABB0AEC6D0}" type="slidenum">
              <a:rPr lang="en-US" altLang="zh-CN"/>
              <a:pPr>
                <a:defRPr/>
              </a:pPr>
              <a:t>‹#›</a:t>
            </a:fld>
            <a:endParaRPr lang="en-US" altLang="zh-CN"/>
          </a:p>
        </p:txBody>
      </p:sp>
    </p:spTree>
    <p:extLst>
      <p:ext uri="{BB962C8B-B14F-4D97-AF65-F5344CB8AC3E}">
        <p14:creationId xmlns:p14="http://schemas.microsoft.com/office/powerpoint/2010/main" val="13405320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E6E037F7-5C7D-4EAE-B48A-A1DCF5DDDC9D}" type="slidenum">
              <a:rPr lang="en-US" altLang="zh-CN"/>
              <a:pPr>
                <a:defRPr/>
              </a:pPr>
              <a:t>‹#›</a:t>
            </a:fld>
            <a:endParaRPr lang="en-US" altLang="zh-CN"/>
          </a:p>
        </p:txBody>
      </p:sp>
    </p:spTree>
    <p:extLst>
      <p:ext uri="{BB962C8B-B14F-4D97-AF65-F5344CB8AC3E}">
        <p14:creationId xmlns:p14="http://schemas.microsoft.com/office/powerpoint/2010/main" val="119421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6"/>
          <p:cNvSpPr>
            <a:spLocks noGrp="1" noChangeArrowheads="1"/>
          </p:cNvSpPr>
          <p:nvPr>
            <p:ph type="sldNum" sz="quarter" idx="10"/>
          </p:nvPr>
        </p:nvSpPr>
        <p:spPr>
          <a:ln/>
        </p:spPr>
        <p:txBody>
          <a:bodyPr/>
          <a:lstStyle>
            <a:lvl1pPr>
              <a:defRPr/>
            </a:lvl1pPr>
          </a:lstStyle>
          <a:p>
            <a:pPr>
              <a:defRPr/>
            </a:pPr>
            <a:fld id="{F1DB2B61-689D-4081-9B24-7961D12C162D}" type="slidenum">
              <a:rPr lang="en-US" altLang="zh-CN"/>
              <a:pPr>
                <a:defRPr/>
              </a:pPr>
              <a:t>‹#›</a:t>
            </a:fld>
            <a:endParaRPr lang="en-US" altLang="zh-CN"/>
          </a:p>
        </p:txBody>
      </p:sp>
    </p:spTree>
    <p:extLst>
      <p:ext uri="{BB962C8B-B14F-4D97-AF65-F5344CB8AC3E}">
        <p14:creationId xmlns:p14="http://schemas.microsoft.com/office/powerpoint/2010/main" val="14234198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p:cNvSpPr>
            <a:spLocks noGrp="1" noChangeArrowheads="1"/>
          </p:cNvSpPr>
          <p:nvPr>
            <p:ph type="sldNum" sz="quarter" idx="10"/>
          </p:nvPr>
        </p:nvSpPr>
        <p:spPr>
          <a:ln/>
        </p:spPr>
        <p:txBody>
          <a:bodyPr/>
          <a:lstStyle>
            <a:lvl1pPr>
              <a:defRPr/>
            </a:lvl1pPr>
          </a:lstStyle>
          <a:p>
            <a:pPr>
              <a:defRPr/>
            </a:pPr>
            <a:fld id="{3809621D-11F2-4B96-BFE7-FE924D8637DC}" type="slidenum">
              <a:rPr lang="en-US" altLang="zh-CN"/>
              <a:pPr>
                <a:defRPr/>
              </a:pPr>
              <a:t>‹#›</a:t>
            </a:fld>
            <a:endParaRPr lang="en-US" altLang="zh-CN"/>
          </a:p>
        </p:txBody>
      </p:sp>
    </p:spTree>
    <p:extLst>
      <p:ext uri="{BB962C8B-B14F-4D97-AF65-F5344CB8AC3E}">
        <p14:creationId xmlns:p14="http://schemas.microsoft.com/office/powerpoint/2010/main" val="16869914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5"/>
          <p:cNvSpPr>
            <a:spLocks noGrp="1" noChangeArrowheads="1"/>
          </p:cNvSpPr>
          <p:nvPr>
            <p:ph type="sldNum" sz="quarter" idx="10"/>
          </p:nvPr>
        </p:nvSpPr>
        <p:spPr>
          <a:ln/>
        </p:spPr>
        <p:txBody>
          <a:bodyPr/>
          <a:lstStyle>
            <a:lvl1pPr>
              <a:defRPr/>
            </a:lvl1pPr>
          </a:lstStyle>
          <a:p>
            <a:pPr>
              <a:defRPr/>
            </a:pPr>
            <a:fld id="{44D3454F-AADC-4BDF-8E7A-29E8754F67C1}" type="slidenum">
              <a:rPr lang="zh-CN" altLang="en-US"/>
              <a:pPr>
                <a:defRPr/>
              </a:pPr>
              <a:t>‹#›</a:t>
            </a:fld>
            <a:endParaRPr lang="en-US" altLang="zh-CN"/>
          </a:p>
        </p:txBody>
      </p:sp>
    </p:spTree>
    <p:extLst>
      <p:ext uri="{BB962C8B-B14F-4D97-AF65-F5344CB8AC3E}">
        <p14:creationId xmlns:p14="http://schemas.microsoft.com/office/powerpoint/2010/main" val="4129132141"/>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sldNum" sz="quarter" idx="10"/>
          </p:nvPr>
        </p:nvSpPr>
        <p:spPr>
          <a:ln/>
        </p:spPr>
        <p:txBody>
          <a:bodyPr/>
          <a:lstStyle>
            <a:lvl1pPr>
              <a:defRPr/>
            </a:lvl1pPr>
          </a:lstStyle>
          <a:p>
            <a:pPr>
              <a:defRPr/>
            </a:pPr>
            <a:fld id="{8B5AF980-0ED2-4980-B623-29649E3C9F2C}" type="slidenum">
              <a:rPr lang="zh-CN" altLang="en-US"/>
              <a:pPr>
                <a:defRPr/>
              </a:pPr>
              <a:t>‹#›</a:t>
            </a:fld>
            <a:endParaRPr lang="en-US" altLang="zh-CN"/>
          </a:p>
        </p:txBody>
      </p:sp>
    </p:spTree>
    <p:extLst>
      <p:ext uri="{BB962C8B-B14F-4D97-AF65-F5344CB8AC3E}">
        <p14:creationId xmlns:p14="http://schemas.microsoft.com/office/powerpoint/2010/main" val="2886699522"/>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sldNum" sz="quarter" idx="10"/>
          </p:nvPr>
        </p:nvSpPr>
        <p:spPr>
          <a:ln/>
        </p:spPr>
        <p:txBody>
          <a:bodyPr/>
          <a:lstStyle>
            <a:lvl1pPr>
              <a:defRPr/>
            </a:lvl1pPr>
          </a:lstStyle>
          <a:p>
            <a:pPr>
              <a:defRPr/>
            </a:pPr>
            <a:fld id="{27D7C5F4-EC70-4E2F-9D2C-79BF50995CAF}" type="slidenum">
              <a:rPr lang="zh-CN" altLang="en-US"/>
              <a:pPr>
                <a:defRPr/>
              </a:pPr>
              <a:t>‹#›</a:t>
            </a:fld>
            <a:endParaRPr lang="en-US" altLang="zh-CN"/>
          </a:p>
        </p:txBody>
      </p:sp>
    </p:spTree>
    <p:extLst>
      <p:ext uri="{BB962C8B-B14F-4D97-AF65-F5344CB8AC3E}">
        <p14:creationId xmlns:p14="http://schemas.microsoft.com/office/powerpoint/2010/main" val="3305221217"/>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sldNum" sz="quarter" idx="10"/>
          </p:nvPr>
        </p:nvSpPr>
        <p:spPr>
          <a:ln/>
        </p:spPr>
        <p:txBody>
          <a:bodyPr/>
          <a:lstStyle>
            <a:lvl1pPr>
              <a:defRPr/>
            </a:lvl1pPr>
          </a:lstStyle>
          <a:p>
            <a:pPr>
              <a:defRPr/>
            </a:pPr>
            <a:fld id="{270024F2-5FEA-490E-88A8-67B1FB78FA5A}" type="slidenum">
              <a:rPr lang="zh-CN" altLang="en-US"/>
              <a:pPr>
                <a:defRPr/>
              </a:pPr>
              <a:t>‹#›</a:t>
            </a:fld>
            <a:endParaRPr lang="en-US" altLang="zh-CN"/>
          </a:p>
        </p:txBody>
      </p:sp>
    </p:spTree>
    <p:extLst>
      <p:ext uri="{BB962C8B-B14F-4D97-AF65-F5344CB8AC3E}">
        <p14:creationId xmlns:p14="http://schemas.microsoft.com/office/powerpoint/2010/main" val="1226561260"/>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sldNum" sz="quarter" idx="10"/>
          </p:nvPr>
        </p:nvSpPr>
        <p:spPr>
          <a:ln/>
        </p:spPr>
        <p:txBody>
          <a:bodyPr/>
          <a:lstStyle>
            <a:lvl1pPr>
              <a:defRPr/>
            </a:lvl1pPr>
          </a:lstStyle>
          <a:p>
            <a:pPr>
              <a:defRPr/>
            </a:pPr>
            <a:fld id="{A8D57299-BC8A-4576-9647-865067FFB81A}" type="slidenum">
              <a:rPr lang="zh-CN" altLang="en-US"/>
              <a:pPr>
                <a:defRPr/>
              </a:pPr>
              <a:t>‹#›</a:t>
            </a:fld>
            <a:endParaRPr lang="en-US" altLang="zh-CN"/>
          </a:p>
        </p:txBody>
      </p:sp>
    </p:spTree>
    <p:extLst>
      <p:ext uri="{BB962C8B-B14F-4D97-AF65-F5344CB8AC3E}">
        <p14:creationId xmlns:p14="http://schemas.microsoft.com/office/powerpoint/2010/main" val="3897292532"/>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Rectangle 5"/>
          <p:cNvSpPr>
            <a:spLocks noGrp="1" noChangeArrowheads="1"/>
          </p:cNvSpPr>
          <p:nvPr>
            <p:ph type="sldNum" sz="quarter" idx="10"/>
          </p:nvPr>
        </p:nvSpPr>
        <p:spPr>
          <a:ln/>
        </p:spPr>
        <p:txBody>
          <a:bodyPr/>
          <a:lstStyle>
            <a:lvl1pPr>
              <a:defRPr/>
            </a:lvl1pPr>
          </a:lstStyle>
          <a:p>
            <a:pPr>
              <a:defRPr/>
            </a:pPr>
            <a:fld id="{4914033F-E429-4750-A550-61AA4C9E9760}" type="slidenum">
              <a:rPr lang="zh-CN" altLang="en-US"/>
              <a:pPr>
                <a:defRPr/>
              </a:pPr>
              <a:t>‹#›</a:t>
            </a:fld>
            <a:endParaRPr lang="en-US" altLang="zh-CN"/>
          </a:p>
        </p:txBody>
      </p:sp>
    </p:spTree>
    <p:extLst>
      <p:ext uri="{BB962C8B-B14F-4D97-AF65-F5344CB8AC3E}">
        <p14:creationId xmlns:p14="http://schemas.microsoft.com/office/powerpoint/2010/main" val="3354118347"/>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sldNum" sz="quarter" idx="10"/>
          </p:nvPr>
        </p:nvSpPr>
        <p:spPr>
          <a:ln/>
        </p:spPr>
        <p:txBody>
          <a:bodyPr/>
          <a:lstStyle>
            <a:lvl1pPr>
              <a:defRPr/>
            </a:lvl1pPr>
          </a:lstStyle>
          <a:p>
            <a:pPr>
              <a:defRPr/>
            </a:pPr>
            <a:fld id="{3C0958FF-77D1-41DF-BE1F-AD484672A85B}" type="slidenum">
              <a:rPr lang="zh-CN" altLang="en-US"/>
              <a:pPr>
                <a:defRPr/>
              </a:pPr>
              <a:t>‹#›</a:t>
            </a:fld>
            <a:endParaRPr lang="en-US" altLang="zh-CN"/>
          </a:p>
        </p:txBody>
      </p:sp>
    </p:spTree>
    <p:extLst>
      <p:ext uri="{BB962C8B-B14F-4D97-AF65-F5344CB8AC3E}">
        <p14:creationId xmlns:p14="http://schemas.microsoft.com/office/powerpoint/2010/main" val="1552565771"/>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sldNum" sz="quarter" idx="10"/>
          </p:nvPr>
        </p:nvSpPr>
        <p:spPr>
          <a:ln/>
        </p:spPr>
        <p:txBody>
          <a:bodyPr/>
          <a:lstStyle>
            <a:lvl1pPr>
              <a:defRPr/>
            </a:lvl1pPr>
          </a:lstStyle>
          <a:p>
            <a:pPr>
              <a:defRPr/>
            </a:pPr>
            <a:fld id="{5ACEF193-3B76-4C73-8FF3-6CA9A2FAFE17}" type="slidenum">
              <a:rPr lang="zh-CN" altLang="en-US"/>
              <a:pPr>
                <a:defRPr/>
              </a:pPr>
              <a:t>‹#›</a:t>
            </a:fld>
            <a:endParaRPr lang="en-US" altLang="zh-CN"/>
          </a:p>
        </p:txBody>
      </p:sp>
    </p:spTree>
    <p:extLst>
      <p:ext uri="{BB962C8B-B14F-4D97-AF65-F5344CB8AC3E}">
        <p14:creationId xmlns:p14="http://schemas.microsoft.com/office/powerpoint/2010/main" val="3029309285"/>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sldNum" sz="quarter" idx="10"/>
          </p:nvPr>
        </p:nvSpPr>
        <p:spPr>
          <a:ln/>
        </p:spPr>
        <p:txBody>
          <a:bodyPr/>
          <a:lstStyle>
            <a:lvl1pPr>
              <a:defRPr/>
            </a:lvl1pPr>
          </a:lstStyle>
          <a:p>
            <a:pPr>
              <a:defRPr/>
            </a:pPr>
            <a:fld id="{7C20D1BA-2BFF-4B6C-A6D6-E15629D56BB8}" type="slidenum">
              <a:rPr lang="zh-CN" altLang="en-US"/>
              <a:pPr>
                <a:defRPr/>
              </a:pPr>
              <a:t>‹#›</a:t>
            </a:fld>
            <a:endParaRPr lang="en-US" altLang="zh-CN"/>
          </a:p>
        </p:txBody>
      </p:sp>
    </p:spTree>
    <p:extLst>
      <p:ext uri="{BB962C8B-B14F-4D97-AF65-F5344CB8AC3E}">
        <p14:creationId xmlns:p14="http://schemas.microsoft.com/office/powerpoint/2010/main" val="1658998610"/>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sldNum" sz="quarter" idx="10"/>
          </p:nvPr>
        </p:nvSpPr>
        <p:spPr>
          <a:ln/>
        </p:spPr>
        <p:txBody>
          <a:bodyPr/>
          <a:lstStyle>
            <a:lvl1pPr>
              <a:defRPr/>
            </a:lvl1pPr>
          </a:lstStyle>
          <a:p>
            <a:pPr>
              <a:defRPr/>
            </a:pPr>
            <a:fld id="{A296A782-CE64-4CAD-85F3-F40B248D68E6}" type="slidenum">
              <a:rPr lang="zh-CN" altLang="en-US"/>
              <a:pPr>
                <a:defRPr/>
              </a:pPr>
              <a:t>‹#›</a:t>
            </a:fld>
            <a:endParaRPr lang="en-US" altLang="zh-CN"/>
          </a:p>
        </p:txBody>
      </p:sp>
    </p:spTree>
    <p:extLst>
      <p:ext uri="{BB962C8B-B14F-4D97-AF65-F5344CB8AC3E}">
        <p14:creationId xmlns:p14="http://schemas.microsoft.com/office/powerpoint/2010/main" val="1729955669"/>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sldNum" sz="quarter" idx="10"/>
          </p:nvPr>
        </p:nvSpPr>
        <p:spPr>
          <a:ln/>
        </p:spPr>
        <p:txBody>
          <a:bodyPr/>
          <a:lstStyle>
            <a:lvl1pPr>
              <a:defRPr/>
            </a:lvl1pPr>
          </a:lstStyle>
          <a:p>
            <a:pPr>
              <a:defRPr/>
            </a:pPr>
            <a:fld id="{6A1135A9-E7EE-4707-8A25-E9A652B8D42B}" type="slidenum">
              <a:rPr lang="zh-CN" altLang="en-US"/>
              <a:pPr>
                <a:defRPr/>
              </a:pPr>
              <a:t>‹#›</a:t>
            </a:fld>
            <a:endParaRPr lang="en-US" altLang="zh-CN"/>
          </a:p>
        </p:txBody>
      </p:sp>
    </p:spTree>
    <p:extLst>
      <p:ext uri="{BB962C8B-B14F-4D97-AF65-F5344CB8AC3E}">
        <p14:creationId xmlns:p14="http://schemas.microsoft.com/office/powerpoint/2010/main" val="3271428928"/>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2.jpe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42374" name="Rectangle 6"/>
          <p:cNvSpPr>
            <a:spLocks noGrp="1" noChangeArrowheads="1"/>
          </p:cNvSpPr>
          <p:nvPr>
            <p:ph type="sldNum" sz="quarter" idx="4"/>
          </p:nvPr>
        </p:nvSpPr>
        <p:spPr bwMode="auto">
          <a:xfrm>
            <a:off x="6934200" y="645795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b="0">
                <a:latin typeface="Arial" panose="020B0604020202020204" pitchFamily="34" charset="0"/>
                <a:ea typeface="宋体" panose="02010600030101010101" pitchFamily="2" charset="-122"/>
              </a:defRPr>
            </a:lvl1pPr>
          </a:lstStyle>
          <a:p>
            <a:pPr>
              <a:defRPr/>
            </a:pPr>
            <a:fld id="{CCD8FB32-58E7-46EF-8139-9F15EEEBD79B}" type="slidenum">
              <a:rPr lang="en-US" altLang="zh-CN"/>
              <a:pPr>
                <a:defRPr/>
              </a:pPr>
              <a:t>‹#›</a:t>
            </a:fld>
            <a:endParaRPr lang="en-US" altLang="zh-CN"/>
          </a:p>
        </p:txBody>
      </p:sp>
      <p:sp>
        <p:nvSpPr>
          <p:cNvPr id="1028" name="Line 6"/>
          <p:cNvSpPr>
            <a:spLocks noChangeShapeType="1"/>
          </p:cNvSpPr>
          <p:nvPr userDrawn="1"/>
        </p:nvSpPr>
        <p:spPr bwMode="auto">
          <a:xfrm>
            <a:off x="0" y="990600"/>
            <a:ext cx="9144000" cy="0"/>
          </a:xfrm>
          <a:prstGeom prst="line">
            <a:avLst/>
          </a:prstGeom>
          <a:noFill/>
          <a:ln w="38100" cmpd="dbl">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rIns="0"/>
          <a:lstStyle/>
          <a:p>
            <a:pPr>
              <a:defRPr/>
            </a:pPr>
            <a:endParaRPr lang="zh-CN" altLang="en-US">
              <a:latin typeface="华文中宋" charset="-122"/>
              <a:ea typeface="华文中宋" charset="-122"/>
            </a:endParaRPr>
          </a:p>
        </p:txBody>
      </p:sp>
      <p:pic>
        <p:nvPicPr>
          <p:cNvPr id="3" name="图片 2">
            <a:extLst>
              <a:ext uri="{FF2B5EF4-FFF2-40B4-BE49-F238E27FC236}">
                <a16:creationId xmlns:a16="http://schemas.microsoft.com/office/drawing/2014/main" id="{1185670F-84FD-44E5-983F-D1EBAE4E7599}"/>
              </a:ext>
            </a:extLst>
          </p:cNvPr>
          <p:cNvPicPr>
            <a:picLocks noChangeAspect="1"/>
          </p:cNvPicPr>
          <p:nvPr userDrawn="1"/>
        </p:nvPicPr>
        <p:blipFill rotWithShape="1">
          <a:blip r:embed="rId15">
            <a:extLst>
              <a:ext uri="{28A0092B-C50C-407E-A947-70E740481C1C}">
                <a14:useLocalDpi xmlns:a14="http://schemas.microsoft.com/office/drawing/2010/main" val="0"/>
              </a:ext>
            </a:extLst>
          </a:blip>
          <a:srcRect l="6761" t="10661" r="3969" b="8121"/>
          <a:stretch/>
        </p:blipFill>
        <p:spPr>
          <a:xfrm>
            <a:off x="0" y="152400"/>
            <a:ext cx="1981200" cy="761992"/>
          </a:xfrm>
          <a:prstGeom prst="rect">
            <a:avLst/>
          </a:prstGeom>
        </p:spPr>
      </p:pic>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Lst>
  <p:transition/>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Line 2"/>
          <p:cNvSpPr>
            <a:spLocks noChangeShapeType="1"/>
          </p:cNvSpPr>
          <p:nvPr userDrawn="1"/>
        </p:nvSpPr>
        <p:spPr bwMode="blackWhite">
          <a:xfrm>
            <a:off x="952500" y="990600"/>
            <a:ext cx="8191500" cy="0"/>
          </a:xfrm>
          <a:prstGeom prst="line">
            <a:avLst/>
          </a:prstGeom>
          <a:noFill/>
          <a:ln w="508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a:defRPr/>
            </a:pPr>
            <a:endParaRPr lang="zh-CN" altLang="en-US">
              <a:latin typeface="华文中宋" charset="-122"/>
              <a:ea typeface="华文中宋" charset="-122"/>
            </a:endParaRPr>
          </a:p>
        </p:txBody>
      </p:sp>
      <p:pic>
        <p:nvPicPr>
          <p:cNvPr id="2051" name="Picture 3" descr="3-11"/>
          <p:cNvPicPr>
            <a:picLocks noChangeAspect="1" noChangeArrowheads="1"/>
          </p:cNvPicPr>
          <p:nvPr userDrawn="1"/>
        </p:nvPicPr>
        <p:blipFill>
          <a:blip r:embed="rId13"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0" y="0"/>
            <a:ext cx="1057275" cy="101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 name="Line 4"/>
          <p:cNvSpPr>
            <a:spLocks noChangeShapeType="1"/>
          </p:cNvSpPr>
          <p:nvPr userDrawn="1"/>
        </p:nvSpPr>
        <p:spPr bwMode="auto">
          <a:xfrm>
            <a:off x="0" y="996950"/>
            <a:ext cx="971550" cy="0"/>
          </a:xfrm>
          <a:prstGeom prst="line">
            <a:avLst/>
          </a:prstGeom>
          <a:noFill/>
          <a:ln w="50800">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a:lstStyle/>
          <a:p>
            <a:pPr>
              <a:defRPr/>
            </a:pPr>
            <a:endParaRPr lang="zh-CN" altLang="en-US">
              <a:latin typeface="华文中宋" charset="-122"/>
              <a:ea typeface="华文中宋" charset="-122"/>
            </a:endParaRPr>
          </a:p>
        </p:txBody>
      </p:sp>
      <p:sp>
        <p:nvSpPr>
          <p:cNvPr id="896005" name="Rectangle 5"/>
          <p:cNvSpPr>
            <a:spLocks noGrp="1" noChangeArrowheads="1"/>
          </p:cNvSpPr>
          <p:nvPr>
            <p:ph type="sldNum" sz="quarter" idx="4"/>
          </p:nvPr>
        </p:nvSpPr>
        <p:spPr bwMode="auto">
          <a:xfrm>
            <a:off x="6934200" y="6457950"/>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b="0">
                <a:latin typeface="Arial" panose="020B0604020202020204" pitchFamily="34" charset="0"/>
                <a:ea typeface="宋体" panose="02010600030101010101" pitchFamily="2" charset="-122"/>
              </a:defRPr>
            </a:lvl1pPr>
          </a:lstStyle>
          <a:p>
            <a:pPr>
              <a:defRPr/>
            </a:pPr>
            <a:fld id="{63D0437A-B0DF-4278-8BE5-9E3F5F76C9B4}" type="slidenum">
              <a:rPr lang="zh-CN" altLang="en-US"/>
              <a:pPr>
                <a:defRPr/>
              </a:pPr>
              <a:t>‹#›</a:t>
            </a:fld>
            <a:endParaRPr lang="en-US" altLang="zh-CN"/>
          </a:p>
        </p:txBody>
      </p:sp>
      <p:pic>
        <p:nvPicPr>
          <p:cNvPr id="6" name="图片 5">
            <a:extLst>
              <a:ext uri="{FF2B5EF4-FFF2-40B4-BE49-F238E27FC236}">
                <a16:creationId xmlns:a16="http://schemas.microsoft.com/office/drawing/2014/main" id="{24AE39CF-780C-42E0-875A-F7A6AB9A3758}"/>
              </a:ext>
            </a:extLst>
          </p:cNvPr>
          <p:cNvPicPr>
            <a:picLocks noChangeAspect="1"/>
          </p:cNvPicPr>
          <p:nvPr userDrawn="1"/>
        </p:nvPicPr>
        <p:blipFill rotWithShape="1">
          <a:blip r:embed="rId14">
            <a:extLst>
              <a:ext uri="{28A0092B-C50C-407E-A947-70E740481C1C}">
                <a14:useLocalDpi xmlns:a14="http://schemas.microsoft.com/office/drawing/2010/main" val="0"/>
              </a:ext>
            </a:extLst>
          </a:blip>
          <a:srcRect l="5794" t="8291" r="1502" b="10490"/>
          <a:stretch/>
        </p:blipFill>
        <p:spPr>
          <a:xfrm>
            <a:off x="-1570" y="1828800"/>
            <a:ext cx="2117690" cy="784324"/>
          </a:xfrm>
          <a:prstGeom prst="rect">
            <a:avLst/>
          </a:prstGeom>
        </p:spPr>
      </p:pic>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ransition/>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0.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JPG"/><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G"/><Relationship Id="rId7" Type="http://schemas.openxmlformats.org/officeDocument/2006/relationships/image" Target="../media/image5.emf"/><Relationship Id="rId2" Type="http://schemas.openxmlformats.org/officeDocument/2006/relationships/notesSlide" Target="../notesSlides/notesSlide1.xml"/><Relationship Id="rId1" Type="http://schemas.openxmlformats.org/officeDocument/2006/relationships/slideLayout" Target="../slideLayouts/slideLayout20.xml"/><Relationship Id="rId6" Type="http://schemas.openxmlformats.org/officeDocument/2006/relationships/oleObject" Target="../embeddings/oleObject2.bin"/><Relationship Id="rId11" Type="http://schemas.openxmlformats.org/officeDocument/2006/relationships/image" Target="../media/image9.png"/><Relationship Id="rId5" Type="http://schemas.openxmlformats.org/officeDocument/2006/relationships/image" Target="../media/image4.emf"/><Relationship Id="rId10" Type="http://schemas.openxmlformats.org/officeDocument/2006/relationships/image" Target="../media/image8.emf"/><Relationship Id="rId4" Type="http://schemas.openxmlformats.org/officeDocument/2006/relationships/oleObject" Target="../embeddings/oleObject1.bin"/><Relationship Id="rId9"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0.xml"/><Relationship Id="rId6" Type="http://schemas.openxmlformats.org/officeDocument/2006/relationships/image" Target="../media/image11.png"/><Relationship Id="rId5" Type="http://schemas.openxmlformats.org/officeDocument/2006/relationships/image" Target="../media/image10.emf"/><Relationship Id="rId4" Type="http://schemas.openxmlformats.org/officeDocument/2006/relationships/package" Target="../embeddings/Microsoft_Visio_Drawing.vsdx"/></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0.xml"/><Relationship Id="rId5" Type="http://schemas.openxmlformats.org/officeDocument/2006/relationships/image" Target="../media/image13.emf"/><Relationship Id="rId4" Type="http://schemas.openxmlformats.org/officeDocument/2006/relationships/package" Target="../embeddings/Microsoft_Visio_Drawing1.vsdx"/></Relationships>
</file>

<file path=ppt/slides/_rels/slide1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4.png"/><Relationship Id="rId7" Type="http://schemas.openxmlformats.org/officeDocument/2006/relationships/image" Target="../media/image18.jpeg"/><Relationship Id="rId12" Type="http://schemas.openxmlformats.org/officeDocument/2006/relationships/image" Target="../media/image21.jpeg"/><Relationship Id="rId2" Type="http://schemas.openxmlformats.org/officeDocument/2006/relationships/image" Target="../media/image1.JPG"/><Relationship Id="rId1" Type="http://schemas.openxmlformats.org/officeDocument/2006/relationships/slideLayout" Target="../slideLayouts/slideLayout20.xml"/><Relationship Id="rId6" Type="http://schemas.openxmlformats.org/officeDocument/2006/relationships/image" Target="../media/image17.png"/><Relationship Id="rId11" Type="http://schemas.openxmlformats.org/officeDocument/2006/relationships/image" Target="../media/image20.png"/><Relationship Id="rId5" Type="http://schemas.openxmlformats.org/officeDocument/2006/relationships/image" Target="../media/image16.jpeg"/><Relationship Id="rId10" Type="http://schemas.openxmlformats.org/officeDocument/2006/relationships/image" Target="../media/image19.png"/><Relationship Id="rId4" Type="http://schemas.openxmlformats.org/officeDocument/2006/relationships/image" Target="../media/image15.jpeg"/><Relationship Id="rId9"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25.jpeg"/><Relationship Id="rId2" Type="http://schemas.openxmlformats.org/officeDocument/2006/relationships/notesSlide" Target="../notesSlides/notesSlide4.xml"/><Relationship Id="rId1" Type="http://schemas.openxmlformats.org/officeDocument/2006/relationships/slideLayout" Target="../slideLayouts/slideLayout20.xml"/><Relationship Id="rId6" Type="http://schemas.openxmlformats.org/officeDocument/2006/relationships/image" Target="../media/image24.jpeg"/><Relationship Id="rId5" Type="http://schemas.openxmlformats.org/officeDocument/2006/relationships/image" Target="../media/image23.jpeg"/><Relationship Id="rId4" Type="http://schemas.openxmlformats.org/officeDocument/2006/relationships/image" Target="../media/image22.jpeg"/></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20.xml"/><Relationship Id="rId5" Type="http://schemas.openxmlformats.org/officeDocument/2006/relationships/image" Target="../media/image26.emf"/><Relationship Id="rId4" Type="http://schemas.openxmlformats.org/officeDocument/2006/relationships/package" Target="../embeddings/Microsoft_Visio_Drawing2.vsdx"/></Relationships>
</file>

<file path=ppt/slides/_rels/slide14.xml.rels><?xml version="1.0" encoding="UTF-8" standalone="yes"?>
<Relationships xmlns="http://schemas.openxmlformats.org/package/2006/relationships"><Relationship Id="rId3" Type="http://schemas.openxmlformats.org/officeDocument/2006/relationships/package" Target="../embeddings/Microsoft_Visio_Drawing3.vsdx"/><Relationship Id="rId2" Type="http://schemas.openxmlformats.org/officeDocument/2006/relationships/image" Target="../media/image1.JPG"/><Relationship Id="rId1" Type="http://schemas.openxmlformats.org/officeDocument/2006/relationships/slideLayout" Target="../slideLayouts/slideLayout20.xml"/><Relationship Id="rId4" Type="http://schemas.openxmlformats.org/officeDocument/2006/relationships/image" Target="../media/image27.emf"/></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JPG"/><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JPG"/><Relationship Id="rId1" Type="http://schemas.openxmlformats.org/officeDocument/2006/relationships/slideLayout" Target="../slideLayouts/slideLayout20.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a:extLst>
              <a:ext uri="{FF2B5EF4-FFF2-40B4-BE49-F238E27FC236}">
                <a16:creationId xmlns:a16="http://schemas.microsoft.com/office/drawing/2014/main" id="{535FE1BB-A087-4D6F-94E9-63067AD8BC6F}"/>
              </a:ext>
            </a:extLst>
          </p:cNvPr>
          <p:cNvSpPr>
            <a:spLocks noChangeArrowheads="1"/>
          </p:cNvSpPr>
          <p:nvPr/>
        </p:nvSpPr>
        <p:spPr bwMode="auto">
          <a:xfrm>
            <a:off x="442119" y="76200"/>
            <a:ext cx="8459787" cy="80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52352" bIns="152352"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ctr" hangingPunct="1">
              <a:buFont typeface="Arial" panose="020B0604020202020204" pitchFamily="34" charset="0"/>
              <a:buNone/>
            </a:pPr>
            <a:r>
              <a:rPr lang="zh-CN" altLang="en-US" sz="3200" b="1" dirty="0">
                <a:solidFill>
                  <a:srgbClr val="CC0000"/>
                </a:solidFill>
                <a:latin typeface="Times New Roman" panose="02020603050405020304" pitchFamily="18" charset="0"/>
                <a:ea typeface="黑体" panose="02010609060101010101" pitchFamily="49" charset="-122"/>
                <a:cs typeface="Times New Roman" panose="02020603050405020304" pitchFamily="18" charset="0"/>
              </a:rPr>
              <a:t>西部管道公司科研项目验收</a:t>
            </a:r>
          </a:p>
        </p:txBody>
      </p:sp>
      <p:sp>
        <p:nvSpPr>
          <p:cNvPr id="4099" name="Text Box 5">
            <a:extLst>
              <a:ext uri="{FF2B5EF4-FFF2-40B4-BE49-F238E27FC236}">
                <a16:creationId xmlns:a16="http://schemas.microsoft.com/office/drawing/2014/main" id="{B882693C-C472-42D9-AB0A-40D6348B9F90}"/>
              </a:ext>
            </a:extLst>
          </p:cNvPr>
          <p:cNvSpPr txBox="1">
            <a:spLocks noChangeArrowheads="1"/>
          </p:cNvSpPr>
          <p:nvPr/>
        </p:nvSpPr>
        <p:spPr bwMode="auto">
          <a:xfrm>
            <a:off x="971550" y="1916113"/>
            <a:ext cx="7200900" cy="646331"/>
          </a:xfrm>
          <a:prstGeom prst="rect">
            <a:avLst/>
          </a:prstGeom>
          <a:noFill/>
          <a:ln w="9525">
            <a:noFill/>
            <a:miter lim="800000"/>
            <a:headEnd/>
            <a:tailEnd/>
          </a:ln>
        </p:spPr>
        <p:txBody>
          <a:bodyPr>
            <a:spAutoFit/>
          </a:bodyPr>
          <a:lstStyle/>
          <a:p>
            <a:pPr algn="ctr" eaLnBrk="1" hangingPunct="1">
              <a:spcBef>
                <a:spcPct val="50000"/>
              </a:spcBef>
              <a:defRPr/>
            </a:pPr>
            <a:r>
              <a:rPr lang="en-US" sz="3600" b="1" dirty="0">
                <a:solidFill>
                  <a:srgbClr val="FF0000"/>
                </a:solidFill>
                <a:effectLst>
                  <a:outerShdw blurRad="38100" dist="38100" dir="2700000" algn="tl">
                    <a:srgbClr val="C0C0C0"/>
                  </a:outerShdw>
                </a:effectLst>
                <a:latin typeface="Times New Roman" panose="02020603050405020304" pitchFamily="18" charset="0"/>
                <a:ea typeface="黑体" pitchFamily="49" charset="-122"/>
                <a:cs typeface="Times New Roman" panose="02020603050405020304" pitchFamily="18" charset="0"/>
                <a:sym typeface="+mn-ea"/>
              </a:rPr>
              <a:t>《</a:t>
            </a:r>
            <a:r>
              <a:rPr lang="zh-CN" altLang="en-US" sz="3600" dirty="0">
                <a:solidFill>
                  <a:srgbClr val="FF0000"/>
                </a:solidFill>
                <a:effectLst>
                  <a:outerShdw blurRad="38100" dist="38100" dir="2700000" algn="tl">
                    <a:srgbClr val="C0C0C0"/>
                  </a:outerShdw>
                </a:effectLst>
                <a:latin typeface="Times New Roman" panose="02020603050405020304" pitchFamily="18" charset="0"/>
                <a:ea typeface="黑体" pitchFamily="49" charset="-122"/>
                <a:cs typeface="Times New Roman" panose="02020603050405020304" pitchFamily="18" charset="0"/>
                <a:sym typeface="+mn-ea"/>
              </a:rPr>
              <a:t>可燃气体泄漏检测系统</a:t>
            </a:r>
            <a:r>
              <a:rPr lang="en-US" sz="3600" b="1" dirty="0">
                <a:solidFill>
                  <a:srgbClr val="FF0000"/>
                </a:solidFill>
                <a:effectLst>
                  <a:outerShdw blurRad="38100" dist="38100" dir="2700000" algn="tl">
                    <a:srgbClr val="C0C0C0"/>
                  </a:outerShdw>
                </a:effectLst>
                <a:latin typeface="Times New Roman" panose="02020603050405020304" pitchFamily="18" charset="0"/>
                <a:ea typeface="黑体" pitchFamily="49" charset="-122"/>
                <a:cs typeface="Times New Roman" panose="02020603050405020304" pitchFamily="18" charset="0"/>
                <a:sym typeface="+mn-ea"/>
              </a:rPr>
              <a:t>》</a:t>
            </a:r>
          </a:p>
        </p:txBody>
      </p:sp>
      <p:sp>
        <p:nvSpPr>
          <p:cNvPr id="4100" name="Text Box 6">
            <a:extLst>
              <a:ext uri="{FF2B5EF4-FFF2-40B4-BE49-F238E27FC236}">
                <a16:creationId xmlns:a16="http://schemas.microsoft.com/office/drawing/2014/main" id="{D713FDBB-CDE7-4D4E-8BA6-1286A72310EF}"/>
              </a:ext>
            </a:extLst>
          </p:cNvPr>
          <p:cNvSpPr txBox="1">
            <a:spLocks noChangeArrowheads="1"/>
          </p:cNvSpPr>
          <p:nvPr/>
        </p:nvSpPr>
        <p:spPr bwMode="auto">
          <a:xfrm>
            <a:off x="2976563" y="5299075"/>
            <a:ext cx="31670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r>
              <a:rPr lang="en-US" altLang="zh-CN" sz="28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2021</a:t>
            </a:r>
            <a:r>
              <a:rPr lang="zh-CN" altLang="en-US" sz="28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年</a:t>
            </a:r>
            <a:r>
              <a:rPr lang="en-US" altLang="zh-CN" sz="2800"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4</a:t>
            </a:r>
            <a:r>
              <a:rPr lang="zh-CN" altLang="en-US" sz="28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月</a:t>
            </a:r>
          </a:p>
        </p:txBody>
      </p:sp>
      <p:sp>
        <p:nvSpPr>
          <p:cNvPr id="4101" name="Text Box 7">
            <a:extLst>
              <a:ext uri="{FF2B5EF4-FFF2-40B4-BE49-F238E27FC236}">
                <a16:creationId xmlns:a16="http://schemas.microsoft.com/office/drawing/2014/main" id="{CDB4C60B-BB4E-4D8E-898F-44C58BA349DB}"/>
              </a:ext>
            </a:extLst>
          </p:cNvPr>
          <p:cNvSpPr txBox="1">
            <a:spLocks noChangeArrowheads="1"/>
          </p:cNvSpPr>
          <p:nvPr/>
        </p:nvSpPr>
        <p:spPr bwMode="auto">
          <a:xfrm>
            <a:off x="2843213" y="4724400"/>
            <a:ext cx="3657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r>
              <a:rPr lang="zh-CN" altLang="en-US" sz="2800" b="1">
                <a:solidFill>
                  <a:srgbClr val="000066"/>
                </a:solidFill>
                <a:latin typeface="Times New Roman" panose="02020603050405020304" pitchFamily="18" charset="0"/>
                <a:ea typeface="黑体" panose="02010609060101010101" pitchFamily="49" charset="-122"/>
                <a:cs typeface="Times New Roman" panose="02020603050405020304" pitchFamily="18" charset="0"/>
              </a:rPr>
              <a:t>科技信息服务中心</a:t>
            </a:r>
          </a:p>
        </p:txBody>
      </p:sp>
      <p:sp>
        <p:nvSpPr>
          <p:cNvPr id="4102" name="灯片编号占位符 1">
            <a:extLst>
              <a:ext uri="{FF2B5EF4-FFF2-40B4-BE49-F238E27FC236}">
                <a16:creationId xmlns:a16="http://schemas.microsoft.com/office/drawing/2014/main" id="{627B2EAE-7D07-46BF-8F0C-E002D08E5D0A}"/>
              </a:ext>
            </a:extLst>
          </p:cNvPr>
          <p:cNvSpPr txBox="1">
            <a:spLocks noGrp="1" noChangeArrowheads="1"/>
          </p:cNvSpPr>
          <p:nvPr/>
        </p:nvSpPr>
        <p:spPr bwMode="auto">
          <a:xfrm>
            <a:off x="6934200" y="64579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fld id="{9899B983-BFFA-49AA-8735-85A7342C0243}" type="slidenum">
              <a:rPr lang="en-US" altLang="zh-CN" sz="1400">
                <a:latin typeface="Times New Roman" panose="02020603050405020304" pitchFamily="18" charset="0"/>
                <a:cs typeface="Times New Roman" panose="02020603050405020304" pitchFamily="18" charset="0"/>
              </a:rPr>
              <a:pPr algn="r" eaLnBrk="1" hangingPunct="1">
                <a:buFont typeface="Arial" panose="020B0604020202020204" pitchFamily="34" charset="0"/>
                <a:buNone/>
              </a:pPr>
              <a:t>1</a:t>
            </a:fld>
            <a:endParaRPr lang="en-US" altLang="zh-CN" sz="1400">
              <a:latin typeface="Times New Roman" panose="02020603050405020304" pitchFamily="18" charset="0"/>
              <a:cs typeface="Times New Roman" panose="02020603050405020304" pitchFamily="18" charset="0"/>
            </a:endParaRPr>
          </a:p>
        </p:txBody>
      </p:sp>
      <p:cxnSp>
        <p:nvCxnSpPr>
          <p:cNvPr id="3" name="直接连接符 2">
            <a:extLst>
              <a:ext uri="{FF2B5EF4-FFF2-40B4-BE49-F238E27FC236}">
                <a16:creationId xmlns:a16="http://schemas.microsoft.com/office/drawing/2014/main" id="{7686FC32-ACF9-4B91-B6D2-2F3038640327}"/>
              </a:ext>
            </a:extLst>
          </p:cNvPr>
          <p:cNvCxnSpPr>
            <a:cxnSpLocks/>
          </p:cNvCxnSpPr>
          <p:nvPr/>
        </p:nvCxnSpPr>
        <p:spPr>
          <a:xfrm>
            <a:off x="0" y="990600"/>
            <a:ext cx="9144000" cy="0"/>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pic>
        <p:nvPicPr>
          <p:cNvPr id="6" name="图片 5">
            <a:extLst>
              <a:ext uri="{FF2B5EF4-FFF2-40B4-BE49-F238E27FC236}">
                <a16:creationId xmlns:a16="http://schemas.microsoft.com/office/drawing/2014/main" id="{162DA1E2-F37B-4C72-8EE7-B63997A8C100}"/>
              </a:ext>
            </a:extLst>
          </p:cNvPr>
          <p:cNvPicPr>
            <a:picLocks noChangeAspect="1"/>
          </p:cNvPicPr>
          <p:nvPr/>
        </p:nvPicPr>
        <p:blipFill rotWithShape="1">
          <a:blip r:embed="rId2">
            <a:extLst>
              <a:ext uri="{28A0092B-C50C-407E-A947-70E740481C1C}">
                <a14:useLocalDpi xmlns:a14="http://schemas.microsoft.com/office/drawing/2010/main" val="0"/>
              </a:ext>
            </a:extLst>
          </a:blip>
          <a:srcRect l="5365" t="9391" r="5363" b="16667"/>
          <a:stretch/>
        </p:blipFill>
        <p:spPr>
          <a:xfrm>
            <a:off x="-19050" y="162718"/>
            <a:ext cx="1981200" cy="693738"/>
          </a:xfrm>
          <a:prstGeom prst="rect">
            <a:avLst/>
          </a:prstGeom>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00BF4D4A-8C38-4B6F-97B7-6275CE1792BE}"/>
              </a:ext>
            </a:extLst>
          </p:cNvPr>
          <p:cNvSpPr>
            <a:spLocks noChangeArrowheads="1"/>
          </p:cNvSpPr>
          <p:nvPr/>
        </p:nvSpPr>
        <p:spPr bwMode="auto">
          <a:xfrm>
            <a:off x="2366963" y="192088"/>
            <a:ext cx="4597400"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52352" bIns="152352"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50000"/>
              </a:lnSpc>
              <a:buFont typeface="Arial" panose="020B0604020202020204" pitchFamily="34" charset="0"/>
              <a:buNone/>
            </a:pPr>
            <a:r>
              <a:rPr lang="zh-CN" altLang="en-US" sz="5400" b="1">
                <a:solidFill>
                  <a:srgbClr val="CC0000"/>
                </a:solidFill>
                <a:latin typeface="华文新魏" panose="02010800040101010101" pitchFamily="2" charset="-122"/>
                <a:ea typeface="华文新魏" panose="02010800040101010101" pitchFamily="2" charset="-122"/>
              </a:rPr>
              <a:t>汇  报  提  纲</a:t>
            </a:r>
          </a:p>
        </p:txBody>
      </p:sp>
      <p:sp>
        <p:nvSpPr>
          <p:cNvPr id="5123" name="Text Box 2">
            <a:extLst>
              <a:ext uri="{FF2B5EF4-FFF2-40B4-BE49-F238E27FC236}">
                <a16:creationId xmlns:a16="http://schemas.microsoft.com/office/drawing/2014/main" id="{03FD2BE7-39E2-49F6-9A71-7C99BB53A0DB}"/>
              </a:ext>
            </a:extLst>
          </p:cNvPr>
          <p:cNvSpPr txBox="1">
            <a:spLocks noChangeArrowheads="1"/>
          </p:cNvSpPr>
          <p:nvPr/>
        </p:nvSpPr>
        <p:spPr bwMode="auto">
          <a:xfrm>
            <a:off x="2881710" y="1781661"/>
            <a:ext cx="4509690" cy="3754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dirty="0">
                <a:solidFill>
                  <a:srgbClr val="FF0000"/>
                </a:solidFill>
                <a:latin typeface="黑体" panose="02010609060101010101" pitchFamily="49" charset="-122"/>
                <a:ea typeface="黑体" panose="02010609060101010101" pitchFamily="49" charset="-122"/>
              </a:rPr>
              <a:t>一、系统目标及研究背景 </a:t>
            </a:r>
            <a:endParaRPr lang="en-US" altLang="zh-CN" sz="2800" dirty="0">
              <a:solidFill>
                <a:srgbClr val="FF0000"/>
              </a:solidFill>
              <a:latin typeface="黑体" panose="02010609060101010101" pitchFamily="49" charset="-122"/>
              <a:ea typeface="黑体" panose="02010609060101010101" pitchFamily="49" charset="-122"/>
            </a:endParaRPr>
          </a:p>
          <a:p>
            <a:pPr eaLnBrk="1" hangingPunct="1">
              <a:spcBef>
                <a:spcPct val="50000"/>
              </a:spcBef>
            </a:pPr>
            <a:r>
              <a:rPr lang="zh-CN" altLang="en-US" sz="2800" dirty="0">
                <a:solidFill>
                  <a:srgbClr val="000066"/>
                </a:solidFill>
                <a:latin typeface="黑体" panose="02010609060101010101" pitchFamily="49" charset="-122"/>
                <a:ea typeface="黑体" panose="02010609060101010101" pitchFamily="49" charset="-122"/>
              </a:rPr>
              <a:t>二、</a:t>
            </a:r>
            <a:r>
              <a:rPr lang="en-US" altLang="zh-CN" sz="2800" dirty="0">
                <a:solidFill>
                  <a:srgbClr val="000066"/>
                </a:solidFill>
                <a:latin typeface="黑体" panose="02010609060101010101" pitchFamily="49" charset="-122"/>
                <a:ea typeface="黑体" panose="02010609060101010101" pitchFamily="49" charset="-122"/>
              </a:rPr>
              <a:t>TDLAS</a:t>
            </a:r>
            <a:r>
              <a:rPr lang="zh-CN" altLang="en-US" sz="2800" dirty="0">
                <a:solidFill>
                  <a:srgbClr val="000066"/>
                </a:solidFill>
                <a:latin typeface="黑体" panose="02010609060101010101" pitchFamily="49" charset="-122"/>
                <a:ea typeface="黑体" panose="02010609060101010101" pitchFamily="49" charset="-122"/>
              </a:rPr>
              <a:t>技术原理</a:t>
            </a:r>
            <a:endParaRPr lang="en-US" altLang="zh-CN" sz="2800" dirty="0">
              <a:solidFill>
                <a:srgbClr val="000066"/>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buNone/>
            </a:pPr>
            <a:r>
              <a:rPr lang="zh-CN" altLang="en-US" sz="2800" b="1" dirty="0">
                <a:solidFill>
                  <a:srgbClr val="000066"/>
                </a:solidFill>
                <a:latin typeface="黑体" panose="02010609060101010101" pitchFamily="49" charset="-122"/>
                <a:ea typeface="黑体" panose="02010609060101010101" pitchFamily="49" charset="-122"/>
              </a:rPr>
              <a:t>三、硬件选型与设计</a:t>
            </a:r>
            <a:endParaRPr lang="en-US" altLang="zh-CN" sz="2800" b="1" dirty="0">
              <a:solidFill>
                <a:srgbClr val="000066"/>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buNone/>
            </a:pPr>
            <a:r>
              <a:rPr lang="zh-CN" altLang="en-US" sz="2800" dirty="0">
                <a:solidFill>
                  <a:srgbClr val="000066"/>
                </a:solidFill>
                <a:latin typeface="黑体" panose="02010609060101010101" pitchFamily="49" charset="-122"/>
                <a:ea typeface="黑体" panose="02010609060101010101" pitchFamily="49" charset="-122"/>
              </a:rPr>
              <a:t>四</a:t>
            </a:r>
            <a:r>
              <a:rPr lang="zh-CN" altLang="en-US" sz="2800" b="1" dirty="0">
                <a:solidFill>
                  <a:srgbClr val="000066"/>
                </a:solidFill>
                <a:latin typeface="黑体" panose="02010609060101010101" pitchFamily="49" charset="-122"/>
                <a:ea typeface="黑体" panose="02010609060101010101" pitchFamily="49" charset="-122"/>
              </a:rPr>
              <a:t>、硬件平台</a:t>
            </a:r>
            <a:endParaRPr lang="en-US" altLang="zh-CN" sz="2800" b="1" dirty="0">
              <a:solidFill>
                <a:srgbClr val="000066"/>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buNone/>
            </a:pPr>
            <a:r>
              <a:rPr lang="zh-CN" altLang="en-US" sz="2800" dirty="0">
                <a:solidFill>
                  <a:srgbClr val="000066"/>
                </a:solidFill>
                <a:latin typeface="黑体" panose="02010609060101010101" pitchFamily="49" charset="-122"/>
                <a:ea typeface="黑体" panose="02010609060101010101" pitchFamily="49" charset="-122"/>
              </a:rPr>
              <a:t>五</a:t>
            </a:r>
            <a:r>
              <a:rPr lang="zh-CN" altLang="en-US" sz="2800" b="1" dirty="0">
                <a:solidFill>
                  <a:srgbClr val="000066"/>
                </a:solidFill>
                <a:latin typeface="黑体" panose="02010609060101010101" pitchFamily="49" charset="-122"/>
                <a:ea typeface="黑体" panose="02010609060101010101" pitchFamily="49" charset="-122"/>
              </a:rPr>
              <a:t>、监控平台</a:t>
            </a:r>
            <a:endParaRPr lang="en-US" altLang="zh-CN" sz="2800" b="1" dirty="0">
              <a:solidFill>
                <a:srgbClr val="000066"/>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buNone/>
            </a:pPr>
            <a:r>
              <a:rPr lang="zh-CN" altLang="en-US" sz="2800" b="1" dirty="0">
                <a:solidFill>
                  <a:srgbClr val="000066"/>
                </a:solidFill>
                <a:latin typeface="黑体" panose="02010609060101010101" pitchFamily="49" charset="-122"/>
                <a:ea typeface="黑体" panose="02010609060101010101" pitchFamily="49" charset="-122"/>
              </a:rPr>
              <a:t>六、系统后续进展</a:t>
            </a:r>
            <a:endParaRPr lang="en-US" altLang="zh-CN" sz="2800" b="1" dirty="0">
              <a:solidFill>
                <a:srgbClr val="000066"/>
              </a:solidFill>
              <a:latin typeface="黑体" panose="02010609060101010101" pitchFamily="49" charset="-122"/>
              <a:ea typeface="黑体" panose="02010609060101010101" pitchFamily="49" charset="-122"/>
            </a:endParaRPr>
          </a:p>
        </p:txBody>
      </p:sp>
      <p:sp>
        <p:nvSpPr>
          <p:cNvPr id="5124" name="灯片编号占位符 1">
            <a:extLst>
              <a:ext uri="{FF2B5EF4-FFF2-40B4-BE49-F238E27FC236}">
                <a16:creationId xmlns:a16="http://schemas.microsoft.com/office/drawing/2014/main" id="{BB56ADB0-04AF-4CE3-9017-F6E15E580F29}"/>
              </a:ext>
            </a:extLst>
          </p:cNvPr>
          <p:cNvSpPr txBox="1">
            <a:spLocks noGrp="1" noChangeArrowheads="1"/>
          </p:cNvSpPr>
          <p:nvPr/>
        </p:nvSpPr>
        <p:spPr bwMode="auto">
          <a:xfrm>
            <a:off x="6934200" y="64579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fld id="{7C452FCC-F500-4704-91E2-2F390F4FF943}" type="slidenum">
              <a:rPr lang="en-US" altLang="zh-CN" sz="1400"/>
              <a:pPr algn="r" eaLnBrk="1" hangingPunct="1">
                <a:buFont typeface="Arial" panose="020B0604020202020204" pitchFamily="34" charset="0"/>
                <a:buNone/>
              </a:pPr>
              <a:t>2</a:t>
            </a:fld>
            <a:endParaRPr lang="en-US" altLang="zh-CN" sz="1400"/>
          </a:p>
        </p:txBody>
      </p:sp>
      <p:cxnSp>
        <p:nvCxnSpPr>
          <p:cNvPr id="5" name="直接连接符 4">
            <a:extLst>
              <a:ext uri="{FF2B5EF4-FFF2-40B4-BE49-F238E27FC236}">
                <a16:creationId xmlns:a16="http://schemas.microsoft.com/office/drawing/2014/main" id="{58CF87F1-3AD9-4206-9BE0-16FF13E7AEFE}"/>
              </a:ext>
            </a:extLst>
          </p:cNvPr>
          <p:cNvCxnSpPr>
            <a:cxnSpLocks/>
          </p:cNvCxnSpPr>
          <p:nvPr/>
        </p:nvCxnSpPr>
        <p:spPr>
          <a:xfrm>
            <a:off x="0" y="990600"/>
            <a:ext cx="9144000" cy="0"/>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pic>
        <p:nvPicPr>
          <p:cNvPr id="6" name="图片 5">
            <a:extLst>
              <a:ext uri="{FF2B5EF4-FFF2-40B4-BE49-F238E27FC236}">
                <a16:creationId xmlns:a16="http://schemas.microsoft.com/office/drawing/2014/main" id="{05A39EF2-C128-4002-8834-888366A5B9C4}"/>
              </a:ext>
            </a:extLst>
          </p:cNvPr>
          <p:cNvPicPr>
            <a:picLocks noChangeAspect="1"/>
          </p:cNvPicPr>
          <p:nvPr/>
        </p:nvPicPr>
        <p:blipFill rotWithShape="1">
          <a:blip r:embed="rId2">
            <a:extLst>
              <a:ext uri="{28A0092B-C50C-407E-A947-70E740481C1C}">
                <a14:useLocalDpi xmlns:a14="http://schemas.microsoft.com/office/drawing/2010/main" val="0"/>
              </a:ext>
            </a:extLst>
          </a:blip>
          <a:srcRect l="5365" t="9391" r="5363" b="16667"/>
          <a:stretch/>
        </p:blipFill>
        <p:spPr>
          <a:xfrm>
            <a:off x="-19050" y="162718"/>
            <a:ext cx="1981200" cy="693738"/>
          </a:xfrm>
          <a:prstGeom prst="rect">
            <a:avLst/>
          </a:prstGeom>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00BF4D4A-8C38-4B6F-97B7-6275CE1792BE}"/>
              </a:ext>
            </a:extLst>
          </p:cNvPr>
          <p:cNvSpPr>
            <a:spLocks noChangeArrowheads="1"/>
          </p:cNvSpPr>
          <p:nvPr/>
        </p:nvSpPr>
        <p:spPr bwMode="auto">
          <a:xfrm>
            <a:off x="2366962" y="85601"/>
            <a:ext cx="5024437" cy="800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152352" bIns="152352"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dirty="0">
                <a:solidFill>
                  <a:srgbClr val="FF0000"/>
                </a:solidFill>
                <a:latin typeface="黑体" panose="02010609060101010101" pitchFamily="49" charset="-122"/>
                <a:ea typeface="黑体" panose="02010609060101010101" pitchFamily="49" charset="-122"/>
              </a:rPr>
              <a:t>一、系统目标及研究背景 </a:t>
            </a:r>
            <a:endParaRPr lang="en-US" altLang="zh-CN" sz="3200" dirty="0">
              <a:solidFill>
                <a:srgbClr val="FF0000"/>
              </a:solidFill>
              <a:latin typeface="黑体" panose="02010609060101010101" pitchFamily="49" charset="-122"/>
              <a:ea typeface="黑体" panose="02010609060101010101" pitchFamily="49" charset="-122"/>
            </a:endParaRPr>
          </a:p>
        </p:txBody>
      </p:sp>
      <p:sp>
        <p:nvSpPr>
          <p:cNvPr id="5124" name="灯片编号占位符 1">
            <a:extLst>
              <a:ext uri="{FF2B5EF4-FFF2-40B4-BE49-F238E27FC236}">
                <a16:creationId xmlns:a16="http://schemas.microsoft.com/office/drawing/2014/main" id="{BB56ADB0-04AF-4CE3-9017-F6E15E580F29}"/>
              </a:ext>
            </a:extLst>
          </p:cNvPr>
          <p:cNvSpPr txBox="1">
            <a:spLocks noGrp="1" noChangeArrowheads="1"/>
          </p:cNvSpPr>
          <p:nvPr/>
        </p:nvSpPr>
        <p:spPr bwMode="auto">
          <a:xfrm>
            <a:off x="6934200" y="64579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fld id="{7C452FCC-F500-4704-91E2-2F390F4FF943}" type="slidenum">
              <a:rPr lang="en-US" altLang="zh-CN" sz="1400"/>
              <a:pPr algn="r" eaLnBrk="1" hangingPunct="1">
                <a:buFont typeface="Arial" panose="020B0604020202020204" pitchFamily="34" charset="0"/>
                <a:buNone/>
              </a:pPr>
              <a:t>3</a:t>
            </a:fld>
            <a:endParaRPr lang="en-US" altLang="zh-CN" sz="1400"/>
          </a:p>
        </p:txBody>
      </p:sp>
      <p:cxnSp>
        <p:nvCxnSpPr>
          <p:cNvPr id="5" name="直接连接符 4">
            <a:extLst>
              <a:ext uri="{FF2B5EF4-FFF2-40B4-BE49-F238E27FC236}">
                <a16:creationId xmlns:a16="http://schemas.microsoft.com/office/drawing/2014/main" id="{58CF87F1-3AD9-4206-9BE0-16FF13E7AEFE}"/>
              </a:ext>
            </a:extLst>
          </p:cNvPr>
          <p:cNvCxnSpPr>
            <a:cxnSpLocks/>
          </p:cNvCxnSpPr>
          <p:nvPr/>
        </p:nvCxnSpPr>
        <p:spPr>
          <a:xfrm>
            <a:off x="0" y="990600"/>
            <a:ext cx="9144000" cy="0"/>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pic>
        <p:nvPicPr>
          <p:cNvPr id="6" name="图片 5">
            <a:extLst>
              <a:ext uri="{FF2B5EF4-FFF2-40B4-BE49-F238E27FC236}">
                <a16:creationId xmlns:a16="http://schemas.microsoft.com/office/drawing/2014/main" id="{05A39EF2-C128-4002-8834-888366A5B9C4}"/>
              </a:ext>
            </a:extLst>
          </p:cNvPr>
          <p:cNvPicPr>
            <a:picLocks noChangeAspect="1"/>
          </p:cNvPicPr>
          <p:nvPr/>
        </p:nvPicPr>
        <p:blipFill rotWithShape="1">
          <a:blip r:embed="rId2">
            <a:extLst>
              <a:ext uri="{28A0092B-C50C-407E-A947-70E740481C1C}">
                <a14:useLocalDpi xmlns:a14="http://schemas.microsoft.com/office/drawing/2010/main" val="0"/>
              </a:ext>
            </a:extLst>
          </a:blip>
          <a:srcRect l="5365" t="9391" r="5363" b="16667"/>
          <a:stretch/>
        </p:blipFill>
        <p:spPr>
          <a:xfrm>
            <a:off x="-19050" y="162718"/>
            <a:ext cx="1981200" cy="693738"/>
          </a:xfrm>
          <a:prstGeom prst="rect">
            <a:avLst/>
          </a:prstGeom>
        </p:spPr>
      </p:pic>
      <p:graphicFrame>
        <p:nvGraphicFramePr>
          <p:cNvPr id="2" name="表格 1">
            <a:extLst>
              <a:ext uri="{FF2B5EF4-FFF2-40B4-BE49-F238E27FC236}">
                <a16:creationId xmlns:a16="http://schemas.microsoft.com/office/drawing/2014/main" id="{EC334D85-EDC2-46AE-928F-98E48F7DDF0A}"/>
              </a:ext>
            </a:extLst>
          </p:cNvPr>
          <p:cNvGraphicFramePr>
            <a:graphicFrameLocks noGrp="1"/>
          </p:cNvGraphicFramePr>
          <p:nvPr>
            <p:extLst>
              <p:ext uri="{D42A27DB-BD31-4B8C-83A1-F6EECF244321}">
                <p14:modId xmlns:p14="http://schemas.microsoft.com/office/powerpoint/2010/main" val="2789461087"/>
              </p:ext>
            </p:extLst>
          </p:nvPr>
        </p:nvGraphicFramePr>
        <p:xfrm>
          <a:off x="495300" y="1095478"/>
          <a:ext cx="8343898" cy="5526076"/>
        </p:xfrm>
        <a:graphic>
          <a:graphicData uri="http://schemas.openxmlformats.org/drawingml/2006/table">
            <a:tbl>
              <a:tblPr firstRow="1" firstCol="1" bandRow="1">
                <a:tableStyleId>{5C22544A-7EE6-4342-B048-85BDC9FD1C3A}</a:tableStyleId>
              </a:tblPr>
              <a:tblGrid>
                <a:gridCol w="1949510">
                  <a:extLst>
                    <a:ext uri="{9D8B030D-6E8A-4147-A177-3AD203B41FA5}">
                      <a16:colId xmlns:a16="http://schemas.microsoft.com/office/drawing/2014/main" val="3115424258"/>
                    </a:ext>
                  </a:extLst>
                </a:gridCol>
                <a:gridCol w="662832">
                  <a:extLst>
                    <a:ext uri="{9D8B030D-6E8A-4147-A177-3AD203B41FA5}">
                      <a16:colId xmlns:a16="http://schemas.microsoft.com/office/drawing/2014/main" val="1047878944"/>
                    </a:ext>
                  </a:extLst>
                </a:gridCol>
                <a:gridCol w="963615">
                  <a:extLst>
                    <a:ext uri="{9D8B030D-6E8A-4147-A177-3AD203B41FA5}">
                      <a16:colId xmlns:a16="http://schemas.microsoft.com/office/drawing/2014/main" val="3273588492"/>
                    </a:ext>
                  </a:extLst>
                </a:gridCol>
                <a:gridCol w="1415143">
                  <a:extLst>
                    <a:ext uri="{9D8B030D-6E8A-4147-A177-3AD203B41FA5}">
                      <a16:colId xmlns:a16="http://schemas.microsoft.com/office/drawing/2014/main" val="3971539733"/>
                    </a:ext>
                  </a:extLst>
                </a:gridCol>
                <a:gridCol w="1130359">
                  <a:extLst>
                    <a:ext uri="{9D8B030D-6E8A-4147-A177-3AD203B41FA5}">
                      <a16:colId xmlns:a16="http://schemas.microsoft.com/office/drawing/2014/main" val="2458699763"/>
                    </a:ext>
                  </a:extLst>
                </a:gridCol>
                <a:gridCol w="927041">
                  <a:extLst>
                    <a:ext uri="{9D8B030D-6E8A-4147-A177-3AD203B41FA5}">
                      <a16:colId xmlns:a16="http://schemas.microsoft.com/office/drawing/2014/main" val="1252193190"/>
                    </a:ext>
                  </a:extLst>
                </a:gridCol>
                <a:gridCol w="1295398">
                  <a:extLst>
                    <a:ext uri="{9D8B030D-6E8A-4147-A177-3AD203B41FA5}">
                      <a16:colId xmlns:a16="http://schemas.microsoft.com/office/drawing/2014/main" val="3623664108"/>
                    </a:ext>
                  </a:extLst>
                </a:gridCol>
              </a:tblGrid>
              <a:tr h="375568">
                <a:tc>
                  <a:txBody>
                    <a:bodyPr/>
                    <a:lstStyle/>
                    <a:p>
                      <a:pPr indent="127000" algn="ctr">
                        <a:lnSpc>
                          <a:spcPts val="2200"/>
                        </a:lnSpc>
                      </a:pPr>
                      <a:r>
                        <a:rPr lang="zh-CN" sz="1400" kern="100" dirty="0">
                          <a:effectLst/>
                        </a:rPr>
                        <a:t>检测方法</a:t>
                      </a:r>
                      <a:endParaRPr lang="zh-CN" sz="1400" kern="100" dirty="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费用</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检测速度</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系统改造难度</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使用难度</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泄漏定位</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泄漏大小估计</a:t>
                      </a:r>
                      <a:endParaRPr lang="zh-CN" sz="1400" kern="100">
                        <a:effectLst/>
                        <a:latin typeface="Times New Roman" panose="02020603050405020304" pitchFamily="18" charset="0"/>
                        <a:ea typeface="宋体" panose="02010600030101010101" pitchFamily="2" charset="-122"/>
                      </a:endParaRPr>
                    </a:p>
                  </a:txBody>
                  <a:tcPr marL="40096" marR="40096" marT="0" marB="0"/>
                </a:tc>
                <a:extLst>
                  <a:ext uri="{0D108BD9-81ED-4DB2-BD59-A6C34878D82A}">
                    <a16:rowId xmlns:a16="http://schemas.microsoft.com/office/drawing/2014/main" val="3158120410"/>
                  </a:ext>
                </a:extLst>
              </a:tr>
              <a:tr h="221073">
                <a:tc>
                  <a:txBody>
                    <a:bodyPr/>
                    <a:lstStyle/>
                    <a:p>
                      <a:pPr indent="127000" algn="ctr">
                        <a:lnSpc>
                          <a:spcPts val="2200"/>
                        </a:lnSpc>
                      </a:pPr>
                      <a:r>
                        <a:rPr lang="zh-CN" sz="1400" kern="100">
                          <a:effectLst/>
                        </a:rPr>
                        <a:t>声波检测法</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高</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快</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易</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易</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可</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可</a:t>
                      </a:r>
                      <a:endParaRPr lang="zh-CN" sz="1400" kern="100">
                        <a:effectLst/>
                        <a:latin typeface="Times New Roman" panose="02020603050405020304" pitchFamily="18" charset="0"/>
                        <a:ea typeface="宋体" panose="02010600030101010101" pitchFamily="2" charset="-122"/>
                      </a:endParaRPr>
                    </a:p>
                  </a:txBody>
                  <a:tcPr marL="40096" marR="40096" marT="0" marB="0"/>
                </a:tc>
                <a:extLst>
                  <a:ext uri="{0D108BD9-81ED-4DB2-BD59-A6C34878D82A}">
                    <a16:rowId xmlns:a16="http://schemas.microsoft.com/office/drawing/2014/main" val="3652677743"/>
                  </a:ext>
                </a:extLst>
              </a:tr>
              <a:tr h="296332">
                <a:tc>
                  <a:txBody>
                    <a:bodyPr/>
                    <a:lstStyle/>
                    <a:p>
                      <a:pPr indent="127000" algn="ctr">
                        <a:lnSpc>
                          <a:spcPts val="2200"/>
                        </a:lnSpc>
                      </a:pPr>
                      <a:r>
                        <a:rPr lang="zh-CN" sz="1400" kern="100">
                          <a:effectLst/>
                        </a:rPr>
                        <a:t>激光雷达（</a:t>
                      </a:r>
                      <a:r>
                        <a:rPr lang="en-US" sz="1400" kern="100">
                          <a:effectLst/>
                        </a:rPr>
                        <a:t>LIDAR</a:t>
                      </a:r>
                      <a:r>
                        <a:rPr lang="zh-CN" sz="1400" kern="100">
                          <a:effectLst/>
                        </a:rPr>
                        <a:t>）</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高</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中</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易</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可</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可</a:t>
                      </a:r>
                      <a:endParaRPr lang="zh-CN" sz="1400" kern="100">
                        <a:effectLst/>
                        <a:latin typeface="Times New Roman" panose="02020603050405020304" pitchFamily="18" charset="0"/>
                        <a:ea typeface="宋体" panose="02010600030101010101" pitchFamily="2" charset="-122"/>
                      </a:endParaRPr>
                    </a:p>
                  </a:txBody>
                  <a:tcPr marL="40096" marR="40096" marT="0" marB="0"/>
                </a:tc>
                <a:extLst>
                  <a:ext uri="{0D108BD9-81ED-4DB2-BD59-A6C34878D82A}">
                    <a16:rowId xmlns:a16="http://schemas.microsoft.com/office/drawing/2014/main" val="3242528247"/>
                  </a:ext>
                </a:extLst>
              </a:tr>
              <a:tr h="769196">
                <a:tc>
                  <a:txBody>
                    <a:bodyPr/>
                    <a:lstStyle/>
                    <a:p>
                      <a:pPr indent="127000" algn="ctr">
                        <a:lnSpc>
                          <a:spcPts val="2200"/>
                        </a:lnSpc>
                      </a:pPr>
                      <a:r>
                        <a:rPr lang="zh-CN" sz="1400" kern="100" dirty="0">
                          <a:solidFill>
                            <a:srgbClr val="FF0000"/>
                          </a:solidFill>
                          <a:effectLst/>
                        </a:rPr>
                        <a:t>可调谐半导体激光吸收光谱技术（</a:t>
                      </a:r>
                      <a:r>
                        <a:rPr lang="en-US" sz="1400" kern="100" dirty="0">
                          <a:solidFill>
                            <a:srgbClr val="FF0000"/>
                          </a:solidFill>
                          <a:effectLst/>
                        </a:rPr>
                        <a:t>TDLAS</a:t>
                      </a:r>
                      <a:r>
                        <a:rPr lang="zh-CN" sz="1400" kern="100" dirty="0">
                          <a:solidFill>
                            <a:srgbClr val="FF0000"/>
                          </a:solidFill>
                          <a:effectLst/>
                        </a:rPr>
                        <a:t>）</a:t>
                      </a:r>
                      <a:endParaRPr lang="zh-CN" sz="1400" kern="100" dirty="0">
                        <a:solidFill>
                          <a:srgbClr val="FF0000"/>
                        </a:solidFill>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dirty="0">
                          <a:solidFill>
                            <a:srgbClr val="FF0000"/>
                          </a:solidFill>
                          <a:effectLst/>
                        </a:rPr>
                        <a:t>中</a:t>
                      </a:r>
                      <a:endParaRPr lang="zh-CN" sz="1400" kern="100" dirty="0">
                        <a:solidFill>
                          <a:srgbClr val="FF0000"/>
                        </a:solidFill>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dirty="0">
                          <a:solidFill>
                            <a:srgbClr val="FF0000"/>
                          </a:solidFill>
                          <a:effectLst/>
                        </a:rPr>
                        <a:t>中</a:t>
                      </a:r>
                      <a:endParaRPr lang="zh-CN" sz="1400" kern="100" dirty="0">
                        <a:solidFill>
                          <a:srgbClr val="FF0000"/>
                        </a:solidFill>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dirty="0">
                          <a:solidFill>
                            <a:srgbClr val="FF0000"/>
                          </a:solidFill>
                          <a:effectLst/>
                        </a:rPr>
                        <a:t>—</a:t>
                      </a:r>
                      <a:endParaRPr lang="zh-CN" sz="1400" kern="100" dirty="0">
                        <a:solidFill>
                          <a:srgbClr val="FF0000"/>
                        </a:solidFill>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dirty="0">
                          <a:solidFill>
                            <a:srgbClr val="FF0000"/>
                          </a:solidFill>
                          <a:effectLst/>
                        </a:rPr>
                        <a:t>易</a:t>
                      </a:r>
                      <a:endParaRPr lang="zh-CN" sz="1400" kern="100" dirty="0">
                        <a:solidFill>
                          <a:srgbClr val="FF0000"/>
                        </a:solidFill>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solidFill>
                            <a:srgbClr val="FF0000"/>
                          </a:solidFill>
                          <a:effectLst/>
                        </a:rPr>
                        <a:t>可</a:t>
                      </a:r>
                      <a:endParaRPr lang="zh-CN" sz="1400" kern="100">
                        <a:solidFill>
                          <a:srgbClr val="FF0000"/>
                        </a:solidFill>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dirty="0">
                          <a:solidFill>
                            <a:srgbClr val="FF0000"/>
                          </a:solidFill>
                          <a:effectLst/>
                        </a:rPr>
                        <a:t>可</a:t>
                      </a:r>
                      <a:endParaRPr lang="zh-CN" sz="1400" kern="100" dirty="0">
                        <a:solidFill>
                          <a:srgbClr val="FF0000"/>
                        </a:solidFill>
                        <a:effectLst/>
                        <a:latin typeface="Times New Roman" panose="02020603050405020304" pitchFamily="18" charset="0"/>
                        <a:ea typeface="宋体" panose="02010600030101010101" pitchFamily="2" charset="-122"/>
                      </a:endParaRPr>
                    </a:p>
                  </a:txBody>
                  <a:tcPr marL="40096" marR="40096" marT="0" marB="0"/>
                </a:tc>
                <a:extLst>
                  <a:ext uri="{0D108BD9-81ED-4DB2-BD59-A6C34878D82A}">
                    <a16:rowId xmlns:a16="http://schemas.microsoft.com/office/drawing/2014/main" val="2563874499"/>
                  </a:ext>
                </a:extLst>
              </a:tr>
              <a:tr h="298326">
                <a:tc>
                  <a:txBody>
                    <a:bodyPr/>
                    <a:lstStyle/>
                    <a:p>
                      <a:pPr indent="127000" algn="ctr">
                        <a:lnSpc>
                          <a:spcPts val="2200"/>
                        </a:lnSpc>
                      </a:pPr>
                      <a:r>
                        <a:rPr lang="zh-CN" sz="1400" kern="100">
                          <a:effectLst/>
                        </a:rPr>
                        <a:t>毫米波雷达系统</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高</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中</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dirty="0">
                          <a:effectLst/>
                        </a:rPr>
                        <a:t>易</a:t>
                      </a:r>
                      <a:endParaRPr lang="zh-CN" sz="1400" kern="100" dirty="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dirty="0">
                          <a:effectLst/>
                        </a:rPr>
                        <a:t>可</a:t>
                      </a:r>
                      <a:endParaRPr lang="zh-CN" sz="1400" kern="100" dirty="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dirty="0">
                          <a:effectLst/>
                        </a:rPr>
                        <a:t>可</a:t>
                      </a:r>
                      <a:endParaRPr lang="zh-CN" sz="1400" kern="100" dirty="0">
                        <a:effectLst/>
                        <a:latin typeface="Times New Roman" panose="02020603050405020304" pitchFamily="18" charset="0"/>
                        <a:ea typeface="宋体" panose="02010600030101010101" pitchFamily="2" charset="-122"/>
                      </a:endParaRPr>
                    </a:p>
                  </a:txBody>
                  <a:tcPr marL="40096" marR="40096" marT="0" marB="0"/>
                </a:tc>
                <a:extLst>
                  <a:ext uri="{0D108BD9-81ED-4DB2-BD59-A6C34878D82A}">
                    <a16:rowId xmlns:a16="http://schemas.microsoft.com/office/drawing/2014/main" val="3375207922"/>
                  </a:ext>
                </a:extLst>
              </a:tr>
              <a:tr h="298326">
                <a:tc>
                  <a:txBody>
                    <a:bodyPr/>
                    <a:lstStyle/>
                    <a:p>
                      <a:pPr indent="127000" algn="ctr">
                        <a:lnSpc>
                          <a:spcPts val="2200"/>
                        </a:lnSpc>
                      </a:pPr>
                      <a:r>
                        <a:rPr lang="zh-CN" sz="1400" kern="100">
                          <a:effectLst/>
                        </a:rPr>
                        <a:t>背向散射成像</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高</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中</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易</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dirty="0">
                          <a:effectLst/>
                        </a:rPr>
                        <a:t>可</a:t>
                      </a:r>
                      <a:endParaRPr lang="zh-CN" sz="1400" kern="100" dirty="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可</a:t>
                      </a:r>
                      <a:endParaRPr lang="zh-CN" sz="1400" kern="100">
                        <a:effectLst/>
                        <a:latin typeface="Times New Roman" panose="02020603050405020304" pitchFamily="18" charset="0"/>
                        <a:ea typeface="宋体" panose="02010600030101010101" pitchFamily="2" charset="-122"/>
                      </a:endParaRPr>
                    </a:p>
                  </a:txBody>
                  <a:tcPr marL="40096" marR="40096" marT="0" marB="0"/>
                </a:tc>
                <a:extLst>
                  <a:ext uri="{0D108BD9-81ED-4DB2-BD59-A6C34878D82A}">
                    <a16:rowId xmlns:a16="http://schemas.microsoft.com/office/drawing/2014/main" val="1361682601"/>
                  </a:ext>
                </a:extLst>
              </a:tr>
              <a:tr h="298326">
                <a:tc>
                  <a:txBody>
                    <a:bodyPr/>
                    <a:lstStyle/>
                    <a:p>
                      <a:pPr indent="127000" algn="ctr">
                        <a:lnSpc>
                          <a:spcPts val="2200"/>
                        </a:lnSpc>
                      </a:pPr>
                      <a:r>
                        <a:rPr lang="zh-CN" sz="1400" kern="100">
                          <a:effectLst/>
                        </a:rPr>
                        <a:t>宽带吸收系统</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低</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中</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难</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可</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可</a:t>
                      </a:r>
                      <a:endParaRPr lang="zh-CN" sz="1400" kern="100">
                        <a:effectLst/>
                        <a:latin typeface="Times New Roman" panose="02020603050405020304" pitchFamily="18" charset="0"/>
                        <a:ea typeface="宋体" panose="02010600030101010101" pitchFamily="2" charset="-122"/>
                      </a:endParaRPr>
                    </a:p>
                  </a:txBody>
                  <a:tcPr marL="40096" marR="40096" marT="0" marB="0"/>
                </a:tc>
                <a:extLst>
                  <a:ext uri="{0D108BD9-81ED-4DB2-BD59-A6C34878D82A}">
                    <a16:rowId xmlns:a16="http://schemas.microsoft.com/office/drawing/2014/main" val="1015609786"/>
                  </a:ext>
                </a:extLst>
              </a:tr>
              <a:tr h="223800">
                <a:tc>
                  <a:txBody>
                    <a:bodyPr/>
                    <a:lstStyle/>
                    <a:p>
                      <a:pPr indent="127000" algn="ctr">
                        <a:lnSpc>
                          <a:spcPts val="2200"/>
                        </a:lnSpc>
                      </a:pPr>
                      <a:r>
                        <a:rPr lang="zh-CN" sz="1400" kern="100">
                          <a:effectLst/>
                        </a:rPr>
                        <a:t>光纤</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高</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快</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难</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易</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可</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可</a:t>
                      </a:r>
                      <a:endParaRPr lang="zh-CN" sz="1400" kern="100">
                        <a:effectLst/>
                        <a:latin typeface="Times New Roman" panose="02020603050405020304" pitchFamily="18" charset="0"/>
                        <a:ea typeface="宋体" panose="02010600030101010101" pitchFamily="2" charset="-122"/>
                      </a:endParaRPr>
                    </a:p>
                  </a:txBody>
                  <a:tcPr marL="40096" marR="40096" marT="0" marB="0"/>
                </a:tc>
                <a:extLst>
                  <a:ext uri="{0D108BD9-81ED-4DB2-BD59-A6C34878D82A}">
                    <a16:rowId xmlns:a16="http://schemas.microsoft.com/office/drawing/2014/main" val="2307816595"/>
                  </a:ext>
                </a:extLst>
              </a:tr>
              <a:tr h="223800">
                <a:tc>
                  <a:txBody>
                    <a:bodyPr/>
                    <a:lstStyle/>
                    <a:p>
                      <a:pPr indent="127000" algn="ctr">
                        <a:lnSpc>
                          <a:spcPts val="2200"/>
                        </a:lnSpc>
                      </a:pPr>
                      <a:r>
                        <a:rPr lang="zh-CN" sz="1400" kern="100">
                          <a:effectLst/>
                        </a:rPr>
                        <a:t>热成像</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高</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中</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易</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可</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可</a:t>
                      </a:r>
                      <a:endParaRPr lang="zh-CN" sz="1400" kern="100">
                        <a:effectLst/>
                        <a:latin typeface="Times New Roman" panose="02020603050405020304" pitchFamily="18" charset="0"/>
                        <a:ea typeface="宋体" panose="02010600030101010101" pitchFamily="2" charset="-122"/>
                      </a:endParaRPr>
                    </a:p>
                  </a:txBody>
                  <a:tcPr marL="40096" marR="40096" marT="0" marB="0"/>
                </a:tc>
                <a:extLst>
                  <a:ext uri="{0D108BD9-81ED-4DB2-BD59-A6C34878D82A}">
                    <a16:rowId xmlns:a16="http://schemas.microsoft.com/office/drawing/2014/main" val="3200726584"/>
                  </a:ext>
                </a:extLst>
              </a:tr>
              <a:tr h="223800">
                <a:tc>
                  <a:txBody>
                    <a:bodyPr/>
                    <a:lstStyle/>
                    <a:p>
                      <a:pPr indent="127000" algn="ctr">
                        <a:lnSpc>
                          <a:spcPts val="2200"/>
                        </a:lnSpc>
                      </a:pPr>
                      <a:r>
                        <a:rPr lang="zh-CN" sz="1400" kern="100">
                          <a:effectLst/>
                        </a:rPr>
                        <a:t>多光谱成像</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高</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中</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易</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可</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可</a:t>
                      </a:r>
                      <a:endParaRPr lang="zh-CN" sz="1400" kern="100">
                        <a:effectLst/>
                        <a:latin typeface="Times New Roman" panose="02020603050405020304" pitchFamily="18" charset="0"/>
                        <a:ea typeface="宋体" panose="02010600030101010101" pitchFamily="2" charset="-122"/>
                      </a:endParaRPr>
                    </a:p>
                  </a:txBody>
                  <a:tcPr marL="40096" marR="40096" marT="0" marB="0"/>
                </a:tc>
                <a:extLst>
                  <a:ext uri="{0D108BD9-81ED-4DB2-BD59-A6C34878D82A}">
                    <a16:rowId xmlns:a16="http://schemas.microsoft.com/office/drawing/2014/main" val="4043405263"/>
                  </a:ext>
                </a:extLst>
              </a:tr>
              <a:tr h="298326">
                <a:tc>
                  <a:txBody>
                    <a:bodyPr/>
                    <a:lstStyle/>
                    <a:p>
                      <a:pPr indent="127000" algn="ctr">
                        <a:lnSpc>
                          <a:spcPts val="2200"/>
                        </a:lnSpc>
                      </a:pPr>
                      <a:r>
                        <a:rPr lang="zh-CN" sz="1400" kern="100">
                          <a:effectLst/>
                        </a:rPr>
                        <a:t>气体滤波相关</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中</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中</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易</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可</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可</a:t>
                      </a:r>
                      <a:endParaRPr lang="zh-CN" sz="1400" kern="100">
                        <a:effectLst/>
                        <a:latin typeface="Times New Roman" panose="02020603050405020304" pitchFamily="18" charset="0"/>
                        <a:ea typeface="宋体" panose="02010600030101010101" pitchFamily="2" charset="-122"/>
                      </a:endParaRPr>
                    </a:p>
                  </a:txBody>
                  <a:tcPr marL="40096" marR="40096" marT="0" marB="0"/>
                </a:tc>
                <a:extLst>
                  <a:ext uri="{0D108BD9-81ED-4DB2-BD59-A6C34878D82A}">
                    <a16:rowId xmlns:a16="http://schemas.microsoft.com/office/drawing/2014/main" val="2899742315"/>
                  </a:ext>
                </a:extLst>
              </a:tr>
              <a:tr h="223800">
                <a:tc>
                  <a:txBody>
                    <a:bodyPr/>
                    <a:lstStyle/>
                    <a:p>
                      <a:pPr indent="127000" algn="ctr">
                        <a:lnSpc>
                          <a:spcPts val="2200"/>
                        </a:lnSpc>
                      </a:pPr>
                      <a:r>
                        <a:rPr lang="zh-CN" sz="1400" kern="100">
                          <a:effectLst/>
                        </a:rPr>
                        <a:t>电缆传感器</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高</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快</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难</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易</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可</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不可</a:t>
                      </a:r>
                      <a:endParaRPr lang="zh-CN" sz="1400" kern="100">
                        <a:effectLst/>
                        <a:latin typeface="Times New Roman" panose="02020603050405020304" pitchFamily="18" charset="0"/>
                        <a:ea typeface="宋体" panose="02010600030101010101" pitchFamily="2" charset="-122"/>
                      </a:endParaRPr>
                    </a:p>
                  </a:txBody>
                  <a:tcPr marL="40096" marR="40096" marT="0" marB="0"/>
                </a:tc>
                <a:extLst>
                  <a:ext uri="{0D108BD9-81ED-4DB2-BD59-A6C34878D82A}">
                    <a16:rowId xmlns:a16="http://schemas.microsoft.com/office/drawing/2014/main" val="2467062495"/>
                  </a:ext>
                </a:extLst>
              </a:tr>
              <a:tr h="223800">
                <a:tc>
                  <a:txBody>
                    <a:bodyPr/>
                    <a:lstStyle/>
                    <a:p>
                      <a:pPr indent="127000" algn="ctr">
                        <a:lnSpc>
                          <a:spcPts val="2200"/>
                        </a:lnSpc>
                      </a:pPr>
                      <a:r>
                        <a:rPr lang="zh-CN" sz="1400" kern="100">
                          <a:effectLst/>
                        </a:rPr>
                        <a:t>土壤检测</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高</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慢</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难</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易</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可</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不可</a:t>
                      </a:r>
                      <a:endParaRPr lang="zh-CN" sz="1400" kern="100">
                        <a:effectLst/>
                        <a:latin typeface="Times New Roman" panose="02020603050405020304" pitchFamily="18" charset="0"/>
                        <a:ea typeface="宋体" panose="02010600030101010101" pitchFamily="2" charset="-122"/>
                      </a:endParaRPr>
                    </a:p>
                  </a:txBody>
                  <a:tcPr marL="40096" marR="40096" marT="0" marB="0"/>
                </a:tc>
                <a:extLst>
                  <a:ext uri="{0D108BD9-81ED-4DB2-BD59-A6C34878D82A}">
                    <a16:rowId xmlns:a16="http://schemas.microsoft.com/office/drawing/2014/main" val="3931426328"/>
                  </a:ext>
                </a:extLst>
              </a:tr>
              <a:tr h="223800">
                <a:tc>
                  <a:txBody>
                    <a:bodyPr/>
                    <a:lstStyle/>
                    <a:p>
                      <a:pPr indent="127000" algn="ctr">
                        <a:lnSpc>
                          <a:spcPts val="2200"/>
                        </a:lnSpc>
                      </a:pPr>
                      <a:r>
                        <a:rPr lang="zh-CN" sz="1400" kern="100">
                          <a:effectLst/>
                        </a:rPr>
                        <a:t>蒸汽取样</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高</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快</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难</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易</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可</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可</a:t>
                      </a:r>
                      <a:endParaRPr lang="zh-CN" sz="1400" kern="100">
                        <a:effectLst/>
                        <a:latin typeface="Times New Roman" panose="02020603050405020304" pitchFamily="18" charset="0"/>
                        <a:ea typeface="宋体" panose="02010600030101010101" pitchFamily="2" charset="-122"/>
                      </a:endParaRPr>
                    </a:p>
                  </a:txBody>
                  <a:tcPr marL="40096" marR="40096" marT="0" marB="0"/>
                </a:tc>
                <a:extLst>
                  <a:ext uri="{0D108BD9-81ED-4DB2-BD59-A6C34878D82A}">
                    <a16:rowId xmlns:a16="http://schemas.microsoft.com/office/drawing/2014/main" val="3882502109"/>
                  </a:ext>
                </a:extLst>
              </a:tr>
              <a:tr h="298326">
                <a:tc>
                  <a:txBody>
                    <a:bodyPr/>
                    <a:lstStyle/>
                    <a:p>
                      <a:pPr indent="127000" algn="ctr">
                        <a:lnSpc>
                          <a:spcPts val="2200"/>
                        </a:lnSpc>
                      </a:pPr>
                      <a:r>
                        <a:rPr lang="zh-CN" sz="1400" kern="100">
                          <a:effectLst/>
                        </a:rPr>
                        <a:t>超声波流量计</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高</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快</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难</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易</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可</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不可</a:t>
                      </a:r>
                      <a:endParaRPr lang="zh-CN" sz="1400" kern="100">
                        <a:effectLst/>
                        <a:latin typeface="Times New Roman" panose="02020603050405020304" pitchFamily="18" charset="0"/>
                        <a:ea typeface="宋体" panose="02010600030101010101" pitchFamily="2" charset="-122"/>
                      </a:endParaRPr>
                    </a:p>
                  </a:txBody>
                  <a:tcPr marL="40096" marR="40096" marT="0" marB="0"/>
                </a:tc>
                <a:extLst>
                  <a:ext uri="{0D108BD9-81ED-4DB2-BD59-A6C34878D82A}">
                    <a16:rowId xmlns:a16="http://schemas.microsoft.com/office/drawing/2014/main" val="3666026838"/>
                  </a:ext>
                </a:extLst>
              </a:tr>
              <a:tr h="223800">
                <a:tc>
                  <a:txBody>
                    <a:bodyPr/>
                    <a:lstStyle/>
                    <a:p>
                      <a:pPr indent="127000" algn="ctr">
                        <a:lnSpc>
                          <a:spcPts val="2200"/>
                        </a:lnSpc>
                      </a:pPr>
                      <a:r>
                        <a:rPr lang="zh-CN" sz="1400" kern="100">
                          <a:effectLst/>
                        </a:rPr>
                        <a:t>漏磁检测法</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高</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快</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难</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易</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可</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不可</a:t>
                      </a:r>
                      <a:endParaRPr lang="zh-CN" sz="1400" kern="100">
                        <a:effectLst/>
                        <a:latin typeface="Times New Roman" panose="02020603050405020304" pitchFamily="18" charset="0"/>
                        <a:ea typeface="宋体" panose="02010600030101010101" pitchFamily="2" charset="-122"/>
                      </a:endParaRPr>
                    </a:p>
                  </a:txBody>
                  <a:tcPr marL="40096" marR="40096" marT="0" marB="0"/>
                </a:tc>
                <a:extLst>
                  <a:ext uri="{0D108BD9-81ED-4DB2-BD59-A6C34878D82A}">
                    <a16:rowId xmlns:a16="http://schemas.microsoft.com/office/drawing/2014/main" val="3650862418"/>
                  </a:ext>
                </a:extLst>
              </a:tr>
              <a:tr h="298326">
                <a:tc>
                  <a:txBody>
                    <a:bodyPr/>
                    <a:lstStyle/>
                    <a:p>
                      <a:pPr indent="127000" algn="ctr">
                        <a:lnSpc>
                          <a:spcPts val="2200"/>
                        </a:lnSpc>
                      </a:pPr>
                      <a:r>
                        <a:rPr lang="zh-CN" sz="1400" kern="100">
                          <a:effectLst/>
                        </a:rPr>
                        <a:t>质量或流量守恒</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低</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快</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易</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易</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不可</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可</a:t>
                      </a:r>
                      <a:endParaRPr lang="zh-CN" sz="1400" kern="100">
                        <a:effectLst/>
                        <a:latin typeface="Times New Roman" panose="02020603050405020304" pitchFamily="18" charset="0"/>
                        <a:ea typeface="宋体" panose="02010600030101010101" pitchFamily="2" charset="-122"/>
                      </a:endParaRPr>
                    </a:p>
                  </a:txBody>
                  <a:tcPr marL="40096" marR="40096" marT="0" marB="0"/>
                </a:tc>
                <a:extLst>
                  <a:ext uri="{0D108BD9-81ED-4DB2-BD59-A6C34878D82A}">
                    <a16:rowId xmlns:a16="http://schemas.microsoft.com/office/drawing/2014/main" val="3804980805"/>
                  </a:ext>
                </a:extLst>
              </a:tr>
              <a:tr h="298326">
                <a:tc>
                  <a:txBody>
                    <a:bodyPr/>
                    <a:lstStyle/>
                    <a:p>
                      <a:pPr indent="127000" algn="ctr">
                        <a:lnSpc>
                          <a:spcPts val="2200"/>
                        </a:lnSpc>
                      </a:pPr>
                      <a:r>
                        <a:rPr lang="zh-CN" sz="1400" kern="100">
                          <a:effectLst/>
                        </a:rPr>
                        <a:t>实时瞬态建模</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高</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快</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易</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难</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a:effectLst/>
                        </a:rPr>
                        <a:t>可</a:t>
                      </a:r>
                      <a:endParaRPr lang="zh-CN" sz="1400" kern="100">
                        <a:effectLst/>
                        <a:latin typeface="Times New Roman" panose="02020603050405020304" pitchFamily="18" charset="0"/>
                        <a:ea typeface="宋体" panose="02010600030101010101" pitchFamily="2" charset="-122"/>
                      </a:endParaRPr>
                    </a:p>
                  </a:txBody>
                  <a:tcPr marL="40096" marR="40096" marT="0" marB="0"/>
                </a:tc>
                <a:tc>
                  <a:txBody>
                    <a:bodyPr/>
                    <a:lstStyle/>
                    <a:p>
                      <a:pPr indent="127000" algn="ctr">
                        <a:lnSpc>
                          <a:spcPts val="2200"/>
                        </a:lnSpc>
                      </a:pPr>
                      <a:r>
                        <a:rPr lang="zh-CN" sz="1400" kern="100" dirty="0">
                          <a:effectLst/>
                        </a:rPr>
                        <a:t>可</a:t>
                      </a:r>
                      <a:endParaRPr lang="zh-CN" sz="1400" kern="100" dirty="0">
                        <a:effectLst/>
                        <a:latin typeface="Times New Roman" panose="02020603050405020304" pitchFamily="18" charset="0"/>
                        <a:ea typeface="宋体" panose="02010600030101010101" pitchFamily="2" charset="-122"/>
                      </a:endParaRPr>
                    </a:p>
                  </a:txBody>
                  <a:tcPr marL="40096" marR="40096" marT="0" marB="0"/>
                </a:tc>
                <a:extLst>
                  <a:ext uri="{0D108BD9-81ED-4DB2-BD59-A6C34878D82A}">
                    <a16:rowId xmlns:a16="http://schemas.microsoft.com/office/drawing/2014/main" val="1513477735"/>
                  </a:ext>
                </a:extLst>
              </a:tr>
            </a:tbl>
          </a:graphicData>
        </a:graphic>
      </p:graphicFrame>
    </p:spTree>
    <p:extLst>
      <p:ext uri="{BB962C8B-B14F-4D97-AF65-F5344CB8AC3E}">
        <p14:creationId xmlns:p14="http://schemas.microsoft.com/office/powerpoint/2010/main" val="169534028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00BF4D4A-8C38-4B6F-97B7-6275CE1792BE}"/>
              </a:ext>
            </a:extLst>
          </p:cNvPr>
          <p:cNvSpPr>
            <a:spLocks noChangeArrowheads="1"/>
          </p:cNvSpPr>
          <p:nvPr/>
        </p:nvSpPr>
        <p:spPr bwMode="auto">
          <a:xfrm>
            <a:off x="2366962" y="85601"/>
            <a:ext cx="5024437" cy="800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152352" bIns="152352"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dirty="0">
                <a:solidFill>
                  <a:srgbClr val="FF0000"/>
                </a:solidFill>
                <a:latin typeface="黑体" panose="02010609060101010101" pitchFamily="49" charset="-122"/>
                <a:ea typeface="黑体" panose="02010609060101010101" pitchFamily="49" charset="-122"/>
              </a:rPr>
              <a:t>一、系统目标及研究背景 </a:t>
            </a:r>
            <a:endParaRPr lang="en-US" altLang="zh-CN" sz="3200" dirty="0">
              <a:solidFill>
                <a:srgbClr val="FF0000"/>
              </a:solidFill>
              <a:latin typeface="黑体" panose="02010609060101010101" pitchFamily="49" charset="-122"/>
              <a:ea typeface="黑体" panose="02010609060101010101" pitchFamily="49" charset="-122"/>
            </a:endParaRPr>
          </a:p>
        </p:txBody>
      </p:sp>
      <p:sp>
        <p:nvSpPr>
          <p:cNvPr id="5124" name="灯片编号占位符 1">
            <a:extLst>
              <a:ext uri="{FF2B5EF4-FFF2-40B4-BE49-F238E27FC236}">
                <a16:creationId xmlns:a16="http://schemas.microsoft.com/office/drawing/2014/main" id="{BB56ADB0-04AF-4CE3-9017-F6E15E580F29}"/>
              </a:ext>
            </a:extLst>
          </p:cNvPr>
          <p:cNvSpPr txBox="1">
            <a:spLocks noGrp="1" noChangeArrowheads="1"/>
          </p:cNvSpPr>
          <p:nvPr/>
        </p:nvSpPr>
        <p:spPr bwMode="auto">
          <a:xfrm>
            <a:off x="6934200" y="64579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fld id="{7C452FCC-F500-4704-91E2-2F390F4FF943}" type="slidenum">
              <a:rPr lang="en-US" altLang="zh-CN" sz="1400"/>
              <a:pPr algn="r" eaLnBrk="1" hangingPunct="1">
                <a:buFont typeface="Arial" panose="020B0604020202020204" pitchFamily="34" charset="0"/>
                <a:buNone/>
              </a:pPr>
              <a:t>4</a:t>
            </a:fld>
            <a:endParaRPr lang="en-US" altLang="zh-CN" sz="1400"/>
          </a:p>
        </p:txBody>
      </p:sp>
      <p:cxnSp>
        <p:nvCxnSpPr>
          <p:cNvPr id="5" name="直接连接符 4">
            <a:extLst>
              <a:ext uri="{FF2B5EF4-FFF2-40B4-BE49-F238E27FC236}">
                <a16:creationId xmlns:a16="http://schemas.microsoft.com/office/drawing/2014/main" id="{58CF87F1-3AD9-4206-9BE0-16FF13E7AEFE}"/>
              </a:ext>
            </a:extLst>
          </p:cNvPr>
          <p:cNvCxnSpPr>
            <a:cxnSpLocks/>
          </p:cNvCxnSpPr>
          <p:nvPr/>
        </p:nvCxnSpPr>
        <p:spPr>
          <a:xfrm>
            <a:off x="0" y="990600"/>
            <a:ext cx="9144000" cy="0"/>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pic>
        <p:nvPicPr>
          <p:cNvPr id="6" name="图片 5">
            <a:extLst>
              <a:ext uri="{FF2B5EF4-FFF2-40B4-BE49-F238E27FC236}">
                <a16:creationId xmlns:a16="http://schemas.microsoft.com/office/drawing/2014/main" id="{05A39EF2-C128-4002-8834-888366A5B9C4}"/>
              </a:ext>
            </a:extLst>
          </p:cNvPr>
          <p:cNvPicPr>
            <a:picLocks noChangeAspect="1"/>
          </p:cNvPicPr>
          <p:nvPr/>
        </p:nvPicPr>
        <p:blipFill rotWithShape="1">
          <a:blip r:embed="rId2">
            <a:extLst>
              <a:ext uri="{28A0092B-C50C-407E-A947-70E740481C1C}">
                <a14:useLocalDpi xmlns:a14="http://schemas.microsoft.com/office/drawing/2010/main" val="0"/>
              </a:ext>
            </a:extLst>
          </a:blip>
          <a:srcRect l="5365" t="9391" r="5363" b="16667"/>
          <a:stretch/>
        </p:blipFill>
        <p:spPr>
          <a:xfrm>
            <a:off x="-19050" y="162718"/>
            <a:ext cx="1981200" cy="693738"/>
          </a:xfrm>
          <a:prstGeom prst="rect">
            <a:avLst/>
          </a:prstGeom>
        </p:spPr>
      </p:pic>
      <p:pic>
        <p:nvPicPr>
          <p:cNvPr id="7" name="图片 6">
            <a:extLst>
              <a:ext uri="{FF2B5EF4-FFF2-40B4-BE49-F238E27FC236}">
                <a16:creationId xmlns:a16="http://schemas.microsoft.com/office/drawing/2014/main" id="{8E4CA2ED-C92A-404B-AD31-14C0F0E4A4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4250" y="1239908"/>
            <a:ext cx="6553200" cy="3512106"/>
          </a:xfrm>
          <a:prstGeom prst="rect">
            <a:avLst/>
          </a:prstGeom>
        </p:spPr>
      </p:pic>
      <p:sp>
        <p:nvSpPr>
          <p:cNvPr id="9" name="文本框 8">
            <a:extLst>
              <a:ext uri="{FF2B5EF4-FFF2-40B4-BE49-F238E27FC236}">
                <a16:creationId xmlns:a16="http://schemas.microsoft.com/office/drawing/2014/main" id="{9986C08E-1161-49BA-9967-61EFE554AE81}"/>
              </a:ext>
            </a:extLst>
          </p:cNvPr>
          <p:cNvSpPr txBox="1"/>
          <p:nvPr/>
        </p:nvSpPr>
        <p:spPr>
          <a:xfrm>
            <a:off x="426244" y="5008357"/>
            <a:ext cx="8291512" cy="954107"/>
          </a:xfrm>
          <a:prstGeom prst="rect">
            <a:avLst/>
          </a:prstGeom>
          <a:noFill/>
        </p:spPr>
        <p:txBody>
          <a:bodyPr wrap="square">
            <a:spAutoFit/>
          </a:bodyPr>
          <a:lstStyle/>
          <a:p>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         针对</a:t>
            </a:r>
            <a:r>
              <a:rPr lang="zh-CN" altLang="en-US" sz="16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输气站场</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等生产场所，通过结合</a:t>
            </a:r>
            <a:r>
              <a:rPr lang="zh-CN" altLang="en-US" sz="16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嵌入式技术</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6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气体泄漏检测技术</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zh-CN" altLang="en-US" sz="16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无线通信技术</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，开发一套能实现全天候、全覆盖、响应快、精度</a:t>
            </a:r>
            <a:r>
              <a:rPr lang="zh-CN" altLang="en-US" sz="1600" kern="100" dirty="0">
                <a:latin typeface="Times New Roman" panose="02020603050405020304" pitchFamily="18" charset="0"/>
                <a:ea typeface="宋体" panose="02010600030101010101" pitchFamily="2" charset="-122"/>
                <a:cs typeface="Times New Roman" panose="02020603050405020304" pitchFamily="18" charset="0"/>
              </a:rPr>
              <a:t>高、</a:t>
            </a:r>
            <a:r>
              <a:rPr lang="zh-CN" altLang="en-US"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无线通讯</a:t>
            </a:r>
            <a:r>
              <a:rPr lang="zh-CN" altLang="en-US" sz="1600" kern="100" dirty="0">
                <a:latin typeface="Times New Roman" panose="02020603050405020304" pitchFamily="18" charset="0"/>
                <a:ea typeface="宋体" panose="02010600030101010101" pitchFamily="2" charset="-122"/>
                <a:cs typeface="Times New Roman" panose="02020603050405020304" pitchFamily="18" charset="0"/>
              </a:rPr>
              <a:t>、可</a:t>
            </a:r>
            <a:r>
              <a:rPr lang="zh-CN" altLang="en-US" sz="16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定位泄漏点</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zh-CN" altLang="en-US" sz="16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预测泄漏范围</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的气体检测系统</a:t>
            </a:r>
            <a:r>
              <a:rPr lang="zh-CN" altLang="en-US" sz="24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a:p>
        </p:txBody>
      </p:sp>
      <p:sp>
        <p:nvSpPr>
          <p:cNvPr id="8" name="文本框 7">
            <a:extLst>
              <a:ext uri="{FF2B5EF4-FFF2-40B4-BE49-F238E27FC236}">
                <a16:creationId xmlns:a16="http://schemas.microsoft.com/office/drawing/2014/main" id="{1D5D530D-54CE-427C-A58C-F512BB11DFC9}"/>
              </a:ext>
            </a:extLst>
          </p:cNvPr>
          <p:cNvSpPr txBox="1"/>
          <p:nvPr/>
        </p:nvSpPr>
        <p:spPr>
          <a:xfrm>
            <a:off x="426244" y="1239908"/>
            <a:ext cx="8291512" cy="338554"/>
          </a:xfrm>
          <a:prstGeom prst="rect">
            <a:avLst/>
          </a:prstGeom>
          <a:noFill/>
        </p:spPr>
        <p:txBody>
          <a:bodyPr wrap="square">
            <a:spAutoFit/>
          </a:bodyPr>
          <a:lstStyle/>
          <a:p>
            <a:r>
              <a:rPr lang="zh-CN" altLang="en-US" sz="1600" b="0" kern="1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en-US" dirty="0"/>
          </a:p>
        </p:txBody>
      </p:sp>
    </p:spTree>
    <p:extLst>
      <p:ext uri="{BB962C8B-B14F-4D97-AF65-F5344CB8AC3E}">
        <p14:creationId xmlns:p14="http://schemas.microsoft.com/office/powerpoint/2010/main" val="1985487487"/>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00BF4D4A-8C38-4B6F-97B7-6275CE1792BE}"/>
              </a:ext>
            </a:extLst>
          </p:cNvPr>
          <p:cNvSpPr>
            <a:spLocks noChangeArrowheads="1"/>
          </p:cNvSpPr>
          <p:nvPr/>
        </p:nvSpPr>
        <p:spPr bwMode="auto">
          <a:xfrm>
            <a:off x="2366963" y="192088"/>
            <a:ext cx="4597400"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52352" bIns="152352"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50000"/>
              </a:lnSpc>
              <a:buFont typeface="Arial" panose="020B0604020202020204" pitchFamily="34" charset="0"/>
              <a:buNone/>
            </a:pPr>
            <a:r>
              <a:rPr lang="zh-CN" altLang="en-US" sz="5400" b="1">
                <a:solidFill>
                  <a:srgbClr val="CC0000"/>
                </a:solidFill>
                <a:latin typeface="华文新魏" panose="02010800040101010101" pitchFamily="2" charset="-122"/>
                <a:ea typeface="华文新魏" panose="02010800040101010101" pitchFamily="2" charset="-122"/>
              </a:rPr>
              <a:t>汇  报  提  纲</a:t>
            </a:r>
          </a:p>
        </p:txBody>
      </p:sp>
      <p:sp>
        <p:nvSpPr>
          <p:cNvPr id="5123" name="Text Box 2">
            <a:extLst>
              <a:ext uri="{FF2B5EF4-FFF2-40B4-BE49-F238E27FC236}">
                <a16:creationId xmlns:a16="http://schemas.microsoft.com/office/drawing/2014/main" id="{03FD2BE7-39E2-49F6-9A71-7C99BB53A0DB}"/>
              </a:ext>
            </a:extLst>
          </p:cNvPr>
          <p:cNvSpPr txBox="1">
            <a:spLocks noChangeArrowheads="1"/>
          </p:cNvSpPr>
          <p:nvPr/>
        </p:nvSpPr>
        <p:spPr bwMode="auto">
          <a:xfrm>
            <a:off x="2832894" y="1878683"/>
            <a:ext cx="4329906" cy="3754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dirty="0">
                <a:solidFill>
                  <a:srgbClr val="000066"/>
                </a:solidFill>
                <a:latin typeface="黑体" panose="02010609060101010101" pitchFamily="49" charset="-122"/>
                <a:ea typeface="黑体" panose="02010609060101010101" pitchFamily="49" charset="-122"/>
              </a:rPr>
              <a:t>一、系统目标及研究背景 </a:t>
            </a:r>
            <a:endParaRPr lang="en-US" altLang="zh-CN" sz="2800" dirty="0">
              <a:solidFill>
                <a:srgbClr val="000066"/>
              </a:solidFill>
              <a:latin typeface="黑体" panose="02010609060101010101" pitchFamily="49" charset="-122"/>
              <a:ea typeface="黑体" panose="02010609060101010101" pitchFamily="49" charset="-122"/>
            </a:endParaRPr>
          </a:p>
          <a:p>
            <a:pPr eaLnBrk="1" hangingPunct="1">
              <a:spcBef>
                <a:spcPct val="50000"/>
              </a:spcBef>
            </a:pPr>
            <a:r>
              <a:rPr lang="zh-CN" altLang="en-US" sz="2800" dirty="0">
                <a:solidFill>
                  <a:srgbClr val="FF0000"/>
                </a:solidFill>
                <a:latin typeface="黑体" panose="02010609060101010101" pitchFamily="49" charset="-122"/>
                <a:ea typeface="黑体" panose="02010609060101010101" pitchFamily="49" charset="-122"/>
              </a:rPr>
              <a:t>二、</a:t>
            </a:r>
            <a:r>
              <a:rPr lang="en-US" altLang="zh-CN" sz="2800" dirty="0">
                <a:solidFill>
                  <a:srgbClr val="FF0000"/>
                </a:solidFill>
                <a:latin typeface="黑体" panose="02010609060101010101" pitchFamily="49" charset="-122"/>
                <a:ea typeface="黑体" panose="02010609060101010101" pitchFamily="49" charset="-122"/>
              </a:rPr>
              <a:t>TDLAS</a:t>
            </a:r>
            <a:r>
              <a:rPr lang="zh-CN" altLang="en-US" sz="2800" dirty="0">
                <a:solidFill>
                  <a:srgbClr val="FF0000"/>
                </a:solidFill>
                <a:latin typeface="黑体" panose="02010609060101010101" pitchFamily="49" charset="-122"/>
                <a:ea typeface="黑体" panose="02010609060101010101" pitchFamily="49" charset="-122"/>
              </a:rPr>
              <a:t>技术原理</a:t>
            </a:r>
            <a:endParaRPr lang="en-US" altLang="zh-CN" sz="2800" dirty="0">
              <a:solidFill>
                <a:srgbClr val="FF0000"/>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buNone/>
            </a:pPr>
            <a:r>
              <a:rPr lang="zh-CN" altLang="en-US" sz="2800" b="1" dirty="0">
                <a:solidFill>
                  <a:srgbClr val="000066"/>
                </a:solidFill>
                <a:latin typeface="黑体" panose="02010609060101010101" pitchFamily="49" charset="-122"/>
                <a:ea typeface="黑体" panose="02010609060101010101" pitchFamily="49" charset="-122"/>
              </a:rPr>
              <a:t>三、硬件选型与设计</a:t>
            </a:r>
            <a:endParaRPr lang="en-US" altLang="zh-CN" sz="2800" b="1" dirty="0">
              <a:solidFill>
                <a:srgbClr val="000066"/>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buNone/>
            </a:pPr>
            <a:r>
              <a:rPr lang="zh-CN" altLang="en-US" sz="2800" dirty="0">
                <a:solidFill>
                  <a:srgbClr val="000066"/>
                </a:solidFill>
                <a:latin typeface="黑体" panose="02010609060101010101" pitchFamily="49" charset="-122"/>
                <a:ea typeface="黑体" panose="02010609060101010101" pitchFamily="49" charset="-122"/>
              </a:rPr>
              <a:t>四</a:t>
            </a:r>
            <a:r>
              <a:rPr lang="zh-CN" altLang="en-US" sz="2800" b="1" dirty="0">
                <a:solidFill>
                  <a:srgbClr val="000066"/>
                </a:solidFill>
                <a:latin typeface="黑体" panose="02010609060101010101" pitchFamily="49" charset="-122"/>
                <a:ea typeface="黑体" panose="02010609060101010101" pitchFamily="49" charset="-122"/>
              </a:rPr>
              <a:t>、硬件平台</a:t>
            </a:r>
            <a:endParaRPr lang="en-US" altLang="zh-CN" sz="2800" b="1" dirty="0">
              <a:solidFill>
                <a:srgbClr val="000066"/>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buNone/>
            </a:pPr>
            <a:r>
              <a:rPr lang="zh-CN" altLang="en-US" sz="2800" dirty="0">
                <a:solidFill>
                  <a:srgbClr val="000066"/>
                </a:solidFill>
                <a:latin typeface="黑体" panose="02010609060101010101" pitchFamily="49" charset="-122"/>
                <a:ea typeface="黑体" panose="02010609060101010101" pitchFamily="49" charset="-122"/>
              </a:rPr>
              <a:t>五</a:t>
            </a:r>
            <a:r>
              <a:rPr lang="zh-CN" altLang="en-US" sz="2800" b="1" dirty="0">
                <a:solidFill>
                  <a:srgbClr val="000066"/>
                </a:solidFill>
                <a:latin typeface="黑体" panose="02010609060101010101" pitchFamily="49" charset="-122"/>
                <a:ea typeface="黑体" panose="02010609060101010101" pitchFamily="49" charset="-122"/>
              </a:rPr>
              <a:t>、监控平台</a:t>
            </a:r>
            <a:endParaRPr lang="en-US" altLang="zh-CN" sz="2800" b="1" dirty="0">
              <a:solidFill>
                <a:srgbClr val="000066"/>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buNone/>
            </a:pPr>
            <a:r>
              <a:rPr lang="zh-CN" altLang="en-US" sz="2800" b="1" dirty="0">
                <a:solidFill>
                  <a:srgbClr val="000066"/>
                </a:solidFill>
                <a:latin typeface="黑体" panose="02010609060101010101" pitchFamily="49" charset="-122"/>
                <a:ea typeface="黑体" panose="02010609060101010101" pitchFamily="49" charset="-122"/>
              </a:rPr>
              <a:t>六、系统后续进展</a:t>
            </a:r>
            <a:endParaRPr lang="en-US" altLang="zh-CN" sz="2800" b="1" dirty="0">
              <a:solidFill>
                <a:srgbClr val="000066"/>
              </a:solidFill>
              <a:latin typeface="黑体" panose="02010609060101010101" pitchFamily="49" charset="-122"/>
              <a:ea typeface="黑体" panose="02010609060101010101" pitchFamily="49" charset="-122"/>
            </a:endParaRPr>
          </a:p>
        </p:txBody>
      </p:sp>
      <p:sp>
        <p:nvSpPr>
          <p:cNvPr id="5124" name="灯片编号占位符 1">
            <a:extLst>
              <a:ext uri="{FF2B5EF4-FFF2-40B4-BE49-F238E27FC236}">
                <a16:creationId xmlns:a16="http://schemas.microsoft.com/office/drawing/2014/main" id="{BB56ADB0-04AF-4CE3-9017-F6E15E580F29}"/>
              </a:ext>
            </a:extLst>
          </p:cNvPr>
          <p:cNvSpPr txBox="1">
            <a:spLocks noGrp="1" noChangeArrowheads="1"/>
          </p:cNvSpPr>
          <p:nvPr/>
        </p:nvSpPr>
        <p:spPr bwMode="auto">
          <a:xfrm>
            <a:off x="6934200" y="64579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fld id="{7C452FCC-F500-4704-91E2-2F390F4FF943}" type="slidenum">
              <a:rPr lang="en-US" altLang="zh-CN" sz="1400"/>
              <a:pPr algn="r" eaLnBrk="1" hangingPunct="1">
                <a:buFont typeface="Arial" panose="020B0604020202020204" pitchFamily="34" charset="0"/>
                <a:buNone/>
              </a:pPr>
              <a:t>5</a:t>
            </a:fld>
            <a:endParaRPr lang="en-US" altLang="zh-CN" sz="1400"/>
          </a:p>
        </p:txBody>
      </p:sp>
      <p:cxnSp>
        <p:nvCxnSpPr>
          <p:cNvPr id="5" name="直接连接符 4">
            <a:extLst>
              <a:ext uri="{FF2B5EF4-FFF2-40B4-BE49-F238E27FC236}">
                <a16:creationId xmlns:a16="http://schemas.microsoft.com/office/drawing/2014/main" id="{58CF87F1-3AD9-4206-9BE0-16FF13E7AEFE}"/>
              </a:ext>
            </a:extLst>
          </p:cNvPr>
          <p:cNvCxnSpPr>
            <a:cxnSpLocks/>
          </p:cNvCxnSpPr>
          <p:nvPr/>
        </p:nvCxnSpPr>
        <p:spPr>
          <a:xfrm>
            <a:off x="0" y="990600"/>
            <a:ext cx="9144000" cy="0"/>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pic>
        <p:nvPicPr>
          <p:cNvPr id="6" name="图片 5">
            <a:extLst>
              <a:ext uri="{FF2B5EF4-FFF2-40B4-BE49-F238E27FC236}">
                <a16:creationId xmlns:a16="http://schemas.microsoft.com/office/drawing/2014/main" id="{05A39EF2-C128-4002-8834-888366A5B9C4}"/>
              </a:ext>
            </a:extLst>
          </p:cNvPr>
          <p:cNvPicPr>
            <a:picLocks noChangeAspect="1"/>
          </p:cNvPicPr>
          <p:nvPr/>
        </p:nvPicPr>
        <p:blipFill rotWithShape="1">
          <a:blip r:embed="rId2">
            <a:extLst>
              <a:ext uri="{28A0092B-C50C-407E-A947-70E740481C1C}">
                <a14:useLocalDpi xmlns:a14="http://schemas.microsoft.com/office/drawing/2010/main" val="0"/>
              </a:ext>
            </a:extLst>
          </a:blip>
          <a:srcRect l="5365" t="9391" r="5363" b="16667"/>
          <a:stretch/>
        </p:blipFill>
        <p:spPr>
          <a:xfrm>
            <a:off x="-19050" y="162718"/>
            <a:ext cx="1981200" cy="693738"/>
          </a:xfrm>
          <a:prstGeom prst="rect">
            <a:avLst/>
          </a:prstGeom>
        </p:spPr>
      </p:pic>
    </p:spTree>
    <p:extLst>
      <p:ext uri="{BB962C8B-B14F-4D97-AF65-F5344CB8AC3E}">
        <p14:creationId xmlns:p14="http://schemas.microsoft.com/office/powerpoint/2010/main" val="956691209"/>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a:extLst>
              <a:ext uri="{FF2B5EF4-FFF2-40B4-BE49-F238E27FC236}">
                <a16:creationId xmlns:a16="http://schemas.microsoft.com/office/drawing/2014/main" id="{515D4FC1-0054-4DD8-AB32-49A596D14D81}"/>
              </a:ext>
            </a:extLst>
          </p:cNvPr>
          <p:cNvSpPr/>
          <p:nvPr/>
        </p:nvSpPr>
        <p:spPr>
          <a:xfrm>
            <a:off x="5267438" y="4003105"/>
            <a:ext cx="304800" cy="244979"/>
          </a:xfrm>
          <a:prstGeom prst="ellipse">
            <a:avLst/>
          </a:prstGeom>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2" name="椭圆 1">
            <a:extLst>
              <a:ext uri="{FF2B5EF4-FFF2-40B4-BE49-F238E27FC236}">
                <a16:creationId xmlns:a16="http://schemas.microsoft.com/office/drawing/2014/main" id="{6CC22CE2-70D5-42E6-8D45-AECEBF3111D8}"/>
              </a:ext>
            </a:extLst>
          </p:cNvPr>
          <p:cNvSpPr/>
          <p:nvPr/>
        </p:nvSpPr>
        <p:spPr>
          <a:xfrm>
            <a:off x="914400" y="4114800"/>
            <a:ext cx="304800" cy="244979"/>
          </a:xfrm>
          <a:prstGeom prst="ellipse">
            <a:avLst/>
          </a:prstGeom>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5122" name="Rectangle 2">
            <a:extLst>
              <a:ext uri="{FF2B5EF4-FFF2-40B4-BE49-F238E27FC236}">
                <a16:creationId xmlns:a16="http://schemas.microsoft.com/office/drawing/2014/main" id="{00BF4D4A-8C38-4B6F-97B7-6275CE1792BE}"/>
              </a:ext>
            </a:extLst>
          </p:cNvPr>
          <p:cNvSpPr>
            <a:spLocks noChangeArrowheads="1"/>
          </p:cNvSpPr>
          <p:nvPr/>
        </p:nvSpPr>
        <p:spPr bwMode="auto">
          <a:xfrm>
            <a:off x="1993219" y="114423"/>
            <a:ext cx="7158038" cy="800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152352" bIns="152352"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dirty="0">
                <a:solidFill>
                  <a:srgbClr val="FF0000"/>
                </a:solidFill>
                <a:latin typeface="黑体" panose="02010609060101010101" pitchFamily="49" charset="-122"/>
                <a:ea typeface="黑体" panose="02010609060101010101" pitchFamily="49" charset="-122"/>
              </a:rPr>
              <a:t>二、</a:t>
            </a:r>
            <a:r>
              <a:rPr lang="en-US" altLang="zh-CN" sz="3200" dirty="0">
                <a:solidFill>
                  <a:srgbClr val="FF0000"/>
                </a:solidFill>
                <a:latin typeface="黑体" panose="02010609060101010101" pitchFamily="49" charset="-122"/>
                <a:ea typeface="黑体" panose="02010609060101010101" pitchFamily="49" charset="-122"/>
              </a:rPr>
              <a:t>TDLAS</a:t>
            </a:r>
            <a:r>
              <a:rPr lang="zh-CN" altLang="en-US" sz="3200" dirty="0">
                <a:solidFill>
                  <a:srgbClr val="FF0000"/>
                </a:solidFill>
                <a:latin typeface="黑体" panose="02010609060101010101" pitchFamily="49" charset="-122"/>
                <a:ea typeface="黑体" panose="02010609060101010101" pitchFamily="49" charset="-122"/>
              </a:rPr>
              <a:t>技术原理</a:t>
            </a:r>
            <a:r>
              <a:rPr lang="en-US" altLang="zh-CN" sz="3200" dirty="0">
                <a:solidFill>
                  <a:srgbClr val="FF0000"/>
                </a:solidFill>
                <a:latin typeface="黑体" panose="02010609060101010101" pitchFamily="49" charset="-122"/>
                <a:ea typeface="黑体" panose="02010609060101010101" pitchFamily="49" charset="-122"/>
              </a:rPr>
              <a:t>——</a:t>
            </a:r>
            <a:r>
              <a:rPr lang="zh-CN" altLang="en-US" sz="3200" dirty="0">
                <a:solidFill>
                  <a:srgbClr val="FF0000"/>
                </a:solidFill>
                <a:latin typeface="黑体" panose="02010609060101010101" pitchFamily="49" charset="-122"/>
                <a:ea typeface="黑体" panose="02010609060101010101" pitchFamily="49" charset="-122"/>
              </a:rPr>
              <a:t>吸收谱线选择</a:t>
            </a:r>
            <a:endParaRPr lang="en-US" altLang="zh-CN" sz="3200" dirty="0">
              <a:solidFill>
                <a:srgbClr val="FF0000"/>
              </a:solidFill>
              <a:latin typeface="黑体" panose="02010609060101010101" pitchFamily="49" charset="-122"/>
              <a:ea typeface="黑体" panose="02010609060101010101" pitchFamily="49" charset="-122"/>
            </a:endParaRPr>
          </a:p>
        </p:txBody>
      </p:sp>
      <p:sp>
        <p:nvSpPr>
          <p:cNvPr id="5124" name="灯片编号占位符 1">
            <a:extLst>
              <a:ext uri="{FF2B5EF4-FFF2-40B4-BE49-F238E27FC236}">
                <a16:creationId xmlns:a16="http://schemas.microsoft.com/office/drawing/2014/main" id="{BB56ADB0-04AF-4CE3-9017-F6E15E580F29}"/>
              </a:ext>
            </a:extLst>
          </p:cNvPr>
          <p:cNvSpPr txBox="1">
            <a:spLocks noGrp="1" noChangeArrowheads="1"/>
          </p:cNvSpPr>
          <p:nvPr/>
        </p:nvSpPr>
        <p:spPr bwMode="auto">
          <a:xfrm>
            <a:off x="6934200" y="64579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fld id="{7C452FCC-F500-4704-91E2-2F390F4FF943}" type="slidenum">
              <a:rPr lang="en-US" altLang="zh-CN" sz="1400"/>
              <a:pPr algn="r" eaLnBrk="1" hangingPunct="1">
                <a:buFont typeface="Arial" panose="020B0604020202020204" pitchFamily="34" charset="0"/>
                <a:buNone/>
              </a:pPr>
              <a:t>6</a:t>
            </a:fld>
            <a:endParaRPr lang="en-US" altLang="zh-CN" sz="1400"/>
          </a:p>
        </p:txBody>
      </p:sp>
      <p:cxnSp>
        <p:nvCxnSpPr>
          <p:cNvPr id="5" name="直接连接符 4">
            <a:extLst>
              <a:ext uri="{FF2B5EF4-FFF2-40B4-BE49-F238E27FC236}">
                <a16:creationId xmlns:a16="http://schemas.microsoft.com/office/drawing/2014/main" id="{58CF87F1-3AD9-4206-9BE0-16FF13E7AEFE}"/>
              </a:ext>
            </a:extLst>
          </p:cNvPr>
          <p:cNvCxnSpPr>
            <a:cxnSpLocks/>
          </p:cNvCxnSpPr>
          <p:nvPr/>
        </p:nvCxnSpPr>
        <p:spPr>
          <a:xfrm>
            <a:off x="0" y="990600"/>
            <a:ext cx="9144000" cy="0"/>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pic>
        <p:nvPicPr>
          <p:cNvPr id="6" name="图片 5">
            <a:extLst>
              <a:ext uri="{FF2B5EF4-FFF2-40B4-BE49-F238E27FC236}">
                <a16:creationId xmlns:a16="http://schemas.microsoft.com/office/drawing/2014/main" id="{05A39EF2-C128-4002-8834-888366A5B9C4}"/>
              </a:ext>
            </a:extLst>
          </p:cNvPr>
          <p:cNvPicPr>
            <a:picLocks noChangeAspect="1"/>
          </p:cNvPicPr>
          <p:nvPr/>
        </p:nvPicPr>
        <p:blipFill rotWithShape="1">
          <a:blip r:embed="rId3">
            <a:extLst>
              <a:ext uri="{28A0092B-C50C-407E-A947-70E740481C1C}">
                <a14:useLocalDpi xmlns:a14="http://schemas.microsoft.com/office/drawing/2010/main" val="0"/>
              </a:ext>
            </a:extLst>
          </a:blip>
          <a:srcRect l="5365" t="9391" r="5363" b="16667"/>
          <a:stretch/>
        </p:blipFill>
        <p:spPr>
          <a:xfrm>
            <a:off x="-19050" y="162718"/>
            <a:ext cx="1981200" cy="693738"/>
          </a:xfrm>
          <a:prstGeom prst="rect">
            <a:avLst/>
          </a:prstGeom>
        </p:spPr>
      </p:pic>
      <p:sp>
        <p:nvSpPr>
          <p:cNvPr id="8" name="Rectangle 2">
            <a:extLst>
              <a:ext uri="{FF2B5EF4-FFF2-40B4-BE49-F238E27FC236}">
                <a16:creationId xmlns:a16="http://schemas.microsoft.com/office/drawing/2014/main" id="{8CBC78B0-E46F-46EB-AD97-5095DA315F97}"/>
              </a:ext>
            </a:extLst>
          </p:cNvPr>
          <p:cNvSpPr>
            <a:spLocks noChangeArrowheads="1"/>
          </p:cNvSpPr>
          <p:nvPr/>
        </p:nvSpPr>
        <p:spPr bwMode="auto">
          <a:xfrm>
            <a:off x="711200" y="1019866"/>
            <a:ext cx="1276268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9" name="对象 8">
            <a:extLst>
              <a:ext uri="{FF2B5EF4-FFF2-40B4-BE49-F238E27FC236}">
                <a16:creationId xmlns:a16="http://schemas.microsoft.com/office/drawing/2014/main" id="{F253DF7A-9D39-45B7-BCBE-00B04833C706}"/>
              </a:ext>
            </a:extLst>
          </p:cNvPr>
          <p:cNvGraphicFramePr>
            <a:graphicFrameLocks noChangeAspect="1"/>
          </p:cNvGraphicFramePr>
          <p:nvPr>
            <p:extLst>
              <p:ext uri="{D42A27DB-BD31-4B8C-83A1-F6EECF244321}">
                <p14:modId xmlns:p14="http://schemas.microsoft.com/office/powerpoint/2010/main" val="1383719663"/>
              </p:ext>
            </p:extLst>
          </p:nvPr>
        </p:nvGraphicFramePr>
        <p:xfrm>
          <a:off x="661805" y="3877812"/>
          <a:ext cx="3819707" cy="2941987"/>
        </p:xfrm>
        <a:graphic>
          <a:graphicData uri="http://schemas.openxmlformats.org/presentationml/2006/ole">
            <mc:AlternateContent xmlns:mc="http://schemas.openxmlformats.org/markup-compatibility/2006">
              <mc:Choice xmlns:v="urn:schemas-microsoft-com:vml" Requires="v">
                <p:oleObj name="Graph" r:id="rId4" imgW="4204158" imgH="3217120" progId="Origin95.Graph">
                  <p:embed/>
                </p:oleObj>
              </mc:Choice>
              <mc:Fallback>
                <p:oleObj name="Graph" r:id="rId4" imgW="4204158" imgH="3217120" progId="Origin95.Graph">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1805" y="3877812"/>
                        <a:ext cx="3819707" cy="2941987"/>
                      </a:xfrm>
                      <a:prstGeom prst="rect">
                        <a:avLst/>
                      </a:prstGeom>
                      <a:noFill/>
                    </p:spPr>
                  </p:pic>
                </p:oleObj>
              </mc:Fallback>
            </mc:AlternateContent>
          </a:graphicData>
        </a:graphic>
      </p:graphicFrame>
      <p:sp>
        <p:nvSpPr>
          <p:cNvPr id="11" name="Rectangle 4">
            <a:extLst>
              <a:ext uri="{FF2B5EF4-FFF2-40B4-BE49-F238E27FC236}">
                <a16:creationId xmlns:a16="http://schemas.microsoft.com/office/drawing/2014/main" id="{8D0EA066-3C50-4C17-AA83-038B85B507E4}"/>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2" name="对象 11">
            <a:extLst>
              <a:ext uri="{FF2B5EF4-FFF2-40B4-BE49-F238E27FC236}">
                <a16:creationId xmlns:a16="http://schemas.microsoft.com/office/drawing/2014/main" id="{4F5267BB-1154-43CB-9A8B-6194B9ED2380}"/>
              </a:ext>
            </a:extLst>
          </p:cNvPr>
          <p:cNvGraphicFramePr>
            <a:graphicFrameLocks noChangeAspect="1"/>
          </p:cNvGraphicFramePr>
          <p:nvPr>
            <p:extLst>
              <p:ext uri="{D42A27DB-BD31-4B8C-83A1-F6EECF244321}">
                <p14:modId xmlns:p14="http://schemas.microsoft.com/office/powerpoint/2010/main" val="1069279164"/>
              </p:ext>
            </p:extLst>
          </p:nvPr>
        </p:nvGraphicFramePr>
        <p:xfrm>
          <a:off x="4953000" y="3794585"/>
          <a:ext cx="3804155" cy="3129224"/>
        </p:xfrm>
        <a:graphic>
          <a:graphicData uri="http://schemas.openxmlformats.org/presentationml/2006/ole">
            <mc:AlternateContent xmlns:mc="http://schemas.openxmlformats.org/markup-compatibility/2006">
              <mc:Choice xmlns:v="urn:schemas-microsoft-com:vml" Requires="v">
                <p:oleObj name="Graph" r:id="rId6" imgW="3442100" imgH="2829968" progId="Origin95.Graph">
                  <p:embed/>
                </p:oleObj>
              </mc:Choice>
              <mc:Fallback>
                <p:oleObj name="Graph" r:id="rId6" imgW="3442100" imgH="2829968" progId="Origin95.Graph">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53000" y="3794585"/>
                        <a:ext cx="3804155" cy="3129224"/>
                      </a:xfrm>
                      <a:prstGeom prst="rect">
                        <a:avLst/>
                      </a:prstGeom>
                      <a:noFill/>
                    </p:spPr>
                  </p:pic>
                </p:oleObj>
              </mc:Fallback>
            </mc:AlternateContent>
          </a:graphicData>
        </a:graphic>
      </p:graphicFrame>
      <mc:AlternateContent xmlns:mc="http://schemas.openxmlformats.org/markup-compatibility/2006">
        <mc:Choice xmlns:a14="http://schemas.microsoft.com/office/drawing/2010/main" Requires="a14">
          <p:sp>
            <p:nvSpPr>
              <p:cNvPr id="17" name="文本框 16">
                <a:extLst>
                  <a:ext uri="{FF2B5EF4-FFF2-40B4-BE49-F238E27FC236}">
                    <a16:creationId xmlns:a16="http://schemas.microsoft.com/office/drawing/2014/main" id="{ABE627DF-63E9-46F0-9400-EEF4EB57221B}"/>
                  </a:ext>
                </a:extLst>
              </p:cNvPr>
              <p:cNvSpPr txBox="1"/>
              <p:nvPr/>
            </p:nvSpPr>
            <p:spPr>
              <a:xfrm>
                <a:off x="6629400" y="4359779"/>
                <a:ext cx="1923143" cy="47814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zh-CN" b="0" i="1" smtClean="0">
                              <a:effectLst/>
                              <a:latin typeface="Cambria Math" panose="02040503050406030204" pitchFamily="18" charset="0"/>
                              <a:ea typeface="Cambria Math" panose="02040503050406030204" pitchFamily="18" charset="0"/>
                            </a:rPr>
                          </m:ctrlPr>
                        </m:sSubPr>
                        <m:e>
                          <m:r>
                            <m:rPr>
                              <m:nor/>
                            </m:rPr>
                            <a:rPr lang="en-US" altLang="zh-CN" sz="2400" b="0" kern="100">
                              <a:effectLst/>
                              <a:latin typeface="Times New Roman" panose="02020603050405020304" pitchFamily="18" charset="0"/>
                              <a:ea typeface="宋体" panose="02010600030101010101" pitchFamily="2" charset="-122"/>
                              <a:cs typeface="Times New Roman" panose="02020603050405020304" pitchFamily="18" charset="0"/>
                            </a:rPr>
                            <m:t>λ</m:t>
                          </m:r>
                        </m:e>
                        <m:sub>
                          <m:r>
                            <m:rPr>
                              <m:nor/>
                            </m:rPr>
                            <a:rPr lang="en-US" altLang="zh-CN" sz="2400" b="0" i="0" kern="100" smtClean="0">
                              <a:effectLst/>
                              <a:latin typeface="Times New Roman" panose="02020603050405020304" pitchFamily="18" charset="0"/>
                              <a:ea typeface="宋体" panose="02010600030101010101" pitchFamily="2" charset="-122"/>
                              <a:cs typeface="Times New Roman" panose="02020603050405020304" pitchFamily="18" charset="0"/>
                            </a:rPr>
                            <m:t>2</m:t>
                          </m:r>
                        </m:sub>
                      </m:sSub>
                      <m:r>
                        <m:rPr>
                          <m:nor/>
                        </m:rPr>
                        <a:rPr lang="en-US" altLang="zh-CN" sz="2400" b="0" kern="100">
                          <a:effectLst/>
                          <a:latin typeface="Times New Roman" panose="02020603050405020304" pitchFamily="18" charset="0"/>
                          <a:ea typeface="宋体" panose="02010600030101010101" pitchFamily="2" charset="-122"/>
                          <a:cs typeface="Times New Roman" panose="02020603050405020304" pitchFamily="18" charset="0"/>
                        </a:rPr>
                        <m:t>=3.43 </m:t>
                      </m:r>
                      <m:r>
                        <m:rPr>
                          <m:nor/>
                        </m:rPr>
                        <a:rPr lang="en-US" altLang="zh-CN" sz="2400" b="0" kern="100">
                          <a:effectLst/>
                          <a:latin typeface="Times New Roman" panose="02020603050405020304" pitchFamily="18" charset="0"/>
                          <a:ea typeface="宋体" panose="02010600030101010101" pitchFamily="2" charset="-122"/>
                          <a:cs typeface="Times New Roman" panose="02020603050405020304" pitchFamily="18" charset="0"/>
                        </a:rPr>
                        <m:t>μm</m:t>
                      </m:r>
                    </m:oMath>
                  </m:oMathPara>
                </a14:m>
                <a:endParaRPr lang="zh-CN" altLang="en-US" b="0" dirty="0">
                  <a:latin typeface="Times New Roman" panose="02020603050405020304" pitchFamily="18" charset="0"/>
                  <a:cs typeface="Times New Roman" panose="02020603050405020304" pitchFamily="18" charset="0"/>
                </a:endParaRPr>
              </a:p>
            </p:txBody>
          </p:sp>
        </mc:Choice>
        <mc:Fallback>
          <p:sp>
            <p:nvSpPr>
              <p:cNvPr id="17" name="文本框 16">
                <a:extLst>
                  <a:ext uri="{FF2B5EF4-FFF2-40B4-BE49-F238E27FC236}">
                    <a16:creationId xmlns:a16="http://schemas.microsoft.com/office/drawing/2014/main" id="{ABE627DF-63E9-46F0-9400-EEF4EB57221B}"/>
                  </a:ext>
                </a:extLst>
              </p:cNvPr>
              <p:cNvSpPr txBox="1">
                <a:spLocks noRot="1" noChangeAspect="1" noMove="1" noResize="1" noEditPoints="1" noAdjustHandles="1" noChangeArrowheads="1" noChangeShapeType="1" noTextEdit="1"/>
              </p:cNvSpPr>
              <p:nvPr/>
            </p:nvSpPr>
            <p:spPr>
              <a:xfrm>
                <a:off x="6629400" y="4359779"/>
                <a:ext cx="1923143" cy="478144"/>
              </a:xfrm>
              <a:prstGeom prst="rect">
                <a:avLst/>
              </a:prstGeom>
              <a:blipFill>
                <a:blip r:embed="rId8"/>
                <a:stretch>
                  <a:fillRect b="-1139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文本框 18">
                <a:extLst>
                  <a:ext uri="{FF2B5EF4-FFF2-40B4-BE49-F238E27FC236}">
                    <a16:creationId xmlns:a16="http://schemas.microsoft.com/office/drawing/2014/main" id="{EE7DC137-E29E-44D8-8F1C-7B7CE397741F}"/>
                  </a:ext>
                </a:extLst>
              </p:cNvPr>
              <p:cNvSpPr txBox="1"/>
              <p:nvPr/>
            </p:nvSpPr>
            <p:spPr>
              <a:xfrm>
                <a:off x="2588976" y="4345924"/>
                <a:ext cx="1709362" cy="478144"/>
              </a:xfrm>
              <a:prstGeom prst="rect">
                <a:avLst/>
              </a:prstGeom>
              <a:noFill/>
            </p:spPr>
            <p:txBody>
              <a:bodyPr wrap="square">
                <a:spAutoFit/>
              </a:bodyPr>
              <a:lstStyle/>
              <a:p>
                <a14:m>
                  <m:oMath xmlns:m="http://schemas.openxmlformats.org/officeDocument/2006/math">
                    <m:sSub>
                      <m:sSubPr>
                        <m:ctrlPr>
                          <a:rPr lang="zh-CN" altLang="zh-CN" b="0" i="1" smtClean="0">
                            <a:effectLst/>
                            <a:latin typeface="Cambria Math" panose="02040503050406030204" pitchFamily="18" charset="0"/>
                            <a:ea typeface="Cambria Math" panose="02040503050406030204" pitchFamily="18" charset="0"/>
                          </a:rPr>
                        </m:ctrlPr>
                      </m:sSubPr>
                      <m:e>
                        <m:r>
                          <m:rPr>
                            <m:nor/>
                          </m:rPr>
                          <a:rPr lang="en-US" altLang="zh-CN" sz="2400" b="0" kern="100">
                            <a:effectLst/>
                            <a:latin typeface="Times New Roman" panose="02020603050405020304" pitchFamily="18" charset="0"/>
                            <a:ea typeface="宋体" panose="02010600030101010101" pitchFamily="2" charset="-122"/>
                            <a:cs typeface="Times New Roman" panose="02020603050405020304" pitchFamily="18" charset="0"/>
                          </a:rPr>
                          <m:t>λ</m:t>
                        </m:r>
                      </m:e>
                      <m:sub>
                        <m:r>
                          <m:rPr>
                            <m:nor/>
                          </m:rPr>
                          <a:rPr lang="en-US" altLang="zh-CN" sz="2400" b="0" i="0" kern="100" smtClean="0">
                            <a:effectLst/>
                            <a:latin typeface="Cambria Math" panose="02040503050406030204" pitchFamily="18" charset="0"/>
                            <a:ea typeface="宋体" panose="02010600030101010101" pitchFamily="2" charset="-122"/>
                          </a:rPr>
                          <m:t>1</m:t>
                        </m:r>
                      </m:sub>
                    </m:sSub>
                    <m:r>
                      <m:rPr>
                        <m:nor/>
                      </m:rPr>
                      <a:rPr lang="en-US" altLang="zh-CN" sz="2400" b="0" kern="100">
                        <a:effectLst/>
                        <a:latin typeface="Times New Roman" panose="02020603050405020304" pitchFamily="18" charset="0"/>
                        <a:ea typeface="宋体" panose="02010600030101010101" pitchFamily="2" charset="-122"/>
                        <a:cs typeface="Times New Roman" panose="02020603050405020304" pitchFamily="18" charset="0"/>
                      </a:rPr>
                      <m:t>=1.65 </m:t>
                    </m:r>
                    <m:r>
                      <m:rPr>
                        <m:nor/>
                      </m:rPr>
                      <a:rPr lang="en-US" altLang="zh-CN" sz="2400" b="0" kern="100">
                        <a:effectLst/>
                        <a:latin typeface="Times New Roman" panose="02020603050405020304" pitchFamily="18" charset="0"/>
                        <a:ea typeface="宋体" panose="02010600030101010101" pitchFamily="2" charset="-122"/>
                        <a:cs typeface="Times New Roman" panose="02020603050405020304" pitchFamily="18" charset="0"/>
                      </a:rPr>
                      <m:t>μm</m:t>
                    </m:r>
                  </m:oMath>
                </a14:m>
                <a:r>
                  <a:rPr lang="en-US" altLang="zh-CN" sz="2400" b="0" kern="1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en-US" b="0" dirty="0">
                  <a:latin typeface="Times New Roman" panose="02020603050405020304" pitchFamily="18" charset="0"/>
                  <a:cs typeface="Times New Roman" panose="02020603050405020304" pitchFamily="18" charset="0"/>
                </a:endParaRPr>
              </a:p>
            </p:txBody>
          </p:sp>
        </mc:Choice>
        <mc:Fallback>
          <p:sp>
            <p:nvSpPr>
              <p:cNvPr id="19" name="文本框 18">
                <a:extLst>
                  <a:ext uri="{FF2B5EF4-FFF2-40B4-BE49-F238E27FC236}">
                    <a16:creationId xmlns:a16="http://schemas.microsoft.com/office/drawing/2014/main" id="{EE7DC137-E29E-44D8-8F1C-7B7CE397741F}"/>
                  </a:ext>
                </a:extLst>
              </p:cNvPr>
              <p:cNvSpPr txBox="1">
                <a:spLocks noRot="1" noChangeAspect="1" noMove="1" noResize="1" noEditPoints="1" noAdjustHandles="1" noChangeArrowheads="1" noChangeShapeType="1" noTextEdit="1"/>
              </p:cNvSpPr>
              <p:nvPr/>
            </p:nvSpPr>
            <p:spPr>
              <a:xfrm>
                <a:off x="2588976" y="4345924"/>
                <a:ext cx="1709362" cy="478144"/>
              </a:xfrm>
              <a:prstGeom prst="rect">
                <a:avLst/>
              </a:prstGeom>
              <a:blipFill>
                <a:blip r:embed="rId9"/>
                <a:stretch>
                  <a:fillRect l="-1071" b="-12821"/>
                </a:stretch>
              </a:blipFill>
            </p:spPr>
            <p:txBody>
              <a:bodyPr/>
              <a:lstStyle/>
              <a:p>
                <a:r>
                  <a:rPr lang="zh-CN" altLang="en-US">
                    <a:noFill/>
                  </a:rPr>
                  <a:t> </a:t>
                </a:r>
              </a:p>
            </p:txBody>
          </p:sp>
        </mc:Fallback>
      </mc:AlternateContent>
      <p:pic>
        <p:nvPicPr>
          <p:cNvPr id="20" name="图片 19">
            <a:extLst>
              <a:ext uri="{FF2B5EF4-FFF2-40B4-BE49-F238E27FC236}">
                <a16:creationId xmlns:a16="http://schemas.microsoft.com/office/drawing/2014/main" id="{DA0AE724-DF3B-4233-8D89-03739D721334}"/>
              </a:ext>
            </a:extLst>
          </p:cNvPr>
          <p:cNvPicPr>
            <a:picLocks noChangeAspect="1"/>
          </p:cNvPicPr>
          <p:nvPr/>
        </p:nvPicPr>
        <p:blipFill>
          <a:blip r:embed="rId10"/>
          <a:stretch>
            <a:fillRect/>
          </a:stretch>
        </p:blipFill>
        <p:spPr>
          <a:xfrm>
            <a:off x="990600" y="1170967"/>
            <a:ext cx="6981825" cy="2590800"/>
          </a:xfrm>
          <a:prstGeom prst="rect">
            <a:avLst/>
          </a:prstGeom>
        </p:spPr>
      </p:pic>
      <mc:AlternateContent xmlns:mc="http://schemas.openxmlformats.org/markup-compatibility/2006">
        <mc:Choice xmlns:a14="http://schemas.microsoft.com/office/drawing/2010/main" Requires="a14">
          <p:sp>
            <p:nvSpPr>
              <p:cNvPr id="21" name="文本框 20">
                <a:extLst>
                  <a:ext uri="{FF2B5EF4-FFF2-40B4-BE49-F238E27FC236}">
                    <a16:creationId xmlns:a16="http://schemas.microsoft.com/office/drawing/2014/main" id="{0D402645-7111-4E7F-AA78-3A4F146B91EE}"/>
                  </a:ext>
                </a:extLst>
              </p:cNvPr>
              <p:cNvSpPr txBox="1"/>
              <p:nvPr/>
            </p:nvSpPr>
            <p:spPr>
              <a:xfrm>
                <a:off x="3240106" y="2327466"/>
                <a:ext cx="2608943" cy="461665"/>
              </a:xfrm>
              <a:prstGeom prst="rect">
                <a:avLst/>
              </a:prstGeom>
              <a:noFill/>
            </p:spPr>
            <p:txBody>
              <a:bodyPr wrap="square">
                <a:spAutoFit/>
              </a:bodyPr>
              <a:lstStyle/>
              <a:p>
                <a14:m>
                  <m:oMath xmlns:m="http://schemas.openxmlformats.org/officeDocument/2006/math">
                    <m:sSub>
                      <m:sSubPr>
                        <m:ctrlPr>
                          <a:rPr lang="zh-CN" altLang="zh-CN" sz="1400" b="0" i="1" smtClean="0">
                            <a:effectLst/>
                            <a:latin typeface="Cambria Math" panose="02040503050406030204" pitchFamily="18" charset="0"/>
                            <a:ea typeface="+mn-ea"/>
                          </a:rPr>
                        </m:ctrlPr>
                      </m:sSubPr>
                      <m:e>
                        <m:r>
                          <m:rPr>
                            <m:nor/>
                          </m:rPr>
                          <a:rPr lang="en-US" altLang="zh-CN" sz="1400" b="0" i="1" kern="100">
                            <a:effectLst/>
                            <a:latin typeface="Cambria Math" panose="02040503050406030204" pitchFamily="18" charset="0"/>
                            <a:ea typeface="Cambria Math" panose="02040503050406030204" pitchFamily="18" charset="0"/>
                            <a:cs typeface="Times New Roman" panose="02020603050405020304" pitchFamily="18" charset="0"/>
                          </a:rPr>
                          <m:t>I</m:t>
                        </m:r>
                      </m:e>
                      <m:sub>
                        <m:r>
                          <m:rPr>
                            <m:nor/>
                          </m:rPr>
                          <a:rPr lang="en-US" altLang="zh-CN" sz="1400" b="0" i="1" kern="100">
                            <a:effectLst/>
                            <a:latin typeface="Cambria Math" panose="02040503050406030204" pitchFamily="18" charset="0"/>
                            <a:ea typeface="Cambria Math" panose="02040503050406030204" pitchFamily="18" charset="0"/>
                            <a:cs typeface="Times New Roman" panose="02020603050405020304" pitchFamily="18" charset="0"/>
                          </a:rPr>
                          <m:t>v</m:t>
                        </m:r>
                      </m:sub>
                    </m:sSub>
                    <m:r>
                      <m:rPr>
                        <m:nor/>
                      </m:rPr>
                      <a:rPr lang="en-US" altLang="zh-CN" sz="1400" b="0" i="1" kern="100">
                        <a:effectLst/>
                        <a:latin typeface="Cambria Math" panose="02040503050406030204" pitchFamily="18" charset="0"/>
                        <a:ea typeface="Cambria Math" panose="02040503050406030204" pitchFamily="18" charset="0"/>
                        <a:cs typeface="Times New Roman" panose="02020603050405020304" pitchFamily="18" charset="0"/>
                      </a:rPr>
                      <m:t>=</m:t>
                    </m:r>
                    <m:sSub>
                      <m:sSubPr>
                        <m:ctrlPr>
                          <a:rPr lang="zh-CN" altLang="zh-CN" sz="1400" b="0" i="1">
                            <a:effectLst/>
                            <a:latin typeface="Cambria Math" panose="02040503050406030204" pitchFamily="18" charset="0"/>
                            <a:ea typeface="+mn-ea"/>
                          </a:rPr>
                        </m:ctrlPr>
                      </m:sSubPr>
                      <m:e>
                        <m:r>
                          <m:rPr>
                            <m:nor/>
                          </m:rPr>
                          <a:rPr lang="en-US" altLang="zh-CN" sz="1400" b="0" i="1" kern="100">
                            <a:effectLst/>
                            <a:latin typeface="Cambria Math" panose="02040503050406030204" pitchFamily="18" charset="0"/>
                            <a:ea typeface="Cambria Math" panose="02040503050406030204" pitchFamily="18" charset="0"/>
                            <a:cs typeface="Times New Roman" panose="02020603050405020304" pitchFamily="18" charset="0"/>
                          </a:rPr>
                          <m:t>I</m:t>
                        </m:r>
                      </m:e>
                      <m:sub>
                        <m:r>
                          <m:rPr>
                            <m:nor/>
                          </m:rPr>
                          <a:rPr lang="en-US" altLang="zh-CN" sz="1400" b="0" i="1" kern="100">
                            <a:effectLst/>
                            <a:latin typeface="Cambria Math" panose="02040503050406030204" pitchFamily="18" charset="0"/>
                            <a:ea typeface="Cambria Math" panose="02040503050406030204" pitchFamily="18" charset="0"/>
                            <a:cs typeface="Times New Roman" panose="02020603050405020304" pitchFamily="18" charset="0"/>
                          </a:rPr>
                          <m:t>0</m:t>
                        </m:r>
                      </m:sub>
                    </m:sSub>
                    <m:r>
                      <m:rPr>
                        <m:nor/>
                      </m:rPr>
                      <a:rPr lang="en-US" altLang="zh-CN" sz="1400" b="0" i="1" kern="100">
                        <a:effectLst/>
                        <a:latin typeface="Cambria Math" panose="02040503050406030204" pitchFamily="18" charset="0"/>
                        <a:ea typeface="Cambria Math" panose="02040503050406030204" pitchFamily="18" charset="0"/>
                        <a:cs typeface="Times New Roman" panose="02020603050405020304" pitchFamily="18" charset="0"/>
                      </a:rPr>
                      <m:t>(</m:t>
                    </m:r>
                    <m:r>
                      <m:rPr>
                        <m:nor/>
                      </m:rPr>
                      <a:rPr lang="en-US" altLang="zh-CN" sz="1400" b="0" i="1" kern="100">
                        <a:effectLst/>
                        <a:latin typeface="Cambria Math" panose="02040503050406030204" pitchFamily="18" charset="0"/>
                        <a:ea typeface="Cambria Math" panose="02040503050406030204" pitchFamily="18" charset="0"/>
                        <a:cs typeface="Times New Roman" panose="02020603050405020304" pitchFamily="18" charset="0"/>
                      </a:rPr>
                      <m:t>ν</m:t>
                    </m:r>
                    <m:r>
                      <m:rPr>
                        <m:nor/>
                      </m:rPr>
                      <a:rPr lang="en-US" altLang="zh-CN" sz="1400" b="0" i="1" kern="100">
                        <a:effectLst/>
                        <a:latin typeface="Cambria Math" panose="02040503050406030204" pitchFamily="18" charset="0"/>
                        <a:ea typeface="Cambria Math" panose="02040503050406030204" pitchFamily="18" charset="0"/>
                        <a:cs typeface="Times New Roman" panose="02020603050405020304" pitchFamily="18" charset="0"/>
                      </a:rPr>
                      <m:t>)</m:t>
                    </m:r>
                    <m:func>
                      <m:funcPr>
                        <m:ctrlPr>
                          <a:rPr lang="zh-CN" altLang="zh-CN" sz="1400" b="0" i="1">
                            <a:effectLst/>
                            <a:latin typeface="Cambria Math" panose="02040503050406030204" pitchFamily="18" charset="0"/>
                            <a:ea typeface="+mn-ea"/>
                          </a:rPr>
                        </m:ctrlPr>
                      </m:funcPr>
                      <m:fName>
                        <m:r>
                          <m:rPr>
                            <m:nor/>
                          </m:rPr>
                          <a:rPr lang="en-US" altLang="zh-CN" sz="1400" b="0" i="1" kern="100">
                            <a:effectLst/>
                            <a:latin typeface="Cambria Math" panose="02040503050406030204" pitchFamily="18" charset="0"/>
                            <a:ea typeface="Cambria Math" panose="02040503050406030204" pitchFamily="18" charset="0"/>
                            <a:cs typeface="Times New Roman" panose="02020603050405020304" pitchFamily="18" charset="0"/>
                          </a:rPr>
                          <m:t>exp</m:t>
                        </m:r>
                      </m:fName>
                      <m:e>
                        <m:d>
                          <m:dPr>
                            <m:begChr m:val="["/>
                            <m:endChr m:val="]"/>
                            <m:ctrlPr>
                              <a:rPr lang="zh-CN" altLang="zh-CN" sz="1400" b="0" i="1">
                                <a:effectLst/>
                                <a:latin typeface="Cambria Math" panose="02040503050406030204" pitchFamily="18" charset="0"/>
                                <a:ea typeface="+mn-ea"/>
                              </a:rPr>
                            </m:ctrlPr>
                          </m:dPr>
                          <m:e>
                            <m:r>
                              <m:rPr>
                                <m:nor/>
                              </m:rPr>
                              <a:rPr lang="en-US" altLang="zh-CN" sz="1400" b="0" i="1" kern="100">
                                <a:effectLst/>
                                <a:latin typeface="Cambria Math" panose="02040503050406030204" pitchFamily="18" charset="0"/>
                                <a:ea typeface="Cambria Math" panose="02040503050406030204" pitchFamily="18" charset="0"/>
                                <a:cs typeface="Times New Roman" panose="02020603050405020304" pitchFamily="18" charset="0"/>
                              </a:rPr>
                              <m:t>−</m:t>
                            </m:r>
                            <m:r>
                              <m:rPr>
                                <m:nor/>
                              </m:rPr>
                              <a:rPr lang="en-US" altLang="zh-CN" sz="1400" b="0" i="1" kern="100">
                                <a:effectLst/>
                                <a:latin typeface="Cambria Math" panose="02040503050406030204" pitchFamily="18" charset="0"/>
                                <a:ea typeface="Cambria Math" panose="02040503050406030204" pitchFamily="18" charset="0"/>
                                <a:cs typeface="Times New Roman" panose="02020603050405020304" pitchFamily="18" charset="0"/>
                              </a:rPr>
                              <m:t>S</m:t>
                            </m:r>
                            <m:r>
                              <m:rPr>
                                <m:nor/>
                              </m:rPr>
                              <a:rPr lang="en-US" altLang="zh-CN" sz="1400" b="0" i="1" kern="100">
                                <a:effectLst/>
                                <a:latin typeface="Cambria Math" panose="02040503050406030204" pitchFamily="18" charset="0"/>
                                <a:ea typeface="Cambria Math" panose="02040503050406030204" pitchFamily="18" charset="0"/>
                                <a:cs typeface="Times New Roman" panose="02020603050405020304" pitchFamily="18" charset="0"/>
                              </a:rPr>
                              <m:t>(</m:t>
                            </m:r>
                            <m:r>
                              <m:rPr>
                                <m:nor/>
                              </m:rPr>
                              <a:rPr lang="en-US" altLang="zh-CN" sz="1400" b="0" i="1" kern="100">
                                <a:effectLst/>
                                <a:latin typeface="Cambria Math" panose="02040503050406030204" pitchFamily="18" charset="0"/>
                                <a:ea typeface="Cambria Math" panose="02040503050406030204" pitchFamily="18" charset="0"/>
                                <a:cs typeface="Times New Roman" panose="02020603050405020304" pitchFamily="18" charset="0"/>
                              </a:rPr>
                              <m:t>T</m:t>
                            </m:r>
                            <m:r>
                              <m:rPr>
                                <m:nor/>
                              </m:rPr>
                              <a:rPr lang="en-US" altLang="zh-CN" sz="1400" b="0" i="1" kern="100">
                                <a:effectLst/>
                                <a:latin typeface="Cambria Math" panose="02040503050406030204" pitchFamily="18" charset="0"/>
                                <a:ea typeface="Cambria Math" panose="02040503050406030204" pitchFamily="18" charset="0"/>
                                <a:cs typeface="Times New Roman" panose="02020603050405020304" pitchFamily="18" charset="0"/>
                              </a:rPr>
                              <m:t>)</m:t>
                            </m:r>
                            <m:r>
                              <m:rPr>
                                <m:nor/>
                              </m:rPr>
                              <a:rPr lang="en-US" altLang="zh-CN" sz="1400" b="0" i="1" kern="100">
                                <a:effectLst/>
                                <a:latin typeface="Cambria Math" panose="02040503050406030204" pitchFamily="18" charset="0"/>
                                <a:ea typeface="Cambria Math" panose="02040503050406030204" pitchFamily="18" charset="0"/>
                                <a:cs typeface="Times New Roman" panose="02020603050405020304" pitchFamily="18" charset="0"/>
                              </a:rPr>
                              <m:t>g</m:t>
                            </m:r>
                            <m:r>
                              <m:rPr>
                                <m:nor/>
                              </m:rPr>
                              <a:rPr lang="en-US" altLang="zh-CN" sz="1400" b="0" i="1" kern="100">
                                <a:effectLst/>
                                <a:latin typeface="Cambria Math" panose="02040503050406030204" pitchFamily="18" charset="0"/>
                                <a:ea typeface="Cambria Math" panose="02040503050406030204" pitchFamily="18" charset="0"/>
                                <a:cs typeface="Times New Roman" panose="02020603050405020304" pitchFamily="18" charset="0"/>
                              </a:rPr>
                              <m:t>(</m:t>
                            </m:r>
                            <m:r>
                              <m:rPr>
                                <m:nor/>
                              </m:rPr>
                              <a:rPr lang="en-US" altLang="zh-CN" sz="1400" b="0" i="1" kern="100">
                                <a:effectLst/>
                                <a:latin typeface="Cambria Math" panose="02040503050406030204" pitchFamily="18" charset="0"/>
                                <a:ea typeface="Cambria Math" panose="02040503050406030204" pitchFamily="18" charset="0"/>
                                <a:cs typeface="Times New Roman" panose="02020603050405020304" pitchFamily="18" charset="0"/>
                              </a:rPr>
                              <m:t>v</m:t>
                            </m:r>
                            <m:r>
                              <m:rPr>
                                <m:nor/>
                              </m:rPr>
                              <a:rPr lang="en-US" altLang="zh-CN" sz="1400" b="0" i="1" kern="100">
                                <a:effectLst/>
                                <a:latin typeface="Cambria Math" panose="02040503050406030204" pitchFamily="18" charset="0"/>
                                <a:ea typeface="Cambria Math" panose="02040503050406030204" pitchFamily="18" charset="0"/>
                                <a:cs typeface="Times New Roman" panose="02020603050405020304" pitchFamily="18" charset="0"/>
                              </a:rPr>
                              <m:t>−</m:t>
                            </m:r>
                            <m:sSub>
                              <m:sSubPr>
                                <m:ctrlPr>
                                  <a:rPr lang="zh-CN" altLang="zh-CN" sz="1400" b="0" i="1">
                                    <a:effectLst/>
                                    <a:latin typeface="Cambria Math" panose="02040503050406030204" pitchFamily="18" charset="0"/>
                                    <a:ea typeface="+mn-ea"/>
                                  </a:rPr>
                                </m:ctrlPr>
                              </m:sSubPr>
                              <m:e>
                                <m:r>
                                  <m:rPr>
                                    <m:nor/>
                                  </m:rPr>
                                  <a:rPr lang="en-US" altLang="zh-CN" sz="1400" b="0" i="1" kern="100">
                                    <a:effectLst/>
                                    <a:latin typeface="Cambria Math" panose="02040503050406030204" pitchFamily="18" charset="0"/>
                                    <a:ea typeface="Cambria Math" panose="02040503050406030204" pitchFamily="18" charset="0"/>
                                    <a:cs typeface="Times New Roman" panose="02020603050405020304" pitchFamily="18" charset="0"/>
                                  </a:rPr>
                                  <m:t>v</m:t>
                                </m:r>
                              </m:e>
                              <m:sub>
                                <m:r>
                                  <m:rPr>
                                    <m:nor/>
                                  </m:rPr>
                                  <a:rPr lang="en-US" altLang="zh-CN" sz="1400" b="0" i="1" kern="100">
                                    <a:effectLst/>
                                    <a:latin typeface="Cambria Math" panose="02040503050406030204" pitchFamily="18" charset="0"/>
                                    <a:ea typeface="Cambria Math" panose="02040503050406030204" pitchFamily="18" charset="0"/>
                                    <a:cs typeface="Times New Roman" panose="02020603050405020304" pitchFamily="18" charset="0"/>
                                  </a:rPr>
                                  <m:t>0</m:t>
                                </m:r>
                              </m:sub>
                            </m:sSub>
                            <m:r>
                              <m:rPr>
                                <m:nor/>
                              </m:rPr>
                              <a:rPr lang="en-US" altLang="zh-CN" sz="1400" b="0" i="1" kern="100">
                                <a:effectLst/>
                                <a:latin typeface="Cambria Math" panose="02040503050406030204" pitchFamily="18" charset="0"/>
                                <a:ea typeface="Cambria Math" panose="02040503050406030204" pitchFamily="18" charset="0"/>
                                <a:cs typeface="Times New Roman" panose="02020603050405020304" pitchFamily="18" charset="0"/>
                              </a:rPr>
                              <m:t>)</m:t>
                            </m:r>
                            <m:r>
                              <m:rPr>
                                <m:nor/>
                              </m:rPr>
                              <a:rPr lang="en-US" altLang="zh-CN" sz="1400" b="0" i="1" kern="100">
                                <a:effectLst/>
                                <a:latin typeface="Cambria Math" panose="02040503050406030204" pitchFamily="18" charset="0"/>
                                <a:ea typeface="Cambria Math" panose="02040503050406030204" pitchFamily="18" charset="0"/>
                                <a:cs typeface="Times New Roman" panose="02020603050405020304" pitchFamily="18" charset="0"/>
                              </a:rPr>
                              <m:t>PρL</m:t>
                            </m:r>
                          </m:e>
                        </m:d>
                      </m:e>
                    </m:func>
                  </m:oMath>
                </a14:m>
                <a:r>
                  <a:rPr lang="en-US" altLang="zh-CN" sz="2400" kern="100" dirty="0">
                    <a:effectLst/>
                    <a:latin typeface="Times New Roman" panose="02020603050405020304" pitchFamily="18" charset="0"/>
                    <a:ea typeface="宋体" panose="02010600030101010101" pitchFamily="2" charset="-122"/>
                  </a:rPr>
                  <a:t> </a:t>
                </a:r>
                <a:endParaRPr lang="zh-CN" altLang="en-US" dirty="0"/>
              </a:p>
            </p:txBody>
          </p:sp>
        </mc:Choice>
        <mc:Fallback>
          <p:sp>
            <p:nvSpPr>
              <p:cNvPr id="21" name="文本框 20">
                <a:extLst>
                  <a:ext uri="{FF2B5EF4-FFF2-40B4-BE49-F238E27FC236}">
                    <a16:creationId xmlns:a16="http://schemas.microsoft.com/office/drawing/2014/main" id="{0D402645-7111-4E7F-AA78-3A4F146B91EE}"/>
                  </a:ext>
                </a:extLst>
              </p:cNvPr>
              <p:cNvSpPr txBox="1">
                <a:spLocks noRot="1" noChangeAspect="1" noMove="1" noResize="1" noEditPoints="1" noAdjustHandles="1" noChangeArrowheads="1" noChangeShapeType="1" noTextEdit="1"/>
              </p:cNvSpPr>
              <p:nvPr/>
            </p:nvSpPr>
            <p:spPr>
              <a:xfrm>
                <a:off x="3240106" y="2327466"/>
                <a:ext cx="2608943" cy="461665"/>
              </a:xfrm>
              <a:prstGeom prst="rect">
                <a:avLst/>
              </a:prstGeom>
              <a:blipFill>
                <a:blip r:embed="rId11"/>
                <a:stretch>
                  <a:fillRect r="-93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10424388"/>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00BF4D4A-8C38-4B6F-97B7-6275CE1792BE}"/>
              </a:ext>
            </a:extLst>
          </p:cNvPr>
          <p:cNvSpPr>
            <a:spLocks noChangeArrowheads="1"/>
          </p:cNvSpPr>
          <p:nvPr/>
        </p:nvSpPr>
        <p:spPr bwMode="auto">
          <a:xfrm>
            <a:off x="2366962" y="85601"/>
            <a:ext cx="5786438" cy="800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152352" bIns="152352"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dirty="0">
                <a:solidFill>
                  <a:srgbClr val="FF0000"/>
                </a:solidFill>
                <a:latin typeface="黑体" panose="02010609060101010101" pitchFamily="49" charset="-122"/>
                <a:ea typeface="黑体" panose="02010609060101010101" pitchFamily="49" charset="-122"/>
              </a:rPr>
              <a:t>二、</a:t>
            </a:r>
            <a:r>
              <a:rPr lang="en-US" altLang="zh-CN" sz="3200" dirty="0">
                <a:solidFill>
                  <a:srgbClr val="FF0000"/>
                </a:solidFill>
                <a:latin typeface="黑体" panose="02010609060101010101" pitchFamily="49" charset="-122"/>
                <a:ea typeface="黑体" panose="02010609060101010101" pitchFamily="49" charset="-122"/>
              </a:rPr>
              <a:t>TDLAS</a:t>
            </a:r>
            <a:r>
              <a:rPr lang="zh-CN" altLang="en-US" sz="3200" dirty="0">
                <a:solidFill>
                  <a:srgbClr val="FF0000"/>
                </a:solidFill>
                <a:latin typeface="黑体" panose="02010609060101010101" pitchFamily="49" charset="-122"/>
                <a:ea typeface="黑体" panose="02010609060101010101" pitchFamily="49" charset="-122"/>
              </a:rPr>
              <a:t>技术原理</a:t>
            </a:r>
            <a:r>
              <a:rPr lang="en-US" altLang="zh-CN" sz="3200" dirty="0">
                <a:solidFill>
                  <a:srgbClr val="FF0000"/>
                </a:solidFill>
                <a:latin typeface="黑体" panose="02010609060101010101" pitchFamily="49" charset="-122"/>
                <a:ea typeface="黑体" panose="02010609060101010101" pitchFamily="49" charset="-122"/>
              </a:rPr>
              <a:t>——</a:t>
            </a:r>
            <a:r>
              <a:rPr lang="zh-CN" altLang="en-US" sz="3200" dirty="0">
                <a:solidFill>
                  <a:srgbClr val="FF0000"/>
                </a:solidFill>
                <a:latin typeface="黑体" panose="02010609060101010101" pitchFamily="49" charset="-122"/>
                <a:ea typeface="黑体" panose="02010609060101010101" pitchFamily="49" charset="-122"/>
              </a:rPr>
              <a:t>实现</a:t>
            </a:r>
            <a:endParaRPr lang="en-US" altLang="zh-CN" sz="3200" dirty="0">
              <a:solidFill>
                <a:srgbClr val="FF0000"/>
              </a:solidFill>
              <a:latin typeface="黑体" panose="02010609060101010101" pitchFamily="49" charset="-122"/>
              <a:ea typeface="黑体" panose="02010609060101010101" pitchFamily="49" charset="-122"/>
            </a:endParaRPr>
          </a:p>
        </p:txBody>
      </p:sp>
      <p:sp>
        <p:nvSpPr>
          <p:cNvPr id="5124" name="灯片编号占位符 1">
            <a:extLst>
              <a:ext uri="{FF2B5EF4-FFF2-40B4-BE49-F238E27FC236}">
                <a16:creationId xmlns:a16="http://schemas.microsoft.com/office/drawing/2014/main" id="{BB56ADB0-04AF-4CE3-9017-F6E15E580F29}"/>
              </a:ext>
            </a:extLst>
          </p:cNvPr>
          <p:cNvSpPr txBox="1">
            <a:spLocks noGrp="1" noChangeArrowheads="1"/>
          </p:cNvSpPr>
          <p:nvPr/>
        </p:nvSpPr>
        <p:spPr bwMode="auto">
          <a:xfrm>
            <a:off x="6934200" y="64579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fld id="{7C452FCC-F500-4704-91E2-2F390F4FF943}" type="slidenum">
              <a:rPr lang="en-US" altLang="zh-CN" sz="1400"/>
              <a:pPr algn="r" eaLnBrk="1" hangingPunct="1">
                <a:buFont typeface="Arial" panose="020B0604020202020204" pitchFamily="34" charset="0"/>
                <a:buNone/>
              </a:pPr>
              <a:t>7</a:t>
            </a:fld>
            <a:endParaRPr lang="en-US" altLang="zh-CN" sz="1400"/>
          </a:p>
        </p:txBody>
      </p:sp>
      <p:cxnSp>
        <p:nvCxnSpPr>
          <p:cNvPr id="5" name="直接连接符 4">
            <a:extLst>
              <a:ext uri="{FF2B5EF4-FFF2-40B4-BE49-F238E27FC236}">
                <a16:creationId xmlns:a16="http://schemas.microsoft.com/office/drawing/2014/main" id="{58CF87F1-3AD9-4206-9BE0-16FF13E7AEFE}"/>
              </a:ext>
            </a:extLst>
          </p:cNvPr>
          <p:cNvCxnSpPr>
            <a:cxnSpLocks/>
          </p:cNvCxnSpPr>
          <p:nvPr/>
        </p:nvCxnSpPr>
        <p:spPr>
          <a:xfrm>
            <a:off x="0" y="990600"/>
            <a:ext cx="9144000" cy="0"/>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pic>
        <p:nvPicPr>
          <p:cNvPr id="6" name="图片 5">
            <a:extLst>
              <a:ext uri="{FF2B5EF4-FFF2-40B4-BE49-F238E27FC236}">
                <a16:creationId xmlns:a16="http://schemas.microsoft.com/office/drawing/2014/main" id="{05A39EF2-C128-4002-8834-888366A5B9C4}"/>
              </a:ext>
            </a:extLst>
          </p:cNvPr>
          <p:cNvPicPr>
            <a:picLocks noChangeAspect="1"/>
          </p:cNvPicPr>
          <p:nvPr/>
        </p:nvPicPr>
        <p:blipFill rotWithShape="1">
          <a:blip r:embed="rId3">
            <a:extLst>
              <a:ext uri="{28A0092B-C50C-407E-A947-70E740481C1C}">
                <a14:useLocalDpi xmlns:a14="http://schemas.microsoft.com/office/drawing/2010/main" val="0"/>
              </a:ext>
            </a:extLst>
          </a:blip>
          <a:srcRect l="5365" t="9391" r="5363" b="16667"/>
          <a:stretch/>
        </p:blipFill>
        <p:spPr>
          <a:xfrm>
            <a:off x="-19050" y="162718"/>
            <a:ext cx="1981200" cy="693738"/>
          </a:xfrm>
          <a:prstGeom prst="rect">
            <a:avLst/>
          </a:prstGeom>
        </p:spPr>
      </p:pic>
      <p:sp>
        <p:nvSpPr>
          <p:cNvPr id="8" name="Rectangle 2">
            <a:extLst>
              <a:ext uri="{FF2B5EF4-FFF2-40B4-BE49-F238E27FC236}">
                <a16:creationId xmlns:a16="http://schemas.microsoft.com/office/drawing/2014/main" id="{8CBC78B0-E46F-46EB-AD97-5095DA315F97}"/>
              </a:ext>
            </a:extLst>
          </p:cNvPr>
          <p:cNvSpPr>
            <a:spLocks noChangeArrowheads="1"/>
          </p:cNvSpPr>
          <p:nvPr/>
        </p:nvSpPr>
        <p:spPr bwMode="auto">
          <a:xfrm>
            <a:off x="711200" y="1019866"/>
            <a:ext cx="1276268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11" name="Rectangle 4">
            <a:extLst>
              <a:ext uri="{FF2B5EF4-FFF2-40B4-BE49-F238E27FC236}">
                <a16:creationId xmlns:a16="http://schemas.microsoft.com/office/drawing/2014/main" id="{8D0EA066-3C50-4C17-AA83-038B85B507E4}"/>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Rectangle 2">
            <a:extLst>
              <a:ext uri="{FF2B5EF4-FFF2-40B4-BE49-F238E27FC236}">
                <a16:creationId xmlns:a16="http://schemas.microsoft.com/office/drawing/2014/main" id="{EFB8FD79-99E3-49E6-85FC-914FE070376D}"/>
              </a:ext>
            </a:extLst>
          </p:cNvPr>
          <p:cNvSpPr>
            <a:spLocks noChangeArrowheads="1"/>
          </p:cNvSpPr>
          <p:nvPr/>
        </p:nvSpPr>
        <p:spPr bwMode="auto">
          <a:xfrm>
            <a:off x="1650105" y="2295978"/>
            <a:ext cx="134850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3" name="对象 2">
            <a:extLst>
              <a:ext uri="{FF2B5EF4-FFF2-40B4-BE49-F238E27FC236}">
                <a16:creationId xmlns:a16="http://schemas.microsoft.com/office/drawing/2014/main" id="{E6883C3F-AFBC-4498-A393-DE9D83CEB811}"/>
              </a:ext>
            </a:extLst>
          </p:cNvPr>
          <p:cNvGraphicFramePr>
            <a:graphicFrameLocks noChangeAspect="1"/>
          </p:cNvGraphicFramePr>
          <p:nvPr>
            <p:extLst>
              <p:ext uri="{D42A27DB-BD31-4B8C-83A1-F6EECF244321}">
                <p14:modId xmlns:p14="http://schemas.microsoft.com/office/powerpoint/2010/main" val="1025405174"/>
              </p:ext>
            </p:extLst>
          </p:nvPr>
        </p:nvGraphicFramePr>
        <p:xfrm>
          <a:off x="142200" y="2295978"/>
          <a:ext cx="4449523" cy="3191071"/>
        </p:xfrm>
        <a:graphic>
          <a:graphicData uri="http://schemas.openxmlformats.org/presentationml/2006/ole">
            <mc:AlternateContent xmlns:mc="http://schemas.openxmlformats.org/markup-compatibility/2006">
              <mc:Choice xmlns:v="urn:schemas-microsoft-com:vml" Requires="v">
                <p:oleObj name="Visio" r:id="rId4" imgW="6705484" imgH="4810215" progId="Visio.Drawing.15">
                  <p:embed/>
                </p:oleObj>
              </mc:Choice>
              <mc:Fallback>
                <p:oleObj name="Visio" r:id="rId4" imgW="6705484" imgH="4810215" progId="Visio.Drawing.15">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2200" y="2295978"/>
                        <a:ext cx="4449523" cy="3191071"/>
                      </a:xfrm>
                      <a:prstGeom prst="rect">
                        <a:avLst/>
                      </a:prstGeom>
                      <a:noFill/>
                    </p:spPr>
                  </p:pic>
                </p:oleObj>
              </mc:Fallback>
            </mc:AlternateContent>
          </a:graphicData>
        </a:graphic>
      </p:graphicFrame>
      <p:pic>
        <p:nvPicPr>
          <p:cNvPr id="16" name="图片 15">
            <a:extLst>
              <a:ext uri="{FF2B5EF4-FFF2-40B4-BE49-F238E27FC236}">
                <a16:creationId xmlns:a16="http://schemas.microsoft.com/office/drawing/2014/main" id="{24B2EDB4-F3F2-4123-A430-FDB6A956EB3E}"/>
              </a:ext>
            </a:extLst>
          </p:cNvPr>
          <p:cNvPicPr>
            <a:picLocks noRot="1" noChangeAspect="1"/>
          </p:cNvPicPr>
          <p:nvPr/>
        </p:nvPicPr>
        <p:blipFill>
          <a:blip r:embed="rId6"/>
          <a:stretch>
            <a:fillRect/>
          </a:stretch>
        </p:blipFill>
        <p:spPr>
          <a:xfrm>
            <a:off x="6280258" y="1756558"/>
            <a:ext cx="2609850" cy="2319460"/>
          </a:xfrm>
          <a:prstGeom prst="rect">
            <a:avLst/>
          </a:prstGeom>
          <a:noFill/>
          <a:ln w="9525">
            <a:noFill/>
          </a:ln>
        </p:spPr>
      </p:pic>
      <p:sp>
        <p:nvSpPr>
          <p:cNvPr id="4" name="箭头: 右 3">
            <a:extLst>
              <a:ext uri="{FF2B5EF4-FFF2-40B4-BE49-F238E27FC236}">
                <a16:creationId xmlns:a16="http://schemas.microsoft.com/office/drawing/2014/main" id="{22A8E885-AD45-472E-86B8-261BC0D0AF88}"/>
              </a:ext>
            </a:extLst>
          </p:cNvPr>
          <p:cNvSpPr/>
          <p:nvPr/>
        </p:nvSpPr>
        <p:spPr>
          <a:xfrm rot="20166536">
            <a:off x="5096209" y="3001141"/>
            <a:ext cx="1064420" cy="47770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8" name="图片 17">
            <a:extLst>
              <a:ext uri="{FF2B5EF4-FFF2-40B4-BE49-F238E27FC236}">
                <a16:creationId xmlns:a16="http://schemas.microsoft.com/office/drawing/2014/main" id="{41265D9D-E138-429B-AC9A-C6C85DFCFB82}"/>
              </a:ext>
            </a:extLst>
          </p:cNvPr>
          <p:cNvPicPr>
            <a:picLocks noRot="1" noChangeAspect="1"/>
          </p:cNvPicPr>
          <p:nvPr/>
        </p:nvPicPr>
        <p:blipFill>
          <a:blip r:embed="rId7"/>
          <a:stretch>
            <a:fillRect/>
          </a:stretch>
        </p:blipFill>
        <p:spPr>
          <a:xfrm>
            <a:off x="6280258" y="4511139"/>
            <a:ext cx="2674716" cy="1441546"/>
          </a:xfrm>
          <a:prstGeom prst="rect">
            <a:avLst/>
          </a:prstGeom>
          <a:noFill/>
          <a:ln w="9525">
            <a:noFill/>
          </a:ln>
        </p:spPr>
      </p:pic>
      <p:sp>
        <p:nvSpPr>
          <p:cNvPr id="22" name="箭头: 右 21">
            <a:extLst>
              <a:ext uri="{FF2B5EF4-FFF2-40B4-BE49-F238E27FC236}">
                <a16:creationId xmlns:a16="http://schemas.microsoft.com/office/drawing/2014/main" id="{332EA7F8-BDA4-4AB9-882F-7B030925A6B8}"/>
              </a:ext>
            </a:extLst>
          </p:cNvPr>
          <p:cNvSpPr/>
          <p:nvPr/>
        </p:nvSpPr>
        <p:spPr>
          <a:xfrm rot="1334097">
            <a:off x="5072865" y="4570577"/>
            <a:ext cx="1064420" cy="47770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5475401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00BF4D4A-8C38-4B6F-97B7-6275CE1792BE}"/>
              </a:ext>
            </a:extLst>
          </p:cNvPr>
          <p:cNvSpPr>
            <a:spLocks noChangeArrowheads="1"/>
          </p:cNvSpPr>
          <p:nvPr/>
        </p:nvSpPr>
        <p:spPr bwMode="auto">
          <a:xfrm>
            <a:off x="2366963" y="192088"/>
            <a:ext cx="4597400"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52352" bIns="152352"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50000"/>
              </a:lnSpc>
              <a:buFont typeface="Arial" panose="020B0604020202020204" pitchFamily="34" charset="0"/>
              <a:buNone/>
            </a:pPr>
            <a:r>
              <a:rPr lang="zh-CN" altLang="en-US" sz="5400" b="1">
                <a:solidFill>
                  <a:srgbClr val="CC0000"/>
                </a:solidFill>
                <a:latin typeface="华文新魏" panose="02010800040101010101" pitchFamily="2" charset="-122"/>
                <a:ea typeface="华文新魏" panose="02010800040101010101" pitchFamily="2" charset="-122"/>
              </a:rPr>
              <a:t>汇  报  提  纲</a:t>
            </a:r>
          </a:p>
        </p:txBody>
      </p:sp>
      <p:sp>
        <p:nvSpPr>
          <p:cNvPr id="5123" name="Text Box 2">
            <a:extLst>
              <a:ext uri="{FF2B5EF4-FFF2-40B4-BE49-F238E27FC236}">
                <a16:creationId xmlns:a16="http://schemas.microsoft.com/office/drawing/2014/main" id="{03FD2BE7-39E2-49F6-9A71-7C99BB53A0DB}"/>
              </a:ext>
            </a:extLst>
          </p:cNvPr>
          <p:cNvSpPr txBox="1">
            <a:spLocks noChangeArrowheads="1"/>
          </p:cNvSpPr>
          <p:nvPr/>
        </p:nvSpPr>
        <p:spPr bwMode="auto">
          <a:xfrm>
            <a:off x="2832894" y="1764287"/>
            <a:ext cx="3665537" cy="3754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dirty="0">
                <a:solidFill>
                  <a:srgbClr val="000066"/>
                </a:solidFill>
                <a:latin typeface="黑体" panose="02010609060101010101" pitchFamily="49" charset="-122"/>
                <a:ea typeface="黑体" panose="02010609060101010101" pitchFamily="49" charset="-122"/>
              </a:rPr>
              <a:t>一、系统目标 </a:t>
            </a:r>
            <a:endParaRPr lang="en-US" altLang="zh-CN" sz="2800" dirty="0">
              <a:solidFill>
                <a:srgbClr val="000066"/>
              </a:solidFill>
              <a:latin typeface="黑体" panose="02010609060101010101" pitchFamily="49" charset="-122"/>
              <a:ea typeface="黑体" panose="02010609060101010101" pitchFamily="49" charset="-122"/>
            </a:endParaRPr>
          </a:p>
          <a:p>
            <a:pPr eaLnBrk="1" hangingPunct="1">
              <a:spcBef>
                <a:spcPct val="50000"/>
              </a:spcBef>
            </a:pPr>
            <a:r>
              <a:rPr lang="zh-CN" altLang="en-US" sz="2800" dirty="0">
                <a:solidFill>
                  <a:srgbClr val="000066"/>
                </a:solidFill>
                <a:latin typeface="黑体" panose="02010609060101010101" pitchFamily="49" charset="-122"/>
                <a:ea typeface="黑体" panose="02010609060101010101" pitchFamily="49" charset="-122"/>
              </a:rPr>
              <a:t>二、技术原理</a:t>
            </a:r>
            <a:endParaRPr lang="en-US" altLang="zh-CN" sz="2800" dirty="0">
              <a:solidFill>
                <a:srgbClr val="000066"/>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buNone/>
            </a:pPr>
            <a:r>
              <a:rPr lang="zh-CN" altLang="en-US" sz="2800" b="1" dirty="0">
                <a:solidFill>
                  <a:srgbClr val="FF0000"/>
                </a:solidFill>
                <a:latin typeface="黑体" panose="02010609060101010101" pitchFamily="49" charset="-122"/>
                <a:ea typeface="黑体" panose="02010609060101010101" pitchFamily="49" charset="-122"/>
              </a:rPr>
              <a:t>三、硬件选型与设计</a:t>
            </a:r>
            <a:endParaRPr lang="en-US" altLang="zh-CN" sz="2800" b="1" dirty="0">
              <a:solidFill>
                <a:srgbClr val="FF0000"/>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buNone/>
            </a:pPr>
            <a:r>
              <a:rPr lang="zh-CN" altLang="en-US" sz="2800" dirty="0">
                <a:solidFill>
                  <a:srgbClr val="000066"/>
                </a:solidFill>
                <a:latin typeface="黑体" panose="02010609060101010101" pitchFamily="49" charset="-122"/>
                <a:ea typeface="黑体" panose="02010609060101010101" pitchFamily="49" charset="-122"/>
              </a:rPr>
              <a:t>四</a:t>
            </a:r>
            <a:r>
              <a:rPr lang="zh-CN" altLang="en-US" sz="2800" b="1" dirty="0">
                <a:solidFill>
                  <a:srgbClr val="000066"/>
                </a:solidFill>
                <a:latin typeface="黑体" panose="02010609060101010101" pitchFamily="49" charset="-122"/>
                <a:ea typeface="黑体" panose="02010609060101010101" pitchFamily="49" charset="-122"/>
              </a:rPr>
              <a:t>、硬件平台</a:t>
            </a:r>
            <a:endParaRPr lang="en-US" altLang="zh-CN" sz="2800" b="1" dirty="0">
              <a:solidFill>
                <a:srgbClr val="000066"/>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buNone/>
            </a:pPr>
            <a:r>
              <a:rPr lang="zh-CN" altLang="en-US" sz="2800" dirty="0">
                <a:solidFill>
                  <a:srgbClr val="000066"/>
                </a:solidFill>
                <a:latin typeface="黑体" panose="02010609060101010101" pitchFamily="49" charset="-122"/>
                <a:ea typeface="黑体" panose="02010609060101010101" pitchFamily="49" charset="-122"/>
              </a:rPr>
              <a:t>五</a:t>
            </a:r>
            <a:r>
              <a:rPr lang="zh-CN" altLang="en-US" sz="2800" b="1" dirty="0">
                <a:solidFill>
                  <a:srgbClr val="000066"/>
                </a:solidFill>
                <a:latin typeface="黑体" panose="02010609060101010101" pitchFamily="49" charset="-122"/>
                <a:ea typeface="黑体" panose="02010609060101010101" pitchFamily="49" charset="-122"/>
              </a:rPr>
              <a:t>、监控平台</a:t>
            </a:r>
            <a:endParaRPr lang="en-US" altLang="zh-CN" sz="2800" b="1" dirty="0">
              <a:solidFill>
                <a:srgbClr val="000066"/>
              </a:solidFill>
              <a:latin typeface="黑体" panose="02010609060101010101" pitchFamily="49" charset="-122"/>
              <a:ea typeface="黑体" panose="02010609060101010101" pitchFamily="49" charset="-122"/>
            </a:endParaRPr>
          </a:p>
          <a:p>
            <a:pPr eaLnBrk="1" hangingPunct="1">
              <a:spcBef>
                <a:spcPct val="50000"/>
              </a:spcBef>
            </a:pPr>
            <a:r>
              <a:rPr lang="zh-CN" altLang="en-US" sz="2800" b="1" dirty="0">
                <a:solidFill>
                  <a:srgbClr val="000066"/>
                </a:solidFill>
                <a:latin typeface="黑体" panose="02010609060101010101" pitchFamily="49" charset="-122"/>
                <a:ea typeface="黑体" panose="02010609060101010101" pitchFamily="49" charset="-122"/>
              </a:rPr>
              <a:t>六、系统后续进展</a:t>
            </a:r>
            <a:endParaRPr lang="en-US" altLang="zh-CN" sz="2800" b="1" dirty="0">
              <a:solidFill>
                <a:srgbClr val="000066"/>
              </a:solidFill>
              <a:latin typeface="黑体" panose="02010609060101010101" pitchFamily="49" charset="-122"/>
              <a:ea typeface="黑体" panose="02010609060101010101" pitchFamily="49" charset="-122"/>
            </a:endParaRPr>
          </a:p>
        </p:txBody>
      </p:sp>
      <p:sp>
        <p:nvSpPr>
          <p:cNvPr id="5124" name="灯片编号占位符 1">
            <a:extLst>
              <a:ext uri="{FF2B5EF4-FFF2-40B4-BE49-F238E27FC236}">
                <a16:creationId xmlns:a16="http://schemas.microsoft.com/office/drawing/2014/main" id="{BB56ADB0-04AF-4CE3-9017-F6E15E580F29}"/>
              </a:ext>
            </a:extLst>
          </p:cNvPr>
          <p:cNvSpPr txBox="1">
            <a:spLocks noGrp="1" noChangeArrowheads="1"/>
          </p:cNvSpPr>
          <p:nvPr/>
        </p:nvSpPr>
        <p:spPr bwMode="auto">
          <a:xfrm>
            <a:off x="6934200" y="64579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fld id="{7C452FCC-F500-4704-91E2-2F390F4FF943}" type="slidenum">
              <a:rPr lang="en-US" altLang="zh-CN" sz="1400"/>
              <a:pPr algn="r" eaLnBrk="1" hangingPunct="1">
                <a:buFont typeface="Arial" panose="020B0604020202020204" pitchFamily="34" charset="0"/>
                <a:buNone/>
              </a:pPr>
              <a:t>8</a:t>
            </a:fld>
            <a:endParaRPr lang="en-US" altLang="zh-CN" sz="1400"/>
          </a:p>
        </p:txBody>
      </p:sp>
      <p:cxnSp>
        <p:nvCxnSpPr>
          <p:cNvPr id="5" name="直接连接符 4">
            <a:extLst>
              <a:ext uri="{FF2B5EF4-FFF2-40B4-BE49-F238E27FC236}">
                <a16:creationId xmlns:a16="http://schemas.microsoft.com/office/drawing/2014/main" id="{58CF87F1-3AD9-4206-9BE0-16FF13E7AEFE}"/>
              </a:ext>
            </a:extLst>
          </p:cNvPr>
          <p:cNvCxnSpPr>
            <a:cxnSpLocks/>
          </p:cNvCxnSpPr>
          <p:nvPr/>
        </p:nvCxnSpPr>
        <p:spPr>
          <a:xfrm>
            <a:off x="0" y="990600"/>
            <a:ext cx="9144000" cy="0"/>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pic>
        <p:nvPicPr>
          <p:cNvPr id="6" name="图片 5">
            <a:extLst>
              <a:ext uri="{FF2B5EF4-FFF2-40B4-BE49-F238E27FC236}">
                <a16:creationId xmlns:a16="http://schemas.microsoft.com/office/drawing/2014/main" id="{05A39EF2-C128-4002-8834-888366A5B9C4}"/>
              </a:ext>
            </a:extLst>
          </p:cNvPr>
          <p:cNvPicPr>
            <a:picLocks noChangeAspect="1"/>
          </p:cNvPicPr>
          <p:nvPr/>
        </p:nvPicPr>
        <p:blipFill rotWithShape="1">
          <a:blip r:embed="rId2">
            <a:extLst>
              <a:ext uri="{28A0092B-C50C-407E-A947-70E740481C1C}">
                <a14:useLocalDpi xmlns:a14="http://schemas.microsoft.com/office/drawing/2010/main" val="0"/>
              </a:ext>
            </a:extLst>
          </a:blip>
          <a:srcRect l="5365" t="9391" r="5363" b="16667"/>
          <a:stretch/>
        </p:blipFill>
        <p:spPr>
          <a:xfrm>
            <a:off x="-19050" y="162718"/>
            <a:ext cx="1981200" cy="693738"/>
          </a:xfrm>
          <a:prstGeom prst="rect">
            <a:avLst/>
          </a:prstGeom>
        </p:spPr>
      </p:pic>
    </p:spTree>
    <p:extLst>
      <p:ext uri="{BB962C8B-B14F-4D97-AF65-F5344CB8AC3E}">
        <p14:creationId xmlns:p14="http://schemas.microsoft.com/office/powerpoint/2010/main" val="26456612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00BF4D4A-8C38-4B6F-97B7-6275CE1792BE}"/>
              </a:ext>
            </a:extLst>
          </p:cNvPr>
          <p:cNvSpPr>
            <a:spLocks noChangeArrowheads="1"/>
          </p:cNvSpPr>
          <p:nvPr/>
        </p:nvSpPr>
        <p:spPr bwMode="auto">
          <a:xfrm>
            <a:off x="2366962" y="85601"/>
            <a:ext cx="6548438" cy="800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152352" bIns="152352"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Arial" panose="020B0604020202020204" pitchFamily="34" charset="0"/>
              <a:buNone/>
            </a:pPr>
            <a:r>
              <a:rPr lang="zh-CN" altLang="en-US" sz="3200" b="1" dirty="0">
                <a:solidFill>
                  <a:srgbClr val="FF0000"/>
                </a:solidFill>
                <a:latin typeface="黑体" panose="02010609060101010101" pitchFamily="49" charset="-122"/>
                <a:ea typeface="黑体" panose="02010609060101010101" pitchFamily="49" charset="-122"/>
              </a:rPr>
              <a:t>三、硬件选型与设计</a:t>
            </a:r>
            <a:r>
              <a:rPr lang="en-US" altLang="zh-CN" sz="3200" b="1" dirty="0">
                <a:solidFill>
                  <a:srgbClr val="FF0000"/>
                </a:solidFill>
                <a:latin typeface="黑体" panose="02010609060101010101" pitchFamily="49" charset="-122"/>
                <a:ea typeface="黑体" panose="02010609060101010101" pitchFamily="49" charset="-122"/>
              </a:rPr>
              <a:t>——</a:t>
            </a:r>
            <a:r>
              <a:rPr lang="zh-CN" altLang="en-US" sz="3200" b="1" dirty="0">
                <a:solidFill>
                  <a:srgbClr val="FF0000"/>
                </a:solidFill>
                <a:latin typeface="黑体" panose="02010609060101010101" pitchFamily="49" charset="-122"/>
                <a:ea typeface="黑体" panose="02010609060101010101" pitchFamily="49" charset="-122"/>
              </a:rPr>
              <a:t>整体设计</a:t>
            </a:r>
            <a:endParaRPr lang="en-US" altLang="zh-CN" sz="3200" b="1" dirty="0">
              <a:solidFill>
                <a:srgbClr val="FF0000"/>
              </a:solidFill>
              <a:latin typeface="黑体" panose="02010609060101010101" pitchFamily="49" charset="-122"/>
              <a:ea typeface="黑体" panose="02010609060101010101" pitchFamily="49" charset="-122"/>
            </a:endParaRPr>
          </a:p>
        </p:txBody>
      </p:sp>
      <p:cxnSp>
        <p:nvCxnSpPr>
          <p:cNvPr id="5" name="直接连接符 4">
            <a:extLst>
              <a:ext uri="{FF2B5EF4-FFF2-40B4-BE49-F238E27FC236}">
                <a16:creationId xmlns:a16="http://schemas.microsoft.com/office/drawing/2014/main" id="{58CF87F1-3AD9-4206-9BE0-16FF13E7AEFE}"/>
              </a:ext>
            </a:extLst>
          </p:cNvPr>
          <p:cNvCxnSpPr>
            <a:cxnSpLocks/>
          </p:cNvCxnSpPr>
          <p:nvPr/>
        </p:nvCxnSpPr>
        <p:spPr>
          <a:xfrm>
            <a:off x="0" y="990600"/>
            <a:ext cx="9144000" cy="0"/>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pic>
        <p:nvPicPr>
          <p:cNvPr id="6" name="图片 5">
            <a:extLst>
              <a:ext uri="{FF2B5EF4-FFF2-40B4-BE49-F238E27FC236}">
                <a16:creationId xmlns:a16="http://schemas.microsoft.com/office/drawing/2014/main" id="{05A39EF2-C128-4002-8834-888366A5B9C4}"/>
              </a:ext>
            </a:extLst>
          </p:cNvPr>
          <p:cNvPicPr>
            <a:picLocks noChangeAspect="1"/>
          </p:cNvPicPr>
          <p:nvPr/>
        </p:nvPicPr>
        <p:blipFill rotWithShape="1">
          <a:blip r:embed="rId3">
            <a:extLst>
              <a:ext uri="{28A0092B-C50C-407E-A947-70E740481C1C}">
                <a14:useLocalDpi xmlns:a14="http://schemas.microsoft.com/office/drawing/2010/main" val="0"/>
              </a:ext>
            </a:extLst>
          </a:blip>
          <a:srcRect l="5365" t="9391" r="5363" b="16667"/>
          <a:stretch/>
        </p:blipFill>
        <p:spPr>
          <a:xfrm>
            <a:off x="-19050" y="162718"/>
            <a:ext cx="1981200" cy="693738"/>
          </a:xfrm>
          <a:prstGeom prst="rect">
            <a:avLst/>
          </a:prstGeom>
        </p:spPr>
      </p:pic>
      <p:sp>
        <p:nvSpPr>
          <p:cNvPr id="2" name="Rectangle 2">
            <a:extLst>
              <a:ext uri="{FF2B5EF4-FFF2-40B4-BE49-F238E27FC236}">
                <a16:creationId xmlns:a16="http://schemas.microsoft.com/office/drawing/2014/main" id="{D4916A24-3523-4555-A8DB-1B4424A5C0B4}"/>
              </a:ext>
            </a:extLst>
          </p:cNvPr>
          <p:cNvSpPr>
            <a:spLocks noChangeArrowheads="1"/>
          </p:cNvSpPr>
          <p:nvPr/>
        </p:nvSpPr>
        <p:spPr bwMode="auto">
          <a:xfrm>
            <a:off x="2133600" y="2743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对象 2">
            <a:extLst>
              <a:ext uri="{FF2B5EF4-FFF2-40B4-BE49-F238E27FC236}">
                <a16:creationId xmlns:a16="http://schemas.microsoft.com/office/drawing/2014/main" id="{7134DB8C-1667-4022-BE1F-4B89E0D6D4B0}"/>
              </a:ext>
            </a:extLst>
          </p:cNvPr>
          <p:cNvGraphicFramePr>
            <a:graphicFrameLocks noChangeAspect="1"/>
          </p:cNvGraphicFramePr>
          <p:nvPr>
            <p:extLst>
              <p:ext uri="{D42A27DB-BD31-4B8C-83A1-F6EECF244321}">
                <p14:modId xmlns:p14="http://schemas.microsoft.com/office/powerpoint/2010/main" val="1619480371"/>
              </p:ext>
            </p:extLst>
          </p:nvPr>
        </p:nvGraphicFramePr>
        <p:xfrm>
          <a:off x="1051964" y="1714500"/>
          <a:ext cx="7040071" cy="3429000"/>
        </p:xfrm>
        <a:graphic>
          <a:graphicData uri="http://schemas.openxmlformats.org/presentationml/2006/ole">
            <mc:AlternateContent xmlns:mc="http://schemas.openxmlformats.org/markup-compatibility/2006">
              <mc:Choice xmlns:v="urn:schemas-microsoft-com:vml" Requires="v">
                <p:oleObj name="Visio" r:id="rId4" imgW="6534056" imgH="3190708" progId="Visio.Drawing.15">
                  <p:embed/>
                </p:oleObj>
              </mc:Choice>
              <mc:Fallback>
                <p:oleObj name="Visio" r:id="rId4" imgW="6534056" imgH="3190708" progId="Visio.Drawing.15">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1964" y="1714500"/>
                        <a:ext cx="7040071" cy="3429000"/>
                      </a:xfrm>
                      <a:prstGeom prst="rect">
                        <a:avLst/>
                      </a:prstGeom>
                      <a:noFill/>
                    </p:spPr>
                  </p:pic>
                </p:oleObj>
              </mc:Fallback>
            </mc:AlternateContent>
          </a:graphicData>
        </a:graphic>
      </p:graphicFrame>
    </p:spTree>
    <p:extLst>
      <p:ext uri="{BB962C8B-B14F-4D97-AF65-F5344CB8AC3E}">
        <p14:creationId xmlns:p14="http://schemas.microsoft.com/office/powerpoint/2010/main" val="1737919000"/>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00BF4D4A-8C38-4B6F-97B7-6275CE1792BE}"/>
              </a:ext>
            </a:extLst>
          </p:cNvPr>
          <p:cNvSpPr>
            <a:spLocks noChangeArrowheads="1"/>
          </p:cNvSpPr>
          <p:nvPr/>
        </p:nvSpPr>
        <p:spPr bwMode="auto">
          <a:xfrm>
            <a:off x="2366962" y="85601"/>
            <a:ext cx="6660139" cy="800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152352" bIns="152352"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Arial" panose="020B0604020202020204" pitchFamily="34" charset="0"/>
              <a:buNone/>
            </a:pPr>
            <a:r>
              <a:rPr lang="zh-CN" altLang="en-US" sz="3200" b="1" dirty="0">
                <a:solidFill>
                  <a:srgbClr val="FF0000"/>
                </a:solidFill>
                <a:latin typeface="黑体" panose="02010609060101010101" pitchFamily="49" charset="-122"/>
                <a:ea typeface="黑体" panose="02010609060101010101" pitchFamily="49" charset="-122"/>
              </a:rPr>
              <a:t>三、硬件选型与设计</a:t>
            </a:r>
            <a:r>
              <a:rPr lang="en-US" altLang="zh-CN" sz="3200" b="1" dirty="0">
                <a:solidFill>
                  <a:srgbClr val="FF0000"/>
                </a:solidFill>
                <a:latin typeface="黑体" panose="02010609060101010101" pitchFamily="49" charset="-122"/>
                <a:ea typeface="黑体" panose="02010609060101010101" pitchFamily="49" charset="-122"/>
              </a:rPr>
              <a:t>——</a:t>
            </a:r>
            <a:r>
              <a:rPr lang="zh-CN" altLang="en-US" sz="3200" b="1" dirty="0">
                <a:solidFill>
                  <a:srgbClr val="FF0000"/>
                </a:solidFill>
                <a:latin typeface="黑体" panose="02010609060101010101" pitchFamily="49" charset="-122"/>
                <a:ea typeface="黑体" panose="02010609060101010101" pitchFamily="49" charset="-122"/>
              </a:rPr>
              <a:t>模块选型</a:t>
            </a:r>
            <a:endParaRPr lang="en-US" altLang="zh-CN" sz="3200" b="1" dirty="0">
              <a:solidFill>
                <a:srgbClr val="FF0000"/>
              </a:solidFill>
              <a:latin typeface="黑体" panose="02010609060101010101" pitchFamily="49" charset="-122"/>
              <a:ea typeface="黑体" panose="02010609060101010101" pitchFamily="49" charset="-122"/>
            </a:endParaRPr>
          </a:p>
        </p:txBody>
      </p:sp>
      <p:sp>
        <p:nvSpPr>
          <p:cNvPr id="5124" name="灯片编号占位符 1">
            <a:extLst>
              <a:ext uri="{FF2B5EF4-FFF2-40B4-BE49-F238E27FC236}">
                <a16:creationId xmlns:a16="http://schemas.microsoft.com/office/drawing/2014/main" id="{BB56ADB0-04AF-4CE3-9017-F6E15E580F29}"/>
              </a:ext>
            </a:extLst>
          </p:cNvPr>
          <p:cNvSpPr txBox="1">
            <a:spLocks noGrp="1" noChangeArrowheads="1"/>
          </p:cNvSpPr>
          <p:nvPr/>
        </p:nvSpPr>
        <p:spPr bwMode="auto">
          <a:xfrm>
            <a:off x="6893508" y="6096968"/>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fld id="{7C452FCC-F500-4704-91E2-2F390F4FF943}" type="slidenum">
              <a:rPr lang="en-US" altLang="zh-CN" sz="1400"/>
              <a:pPr algn="r" eaLnBrk="1" hangingPunct="1">
                <a:buFont typeface="Arial" panose="020B0604020202020204" pitchFamily="34" charset="0"/>
                <a:buNone/>
              </a:pPr>
              <a:t>10</a:t>
            </a:fld>
            <a:endParaRPr lang="en-US" altLang="zh-CN" sz="1400"/>
          </a:p>
        </p:txBody>
      </p:sp>
      <p:cxnSp>
        <p:nvCxnSpPr>
          <p:cNvPr id="5" name="直接连接符 4">
            <a:extLst>
              <a:ext uri="{FF2B5EF4-FFF2-40B4-BE49-F238E27FC236}">
                <a16:creationId xmlns:a16="http://schemas.microsoft.com/office/drawing/2014/main" id="{58CF87F1-3AD9-4206-9BE0-16FF13E7AEFE}"/>
              </a:ext>
            </a:extLst>
          </p:cNvPr>
          <p:cNvCxnSpPr>
            <a:cxnSpLocks/>
          </p:cNvCxnSpPr>
          <p:nvPr/>
        </p:nvCxnSpPr>
        <p:spPr>
          <a:xfrm>
            <a:off x="0" y="990600"/>
            <a:ext cx="9144000" cy="0"/>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pic>
        <p:nvPicPr>
          <p:cNvPr id="6" name="图片 5">
            <a:extLst>
              <a:ext uri="{FF2B5EF4-FFF2-40B4-BE49-F238E27FC236}">
                <a16:creationId xmlns:a16="http://schemas.microsoft.com/office/drawing/2014/main" id="{05A39EF2-C128-4002-8834-888366A5B9C4}"/>
              </a:ext>
            </a:extLst>
          </p:cNvPr>
          <p:cNvPicPr>
            <a:picLocks noChangeAspect="1"/>
          </p:cNvPicPr>
          <p:nvPr/>
        </p:nvPicPr>
        <p:blipFill rotWithShape="1">
          <a:blip r:embed="rId2">
            <a:extLst>
              <a:ext uri="{28A0092B-C50C-407E-A947-70E740481C1C}">
                <a14:useLocalDpi xmlns:a14="http://schemas.microsoft.com/office/drawing/2010/main" val="0"/>
              </a:ext>
            </a:extLst>
          </a:blip>
          <a:srcRect l="5365" t="9391" r="5363" b="16667"/>
          <a:stretch/>
        </p:blipFill>
        <p:spPr>
          <a:xfrm>
            <a:off x="-19050" y="162718"/>
            <a:ext cx="1981200" cy="693738"/>
          </a:xfrm>
          <a:prstGeom prst="rect">
            <a:avLst/>
          </a:prstGeom>
        </p:spPr>
      </p:pic>
      <p:grpSp>
        <p:nvGrpSpPr>
          <p:cNvPr id="71" name="组合 70">
            <a:extLst>
              <a:ext uri="{FF2B5EF4-FFF2-40B4-BE49-F238E27FC236}">
                <a16:creationId xmlns:a16="http://schemas.microsoft.com/office/drawing/2014/main" id="{226CBA7C-0D32-4A38-B454-D263FCBA12FC}"/>
              </a:ext>
            </a:extLst>
          </p:cNvPr>
          <p:cNvGrpSpPr/>
          <p:nvPr/>
        </p:nvGrpSpPr>
        <p:grpSpPr>
          <a:xfrm>
            <a:off x="272730" y="6015197"/>
            <a:ext cx="1179830" cy="215900"/>
            <a:chOff x="9442" y="2848"/>
            <a:chExt cx="1858" cy="340"/>
          </a:xfrm>
        </p:grpSpPr>
        <p:cxnSp>
          <p:nvCxnSpPr>
            <p:cNvPr id="72" name="直接连接符 71">
              <a:extLst>
                <a:ext uri="{FF2B5EF4-FFF2-40B4-BE49-F238E27FC236}">
                  <a16:creationId xmlns:a16="http://schemas.microsoft.com/office/drawing/2014/main" id="{2E313129-0607-4E30-9678-95AB2E565AED}"/>
                </a:ext>
              </a:extLst>
            </p:cNvPr>
            <p:cNvCxnSpPr/>
            <p:nvPr/>
          </p:nvCxnSpPr>
          <p:spPr>
            <a:xfrm>
              <a:off x="9676" y="2990"/>
              <a:ext cx="1624" cy="0"/>
            </a:xfrm>
            <a:prstGeom prst="line">
              <a:avLst/>
            </a:prstGeom>
            <a:noFill/>
            <a:ln w="6350" cap="flat" cmpd="sng" algn="ctr">
              <a:solidFill>
                <a:schemeClr val="accent1"/>
              </a:solidFill>
              <a:prstDash val="solid"/>
              <a:miter lim="800000"/>
            </a:ln>
            <a:effectLst/>
          </p:spPr>
        </p:cxnSp>
        <p:sp>
          <p:nvSpPr>
            <p:cNvPr id="73" name="椭圆 72">
              <a:extLst>
                <a:ext uri="{FF2B5EF4-FFF2-40B4-BE49-F238E27FC236}">
                  <a16:creationId xmlns:a16="http://schemas.microsoft.com/office/drawing/2014/main" id="{B0C49922-153A-45C3-972A-BCF439A3C84E}"/>
                </a:ext>
              </a:extLst>
            </p:cNvPr>
            <p:cNvSpPr/>
            <p:nvPr/>
          </p:nvSpPr>
          <p:spPr>
            <a:xfrm>
              <a:off x="9442" y="2848"/>
              <a:ext cx="340" cy="340"/>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cxnSp>
        <p:nvCxnSpPr>
          <p:cNvPr id="74" name="直接连接符 73">
            <a:extLst>
              <a:ext uri="{FF2B5EF4-FFF2-40B4-BE49-F238E27FC236}">
                <a16:creationId xmlns:a16="http://schemas.microsoft.com/office/drawing/2014/main" id="{9A72895E-87C4-4E5D-ABBC-82EE2FE8C233}"/>
              </a:ext>
            </a:extLst>
          </p:cNvPr>
          <p:cNvCxnSpPr/>
          <p:nvPr/>
        </p:nvCxnSpPr>
        <p:spPr>
          <a:xfrm>
            <a:off x="367980" y="5408137"/>
            <a:ext cx="1021080" cy="0"/>
          </a:xfrm>
          <a:prstGeom prst="line">
            <a:avLst/>
          </a:prstGeom>
          <a:noFill/>
          <a:ln w="6350" cap="flat" cmpd="sng" algn="ctr">
            <a:solidFill>
              <a:schemeClr val="accent1"/>
            </a:solidFill>
            <a:prstDash val="solid"/>
            <a:miter lim="800000"/>
          </a:ln>
          <a:effectLst/>
        </p:spPr>
      </p:cxnSp>
      <p:grpSp>
        <p:nvGrpSpPr>
          <p:cNvPr id="75" name="组合 74">
            <a:extLst>
              <a:ext uri="{FF2B5EF4-FFF2-40B4-BE49-F238E27FC236}">
                <a16:creationId xmlns:a16="http://schemas.microsoft.com/office/drawing/2014/main" id="{5244BB77-382A-4F51-AF5C-FFEE21600E8E}"/>
              </a:ext>
            </a:extLst>
          </p:cNvPr>
          <p:cNvGrpSpPr/>
          <p:nvPr/>
        </p:nvGrpSpPr>
        <p:grpSpPr>
          <a:xfrm>
            <a:off x="272730" y="4521677"/>
            <a:ext cx="1179830" cy="215900"/>
            <a:chOff x="9442" y="2848"/>
            <a:chExt cx="1858" cy="340"/>
          </a:xfrm>
        </p:grpSpPr>
        <p:cxnSp>
          <p:nvCxnSpPr>
            <p:cNvPr id="76" name="直接连接符 75">
              <a:extLst>
                <a:ext uri="{FF2B5EF4-FFF2-40B4-BE49-F238E27FC236}">
                  <a16:creationId xmlns:a16="http://schemas.microsoft.com/office/drawing/2014/main" id="{5C335B69-6219-424D-9191-015EDD5878F4}"/>
                </a:ext>
              </a:extLst>
            </p:cNvPr>
            <p:cNvCxnSpPr/>
            <p:nvPr/>
          </p:nvCxnSpPr>
          <p:spPr>
            <a:xfrm>
              <a:off x="9676" y="2990"/>
              <a:ext cx="1624" cy="0"/>
            </a:xfrm>
            <a:prstGeom prst="line">
              <a:avLst/>
            </a:prstGeom>
            <a:noFill/>
            <a:ln w="6350" cap="flat" cmpd="sng" algn="ctr">
              <a:solidFill>
                <a:schemeClr val="accent1"/>
              </a:solidFill>
              <a:prstDash val="solid"/>
              <a:miter lim="800000"/>
            </a:ln>
            <a:effectLst/>
          </p:spPr>
        </p:cxnSp>
        <p:sp>
          <p:nvSpPr>
            <p:cNvPr id="77" name="椭圆 76">
              <a:extLst>
                <a:ext uri="{FF2B5EF4-FFF2-40B4-BE49-F238E27FC236}">
                  <a16:creationId xmlns:a16="http://schemas.microsoft.com/office/drawing/2014/main" id="{596C8B4A-5864-4C38-9BDF-48A4C40A2EC8}"/>
                </a:ext>
              </a:extLst>
            </p:cNvPr>
            <p:cNvSpPr/>
            <p:nvPr/>
          </p:nvSpPr>
          <p:spPr>
            <a:xfrm>
              <a:off x="9442" y="2848"/>
              <a:ext cx="340" cy="340"/>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cxnSp>
        <p:nvCxnSpPr>
          <p:cNvPr id="78" name="直接连接符 77">
            <a:extLst>
              <a:ext uri="{FF2B5EF4-FFF2-40B4-BE49-F238E27FC236}">
                <a16:creationId xmlns:a16="http://schemas.microsoft.com/office/drawing/2014/main" id="{A13BD72E-6C49-4ADE-95FC-D65A2D2B9D64}"/>
              </a:ext>
            </a:extLst>
          </p:cNvPr>
          <p:cNvCxnSpPr/>
          <p:nvPr/>
        </p:nvCxnSpPr>
        <p:spPr>
          <a:xfrm flipV="1">
            <a:off x="357820" y="3894297"/>
            <a:ext cx="1031240" cy="3175"/>
          </a:xfrm>
          <a:prstGeom prst="line">
            <a:avLst/>
          </a:prstGeom>
          <a:noFill/>
          <a:ln w="6350" cap="flat" cmpd="sng" algn="ctr">
            <a:solidFill>
              <a:schemeClr val="accent1"/>
            </a:solidFill>
            <a:prstDash val="solid"/>
            <a:miter lim="800000"/>
          </a:ln>
          <a:effectLst/>
        </p:spPr>
      </p:cxnSp>
      <p:cxnSp>
        <p:nvCxnSpPr>
          <p:cNvPr id="79" name="直接连接符 78">
            <a:extLst>
              <a:ext uri="{FF2B5EF4-FFF2-40B4-BE49-F238E27FC236}">
                <a16:creationId xmlns:a16="http://schemas.microsoft.com/office/drawing/2014/main" id="{B4DB5D78-7321-425B-8D93-E9BD38C1B161}"/>
              </a:ext>
            </a:extLst>
          </p:cNvPr>
          <p:cNvCxnSpPr/>
          <p:nvPr/>
        </p:nvCxnSpPr>
        <p:spPr>
          <a:xfrm>
            <a:off x="380680" y="1453992"/>
            <a:ext cx="0" cy="5003800"/>
          </a:xfrm>
          <a:prstGeom prst="line">
            <a:avLst/>
          </a:prstGeom>
          <a:noFill/>
          <a:ln w="28575" cap="flat" cmpd="sng" algn="ctr">
            <a:solidFill>
              <a:schemeClr val="accent1"/>
            </a:solidFill>
            <a:prstDash val="solid"/>
            <a:miter lim="800000"/>
          </a:ln>
          <a:effectLst/>
        </p:spPr>
      </p:cxnSp>
      <p:sp>
        <p:nvSpPr>
          <p:cNvPr id="80" name="椭圆 79">
            <a:extLst>
              <a:ext uri="{FF2B5EF4-FFF2-40B4-BE49-F238E27FC236}">
                <a16:creationId xmlns:a16="http://schemas.microsoft.com/office/drawing/2014/main" id="{14AA2B00-BB36-4A4E-BD9D-3BB931D927CC}"/>
              </a:ext>
            </a:extLst>
          </p:cNvPr>
          <p:cNvSpPr/>
          <p:nvPr/>
        </p:nvSpPr>
        <p:spPr>
          <a:xfrm>
            <a:off x="265110" y="3787617"/>
            <a:ext cx="215900" cy="215900"/>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81" name="椭圆 80">
            <a:extLst>
              <a:ext uri="{FF2B5EF4-FFF2-40B4-BE49-F238E27FC236}">
                <a16:creationId xmlns:a16="http://schemas.microsoft.com/office/drawing/2014/main" id="{35F11744-3954-40AF-8D36-D139478167DA}"/>
              </a:ext>
            </a:extLst>
          </p:cNvPr>
          <p:cNvSpPr/>
          <p:nvPr/>
        </p:nvSpPr>
        <p:spPr>
          <a:xfrm>
            <a:off x="268920" y="5300187"/>
            <a:ext cx="215900" cy="215900"/>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nvGrpSpPr>
          <p:cNvPr id="82" name="组合 81">
            <a:extLst>
              <a:ext uri="{FF2B5EF4-FFF2-40B4-BE49-F238E27FC236}">
                <a16:creationId xmlns:a16="http://schemas.microsoft.com/office/drawing/2014/main" id="{FB39F9FC-DC8B-44B2-9805-5E6EFD9AC20B}"/>
              </a:ext>
            </a:extLst>
          </p:cNvPr>
          <p:cNvGrpSpPr/>
          <p:nvPr/>
        </p:nvGrpSpPr>
        <p:grpSpPr>
          <a:xfrm>
            <a:off x="1776410" y="2119472"/>
            <a:ext cx="3272790" cy="525145"/>
            <a:chOff x="11810" y="2603"/>
            <a:chExt cx="5154" cy="827"/>
          </a:xfrm>
        </p:grpSpPr>
        <p:sp>
          <p:nvSpPr>
            <p:cNvPr id="83" name="文本框 82">
              <a:extLst>
                <a:ext uri="{FF2B5EF4-FFF2-40B4-BE49-F238E27FC236}">
                  <a16:creationId xmlns:a16="http://schemas.microsoft.com/office/drawing/2014/main" id="{E45C81AA-400C-44E6-86AC-5A736164718B}"/>
                </a:ext>
              </a:extLst>
            </p:cNvPr>
            <p:cNvSpPr txBox="1"/>
            <p:nvPr/>
          </p:nvSpPr>
          <p:spPr>
            <a:xfrm>
              <a:off x="11810" y="2603"/>
              <a:ext cx="5155" cy="387"/>
            </a:xfrm>
            <a:prstGeom prst="rect">
              <a:avLst/>
            </a:prstGeom>
            <a:noFill/>
          </p:spPr>
          <p:txBody>
            <a:bodyPr wrap="square" lIns="0" tIns="0" rIns="0" bIns="0" rtlCol="0">
              <a:spAutoFit/>
            </a:bodyPr>
            <a:lstStyle/>
            <a:p>
              <a:pPr fontAlgn="auto">
                <a:spcBef>
                  <a:spcPts val="0"/>
                </a:spcBef>
                <a:spcAft>
                  <a:spcPts val="0"/>
                </a:spcAft>
              </a:pPr>
              <a:r>
                <a:rPr lang="zh-CN" altLang="en-US" sz="1600" b="1" spc="300" dirty="0">
                  <a:solidFill>
                    <a:schemeClr val="accent4"/>
                  </a:solidFill>
                  <a:latin typeface="微软雅黑" panose="020B0503020204020204" pitchFamily="34" charset="-122"/>
                  <a:ea typeface="微软雅黑" panose="020B0503020204020204" pitchFamily="34" charset="-122"/>
                </a:rPr>
                <a:t>MCU</a:t>
              </a:r>
            </a:p>
          </p:txBody>
        </p:sp>
        <p:sp>
          <p:nvSpPr>
            <p:cNvPr id="84" name="文本框 83">
              <a:extLst>
                <a:ext uri="{FF2B5EF4-FFF2-40B4-BE49-F238E27FC236}">
                  <a16:creationId xmlns:a16="http://schemas.microsoft.com/office/drawing/2014/main" id="{D6177A50-78DD-487F-869E-6DA0E7ED8831}"/>
                </a:ext>
              </a:extLst>
            </p:cNvPr>
            <p:cNvSpPr txBox="1"/>
            <p:nvPr/>
          </p:nvSpPr>
          <p:spPr>
            <a:xfrm>
              <a:off x="11810" y="2990"/>
              <a:ext cx="5155" cy="440"/>
            </a:xfrm>
            <a:prstGeom prst="rect">
              <a:avLst/>
            </a:prstGeom>
            <a:noFill/>
          </p:spPr>
          <p:txBody>
            <a:bodyPr wrap="square" lIns="0" tIns="0" rIns="0" bIns="0" rtlCol="0">
              <a:spAutoFit/>
            </a:bodyPr>
            <a:lstStyle>
              <a:defPPr>
                <a:defRPr lang="zh-CN"/>
              </a:defPPr>
              <a:lvl1pPr algn="just">
                <a:lnSpc>
                  <a:spcPct val="130000"/>
                </a:lnSpc>
                <a:defRPr sz="1400" spc="300">
                  <a:solidFill>
                    <a:schemeClr val="tx1">
                      <a:lumMod val="85000"/>
                      <a:lumOff val="15000"/>
                    </a:schemeClr>
                  </a:solidFill>
                </a:defRPr>
              </a:lvl1pPr>
            </a:lstStyle>
            <a:p>
              <a:pPr algn="l" eaLnBrk="1" fontAlgn="auto" hangingPunct="1">
                <a:spcBef>
                  <a:spcPts val="0"/>
                </a:spcBef>
                <a:spcAft>
                  <a:spcPts val="0"/>
                </a:spcAft>
              </a:pPr>
              <a:r>
                <a:rPr lang="zh-CN" altLang="en-US" dirty="0">
                  <a:solidFill>
                    <a:schemeClr val="tx1"/>
                  </a:solidFill>
                  <a:latin typeface="微软雅黑" panose="020B0503020204020204" pitchFamily="34" charset="-122"/>
                  <a:ea typeface="微软雅黑" panose="020B0503020204020204" pitchFamily="34" charset="-122"/>
                </a:rPr>
                <a:t>stm32zet6</a:t>
              </a:r>
            </a:p>
          </p:txBody>
        </p:sp>
      </p:grpSp>
      <p:grpSp>
        <p:nvGrpSpPr>
          <p:cNvPr id="85" name="组合 84">
            <a:extLst>
              <a:ext uri="{FF2B5EF4-FFF2-40B4-BE49-F238E27FC236}">
                <a16:creationId xmlns:a16="http://schemas.microsoft.com/office/drawing/2014/main" id="{49217222-3B7F-4224-9475-DFB2604CFFB3}"/>
              </a:ext>
            </a:extLst>
          </p:cNvPr>
          <p:cNvGrpSpPr/>
          <p:nvPr/>
        </p:nvGrpSpPr>
        <p:grpSpPr>
          <a:xfrm>
            <a:off x="1111692" y="4376002"/>
            <a:ext cx="504000" cy="504000"/>
            <a:chOff x="7982080" y="4240456"/>
            <a:chExt cx="504000" cy="504000"/>
          </a:xfrm>
        </p:grpSpPr>
        <p:sp>
          <p:nvSpPr>
            <p:cNvPr id="86" name="椭圆 85">
              <a:extLst>
                <a:ext uri="{FF2B5EF4-FFF2-40B4-BE49-F238E27FC236}">
                  <a16:creationId xmlns:a16="http://schemas.microsoft.com/office/drawing/2014/main" id="{DAD56321-614E-4DFC-9F63-B6E86CA14FC6}"/>
                </a:ext>
              </a:extLst>
            </p:cNvPr>
            <p:cNvSpPr/>
            <p:nvPr/>
          </p:nvSpPr>
          <p:spPr>
            <a:xfrm>
              <a:off x="7982080" y="4240456"/>
              <a:ext cx="504000" cy="504000"/>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87" name="Freeform 108">
              <a:extLst>
                <a:ext uri="{FF2B5EF4-FFF2-40B4-BE49-F238E27FC236}">
                  <a16:creationId xmlns:a16="http://schemas.microsoft.com/office/drawing/2014/main" id="{F1D08982-A1D9-4FD0-9E62-D82C4D866BE3}"/>
                </a:ext>
              </a:extLst>
            </p:cNvPr>
            <p:cNvSpPr>
              <a:spLocks noChangeAspect="1" noEditPoints="1"/>
            </p:cNvSpPr>
            <p:nvPr/>
          </p:nvSpPr>
          <p:spPr bwMode="auto">
            <a:xfrm>
              <a:off x="8054080" y="4382788"/>
              <a:ext cx="360000" cy="219337"/>
            </a:xfrm>
            <a:custGeom>
              <a:avLst/>
              <a:gdLst>
                <a:gd name="T0" fmla="*/ 126 w 128"/>
                <a:gd name="T1" fmla="*/ 74 h 78"/>
                <a:gd name="T2" fmla="*/ 114 w 128"/>
                <a:gd name="T3" fmla="*/ 74 h 78"/>
                <a:gd name="T4" fmla="*/ 114 w 128"/>
                <a:gd name="T5" fmla="*/ 50 h 78"/>
                <a:gd name="T6" fmla="*/ 108 w 128"/>
                <a:gd name="T7" fmla="*/ 44 h 78"/>
                <a:gd name="T8" fmla="*/ 94 w 128"/>
                <a:gd name="T9" fmla="*/ 44 h 78"/>
                <a:gd name="T10" fmla="*/ 88 w 128"/>
                <a:gd name="T11" fmla="*/ 50 h 78"/>
                <a:gd name="T12" fmla="*/ 88 w 128"/>
                <a:gd name="T13" fmla="*/ 74 h 78"/>
                <a:gd name="T14" fmla="*/ 77 w 128"/>
                <a:gd name="T15" fmla="*/ 74 h 78"/>
                <a:gd name="T16" fmla="*/ 77 w 128"/>
                <a:gd name="T17" fmla="*/ 6 h 78"/>
                <a:gd name="T18" fmla="*/ 71 w 128"/>
                <a:gd name="T19" fmla="*/ 0 h 78"/>
                <a:gd name="T20" fmla="*/ 57 w 128"/>
                <a:gd name="T21" fmla="*/ 0 h 78"/>
                <a:gd name="T22" fmla="*/ 51 w 128"/>
                <a:gd name="T23" fmla="*/ 6 h 78"/>
                <a:gd name="T24" fmla="*/ 51 w 128"/>
                <a:gd name="T25" fmla="*/ 74 h 78"/>
                <a:gd name="T26" fmla="*/ 40 w 128"/>
                <a:gd name="T27" fmla="*/ 74 h 78"/>
                <a:gd name="T28" fmla="*/ 40 w 128"/>
                <a:gd name="T29" fmla="*/ 35 h 78"/>
                <a:gd name="T30" fmla="*/ 34 w 128"/>
                <a:gd name="T31" fmla="*/ 29 h 78"/>
                <a:gd name="T32" fmla="*/ 20 w 128"/>
                <a:gd name="T33" fmla="*/ 29 h 78"/>
                <a:gd name="T34" fmla="*/ 14 w 128"/>
                <a:gd name="T35" fmla="*/ 35 h 78"/>
                <a:gd name="T36" fmla="*/ 14 w 128"/>
                <a:gd name="T37" fmla="*/ 74 h 78"/>
                <a:gd name="T38" fmla="*/ 2 w 128"/>
                <a:gd name="T39" fmla="*/ 74 h 78"/>
                <a:gd name="T40" fmla="*/ 0 w 128"/>
                <a:gd name="T41" fmla="*/ 76 h 78"/>
                <a:gd name="T42" fmla="*/ 2 w 128"/>
                <a:gd name="T43" fmla="*/ 78 h 78"/>
                <a:gd name="T44" fmla="*/ 126 w 128"/>
                <a:gd name="T45" fmla="*/ 78 h 78"/>
                <a:gd name="T46" fmla="*/ 128 w 128"/>
                <a:gd name="T47" fmla="*/ 76 h 78"/>
                <a:gd name="T48" fmla="*/ 126 w 128"/>
                <a:gd name="T49" fmla="*/ 74 h 78"/>
                <a:gd name="T50" fmla="*/ 36 w 128"/>
                <a:gd name="T51" fmla="*/ 74 h 78"/>
                <a:gd name="T52" fmla="*/ 18 w 128"/>
                <a:gd name="T53" fmla="*/ 74 h 78"/>
                <a:gd name="T54" fmla="*/ 18 w 128"/>
                <a:gd name="T55" fmla="*/ 34 h 78"/>
                <a:gd name="T56" fmla="*/ 36 w 128"/>
                <a:gd name="T57" fmla="*/ 34 h 78"/>
                <a:gd name="T58" fmla="*/ 36 w 128"/>
                <a:gd name="T59" fmla="*/ 74 h 78"/>
                <a:gd name="T60" fmla="*/ 73 w 128"/>
                <a:gd name="T61" fmla="*/ 74 h 78"/>
                <a:gd name="T62" fmla="*/ 55 w 128"/>
                <a:gd name="T63" fmla="*/ 74 h 78"/>
                <a:gd name="T64" fmla="*/ 55 w 128"/>
                <a:gd name="T65" fmla="*/ 4 h 78"/>
                <a:gd name="T66" fmla="*/ 73 w 128"/>
                <a:gd name="T67" fmla="*/ 4 h 78"/>
                <a:gd name="T68" fmla="*/ 73 w 128"/>
                <a:gd name="T69" fmla="*/ 74 h 78"/>
                <a:gd name="T70" fmla="*/ 110 w 128"/>
                <a:gd name="T71" fmla="*/ 74 h 78"/>
                <a:gd name="T72" fmla="*/ 92 w 128"/>
                <a:gd name="T73" fmla="*/ 74 h 78"/>
                <a:gd name="T74" fmla="*/ 92 w 128"/>
                <a:gd name="T75" fmla="*/ 49 h 78"/>
                <a:gd name="T76" fmla="*/ 110 w 128"/>
                <a:gd name="T77" fmla="*/ 49 h 78"/>
                <a:gd name="T78" fmla="*/ 110 w 128"/>
                <a:gd name="T79" fmla="*/ 74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28" h="78">
                  <a:moveTo>
                    <a:pt x="126" y="74"/>
                  </a:moveTo>
                  <a:cubicBezTo>
                    <a:pt x="114" y="74"/>
                    <a:pt x="114" y="74"/>
                    <a:pt x="114" y="74"/>
                  </a:cubicBezTo>
                  <a:cubicBezTo>
                    <a:pt x="114" y="50"/>
                    <a:pt x="114" y="50"/>
                    <a:pt x="114" y="50"/>
                  </a:cubicBezTo>
                  <a:cubicBezTo>
                    <a:pt x="114" y="47"/>
                    <a:pt x="112" y="44"/>
                    <a:pt x="108" y="44"/>
                  </a:cubicBezTo>
                  <a:cubicBezTo>
                    <a:pt x="94" y="44"/>
                    <a:pt x="94" y="44"/>
                    <a:pt x="94" y="44"/>
                  </a:cubicBezTo>
                  <a:cubicBezTo>
                    <a:pt x="90" y="44"/>
                    <a:pt x="88" y="47"/>
                    <a:pt x="88" y="50"/>
                  </a:cubicBezTo>
                  <a:cubicBezTo>
                    <a:pt x="88" y="74"/>
                    <a:pt x="88" y="74"/>
                    <a:pt x="88" y="74"/>
                  </a:cubicBezTo>
                  <a:cubicBezTo>
                    <a:pt x="77" y="74"/>
                    <a:pt x="77" y="74"/>
                    <a:pt x="77" y="74"/>
                  </a:cubicBezTo>
                  <a:cubicBezTo>
                    <a:pt x="77" y="6"/>
                    <a:pt x="77" y="6"/>
                    <a:pt x="77" y="6"/>
                  </a:cubicBezTo>
                  <a:cubicBezTo>
                    <a:pt x="77" y="2"/>
                    <a:pt x="75" y="0"/>
                    <a:pt x="71" y="0"/>
                  </a:cubicBezTo>
                  <a:cubicBezTo>
                    <a:pt x="57" y="0"/>
                    <a:pt x="57" y="0"/>
                    <a:pt x="57" y="0"/>
                  </a:cubicBezTo>
                  <a:cubicBezTo>
                    <a:pt x="53" y="0"/>
                    <a:pt x="51" y="2"/>
                    <a:pt x="51" y="6"/>
                  </a:cubicBezTo>
                  <a:cubicBezTo>
                    <a:pt x="51" y="74"/>
                    <a:pt x="51" y="74"/>
                    <a:pt x="51" y="74"/>
                  </a:cubicBezTo>
                  <a:cubicBezTo>
                    <a:pt x="40" y="74"/>
                    <a:pt x="40" y="74"/>
                    <a:pt x="40" y="74"/>
                  </a:cubicBezTo>
                  <a:cubicBezTo>
                    <a:pt x="40" y="35"/>
                    <a:pt x="40" y="35"/>
                    <a:pt x="40" y="35"/>
                  </a:cubicBezTo>
                  <a:cubicBezTo>
                    <a:pt x="40" y="32"/>
                    <a:pt x="38" y="29"/>
                    <a:pt x="34" y="29"/>
                  </a:cubicBezTo>
                  <a:cubicBezTo>
                    <a:pt x="20" y="29"/>
                    <a:pt x="20" y="29"/>
                    <a:pt x="20" y="29"/>
                  </a:cubicBezTo>
                  <a:cubicBezTo>
                    <a:pt x="16" y="29"/>
                    <a:pt x="14" y="32"/>
                    <a:pt x="14" y="35"/>
                  </a:cubicBezTo>
                  <a:cubicBezTo>
                    <a:pt x="14" y="74"/>
                    <a:pt x="14" y="74"/>
                    <a:pt x="14" y="74"/>
                  </a:cubicBezTo>
                  <a:cubicBezTo>
                    <a:pt x="2" y="74"/>
                    <a:pt x="2" y="74"/>
                    <a:pt x="2" y="74"/>
                  </a:cubicBezTo>
                  <a:cubicBezTo>
                    <a:pt x="1" y="74"/>
                    <a:pt x="0" y="75"/>
                    <a:pt x="0" y="76"/>
                  </a:cubicBezTo>
                  <a:cubicBezTo>
                    <a:pt x="0" y="77"/>
                    <a:pt x="1" y="78"/>
                    <a:pt x="2" y="78"/>
                  </a:cubicBezTo>
                  <a:cubicBezTo>
                    <a:pt x="126" y="78"/>
                    <a:pt x="126" y="78"/>
                    <a:pt x="126" y="78"/>
                  </a:cubicBezTo>
                  <a:cubicBezTo>
                    <a:pt x="127" y="78"/>
                    <a:pt x="128" y="77"/>
                    <a:pt x="128" y="76"/>
                  </a:cubicBezTo>
                  <a:cubicBezTo>
                    <a:pt x="128" y="75"/>
                    <a:pt x="127" y="74"/>
                    <a:pt x="126" y="74"/>
                  </a:cubicBezTo>
                  <a:close/>
                  <a:moveTo>
                    <a:pt x="36" y="74"/>
                  </a:moveTo>
                  <a:cubicBezTo>
                    <a:pt x="18" y="74"/>
                    <a:pt x="18" y="74"/>
                    <a:pt x="18" y="74"/>
                  </a:cubicBezTo>
                  <a:cubicBezTo>
                    <a:pt x="18" y="34"/>
                    <a:pt x="18" y="34"/>
                    <a:pt x="18" y="34"/>
                  </a:cubicBezTo>
                  <a:cubicBezTo>
                    <a:pt x="36" y="34"/>
                    <a:pt x="36" y="34"/>
                    <a:pt x="36" y="34"/>
                  </a:cubicBezTo>
                  <a:lnTo>
                    <a:pt x="36" y="74"/>
                  </a:lnTo>
                  <a:close/>
                  <a:moveTo>
                    <a:pt x="73" y="74"/>
                  </a:moveTo>
                  <a:cubicBezTo>
                    <a:pt x="55" y="74"/>
                    <a:pt x="55" y="74"/>
                    <a:pt x="55" y="74"/>
                  </a:cubicBezTo>
                  <a:cubicBezTo>
                    <a:pt x="55" y="4"/>
                    <a:pt x="55" y="4"/>
                    <a:pt x="55" y="4"/>
                  </a:cubicBezTo>
                  <a:cubicBezTo>
                    <a:pt x="73" y="4"/>
                    <a:pt x="73" y="4"/>
                    <a:pt x="73" y="4"/>
                  </a:cubicBezTo>
                  <a:lnTo>
                    <a:pt x="73" y="74"/>
                  </a:lnTo>
                  <a:close/>
                  <a:moveTo>
                    <a:pt x="110" y="74"/>
                  </a:moveTo>
                  <a:cubicBezTo>
                    <a:pt x="92" y="74"/>
                    <a:pt x="92" y="74"/>
                    <a:pt x="92" y="74"/>
                  </a:cubicBezTo>
                  <a:cubicBezTo>
                    <a:pt x="92" y="49"/>
                    <a:pt x="92" y="49"/>
                    <a:pt x="92" y="49"/>
                  </a:cubicBezTo>
                  <a:cubicBezTo>
                    <a:pt x="110" y="49"/>
                    <a:pt x="110" y="49"/>
                    <a:pt x="110" y="49"/>
                  </a:cubicBezTo>
                  <a:lnTo>
                    <a:pt x="110" y="74"/>
                  </a:lnTo>
                  <a:close/>
                </a:path>
              </a:pathLst>
            </a:custGeom>
            <a:solidFill>
              <a:srgbClr val="FFFFFF"/>
            </a:solid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grpSp>
        <p:nvGrpSpPr>
          <p:cNvPr id="88" name="组合 87">
            <a:extLst>
              <a:ext uri="{FF2B5EF4-FFF2-40B4-BE49-F238E27FC236}">
                <a16:creationId xmlns:a16="http://schemas.microsoft.com/office/drawing/2014/main" id="{7938C504-1C30-466D-A959-9825B952B524}"/>
              </a:ext>
            </a:extLst>
          </p:cNvPr>
          <p:cNvGrpSpPr/>
          <p:nvPr/>
        </p:nvGrpSpPr>
        <p:grpSpPr>
          <a:xfrm>
            <a:off x="1112327" y="5871220"/>
            <a:ext cx="504000" cy="504000"/>
            <a:chOff x="7982080" y="5312514"/>
            <a:chExt cx="504000" cy="504000"/>
          </a:xfrm>
        </p:grpSpPr>
        <p:sp>
          <p:nvSpPr>
            <p:cNvPr id="89" name="椭圆 88">
              <a:extLst>
                <a:ext uri="{FF2B5EF4-FFF2-40B4-BE49-F238E27FC236}">
                  <a16:creationId xmlns:a16="http://schemas.microsoft.com/office/drawing/2014/main" id="{502961F6-7DCA-4D61-8B0A-B6F42525499A}"/>
                </a:ext>
              </a:extLst>
            </p:cNvPr>
            <p:cNvSpPr/>
            <p:nvPr/>
          </p:nvSpPr>
          <p:spPr>
            <a:xfrm>
              <a:off x="7982080" y="5312514"/>
              <a:ext cx="504000" cy="504000"/>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90" name="Freeform 96">
              <a:extLst>
                <a:ext uri="{FF2B5EF4-FFF2-40B4-BE49-F238E27FC236}">
                  <a16:creationId xmlns:a16="http://schemas.microsoft.com/office/drawing/2014/main" id="{841F1DB8-3BB8-4362-A3A5-667EEB612487}"/>
                </a:ext>
              </a:extLst>
            </p:cNvPr>
            <p:cNvSpPr>
              <a:spLocks noChangeAspect="1" noEditPoints="1"/>
            </p:cNvSpPr>
            <p:nvPr/>
          </p:nvSpPr>
          <p:spPr bwMode="auto">
            <a:xfrm>
              <a:off x="8072080" y="5401977"/>
              <a:ext cx="324000" cy="325074"/>
            </a:xfrm>
            <a:custGeom>
              <a:avLst/>
              <a:gdLst>
                <a:gd name="T0" fmla="*/ 64 w 128"/>
                <a:gd name="T1" fmla="*/ 128 h 128"/>
                <a:gd name="T2" fmla="*/ 20 w 128"/>
                <a:gd name="T3" fmla="*/ 24 h 128"/>
                <a:gd name="T4" fmla="*/ 48 w 128"/>
                <a:gd name="T5" fmla="*/ 7 h 128"/>
                <a:gd name="T6" fmla="*/ 33 w 128"/>
                <a:gd name="T7" fmla="*/ 30 h 128"/>
                <a:gd name="T8" fmla="*/ 21 w 128"/>
                <a:gd name="T9" fmla="*/ 26 h 128"/>
                <a:gd name="T10" fmla="*/ 5 w 128"/>
                <a:gd name="T11" fmla="*/ 60 h 128"/>
                <a:gd name="T12" fmla="*/ 16 w 128"/>
                <a:gd name="T13" fmla="*/ 29 h 128"/>
                <a:gd name="T14" fmla="*/ 30 w 128"/>
                <a:gd name="T15" fmla="*/ 35 h 128"/>
                <a:gd name="T16" fmla="*/ 24 w 128"/>
                <a:gd name="T17" fmla="*/ 62 h 128"/>
                <a:gd name="T18" fmla="*/ 17 w 128"/>
                <a:gd name="T19" fmla="*/ 98 h 128"/>
                <a:gd name="T20" fmla="*/ 9 w 128"/>
                <a:gd name="T21" fmla="*/ 87 h 128"/>
                <a:gd name="T22" fmla="*/ 24 w 128"/>
                <a:gd name="T23" fmla="*/ 66 h 128"/>
                <a:gd name="T24" fmla="*/ 30 w 128"/>
                <a:gd name="T25" fmla="*/ 93 h 128"/>
                <a:gd name="T26" fmla="*/ 48 w 128"/>
                <a:gd name="T27" fmla="*/ 121 h 128"/>
                <a:gd name="T28" fmla="*/ 20 w 128"/>
                <a:gd name="T29" fmla="*/ 104 h 128"/>
                <a:gd name="T30" fmla="*/ 31 w 128"/>
                <a:gd name="T31" fmla="*/ 98 h 128"/>
                <a:gd name="T32" fmla="*/ 49 w 128"/>
                <a:gd name="T33" fmla="*/ 119 h 128"/>
                <a:gd name="T34" fmla="*/ 62 w 128"/>
                <a:gd name="T35" fmla="*/ 122 h 128"/>
                <a:gd name="T36" fmla="*/ 37 w 128"/>
                <a:gd name="T37" fmla="*/ 97 h 128"/>
                <a:gd name="T38" fmla="*/ 60 w 128"/>
                <a:gd name="T39" fmla="*/ 92 h 128"/>
                <a:gd name="T40" fmla="*/ 62 w 128"/>
                <a:gd name="T41" fmla="*/ 88 h 128"/>
                <a:gd name="T42" fmla="*/ 34 w 128"/>
                <a:gd name="T43" fmla="*/ 92 h 128"/>
                <a:gd name="T44" fmla="*/ 29 w 128"/>
                <a:gd name="T45" fmla="*/ 66 h 128"/>
                <a:gd name="T46" fmla="*/ 62 w 128"/>
                <a:gd name="T47" fmla="*/ 62 h 128"/>
                <a:gd name="T48" fmla="*/ 34 w 128"/>
                <a:gd name="T49" fmla="*/ 38 h 128"/>
                <a:gd name="T50" fmla="*/ 60 w 128"/>
                <a:gd name="T51" fmla="*/ 40 h 128"/>
                <a:gd name="T52" fmla="*/ 62 w 128"/>
                <a:gd name="T53" fmla="*/ 36 h 128"/>
                <a:gd name="T54" fmla="*/ 36 w 128"/>
                <a:gd name="T55" fmla="*/ 32 h 128"/>
                <a:gd name="T56" fmla="*/ 60 w 128"/>
                <a:gd name="T57" fmla="*/ 7 h 128"/>
                <a:gd name="T58" fmla="*/ 111 w 128"/>
                <a:gd name="T59" fmla="*/ 30 h 128"/>
                <a:gd name="T60" fmla="*/ 119 w 128"/>
                <a:gd name="T61" fmla="*/ 41 h 128"/>
                <a:gd name="T62" fmla="*/ 104 w 128"/>
                <a:gd name="T63" fmla="*/ 62 h 128"/>
                <a:gd name="T64" fmla="*/ 98 w 128"/>
                <a:gd name="T65" fmla="*/ 35 h 128"/>
                <a:gd name="T66" fmla="*/ 80 w 128"/>
                <a:gd name="T67" fmla="*/ 7 h 128"/>
                <a:gd name="T68" fmla="*/ 108 w 128"/>
                <a:gd name="T69" fmla="*/ 24 h 128"/>
                <a:gd name="T70" fmla="*/ 97 w 128"/>
                <a:gd name="T71" fmla="*/ 30 h 128"/>
                <a:gd name="T72" fmla="*/ 79 w 128"/>
                <a:gd name="T73" fmla="*/ 9 h 128"/>
                <a:gd name="T74" fmla="*/ 66 w 128"/>
                <a:gd name="T75" fmla="*/ 6 h 128"/>
                <a:gd name="T76" fmla="*/ 91 w 128"/>
                <a:gd name="T77" fmla="*/ 31 h 128"/>
                <a:gd name="T78" fmla="*/ 68 w 128"/>
                <a:gd name="T79" fmla="*/ 36 h 128"/>
                <a:gd name="T80" fmla="*/ 66 w 128"/>
                <a:gd name="T81" fmla="*/ 40 h 128"/>
                <a:gd name="T82" fmla="*/ 94 w 128"/>
                <a:gd name="T83" fmla="*/ 36 h 128"/>
                <a:gd name="T84" fmla="*/ 99 w 128"/>
                <a:gd name="T85" fmla="*/ 62 h 128"/>
                <a:gd name="T86" fmla="*/ 66 w 128"/>
                <a:gd name="T87" fmla="*/ 66 h 128"/>
                <a:gd name="T88" fmla="*/ 94 w 128"/>
                <a:gd name="T89" fmla="*/ 90 h 128"/>
                <a:gd name="T90" fmla="*/ 68 w 128"/>
                <a:gd name="T91" fmla="*/ 88 h 128"/>
                <a:gd name="T92" fmla="*/ 66 w 128"/>
                <a:gd name="T93" fmla="*/ 122 h 128"/>
                <a:gd name="T94" fmla="*/ 90 w 128"/>
                <a:gd name="T95" fmla="*/ 95 h 128"/>
                <a:gd name="T96" fmla="*/ 80 w 128"/>
                <a:gd name="T97" fmla="*/ 112 h 128"/>
                <a:gd name="T98" fmla="*/ 108 w 128"/>
                <a:gd name="T99" fmla="*/ 104 h 128"/>
                <a:gd name="T100" fmla="*/ 80 w 128"/>
                <a:gd name="T101" fmla="*/ 121 h 128"/>
                <a:gd name="T102" fmla="*/ 95 w 128"/>
                <a:gd name="T103" fmla="*/ 98 h 128"/>
                <a:gd name="T104" fmla="*/ 107 w 128"/>
                <a:gd name="T105" fmla="*/ 102 h 128"/>
                <a:gd name="T106" fmla="*/ 123 w 128"/>
                <a:gd name="T107" fmla="*/ 68 h 128"/>
                <a:gd name="T108" fmla="*/ 112 w 128"/>
                <a:gd name="T109" fmla="*/ 99 h 128"/>
                <a:gd name="T110" fmla="*/ 98 w 128"/>
                <a:gd name="T111" fmla="*/ 93 h 128"/>
                <a:gd name="T112" fmla="*/ 104 w 128"/>
                <a:gd name="T113" fmla="*/ 6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28" h="128">
                  <a:moveTo>
                    <a:pt x="64" y="0"/>
                  </a:moveTo>
                  <a:cubicBezTo>
                    <a:pt x="29" y="0"/>
                    <a:pt x="0" y="29"/>
                    <a:pt x="0" y="64"/>
                  </a:cubicBezTo>
                  <a:cubicBezTo>
                    <a:pt x="0" y="99"/>
                    <a:pt x="29" y="128"/>
                    <a:pt x="64" y="128"/>
                  </a:cubicBezTo>
                  <a:cubicBezTo>
                    <a:pt x="99" y="128"/>
                    <a:pt x="128" y="99"/>
                    <a:pt x="128" y="64"/>
                  </a:cubicBezTo>
                  <a:cubicBezTo>
                    <a:pt x="128" y="29"/>
                    <a:pt x="99" y="0"/>
                    <a:pt x="64" y="0"/>
                  </a:cubicBezTo>
                  <a:close/>
                  <a:moveTo>
                    <a:pt x="20" y="24"/>
                  </a:moveTo>
                  <a:cubicBezTo>
                    <a:pt x="21" y="23"/>
                    <a:pt x="21" y="23"/>
                    <a:pt x="22" y="22"/>
                  </a:cubicBezTo>
                  <a:cubicBezTo>
                    <a:pt x="27" y="17"/>
                    <a:pt x="34" y="12"/>
                    <a:pt x="41" y="9"/>
                  </a:cubicBezTo>
                  <a:cubicBezTo>
                    <a:pt x="43" y="8"/>
                    <a:pt x="46" y="7"/>
                    <a:pt x="48" y="7"/>
                  </a:cubicBezTo>
                  <a:cubicBezTo>
                    <a:pt x="54" y="5"/>
                    <a:pt x="54" y="5"/>
                    <a:pt x="54" y="5"/>
                  </a:cubicBezTo>
                  <a:cubicBezTo>
                    <a:pt x="49" y="9"/>
                    <a:pt x="49" y="9"/>
                    <a:pt x="49" y="9"/>
                  </a:cubicBezTo>
                  <a:cubicBezTo>
                    <a:pt x="43" y="15"/>
                    <a:pt x="37" y="22"/>
                    <a:pt x="33" y="30"/>
                  </a:cubicBezTo>
                  <a:cubicBezTo>
                    <a:pt x="32" y="31"/>
                    <a:pt x="32" y="31"/>
                    <a:pt x="32" y="31"/>
                  </a:cubicBezTo>
                  <a:cubicBezTo>
                    <a:pt x="31" y="30"/>
                    <a:pt x="31" y="30"/>
                    <a:pt x="31" y="30"/>
                  </a:cubicBezTo>
                  <a:cubicBezTo>
                    <a:pt x="27" y="29"/>
                    <a:pt x="24" y="28"/>
                    <a:pt x="21" y="26"/>
                  </a:cubicBezTo>
                  <a:cubicBezTo>
                    <a:pt x="19" y="25"/>
                    <a:pt x="19" y="25"/>
                    <a:pt x="19" y="25"/>
                  </a:cubicBezTo>
                  <a:lnTo>
                    <a:pt x="20" y="24"/>
                  </a:lnTo>
                  <a:close/>
                  <a:moveTo>
                    <a:pt x="5" y="60"/>
                  </a:moveTo>
                  <a:cubicBezTo>
                    <a:pt x="5" y="54"/>
                    <a:pt x="7" y="47"/>
                    <a:pt x="9" y="41"/>
                  </a:cubicBezTo>
                  <a:cubicBezTo>
                    <a:pt x="11" y="37"/>
                    <a:pt x="13" y="33"/>
                    <a:pt x="15" y="30"/>
                  </a:cubicBezTo>
                  <a:cubicBezTo>
                    <a:pt x="16" y="29"/>
                    <a:pt x="16" y="29"/>
                    <a:pt x="16" y="29"/>
                  </a:cubicBezTo>
                  <a:cubicBezTo>
                    <a:pt x="17" y="30"/>
                    <a:pt x="17" y="30"/>
                    <a:pt x="17" y="30"/>
                  </a:cubicBezTo>
                  <a:cubicBezTo>
                    <a:pt x="21" y="31"/>
                    <a:pt x="25" y="33"/>
                    <a:pt x="29" y="34"/>
                  </a:cubicBezTo>
                  <a:cubicBezTo>
                    <a:pt x="30" y="35"/>
                    <a:pt x="30" y="35"/>
                    <a:pt x="30" y="35"/>
                  </a:cubicBezTo>
                  <a:cubicBezTo>
                    <a:pt x="29" y="36"/>
                    <a:pt x="29" y="36"/>
                    <a:pt x="29" y="36"/>
                  </a:cubicBezTo>
                  <a:cubicBezTo>
                    <a:pt x="26" y="44"/>
                    <a:pt x="24" y="52"/>
                    <a:pt x="24" y="60"/>
                  </a:cubicBezTo>
                  <a:cubicBezTo>
                    <a:pt x="24" y="62"/>
                    <a:pt x="24" y="62"/>
                    <a:pt x="24" y="62"/>
                  </a:cubicBezTo>
                  <a:cubicBezTo>
                    <a:pt x="5" y="62"/>
                    <a:pt x="5" y="62"/>
                    <a:pt x="5" y="62"/>
                  </a:cubicBezTo>
                  <a:lnTo>
                    <a:pt x="5" y="60"/>
                  </a:lnTo>
                  <a:close/>
                  <a:moveTo>
                    <a:pt x="17" y="98"/>
                  </a:moveTo>
                  <a:cubicBezTo>
                    <a:pt x="16" y="99"/>
                    <a:pt x="16" y="99"/>
                    <a:pt x="16" y="99"/>
                  </a:cubicBezTo>
                  <a:cubicBezTo>
                    <a:pt x="15" y="98"/>
                    <a:pt x="15" y="98"/>
                    <a:pt x="15" y="98"/>
                  </a:cubicBezTo>
                  <a:cubicBezTo>
                    <a:pt x="13" y="95"/>
                    <a:pt x="11" y="91"/>
                    <a:pt x="9" y="87"/>
                  </a:cubicBezTo>
                  <a:cubicBezTo>
                    <a:pt x="7" y="81"/>
                    <a:pt x="5" y="74"/>
                    <a:pt x="5" y="68"/>
                  </a:cubicBezTo>
                  <a:cubicBezTo>
                    <a:pt x="5" y="66"/>
                    <a:pt x="5" y="66"/>
                    <a:pt x="5" y="66"/>
                  </a:cubicBezTo>
                  <a:cubicBezTo>
                    <a:pt x="24" y="66"/>
                    <a:pt x="24" y="66"/>
                    <a:pt x="24" y="66"/>
                  </a:cubicBezTo>
                  <a:cubicBezTo>
                    <a:pt x="24" y="68"/>
                    <a:pt x="24" y="68"/>
                    <a:pt x="24" y="68"/>
                  </a:cubicBezTo>
                  <a:cubicBezTo>
                    <a:pt x="24" y="76"/>
                    <a:pt x="26" y="84"/>
                    <a:pt x="29" y="92"/>
                  </a:cubicBezTo>
                  <a:cubicBezTo>
                    <a:pt x="30" y="93"/>
                    <a:pt x="30" y="93"/>
                    <a:pt x="30" y="93"/>
                  </a:cubicBezTo>
                  <a:cubicBezTo>
                    <a:pt x="29" y="94"/>
                    <a:pt x="29" y="94"/>
                    <a:pt x="29" y="94"/>
                  </a:cubicBezTo>
                  <a:cubicBezTo>
                    <a:pt x="25" y="95"/>
                    <a:pt x="21" y="97"/>
                    <a:pt x="17" y="98"/>
                  </a:cubicBezTo>
                  <a:close/>
                  <a:moveTo>
                    <a:pt x="48" y="121"/>
                  </a:moveTo>
                  <a:cubicBezTo>
                    <a:pt x="46" y="121"/>
                    <a:pt x="43" y="120"/>
                    <a:pt x="41" y="119"/>
                  </a:cubicBezTo>
                  <a:cubicBezTo>
                    <a:pt x="34" y="116"/>
                    <a:pt x="27" y="112"/>
                    <a:pt x="22" y="106"/>
                  </a:cubicBezTo>
                  <a:cubicBezTo>
                    <a:pt x="21" y="105"/>
                    <a:pt x="21" y="105"/>
                    <a:pt x="20" y="104"/>
                  </a:cubicBezTo>
                  <a:cubicBezTo>
                    <a:pt x="19" y="103"/>
                    <a:pt x="19" y="103"/>
                    <a:pt x="19" y="103"/>
                  </a:cubicBezTo>
                  <a:cubicBezTo>
                    <a:pt x="21" y="102"/>
                    <a:pt x="21" y="102"/>
                    <a:pt x="21" y="102"/>
                  </a:cubicBezTo>
                  <a:cubicBezTo>
                    <a:pt x="24" y="100"/>
                    <a:pt x="27" y="99"/>
                    <a:pt x="31" y="98"/>
                  </a:cubicBezTo>
                  <a:cubicBezTo>
                    <a:pt x="32" y="97"/>
                    <a:pt x="32" y="97"/>
                    <a:pt x="32" y="97"/>
                  </a:cubicBezTo>
                  <a:cubicBezTo>
                    <a:pt x="33" y="98"/>
                    <a:pt x="33" y="98"/>
                    <a:pt x="33" y="98"/>
                  </a:cubicBezTo>
                  <a:cubicBezTo>
                    <a:pt x="37" y="106"/>
                    <a:pt x="43" y="113"/>
                    <a:pt x="49" y="119"/>
                  </a:cubicBezTo>
                  <a:cubicBezTo>
                    <a:pt x="54" y="123"/>
                    <a:pt x="54" y="123"/>
                    <a:pt x="54" y="123"/>
                  </a:cubicBezTo>
                  <a:lnTo>
                    <a:pt x="48" y="121"/>
                  </a:lnTo>
                  <a:close/>
                  <a:moveTo>
                    <a:pt x="62" y="122"/>
                  </a:moveTo>
                  <a:cubicBezTo>
                    <a:pt x="60" y="121"/>
                    <a:pt x="60" y="121"/>
                    <a:pt x="60" y="121"/>
                  </a:cubicBezTo>
                  <a:cubicBezTo>
                    <a:pt x="55" y="118"/>
                    <a:pt x="52" y="115"/>
                    <a:pt x="48" y="112"/>
                  </a:cubicBezTo>
                  <a:cubicBezTo>
                    <a:pt x="44" y="107"/>
                    <a:pt x="40" y="103"/>
                    <a:pt x="37" y="97"/>
                  </a:cubicBezTo>
                  <a:cubicBezTo>
                    <a:pt x="36" y="96"/>
                    <a:pt x="36" y="96"/>
                    <a:pt x="36" y="96"/>
                  </a:cubicBezTo>
                  <a:cubicBezTo>
                    <a:pt x="38" y="95"/>
                    <a:pt x="38" y="95"/>
                    <a:pt x="38" y="95"/>
                  </a:cubicBezTo>
                  <a:cubicBezTo>
                    <a:pt x="45" y="94"/>
                    <a:pt x="53" y="93"/>
                    <a:pt x="60" y="92"/>
                  </a:cubicBezTo>
                  <a:cubicBezTo>
                    <a:pt x="62" y="92"/>
                    <a:pt x="62" y="92"/>
                    <a:pt x="62" y="92"/>
                  </a:cubicBezTo>
                  <a:lnTo>
                    <a:pt x="62" y="122"/>
                  </a:lnTo>
                  <a:close/>
                  <a:moveTo>
                    <a:pt x="62" y="88"/>
                  </a:moveTo>
                  <a:cubicBezTo>
                    <a:pt x="60" y="88"/>
                    <a:pt x="60" y="88"/>
                    <a:pt x="60" y="88"/>
                  </a:cubicBezTo>
                  <a:cubicBezTo>
                    <a:pt x="52" y="88"/>
                    <a:pt x="44" y="89"/>
                    <a:pt x="36" y="91"/>
                  </a:cubicBezTo>
                  <a:cubicBezTo>
                    <a:pt x="34" y="92"/>
                    <a:pt x="34" y="92"/>
                    <a:pt x="34" y="92"/>
                  </a:cubicBezTo>
                  <a:cubicBezTo>
                    <a:pt x="34" y="90"/>
                    <a:pt x="34" y="90"/>
                    <a:pt x="34" y="90"/>
                  </a:cubicBezTo>
                  <a:cubicBezTo>
                    <a:pt x="31" y="83"/>
                    <a:pt x="29" y="76"/>
                    <a:pt x="29" y="68"/>
                  </a:cubicBezTo>
                  <a:cubicBezTo>
                    <a:pt x="29" y="66"/>
                    <a:pt x="29" y="66"/>
                    <a:pt x="29" y="66"/>
                  </a:cubicBezTo>
                  <a:cubicBezTo>
                    <a:pt x="62" y="66"/>
                    <a:pt x="62" y="66"/>
                    <a:pt x="62" y="66"/>
                  </a:cubicBezTo>
                  <a:lnTo>
                    <a:pt x="62" y="88"/>
                  </a:lnTo>
                  <a:close/>
                  <a:moveTo>
                    <a:pt x="62" y="62"/>
                  </a:moveTo>
                  <a:cubicBezTo>
                    <a:pt x="29" y="62"/>
                    <a:pt x="29" y="62"/>
                    <a:pt x="29" y="62"/>
                  </a:cubicBezTo>
                  <a:cubicBezTo>
                    <a:pt x="29" y="60"/>
                    <a:pt x="29" y="60"/>
                    <a:pt x="29" y="60"/>
                  </a:cubicBezTo>
                  <a:cubicBezTo>
                    <a:pt x="29" y="52"/>
                    <a:pt x="31" y="45"/>
                    <a:pt x="34" y="38"/>
                  </a:cubicBezTo>
                  <a:cubicBezTo>
                    <a:pt x="34" y="37"/>
                    <a:pt x="34" y="37"/>
                    <a:pt x="34" y="37"/>
                  </a:cubicBezTo>
                  <a:cubicBezTo>
                    <a:pt x="36" y="37"/>
                    <a:pt x="36" y="37"/>
                    <a:pt x="36" y="37"/>
                  </a:cubicBezTo>
                  <a:cubicBezTo>
                    <a:pt x="44" y="39"/>
                    <a:pt x="52" y="40"/>
                    <a:pt x="60" y="40"/>
                  </a:cubicBezTo>
                  <a:cubicBezTo>
                    <a:pt x="62" y="40"/>
                    <a:pt x="62" y="40"/>
                    <a:pt x="62" y="40"/>
                  </a:cubicBezTo>
                  <a:lnTo>
                    <a:pt x="62" y="62"/>
                  </a:lnTo>
                  <a:close/>
                  <a:moveTo>
                    <a:pt x="62" y="36"/>
                  </a:moveTo>
                  <a:cubicBezTo>
                    <a:pt x="60" y="36"/>
                    <a:pt x="60" y="36"/>
                    <a:pt x="60" y="36"/>
                  </a:cubicBezTo>
                  <a:cubicBezTo>
                    <a:pt x="53" y="35"/>
                    <a:pt x="45" y="34"/>
                    <a:pt x="38" y="33"/>
                  </a:cubicBezTo>
                  <a:cubicBezTo>
                    <a:pt x="36" y="32"/>
                    <a:pt x="36" y="32"/>
                    <a:pt x="36" y="32"/>
                  </a:cubicBezTo>
                  <a:cubicBezTo>
                    <a:pt x="37" y="31"/>
                    <a:pt x="37" y="31"/>
                    <a:pt x="37" y="31"/>
                  </a:cubicBezTo>
                  <a:cubicBezTo>
                    <a:pt x="40" y="25"/>
                    <a:pt x="44" y="21"/>
                    <a:pt x="48" y="17"/>
                  </a:cubicBezTo>
                  <a:cubicBezTo>
                    <a:pt x="52" y="13"/>
                    <a:pt x="55" y="10"/>
                    <a:pt x="60" y="7"/>
                  </a:cubicBezTo>
                  <a:cubicBezTo>
                    <a:pt x="62" y="6"/>
                    <a:pt x="62" y="6"/>
                    <a:pt x="62" y="6"/>
                  </a:cubicBezTo>
                  <a:lnTo>
                    <a:pt x="62" y="36"/>
                  </a:lnTo>
                  <a:close/>
                  <a:moveTo>
                    <a:pt x="111" y="30"/>
                  </a:moveTo>
                  <a:cubicBezTo>
                    <a:pt x="112" y="29"/>
                    <a:pt x="112" y="29"/>
                    <a:pt x="112" y="29"/>
                  </a:cubicBezTo>
                  <a:cubicBezTo>
                    <a:pt x="113" y="30"/>
                    <a:pt x="113" y="30"/>
                    <a:pt x="113" y="30"/>
                  </a:cubicBezTo>
                  <a:cubicBezTo>
                    <a:pt x="115" y="33"/>
                    <a:pt x="117" y="37"/>
                    <a:pt x="119" y="41"/>
                  </a:cubicBezTo>
                  <a:cubicBezTo>
                    <a:pt x="121" y="47"/>
                    <a:pt x="123" y="54"/>
                    <a:pt x="123" y="60"/>
                  </a:cubicBezTo>
                  <a:cubicBezTo>
                    <a:pt x="123" y="62"/>
                    <a:pt x="123" y="62"/>
                    <a:pt x="123" y="62"/>
                  </a:cubicBezTo>
                  <a:cubicBezTo>
                    <a:pt x="104" y="62"/>
                    <a:pt x="104" y="62"/>
                    <a:pt x="104" y="62"/>
                  </a:cubicBezTo>
                  <a:cubicBezTo>
                    <a:pt x="104" y="60"/>
                    <a:pt x="104" y="60"/>
                    <a:pt x="104" y="60"/>
                  </a:cubicBezTo>
                  <a:cubicBezTo>
                    <a:pt x="104" y="52"/>
                    <a:pt x="102" y="44"/>
                    <a:pt x="98" y="36"/>
                  </a:cubicBezTo>
                  <a:cubicBezTo>
                    <a:pt x="98" y="35"/>
                    <a:pt x="98" y="35"/>
                    <a:pt x="98" y="35"/>
                  </a:cubicBezTo>
                  <a:cubicBezTo>
                    <a:pt x="99" y="34"/>
                    <a:pt x="99" y="34"/>
                    <a:pt x="99" y="34"/>
                  </a:cubicBezTo>
                  <a:cubicBezTo>
                    <a:pt x="103" y="33"/>
                    <a:pt x="107" y="31"/>
                    <a:pt x="111" y="30"/>
                  </a:cubicBezTo>
                  <a:close/>
                  <a:moveTo>
                    <a:pt x="80" y="7"/>
                  </a:moveTo>
                  <a:cubicBezTo>
                    <a:pt x="82" y="7"/>
                    <a:pt x="85" y="8"/>
                    <a:pt x="87" y="9"/>
                  </a:cubicBezTo>
                  <a:cubicBezTo>
                    <a:pt x="94" y="12"/>
                    <a:pt x="101" y="17"/>
                    <a:pt x="106" y="22"/>
                  </a:cubicBezTo>
                  <a:cubicBezTo>
                    <a:pt x="107" y="23"/>
                    <a:pt x="107" y="23"/>
                    <a:pt x="108" y="24"/>
                  </a:cubicBezTo>
                  <a:cubicBezTo>
                    <a:pt x="109" y="25"/>
                    <a:pt x="109" y="25"/>
                    <a:pt x="109" y="25"/>
                  </a:cubicBezTo>
                  <a:cubicBezTo>
                    <a:pt x="107" y="26"/>
                    <a:pt x="107" y="26"/>
                    <a:pt x="107" y="26"/>
                  </a:cubicBezTo>
                  <a:cubicBezTo>
                    <a:pt x="104" y="28"/>
                    <a:pt x="101" y="29"/>
                    <a:pt x="97" y="30"/>
                  </a:cubicBezTo>
                  <a:cubicBezTo>
                    <a:pt x="96" y="31"/>
                    <a:pt x="96" y="31"/>
                    <a:pt x="96" y="31"/>
                  </a:cubicBezTo>
                  <a:cubicBezTo>
                    <a:pt x="95" y="30"/>
                    <a:pt x="95" y="30"/>
                    <a:pt x="95" y="30"/>
                  </a:cubicBezTo>
                  <a:cubicBezTo>
                    <a:pt x="91" y="22"/>
                    <a:pt x="85" y="15"/>
                    <a:pt x="79" y="9"/>
                  </a:cubicBezTo>
                  <a:cubicBezTo>
                    <a:pt x="74" y="5"/>
                    <a:pt x="74" y="5"/>
                    <a:pt x="74" y="5"/>
                  </a:cubicBezTo>
                  <a:lnTo>
                    <a:pt x="80" y="7"/>
                  </a:lnTo>
                  <a:close/>
                  <a:moveTo>
                    <a:pt x="66" y="6"/>
                  </a:moveTo>
                  <a:cubicBezTo>
                    <a:pt x="68" y="7"/>
                    <a:pt x="68" y="7"/>
                    <a:pt x="68" y="7"/>
                  </a:cubicBezTo>
                  <a:cubicBezTo>
                    <a:pt x="73" y="10"/>
                    <a:pt x="76" y="13"/>
                    <a:pt x="80" y="16"/>
                  </a:cubicBezTo>
                  <a:cubicBezTo>
                    <a:pt x="84" y="21"/>
                    <a:pt x="88" y="25"/>
                    <a:pt x="91" y="31"/>
                  </a:cubicBezTo>
                  <a:cubicBezTo>
                    <a:pt x="91" y="32"/>
                    <a:pt x="91" y="32"/>
                    <a:pt x="91" y="32"/>
                  </a:cubicBezTo>
                  <a:cubicBezTo>
                    <a:pt x="90" y="33"/>
                    <a:pt x="90" y="33"/>
                    <a:pt x="90" y="33"/>
                  </a:cubicBezTo>
                  <a:cubicBezTo>
                    <a:pt x="83" y="34"/>
                    <a:pt x="75" y="35"/>
                    <a:pt x="68" y="36"/>
                  </a:cubicBezTo>
                  <a:cubicBezTo>
                    <a:pt x="66" y="36"/>
                    <a:pt x="66" y="36"/>
                    <a:pt x="66" y="36"/>
                  </a:cubicBezTo>
                  <a:lnTo>
                    <a:pt x="66" y="6"/>
                  </a:lnTo>
                  <a:close/>
                  <a:moveTo>
                    <a:pt x="66" y="40"/>
                  </a:moveTo>
                  <a:cubicBezTo>
                    <a:pt x="68" y="40"/>
                    <a:pt x="68" y="40"/>
                    <a:pt x="68" y="40"/>
                  </a:cubicBezTo>
                  <a:cubicBezTo>
                    <a:pt x="76" y="40"/>
                    <a:pt x="84" y="39"/>
                    <a:pt x="92" y="37"/>
                  </a:cubicBezTo>
                  <a:cubicBezTo>
                    <a:pt x="94" y="36"/>
                    <a:pt x="94" y="36"/>
                    <a:pt x="94" y="36"/>
                  </a:cubicBezTo>
                  <a:cubicBezTo>
                    <a:pt x="94" y="38"/>
                    <a:pt x="94" y="38"/>
                    <a:pt x="94" y="38"/>
                  </a:cubicBezTo>
                  <a:cubicBezTo>
                    <a:pt x="97" y="45"/>
                    <a:pt x="99" y="52"/>
                    <a:pt x="99" y="60"/>
                  </a:cubicBezTo>
                  <a:cubicBezTo>
                    <a:pt x="99" y="62"/>
                    <a:pt x="99" y="62"/>
                    <a:pt x="99" y="62"/>
                  </a:cubicBezTo>
                  <a:cubicBezTo>
                    <a:pt x="66" y="62"/>
                    <a:pt x="66" y="62"/>
                    <a:pt x="66" y="62"/>
                  </a:cubicBezTo>
                  <a:lnTo>
                    <a:pt x="66" y="40"/>
                  </a:lnTo>
                  <a:close/>
                  <a:moveTo>
                    <a:pt x="66" y="66"/>
                  </a:moveTo>
                  <a:cubicBezTo>
                    <a:pt x="99" y="66"/>
                    <a:pt x="99" y="66"/>
                    <a:pt x="99" y="66"/>
                  </a:cubicBezTo>
                  <a:cubicBezTo>
                    <a:pt x="99" y="68"/>
                    <a:pt x="99" y="68"/>
                    <a:pt x="99" y="68"/>
                  </a:cubicBezTo>
                  <a:cubicBezTo>
                    <a:pt x="99" y="76"/>
                    <a:pt x="97" y="83"/>
                    <a:pt x="94" y="90"/>
                  </a:cubicBezTo>
                  <a:cubicBezTo>
                    <a:pt x="94" y="91"/>
                    <a:pt x="94" y="91"/>
                    <a:pt x="94" y="91"/>
                  </a:cubicBezTo>
                  <a:cubicBezTo>
                    <a:pt x="92" y="91"/>
                    <a:pt x="92" y="91"/>
                    <a:pt x="92" y="91"/>
                  </a:cubicBezTo>
                  <a:cubicBezTo>
                    <a:pt x="84" y="89"/>
                    <a:pt x="76" y="88"/>
                    <a:pt x="68" y="88"/>
                  </a:cubicBezTo>
                  <a:cubicBezTo>
                    <a:pt x="66" y="88"/>
                    <a:pt x="66" y="88"/>
                    <a:pt x="66" y="88"/>
                  </a:cubicBezTo>
                  <a:lnTo>
                    <a:pt x="66" y="66"/>
                  </a:lnTo>
                  <a:close/>
                  <a:moveTo>
                    <a:pt x="66" y="122"/>
                  </a:moveTo>
                  <a:cubicBezTo>
                    <a:pt x="66" y="92"/>
                    <a:pt x="66" y="92"/>
                    <a:pt x="66" y="92"/>
                  </a:cubicBezTo>
                  <a:cubicBezTo>
                    <a:pt x="68" y="92"/>
                    <a:pt x="68" y="92"/>
                    <a:pt x="68" y="92"/>
                  </a:cubicBezTo>
                  <a:cubicBezTo>
                    <a:pt x="75" y="93"/>
                    <a:pt x="83" y="94"/>
                    <a:pt x="90" y="95"/>
                  </a:cubicBezTo>
                  <a:cubicBezTo>
                    <a:pt x="91" y="96"/>
                    <a:pt x="91" y="96"/>
                    <a:pt x="91" y="96"/>
                  </a:cubicBezTo>
                  <a:cubicBezTo>
                    <a:pt x="91" y="97"/>
                    <a:pt x="91" y="97"/>
                    <a:pt x="91" y="97"/>
                  </a:cubicBezTo>
                  <a:cubicBezTo>
                    <a:pt x="88" y="103"/>
                    <a:pt x="84" y="107"/>
                    <a:pt x="80" y="112"/>
                  </a:cubicBezTo>
                  <a:cubicBezTo>
                    <a:pt x="76" y="115"/>
                    <a:pt x="73" y="118"/>
                    <a:pt x="68" y="121"/>
                  </a:cubicBezTo>
                  <a:lnTo>
                    <a:pt x="66" y="122"/>
                  </a:lnTo>
                  <a:close/>
                  <a:moveTo>
                    <a:pt x="108" y="104"/>
                  </a:moveTo>
                  <a:cubicBezTo>
                    <a:pt x="107" y="105"/>
                    <a:pt x="107" y="105"/>
                    <a:pt x="106" y="106"/>
                  </a:cubicBezTo>
                  <a:cubicBezTo>
                    <a:pt x="101" y="112"/>
                    <a:pt x="94" y="116"/>
                    <a:pt x="87" y="119"/>
                  </a:cubicBezTo>
                  <a:cubicBezTo>
                    <a:pt x="85" y="120"/>
                    <a:pt x="82" y="121"/>
                    <a:pt x="80" y="121"/>
                  </a:cubicBezTo>
                  <a:cubicBezTo>
                    <a:pt x="74" y="123"/>
                    <a:pt x="74" y="123"/>
                    <a:pt x="74" y="123"/>
                  </a:cubicBezTo>
                  <a:cubicBezTo>
                    <a:pt x="79" y="119"/>
                    <a:pt x="79" y="119"/>
                    <a:pt x="79" y="119"/>
                  </a:cubicBezTo>
                  <a:cubicBezTo>
                    <a:pt x="85" y="113"/>
                    <a:pt x="91" y="106"/>
                    <a:pt x="95" y="98"/>
                  </a:cubicBezTo>
                  <a:cubicBezTo>
                    <a:pt x="96" y="97"/>
                    <a:pt x="96" y="97"/>
                    <a:pt x="96" y="97"/>
                  </a:cubicBezTo>
                  <a:cubicBezTo>
                    <a:pt x="97" y="98"/>
                    <a:pt x="97" y="98"/>
                    <a:pt x="97" y="98"/>
                  </a:cubicBezTo>
                  <a:cubicBezTo>
                    <a:pt x="101" y="99"/>
                    <a:pt x="104" y="100"/>
                    <a:pt x="107" y="102"/>
                  </a:cubicBezTo>
                  <a:cubicBezTo>
                    <a:pt x="109" y="103"/>
                    <a:pt x="109" y="103"/>
                    <a:pt x="109" y="103"/>
                  </a:cubicBezTo>
                  <a:lnTo>
                    <a:pt x="108" y="104"/>
                  </a:lnTo>
                  <a:close/>
                  <a:moveTo>
                    <a:pt x="123" y="68"/>
                  </a:moveTo>
                  <a:cubicBezTo>
                    <a:pt x="123" y="74"/>
                    <a:pt x="121" y="81"/>
                    <a:pt x="119" y="87"/>
                  </a:cubicBezTo>
                  <a:cubicBezTo>
                    <a:pt x="117" y="91"/>
                    <a:pt x="115" y="95"/>
                    <a:pt x="113" y="98"/>
                  </a:cubicBezTo>
                  <a:cubicBezTo>
                    <a:pt x="112" y="99"/>
                    <a:pt x="112" y="99"/>
                    <a:pt x="112" y="99"/>
                  </a:cubicBezTo>
                  <a:cubicBezTo>
                    <a:pt x="111" y="98"/>
                    <a:pt x="111" y="98"/>
                    <a:pt x="111" y="98"/>
                  </a:cubicBezTo>
                  <a:cubicBezTo>
                    <a:pt x="107" y="97"/>
                    <a:pt x="103" y="95"/>
                    <a:pt x="99" y="94"/>
                  </a:cubicBezTo>
                  <a:cubicBezTo>
                    <a:pt x="98" y="93"/>
                    <a:pt x="98" y="93"/>
                    <a:pt x="98" y="93"/>
                  </a:cubicBezTo>
                  <a:cubicBezTo>
                    <a:pt x="98" y="92"/>
                    <a:pt x="98" y="92"/>
                    <a:pt x="98" y="92"/>
                  </a:cubicBezTo>
                  <a:cubicBezTo>
                    <a:pt x="102" y="84"/>
                    <a:pt x="104" y="76"/>
                    <a:pt x="104" y="68"/>
                  </a:cubicBezTo>
                  <a:cubicBezTo>
                    <a:pt x="104" y="66"/>
                    <a:pt x="104" y="66"/>
                    <a:pt x="104" y="66"/>
                  </a:cubicBezTo>
                  <a:cubicBezTo>
                    <a:pt x="123" y="66"/>
                    <a:pt x="123" y="66"/>
                    <a:pt x="123" y="66"/>
                  </a:cubicBezTo>
                  <a:lnTo>
                    <a:pt x="123" y="68"/>
                  </a:lnTo>
                  <a:close/>
                </a:path>
              </a:pathLst>
            </a:custGeom>
            <a:solidFill>
              <a:srgbClr val="FFFFFF"/>
            </a:solid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grpSp>
        <p:nvGrpSpPr>
          <p:cNvPr id="91" name="组合 90">
            <a:extLst>
              <a:ext uri="{FF2B5EF4-FFF2-40B4-BE49-F238E27FC236}">
                <a16:creationId xmlns:a16="http://schemas.microsoft.com/office/drawing/2014/main" id="{3CF0D364-C57F-48EB-8B74-47AD3E4BDA97}"/>
              </a:ext>
            </a:extLst>
          </p:cNvPr>
          <p:cNvGrpSpPr/>
          <p:nvPr/>
        </p:nvGrpSpPr>
        <p:grpSpPr>
          <a:xfrm>
            <a:off x="1103766" y="3628168"/>
            <a:ext cx="504000" cy="504000"/>
            <a:chOff x="4613213" y="4247997"/>
            <a:chExt cx="504000" cy="504000"/>
          </a:xfrm>
        </p:grpSpPr>
        <p:sp>
          <p:nvSpPr>
            <p:cNvPr id="92" name="椭圆 91">
              <a:extLst>
                <a:ext uri="{FF2B5EF4-FFF2-40B4-BE49-F238E27FC236}">
                  <a16:creationId xmlns:a16="http://schemas.microsoft.com/office/drawing/2014/main" id="{0F156A88-44C1-4DD7-92E9-EBAE42D75E7C}"/>
                </a:ext>
              </a:extLst>
            </p:cNvPr>
            <p:cNvSpPr/>
            <p:nvPr/>
          </p:nvSpPr>
          <p:spPr>
            <a:xfrm>
              <a:off x="4613213" y="4247997"/>
              <a:ext cx="504000" cy="504000"/>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93" name="Freeform 70">
              <a:extLst>
                <a:ext uri="{FF2B5EF4-FFF2-40B4-BE49-F238E27FC236}">
                  <a16:creationId xmlns:a16="http://schemas.microsoft.com/office/drawing/2014/main" id="{D5289A97-4953-4B0B-B843-C01A50125AD6}"/>
                </a:ext>
              </a:extLst>
            </p:cNvPr>
            <p:cNvSpPr>
              <a:spLocks noChangeAspect="1" noEditPoints="1"/>
            </p:cNvSpPr>
            <p:nvPr/>
          </p:nvSpPr>
          <p:spPr bwMode="auto">
            <a:xfrm>
              <a:off x="4703213" y="4337463"/>
              <a:ext cx="324000" cy="325068"/>
            </a:xfrm>
            <a:custGeom>
              <a:avLst/>
              <a:gdLst>
                <a:gd name="T0" fmla="*/ 111 w 128"/>
                <a:gd name="T1" fmla="*/ 62 h 128"/>
                <a:gd name="T2" fmla="*/ 68 w 128"/>
                <a:gd name="T3" fmla="*/ 17 h 128"/>
                <a:gd name="T4" fmla="*/ 66 w 128"/>
                <a:gd name="T5" fmla="*/ 2 h 128"/>
                <a:gd name="T6" fmla="*/ 62 w 128"/>
                <a:gd name="T7" fmla="*/ 2 h 128"/>
                <a:gd name="T8" fmla="*/ 60 w 128"/>
                <a:gd name="T9" fmla="*/ 17 h 128"/>
                <a:gd name="T10" fmla="*/ 17 w 128"/>
                <a:gd name="T11" fmla="*/ 62 h 128"/>
                <a:gd name="T12" fmla="*/ 0 w 128"/>
                <a:gd name="T13" fmla="*/ 64 h 128"/>
                <a:gd name="T14" fmla="*/ 17 w 128"/>
                <a:gd name="T15" fmla="*/ 66 h 128"/>
                <a:gd name="T16" fmla="*/ 60 w 128"/>
                <a:gd name="T17" fmla="*/ 111 h 128"/>
                <a:gd name="T18" fmla="*/ 62 w 128"/>
                <a:gd name="T19" fmla="*/ 126 h 128"/>
                <a:gd name="T20" fmla="*/ 66 w 128"/>
                <a:gd name="T21" fmla="*/ 126 h 128"/>
                <a:gd name="T22" fmla="*/ 68 w 128"/>
                <a:gd name="T23" fmla="*/ 111 h 128"/>
                <a:gd name="T24" fmla="*/ 111 w 128"/>
                <a:gd name="T25" fmla="*/ 66 h 128"/>
                <a:gd name="T26" fmla="*/ 128 w 128"/>
                <a:gd name="T27" fmla="*/ 64 h 128"/>
                <a:gd name="T28" fmla="*/ 62 w 128"/>
                <a:gd name="T29" fmla="*/ 106 h 128"/>
                <a:gd name="T30" fmla="*/ 48 w 128"/>
                <a:gd name="T31" fmla="*/ 103 h 128"/>
                <a:gd name="T32" fmla="*/ 25 w 128"/>
                <a:gd name="T33" fmla="*/ 80 h 128"/>
                <a:gd name="T34" fmla="*/ 22 w 128"/>
                <a:gd name="T35" fmla="*/ 66 h 128"/>
                <a:gd name="T36" fmla="*/ 62 w 128"/>
                <a:gd name="T37" fmla="*/ 106 h 128"/>
                <a:gd name="T38" fmla="*/ 22 w 128"/>
                <a:gd name="T39" fmla="*/ 62 h 128"/>
                <a:gd name="T40" fmla="*/ 25 w 128"/>
                <a:gd name="T41" fmla="*/ 48 h 128"/>
                <a:gd name="T42" fmla="*/ 48 w 128"/>
                <a:gd name="T43" fmla="*/ 25 h 128"/>
                <a:gd name="T44" fmla="*/ 62 w 128"/>
                <a:gd name="T45" fmla="*/ 22 h 128"/>
                <a:gd name="T46" fmla="*/ 106 w 128"/>
                <a:gd name="T47" fmla="*/ 68 h 128"/>
                <a:gd name="T48" fmla="*/ 94 w 128"/>
                <a:gd name="T49" fmla="*/ 94 h 128"/>
                <a:gd name="T50" fmla="*/ 68 w 128"/>
                <a:gd name="T51" fmla="*/ 106 h 128"/>
                <a:gd name="T52" fmla="*/ 66 w 128"/>
                <a:gd name="T53" fmla="*/ 66 h 128"/>
                <a:gd name="T54" fmla="*/ 106 w 128"/>
                <a:gd name="T55" fmla="*/ 68 h 128"/>
                <a:gd name="T56" fmla="*/ 66 w 128"/>
                <a:gd name="T57" fmla="*/ 22 h 128"/>
                <a:gd name="T58" fmla="*/ 80 w 128"/>
                <a:gd name="T59" fmla="*/ 25 h 128"/>
                <a:gd name="T60" fmla="*/ 103 w 128"/>
                <a:gd name="T61" fmla="*/ 48 h 128"/>
                <a:gd name="T62" fmla="*/ 106 w 128"/>
                <a:gd name="T63" fmla="*/ 6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8" h="128">
                  <a:moveTo>
                    <a:pt x="126" y="62"/>
                  </a:moveTo>
                  <a:cubicBezTo>
                    <a:pt x="111" y="62"/>
                    <a:pt x="111" y="62"/>
                    <a:pt x="111" y="62"/>
                  </a:cubicBezTo>
                  <a:cubicBezTo>
                    <a:pt x="111" y="60"/>
                    <a:pt x="111" y="60"/>
                    <a:pt x="111" y="60"/>
                  </a:cubicBezTo>
                  <a:cubicBezTo>
                    <a:pt x="109" y="38"/>
                    <a:pt x="90" y="19"/>
                    <a:pt x="68" y="17"/>
                  </a:cubicBezTo>
                  <a:cubicBezTo>
                    <a:pt x="66" y="17"/>
                    <a:pt x="66" y="17"/>
                    <a:pt x="66" y="17"/>
                  </a:cubicBezTo>
                  <a:cubicBezTo>
                    <a:pt x="66" y="2"/>
                    <a:pt x="66" y="2"/>
                    <a:pt x="66" y="2"/>
                  </a:cubicBezTo>
                  <a:cubicBezTo>
                    <a:pt x="66" y="1"/>
                    <a:pt x="65" y="0"/>
                    <a:pt x="64" y="0"/>
                  </a:cubicBezTo>
                  <a:cubicBezTo>
                    <a:pt x="63" y="0"/>
                    <a:pt x="62" y="1"/>
                    <a:pt x="62" y="2"/>
                  </a:cubicBezTo>
                  <a:cubicBezTo>
                    <a:pt x="62" y="17"/>
                    <a:pt x="62" y="17"/>
                    <a:pt x="62" y="17"/>
                  </a:cubicBezTo>
                  <a:cubicBezTo>
                    <a:pt x="60" y="17"/>
                    <a:pt x="60" y="17"/>
                    <a:pt x="60" y="17"/>
                  </a:cubicBezTo>
                  <a:cubicBezTo>
                    <a:pt x="38" y="19"/>
                    <a:pt x="19" y="38"/>
                    <a:pt x="17" y="60"/>
                  </a:cubicBezTo>
                  <a:cubicBezTo>
                    <a:pt x="17" y="62"/>
                    <a:pt x="17" y="62"/>
                    <a:pt x="17" y="62"/>
                  </a:cubicBezTo>
                  <a:cubicBezTo>
                    <a:pt x="2" y="62"/>
                    <a:pt x="2" y="62"/>
                    <a:pt x="2" y="62"/>
                  </a:cubicBezTo>
                  <a:cubicBezTo>
                    <a:pt x="1" y="62"/>
                    <a:pt x="0" y="63"/>
                    <a:pt x="0" y="64"/>
                  </a:cubicBezTo>
                  <a:cubicBezTo>
                    <a:pt x="0" y="65"/>
                    <a:pt x="1" y="66"/>
                    <a:pt x="2" y="66"/>
                  </a:cubicBezTo>
                  <a:cubicBezTo>
                    <a:pt x="17" y="66"/>
                    <a:pt x="17" y="66"/>
                    <a:pt x="17" y="66"/>
                  </a:cubicBezTo>
                  <a:cubicBezTo>
                    <a:pt x="17" y="68"/>
                    <a:pt x="17" y="68"/>
                    <a:pt x="17" y="68"/>
                  </a:cubicBezTo>
                  <a:cubicBezTo>
                    <a:pt x="19" y="90"/>
                    <a:pt x="38" y="109"/>
                    <a:pt x="60" y="111"/>
                  </a:cubicBezTo>
                  <a:cubicBezTo>
                    <a:pt x="62" y="111"/>
                    <a:pt x="62" y="111"/>
                    <a:pt x="62" y="111"/>
                  </a:cubicBezTo>
                  <a:cubicBezTo>
                    <a:pt x="62" y="126"/>
                    <a:pt x="62" y="126"/>
                    <a:pt x="62" y="126"/>
                  </a:cubicBezTo>
                  <a:cubicBezTo>
                    <a:pt x="62" y="127"/>
                    <a:pt x="63" y="128"/>
                    <a:pt x="64" y="128"/>
                  </a:cubicBezTo>
                  <a:cubicBezTo>
                    <a:pt x="65" y="128"/>
                    <a:pt x="66" y="127"/>
                    <a:pt x="66" y="126"/>
                  </a:cubicBezTo>
                  <a:cubicBezTo>
                    <a:pt x="66" y="111"/>
                    <a:pt x="66" y="111"/>
                    <a:pt x="66" y="111"/>
                  </a:cubicBezTo>
                  <a:cubicBezTo>
                    <a:pt x="68" y="111"/>
                    <a:pt x="68" y="111"/>
                    <a:pt x="68" y="111"/>
                  </a:cubicBezTo>
                  <a:cubicBezTo>
                    <a:pt x="90" y="109"/>
                    <a:pt x="109" y="90"/>
                    <a:pt x="111" y="68"/>
                  </a:cubicBezTo>
                  <a:cubicBezTo>
                    <a:pt x="111" y="66"/>
                    <a:pt x="111" y="66"/>
                    <a:pt x="111" y="66"/>
                  </a:cubicBezTo>
                  <a:cubicBezTo>
                    <a:pt x="126" y="66"/>
                    <a:pt x="126" y="66"/>
                    <a:pt x="126" y="66"/>
                  </a:cubicBezTo>
                  <a:cubicBezTo>
                    <a:pt x="127" y="66"/>
                    <a:pt x="128" y="65"/>
                    <a:pt x="128" y="64"/>
                  </a:cubicBezTo>
                  <a:cubicBezTo>
                    <a:pt x="128" y="63"/>
                    <a:pt x="127" y="62"/>
                    <a:pt x="126" y="62"/>
                  </a:cubicBezTo>
                  <a:close/>
                  <a:moveTo>
                    <a:pt x="62" y="106"/>
                  </a:moveTo>
                  <a:cubicBezTo>
                    <a:pt x="60" y="106"/>
                    <a:pt x="60" y="106"/>
                    <a:pt x="60" y="106"/>
                  </a:cubicBezTo>
                  <a:cubicBezTo>
                    <a:pt x="56" y="106"/>
                    <a:pt x="52" y="105"/>
                    <a:pt x="48" y="103"/>
                  </a:cubicBezTo>
                  <a:cubicBezTo>
                    <a:pt x="43" y="101"/>
                    <a:pt x="38" y="98"/>
                    <a:pt x="34" y="94"/>
                  </a:cubicBezTo>
                  <a:cubicBezTo>
                    <a:pt x="30" y="90"/>
                    <a:pt x="27" y="85"/>
                    <a:pt x="25" y="80"/>
                  </a:cubicBezTo>
                  <a:cubicBezTo>
                    <a:pt x="23" y="76"/>
                    <a:pt x="22" y="72"/>
                    <a:pt x="22" y="68"/>
                  </a:cubicBezTo>
                  <a:cubicBezTo>
                    <a:pt x="22" y="66"/>
                    <a:pt x="22" y="66"/>
                    <a:pt x="22" y="66"/>
                  </a:cubicBezTo>
                  <a:cubicBezTo>
                    <a:pt x="62" y="66"/>
                    <a:pt x="62" y="66"/>
                    <a:pt x="62" y="66"/>
                  </a:cubicBezTo>
                  <a:lnTo>
                    <a:pt x="62" y="106"/>
                  </a:lnTo>
                  <a:close/>
                  <a:moveTo>
                    <a:pt x="62" y="62"/>
                  </a:moveTo>
                  <a:cubicBezTo>
                    <a:pt x="22" y="62"/>
                    <a:pt x="22" y="62"/>
                    <a:pt x="22" y="62"/>
                  </a:cubicBezTo>
                  <a:cubicBezTo>
                    <a:pt x="22" y="60"/>
                    <a:pt x="22" y="60"/>
                    <a:pt x="22" y="60"/>
                  </a:cubicBezTo>
                  <a:cubicBezTo>
                    <a:pt x="22" y="56"/>
                    <a:pt x="23" y="52"/>
                    <a:pt x="25" y="48"/>
                  </a:cubicBezTo>
                  <a:cubicBezTo>
                    <a:pt x="27" y="43"/>
                    <a:pt x="30" y="38"/>
                    <a:pt x="34" y="34"/>
                  </a:cubicBezTo>
                  <a:cubicBezTo>
                    <a:pt x="38" y="30"/>
                    <a:pt x="43" y="27"/>
                    <a:pt x="48" y="25"/>
                  </a:cubicBezTo>
                  <a:cubicBezTo>
                    <a:pt x="52" y="23"/>
                    <a:pt x="56" y="22"/>
                    <a:pt x="60" y="22"/>
                  </a:cubicBezTo>
                  <a:cubicBezTo>
                    <a:pt x="62" y="22"/>
                    <a:pt x="62" y="22"/>
                    <a:pt x="62" y="22"/>
                  </a:cubicBezTo>
                  <a:lnTo>
                    <a:pt x="62" y="62"/>
                  </a:lnTo>
                  <a:close/>
                  <a:moveTo>
                    <a:pt x="106" y="68"/>
                  </a:moveTo>
                  <a:cubicBezTo>
                    <a:pt x="106" y="72"/>
                    <a:pt x="105" y="76"/>
                    <a:pt x="103" y="80"/>
                  </a:cubicBezTo>
                  <a:cubicBezTo>
                    <a:pt x="101" y="85"/>
                    <a:pt x="98" y="90"/>
                    <a:pt x="94" y="94"/>
                  </a:cubicBezTo>
                  <a:cubicBezTo>
                    <a:pt x="90" y="98"/>
                    <a:pt x="85" y="101"/>
                    <a:pt x="80" y="103"/>
                  </a:cubicBezTo>
                  <a:cubicBezTo>
                    <a:pt x="76" y="105"/>
                    <a:pt x="72" y="106"/>
                    <a:pt x="68" y="106"/>
                  </a:cubicBezTo>
                  <a:cubicBezTo>
                    <a:pt x="66" y="106"/>
                    <a:pt x="66" y="106"/>
                    <a:pt x="66" y="106"/>
                  </a:cubicBezTo>
                  <a:cubicBezTo>
                    <a:pt x="66" y="66"/>
                    <a:pt x="66" y="66"/>
                    <a:pt x="66" y="66"/>
                  </a:cubicBezTo>
                  <a:cubicBezTo>
                    <a:pt x="106" y="66"/>
                    <a:pt x="106" y="66"/>
                    <a:pt x="106" y="66"/>
                  </a:cubicBezTo>
                  <a:lnTo>
                    <a:pt x="106" y="68"/>
                  </a:lnTo>
                  <a:close/>
                  <a:moveTo>
                    <a:pt x="66" y="62"/>
                  </a:moveTo>
                  <a:cubicBezTo>
                    <a:pt x="66" y="22"/>
                    <a:pt x="66" y="22"/>
                    <a:pt x="66" y="22"/>
                  </a:cubicBezTo>
                  <a:cubicBezTo>
                    <a:pt x="68" y="22"/>
                    <a:pt x="68" y="22"/>
                    <a:pt x="68" y="22"/>
                  </a:cubicBezTo>
                  <a:cubicBezTo>
                    <a:pt x="72" y="22"/>
                    <a:pt x="76" y="23"/>
                    <a:pt x="80" y="25"/>
                  </a:cubicBezTo>
                  <a:cubicBezTo>
                    <a:pt x="85" y="27"/>
                    <a:pt x="90" y="30"/>
                    <a:pt x="94" y="34"/>
                  </a:cubicBezTo>
                  <a:cubicBezTo>
                    <a:pt x="98" y="38"/>
                    <a:pt x="101" y="43"/>
                    <a:pt x="103" y="48"/>
                  </a:cubicBezTo>
                  <a:cubicBezTo>
                    <a:pt x="105" y="52"/>
                    <a:pt x="106" y="56"/>
                    <a:pt x="106" y="60"/>
                  </a:cubicBezTo>
                  <a:cubicBezTo>
                    <a:pt x="106" y="62"/>
                    <a:pt x="106" y="62"/>
                    <a:pt x="106" y="62"/>
                  </a:cubicBezTo>
                  <a:lnTo>
                    <a:pt x="66" y="62"/>
                  </a:lnTo>
                  <a:close/>
                </a:path>
              </a:pathLst>
            </a:custGeom>
            <a:solidFill>
              <a:srgbClr val="FFFFFF"/>
            </a:solid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grpSp>
        <p:nvGrpSpPr>
          <p:cNvPr id="94" name="组合 93">
            <a:extLst>
              <a:ext uri="{FF2B5EF4-FFF2-40B4-BE49-F238E27FC236}">
                <a16:creationId xmlns:a16="http://schemas.microsoft.com/office/drawing/2014/main" id="{7877DE06-F4B7-4609-B3C6-539BC86412E9}"/>
              </a:ext>
            </a:extLst>
          </p:cNvPr>
          <p:cNvGrpSpPr/>
          <p:nvPr/>
        </p:nvGrpSpPr>
        <p:grpSpPr>
          <a:xfrm>
            <a:off x="1111692" y="2113721"/>
            <a:ext cx="504000" cy="504000"/>
            <a:chOff x="7982080" y="3120819"/>
            <a:chExt cx="504000" cy="504000"/>
          </a:xfrm>
        </p:grpSpPr>
        <p:sp>
          <p:nvSpPr>
            <p:cNvPr id="95" name="椭圆 94">
              <a:extLst>
                <a:ext uri="{FF2B5EF4-FFF2-40B4-BE49-F238E27FC236}">
                  <a16:creationId xmlns:a16="http://schemas.microsoft.com/office/drawing/2014/main" id="{C1E5443B-9402-4283-8655-582108371340}"/>
                </a:ext>
              </a:extLst>
            </p:cNvPr>
            <p:cNvSpPr/>
            <p:nvPr/>
          </p:nvSpPr>
          <p:spPr>
            <a:xfrm>
              <a:off x="7982080" y="3120819"/>
              <a:ext cx="504000" cy="504000"/>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96" name="Freeform 73">
              <a:extLst>
                <a:ext uri="{FF2B5EF4-FFF2-40B4-BE49-F238E27FC236}">
                  <a16:creationId xmlns:a16="http://schemas.microsoft.com/office/drawing/2014/main" id="{3F08191D-A7C7-4DFC-89BD-168D67D14A58}"/>
                </a:ext>
              </a:extLst>
            </p:cNvPr>
            <p:cNvSpPr>
              <a:spLocks noChangeAspect="1" noEditPoints="1"/>
            </p:cNvSpPr>
            <p:nvPr/>
          </p:nvSpPr>
          <p:spPr bwMode="auto">
            <a:xfrm>
              <a:off x="8072080" y="3190343"/>
              <a:ext cx="324000" cy="364952"/>
            </a:xfrm>
            <a:custGeom>
              <a:avLst/>
              <a:gdLst>
                <a:gd name="T0" fmla="*/ 114 w 114"/>
                <a:gd name="T1" fmla="*/ 95 h 128"/>
                <a:gd name="T2" fmla="*/ 114 w 114"/>
                <a:gd name="T3" fmla="*/ 34 h 128"/>
                <a:gd name="T4" fmla="*/ 112 w 114"/>
                <a:gd name="T5" fmla="*/ 32 h 128"/>
                <a:gd name="T6" fmla="*/ 58 w 114"/>
                <a:gd name="T7" fmla="*/ 1 h 128"/>
                <a:gd name="T8" fmla="*/ 57 w 114"/>
                <a:gd name="T9" fmla="*/ 0 h 128"/>
                <a:gd name="T10" fmla="*/ 56 w 114"/>
                <a:gd name="T11" fmla="*/ 1 h 128"/>
                <a:gd name="T12" fmla="*/ 1 w 114"/>
                <a:gd name="T13" fmla="*/ 32 h 128"/>
                <a:gd name="T14" fmla="*/ 0 w 114"/>
                <a:gd name="T15" fmla="*/ 34 h 128"/>
                <a:gd name="T16" fmla="*/ 0 w 114"/>
                <a:gd name="T17" fmla="*/ 94 h 128"/>
                <a:gd name="T18" fmla="*/ 0 w 114"/>
                <a:gd name="T19" fmla="*/ 95 h 128"/>
                <a:gd name="T20" fmla="*/ 1 w 114"/>
                <a:gd name="T21" fmla="*/ 97 h 128"/>
                <a:gd name="T22" fmla="*/ 56 w 114"/>
                <a:gd name="T23" fmla="*/ 128 h 128"/>
                <a:gd name="T24" fmla="*/ 58 w 114"/>
                <a:gd name="T25" fmla="*/ 128 h 128"/>
                <a:gd name="T26" fmla="*/ 112 w 114"/>
                <a:gd name="T27" fmla="*/ 97 h 128"/>
                <a:gd name="T28" fmla="*/ 114 w 114"/>
                <a:gd name="T29" fmla="*/ 95 h 128"/>
                <a:gd name="T30" fmla="*/ 55 w 114"/>
                <a:gd name="T31" fmla="*/ 122 h 128"/>
                <a:gd name="T32" fmla="*/ 5 w 114"/>
                <a:gd name="T33" fmla="*/ 93 h 128"/>
                <a:gd name="T34" fmla="*/ 5 w 114"/>
                <a:gd name="T35" fmla="*/ 38 h 128"/>
                <a:gd name="T36" fmla="*/ 55 w 114"/>
                <a:gd name="T37" fmla="*/ 67 h 128"/>
                <a:gd name="T38" fmla="*/ 55 w 114"/>
                <a:gd name="T39" fmla="*/ 122 h 128"/>
                <a:gd name="T40" fmla="*/ 57 w 114"/>
                <a:gd name="T41" fmla="*/ 63 h 128"/>
                <a:gd name="T42" fmla="*/ 7 w 114"/>
                <a:gd name="T43" fmla="*/ 34 h 128"/>
                <a:gd name="T44" fmla="*/ 57 w 114"/>
                <a:gd name="T45" fmla="*/ 5 h 128"/>
                <a:gd name="T46" fmla="*/ 107 w 114"/>
                <a:gd name="T47" fmla="*/ 34 h 128"/>
                <a:gd name="T48" fmla="*/ 57 w 114"/>
                <a:gd name="T49" fmla="*/ 63 h 128"/>
                <a:gd name="T50" fmla="*/ 109 w 114"/>
                <a:gd name="T51" fmla="*/ 93 h 128"/>
                <a:gd name="T52" fmla="*/ 59 w 114"/>
                <a:gd name="T53" fmla="*/ 122 h 128"/>
                <a:gd name="T54" fmla="*/ 59 w 114"/>
                <a:gd name="T55" fmla="*/ 67 h 128"/>
                <a:gd name="T56" fmla="*/ 109 w 114"/>
                <a:gd name="T57" fmla="*/ 38 h 128"/>
                <a:gd name="T58" fmla="*/ 109 w 114"/>
                <a:gd name="T59" fmla="*/ 93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4" h="128">
                  <a:moveTo>
                    <a:pt x="114" y="95"/>
                  </a:moveTo>
                  <a:cubicBezTo>
                    <a:pt x="114" y="34"/>
                    <a:pt x="114" y="34"/>
                    <a:pt x="114" y="34"/>
                  </a:cubicBezTo>
                  <a:cubicBezTo>
                    <a:pt x="114" y="33"/>
                    <a:pt x="113" y="32"/>
                    <a:pt x="112" y="32"/>
                  </a:cubicBezTo>
                  <a:cubicBezTo>
                    <a:pt x="58" y="1"/>
                    <a:pt x="58" y="1"/>
                    <a:pt x="58" y="1"/>
                  </a:cubicBezTo>
                  <a:cubicBezTo>
                    <a:pt x="58" y="0"/>
                    <a:pt x="57" y="0"/>
                    <a:pt x="57" y="0"/>
                  </a:cubicBezTo>
                  <a:cubicBezTo>
                    <a:pt x="57" y="0"/>
                    <a:pt x="56" y="0"/>
                    <a:pt x="56" y="1"/>
                  </a:cubicBezTo>
                  <a:cubicBezTo>
                    <a:pt x="1" y="32"/>
                    <a:pt x="1" y="32"/>
                    <a:pt x="1" y="32"/>
                  </a:cubicBezTo>
                  <a:cubicBezTo>
                    <a:pt x="1" y="32"/>
                    <a:pt x="0" y="33"/>
                    <a:pt x="0" y="34"/>
                  </a:cubicBezTo>
                  <a:cubicBezTo>
                    <a:pt x="0" y="94"/>
                    <a:pt x="0" y="94"/>
                    <a:pt x="0" y="94"/>
                  </a:cubicBezTo>
                  <a:cubicBezTo>
                    <a:pt x="0" y="94"/>
                    <a:pt x="0" y="95"/>
                    <a:pt x="0" y="95"/>
                  </a:cubicBezTo>
                  <a:cubicBezTo>
                    <a:pt x="0" y="95"/>
                    <a:pt x="1" y="96"/>
                    <a:pt x="1" y="97"/>
                  </a:cubicBezTo>
                  <a:cubicBezTo>
                    <a:pt x="56" y="128"/>
                    <a:pt x="56" y="128"/>
                    <a:pt x="56" y="128"/>
                  </a:cubicBezTo>
                  <a:cubicBezTo>
                    <a:pt x="56" y="128"/>
                    <a:pt x="57" y="128"/>
                    <a:pt x="58" y="128"/>
                  </a:cubicBezTo>
                  <a:cubicBezTo>
                    <a:pt x="112" y="97"/>
                    <a:pt x="112" y="97"/>
                    <a:pt x="112" y="97"/>
                  </a:cubicBezTo>
                  <a:cubicBezTo>
                    <a:pt x="113" y="96"/>
                    <a:pt x="114" y="95"/>
                    <a:pt x="114" y="95"/>
                  </a:cubicBezTo>
                  <a:close/>
                  <a:moveTo>
                    <a:pt x="55" y="122"/>
                  </a:moveTo>
                  <a:cubicBezTo>
                    <a:pt x="5" y="93"/>
                    <a:pt x="5" y="93"/>
                    <a:pt x="5" y="93"/>
                  </a:cubicBezTo>
                  <a:cubicBezTo>
                    <a:pt x="5" y="38"/>
                    <a:pt x="5" y="38"/>
                    <a:pt x="5" y="38"/>
                  </a:cubicBezTo>
                  <a:cubicBezTo>
                    <a:pt x="55" y="67"/>
                    <a:pt x="55" y="67"/>
                    <a:pt x="55" y="67"/>
                  </a:cubicBezTo>
                  <a:lnTo>
                    <a:pt x="55" y="122"/>
                  </a:lnTo>
                  <a:close/>
                  <a:moveTo>
                    <a:pt x="57" y="63"/>
                  </a:moveTo>
                  <a:cubicBezTo>
                    <a:pt x="7" y="34"/>
                    <a:pt x="7" y="34"/>
                    <a:pt x="7" y="34"/>
                  </a:cubicBezTo>
                  <a:cubicBezTo>
                    <a:pt x="57" y="5"/>
                    <a:pt x="57" y="5"/>
                    <a:pt x="57" y="5"/>
                  </a:cubicBezTo>
                  <a:cubicBezTo>
                    <a:pt x="107" y="34"/>
                    <a:pt x="107" y="34"/>
                    <a:pt x="107" y="34"/>
                  </a:cubicBezTo>
                  <a:lnTo>
                    <a:pt x="57" y="63"/>
                  </a:lnTo>
                  <a:close/>
                  <a:moveTo>
                    <a:pt x="109" y="93"/>
                  </a:moveTo>
                  <a:cubicBezTo>
                    <a:pt x="59" y="122"/>
                    <a:pt x="59" y="122"/>
                    <a:pt x="59" y="122"/>
                  </a:cubicBezTo>
                  <a:cubicBezTo>
                    <a:pt x="59" y="67"/>
                    <a:pt x="59" y="67"/>
                    <a:pt x="59" y="67"/>
                  </a:cubicBezTo>
                  <a:cubicBezTo>
                    <a:pt x="109" y="38"/>
                    <a:pt x="109" y="38"/>
                    <a:pt x="109" y="38"/>
                  </a:cubicBezTo>
                  <a:lnTo>
                    <a:pt x="109" y="93"/>
                  </a:lnTo>
                  <a:close/>
                </a:path>
              </a:pathLst>
            </a:custGeom>
            <a:solidFill>
              <a:srgbClr val="FFFFFF"/>
            </a:solid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grpSp>
        <p:nvGrpSpPr>
          <p:cNvPr id="97" name="组合 96">
            <a:extLst>
              <a:ext uri="{FF2B5EF4-FFF2-40B4-BE49-F238E27FC236}">
                <a16:creationId xmlns:a16="http://schemas.microsoft.com/office/drawing/2014/main" id="{3DA6D91B-E060-4E86-BBBA-32577E63C3A3}"/>
              </a:ext>
            </a:extLst>
          </p:cNvPr>
          <p:cNvGrpSpPr/>
          <p:nvPr/>
        </p:nvGrpSpPr>
        <p:grpSpPr>
          <a:xfrm>
            <a:off x="1113291" y="5108170"/>
            <a:ext cx="504000" cy="504000"/>
            <a:chOff x="4613213" y="5317762"/>
            <a:chExt cx="504000" cy="504000"/>
          </a:xfrm>
        </p:grpSpPr>
        <p:sp>
          <p:nvSpPr>
            <p:cNvPr id="98" name="椭圆 97">
              <a:extLst>
                <a:ext uri="{FF2B5EF4-FFF2-40B4-BE49-F238E27FC236}">
                  <a16:creationId xmlns:a16="http://schemas.microsoft.com/office/drawing/2014/main" id="{71179A06-C48A-41BF-8D80-6E1604CAACEA}"/>
                </a:ext>
              </a:extLst>
            </p:cNvPr>
            <p:cNvSpPr/>
            <p:nvPr/>
          </p:nvSpPr>
          <p:spPr>
            <a:xfrm>
              <a:off x="4613213" y="5317762"/>
              <a:ext cx="504000" cy="504000"/>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nvGrpSpPr>
            <p:cNvPr id="99" name="组合 98">
              <a:extLst>
                <a:ext uri="{FF2B5EF4-FFF2-40B4-BE49-F238E27FC236}">
                  <a16:creationId xmlns:a16="http://schemas.microsoft.com/office/drawing/2014/main" id="{BA9E7238-7D29-467F-8780-8D660608E43E}"/>
                </a:ext>
              </a:extLst>
            </p:cNvPr>
            <p:cNvGrpSpPr>
              <a:grpSpLocks noChangeAspect="1"/>
            </p:cNvGrpSpPr>
            <p:nvPr/>
          </p:nvGrpSpPr>
          <p:grpSpPr>
            <a:xfrm>
              <a:off x="4775213" y="5422357"/>
              <a:ext cx="180000" cy="294810"/>
              <a:chOff x="8350250" y="5110163"/>
              <a:chExt cx="293688" cy="481012"/>
            </a:xfrm>
            <a:solidFill>
              <a:srgbClr val="FFFFFF"/>
            </a:solidFill>
          </p:grpSpPr>
          <p:sp>
            <p:nvSpPr>
              <p:cNvPr id="100" name="Freeform 52">
                <a:extLst>
                  <a:ext uri="{FF2B5EF4-FFF2-40B4-BE49-F238E27FC236}">
                    <a16:creationId xmlns:a16="http://schemas.microsoft.com/office/drawing/2014/main" id="{B5CFEA3C-CB7F-4486-89D1-7CA543A1DC4C}"/>
                  </a:ext>
                </a:extLst>
              </p:cNvPr>
              <p:cNvSpPr/>
              <p:nvPr/>
            </p:nvSpPr>
            <p:spPr bwMode="auto">
              <a:xfrm>
                <a:off x="8350250" y="5327650"/>
                <a:ext cx="293688" cy="263525"/>
              </a:xfrm>
              <a:custGeom>
                <a:avLst/>
                <a:gdLst>
                  <a:gd name="T0" fmla="*/ 69 w 78"/>
                  <a:gd name="T1" fmla="*/ 65 h 70"/>
                  <a:gd name="T2" fmla="*/ 41 w 78"/>
                  <a:gd name="T3" fmla="*/ 65 h 70"/>
                  <a:gd name="T4" fmla="*/ 41 w 78"/>
                  <a:gd name="T5" fmla="*/ 43 h 70"/>
                  <a:gd name="T6" fmla="*/ 43 w 78"/>
                  <a:gd name="T7" fmla="*/ 42 h 70"/>
                  <a:gd name="T8" fmla="*/ 78 w 78"/>
                  <a:gd name="T9" fmla="*/ 3 h 70"/>
                  <a:gd name="T10" fmla="*/ 76 w 78"/>
                  <a:gd name="T11" fmla="*/ 0 h 70"/>
                  <a:gd name="T12" fmla="*/ 74 w 78"/>
                  <a:gd name="T13" fmla="*/ 3 h 70"/>
                  <a:gd name="T14" fmla="*/ 64 w 78"/>
                  <a:gd name="T15" fmla="*/ 27 h 70"/>
                  <a:gd name="T16" fmla="*/ 39 w 78"/>
                  <a:gd name="T17" fmla="*/ 38 h 70"/>
                  <a:gd name="T18" fmla="*/ 14 w 78"/>
                  <a:gd name="T19" fmla="*/ 27 h 70"/>
                  <a:gd name="T20" fmla="*/ 4 w 78"/>
                  <a:gd name="T21" fmla="*/ 4 h 70"/>
                  <a:gd name="T22" fmla="*/ 4 w 78"/>
                  <a:gd name="T23" fmla="*/ 3 h 70"/>
                  <a:gd name="T24" fmla="*/ 2 w 78"/>
                  <a:gd name="T25" fmla="*/ 0 h 70"/>
                  <a:gd name="T26" fmla="*/ 0 w 78"/>
                  <a:gd name="T27" fmla="*/ 2 h 70"/>
                  <a:gd name="T28" fmla="*/ 0 w 78"/>
                  <a:gd name="T29" fmla="*/ 4 h 70"/>
                  <a:gd name="T30" fmla="*/ 35 w 78"/>
                  <a:gd name="T31" fmla="*/ 42 h 70"/>
                  <a:gd name="T32" fmla="*/ 37 w 78"/>
                  <a:gd name="T33" fmla="*/ 43 h 70"/>
                  <a:gd name="T34" fmla="*/ 37 w 78"/>
                  <a:gd name="T35" fmla="*/ 65 h 70"/>
                  <a:gd name="T36" fmla="*/ 9 w 78"/>
                  <a:gd name="T37" fmla="*/ 65 h 70"/>
                  <a:gd name="T38" fmla="*/ 7 w 78"/>
                  <a:gd name="T39" fmla="*/ 68 h 70"/>
                  <a:gd name="T40" fmla="*/ 9 w 78"/>
                  <a:gd name="T41" fmla="*/ 70 h 70"/>
                  <a:gd name="T42" fmla="*/ 69 w 78"/>
                  <a:gd name="T43" fmla="*/ 70 h 70"/>
                  <a:gd name="T44" fmla="*/ 71 w 78"/>
                  <a:gd name="T45" fmla="*/ 68 h 70"/>
                  <a:gd name="T46" fmla="*/ 69 w 78"/>
                  <a:gd name="T47" fmla="*/ 65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8" h="70">
                    <a:moveTo>
                      <a:pt x="69" y="65"/>
                    </a:moveTo>
                    <a:cubicBezTo>
                      <a:pt x="41" y="65"/>
                      <a:pt x="41" y="65"/>
                      <a:pt x="41" y="65"/>
                    </a:cubicBezTo>
                    <a:cubicBezTo>
                      <a:pt x="41" y="43"/>
                      <a:pt x="41" y="43"/>
                      <a:pt x="41" y="43"/>
                    </a:cubicBezTo>
                    <a:cubicBezTo>
                      <a:pt x="43" y="42"/>
                      <a:pt x="43" y="42"/>
                      <a:pt x="43" y="42"/>
                    </a:cubicBezTo>
                    <a:cubicBezTo>
                      <a:pt x="63" y="40"/>
                      <a:pt x="78" y="23"/>
                      <a:pt x="78" y="3"/>
                    </a:cubicBezTo>
                    <a:cubicBezTo>
                      <a:pt x="78" y="2"/>
                      <a:pt x="77" y="0"/>
                      <a:pt x="76" y="0"/>
                    </a:cubicBezTo>
                    <a:cubicBezTo>
                      <a:pt x="75" y="0"/>
                      <a:pt x="74" y="2"/>
                      <a:pt x="74" y="3"/>
                    </a:cubicBezTo>
                    <a:cubicBezTo>
                      <a:pt x="74" y="12"/>
                      <a:pt x="70" y="21"/>
                      <a:pt x="64" y="27"/>
                    </a:cubicBezTo>
                    <a:cubicBezTo>
                      <a:pt x="57" y="34"/>
                      <a:pt x="48" y="38"/>
                      <a:pt x="39" y="38"/>
                    </a:cubicBezTo>
                    <a:cubicBezTo>
                      <a:pt x="30" y="38"/>
                      <a:pt x="21" y="34"/>
                      <a:pt x="14" y="27"/>
                    </a:cubicBezTo>
                    <a:cubicBezTo>
                      <a:pt x="8" y="21"/>
                      <a:pt x="5" y="13"/>
                      <a:pt x="4" y="4"/>
                    </a:cubicBezTo>
                    <a:cubicBezTo>
                      <a:pt x="4" y="3"/>
                      <a:pt x="4" y="3"/>
                      <a:pt x="4" y="3"/>
                    </a:cubicBezTo>
                    <a:cubicBezTo>
                      <a:pt x="4" y="1"/>
                      <a:pt x="3" y="0"/>
                      <a:pt x="2" y="0"/>
                    </a:cubicBezTo>
                    <a:cubicBezTo>
                      <a:pt x="1" y="0"/>
                      <a:pt x="0" y="1"/>
                      <a:pt x="0" y="2"/>
                    </a:cubicBezTo>
                    <a:cubicBezTo>
                      <a:pt x="0" y="4"/>
                      <a:pt x="0" y="4"/>
                      <a:pt x="0" y="4"/>
                    </a:cubicBezTo>
                    <a:cubicBezTo>
                      <a:pt x="0" y="24"/>
                      <a:pt x="15" y="40"/>
                      <a:pt x="35" y="42"/>
                    </a:cubicBezTo>
                    <a:cubicBezTo>
                      <a:pt x="37" y="43"/>
                      <a:pt x="37" y="43"/>
                      <a:pt x="37" y="43"/>
                    </a:cubicBezTo>
                    <a:cubicBezTo>
                      <a:pt x="37" y="65"/>
                      <a:pt x="37" y="65"/>
                      <a:pt x="37" y="65"/>
                    </a:cubicBezTo>
                    <a:cubicBezTo>
                      <a:pt x="9" y="65"/>
                      <a:pt x="9" y="65"/>
                      <a:pt x="9" y="65"/>
                    </a:cubicBezTo>
                    <a:cubicBezTo>
                      <a:pt x="8" y="65"/>
                      <a:pt x="7" y="66"/>
                      <a:pt x="7" y="68"/>
                    </a:cubicBezTo>
                    <a:cubicBezTo>
                      <a:pt x="7" y="69"/>
                      <a:pt x="8" y="70"/>
                      <a:pt x="9" y="70"/>
                    </a:cubicBezTo>
                    <a:cubicBezTo>
                      <a:pt x="69" y="70"/>
                      <a:pt x="69" y="70"/>
                      <a:pt x="69" y="70"/>
                    </a:cubicBezTo>
                    <a:cubicBezTo>
                      <a:pt x="70" y="70"/>
                      <a:pt x="71" y="69"/>
                      <a:pt x="71" y="68"/>
                    </a:cubicBezTo>
                    <a:cubicBezTo>
                      <a:pt x="71" y="66"/>
                      <a:pt x="70" y="65"/>
                      <a:pt x="69" y="65"/>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01" name="Freeform 53">
                <a:extLst>
                  <a:ext uri="{FF2B5EF4-FFF2-40B4-BE49-F238E27FC236}">
                    <a16:creationId xmlns:a16="http://schemas.microsoft.com/office/drawing/2014/main" id="{36105358-53CF-472D-8F80-AF7F53802661}"/>
                  </a:ext>
                </a:extLst>
              </p:cNvPr>
              <p:cNvSpPr>
                <a:spLocks noEditPoints="1"/>
              </p:cNvSpPr>
              <p:nvPr/>
            </p:nvSpPr>
            <p:spPr bwMode="auto">
              <a:xfrm>
                <a:off x="8402638" y="5110163"/>
                <a:ext cx="187325" cy="319088"/>
              </a:xfrm>
              <a:custGeom>
                <a:avLst/>
                <a:gdLst>
                  <a:gd name="T0" fmla="*/ 25 w 50"/>
                  <a:gd name="T1" fmla="*/ 85 h 85"/>
                  <a:gd name="T2" fmla="*/ 50 w 50"/>
                  <a:gd name="T3" fmla="*/ 61 h 85"/>
                  <a:gd name="T4" fmla="*/ 50 w 50"/>
                  <a:gd name="T5" fmla="*/ 25 h 85"/>
                  <a:gd name="T6" fmla="*/ 25 w 50"/>
                  <a:gd name="T7" fmla="*/ 0 h 85"/>
                  <a:gd name="T8" fmla="*/ 0 w 50"/>
                  <a:gd name="T9" fmla="*/ 25 h 85"/>
                  <a:gd name="T10" fmla="*/ 0 w 50"/>
                  <a:gd name="T11" fmla="*/ 61 h 85"/>
                  <a:gd name="T12" fmla="*/ 25 w 50"/>
                  <a:gd name="T13" fmla="*/ 85 h 85"/>
                  <a:gd name="T14" fmla="*/ 7 w 50"/>
                  <a:gd name="T15" fmla="*/ 16 h 85"/>
                  <a:gd name="T16" fmla="*/ 11 w 50"/>
                  <a:gd name="T17" fmla="*/ 10 h 85"/>
                  <a:gd name="T18" fmla="*/ 25 w 50"/>
                  <a:gd name="T19" fmla="*/ 5 h 85"/>
                  <a:gd name="T20" fmla="*/ 39 w 50"/>
                  <a:gd name="T21" fmla="*/ 10 h 85"/>
                  <a:gd name="T22" fmla="*/ 43 w 50"/>
                  <a:gd name="T23" fmla="*/ 16 h 85"/>
                  <a:gd name="T24" fmla="*/ 44 w 50"/>
                  <a:gd name="T25" fmla="*/ 18 h 85"/>
                  <a:gd name="T26" fmla="*/ 6 w 50"/>
                  <a:gd name="T27" fmla="*/ 18 h 85"/>
                  <a:gd name="T28" fmla="*/ 7 w 50"/>
                  <a:gd name="T29" fmla="*/ 16 h 85"/>
                  <a:gd name="T30" fmla="*/ 5 w 50"/>
                  <a:gd name="T31" fmla="*/ 23 h 85"/>
                  <a:gd name="T32" fmla="*/ 45 w 50"/>
                  <a:gd name="T33" fmla="*/ 23 h 85"/>
                  <a:gd name="T34" fmla="*/ 45 w 50"/>
                  <a:gd name="T35" fmla="*/ 25 h 85"/>
                  <a:gd name="T36" fmla="*/ 45 w 50"/>
                  <a:gd name="T37" fmla="*/ 33 h 85"/>
                  <a:gd name="T38" fmla="*/ 5 w 50"/>
                  <a:gd name="T39" fmla="*/ 33 h 85"/>
                  <a:gd name="T40" fmla="*/ 5 w 50"/>
                  <a:gd name="T41" fmla="*/ 23 h 85"/>
                  <a:gd name="T42" fmla="*/ 5 w 50"/>
                  <a:gd name="T43" fmla="*/ 37 h 85"/>
                  <a:gd name="T44" fmla="*/ 45 w 50"/>
                  <a:gd name="T45" fmla="*/ 37 h 85"/>
                  <a:gd name="T46" fmla="*/ 45 w 50"/>
                  <a:gd name="T47" fmla="*/ 48 h 85"/>
                  <a:gd name="T48" fmla="*/ 5 w 50"/>
                  <a:gd name="T49" fmla="*/ 48 h 85"/>
                  <a:gd name="T50" fmla="*/ 5 w 50"/>
                  <a:gd name="T51" fmla="*/ 37 h 85"/>
                  <a:gd name="T52" fmla="*/ 5 w 50"/>
                  <a:gd name="T53" fmla="*/ 61 h 85"/>
                  <a:gd name="T54" fmla="*/ 5 w 50"/>
                  <a:gd name="T55" fmla="*/ 52 h 85"/>
                  <a:gd name="T56" fmla="*/ 45 w 50"/>
                  <a:gd name="T57" fmla="*/ 52 h 85"/>
                  <a:gd name="T58" fmla="*/ 45 w 50"/>
                  <a:gd name="T59" fmla="*/ 63 h 85"/>
                  <a:gd name="T60" fmla="*/ 5 w 50"/>
                  <a:gd name="T61" fmla="*/ 63 h 85"/>
                  <a:gd name="T62" fmla="*/ 5 w 50"/>
                  <a:gd name="T63" fmla="*/ 61 h 85"/>
                  <a:gd name="T64" fmla="*/ 6 w 50"/>
                  <a:gd name="T65" fmla="*/ 67 h 85"/>
                  <a:gd name="T66" fmla="*/ 44 w 50"/>
                  <a:gd name="T67" fmla="*/ 67 h 85"/>
                  <a:gd name="T68" fmla="*/ 43 w 50"/>
                  <a:gd name="T69" fmla="*/ 69 h 85"/>
                  <a:gd name="T70" fmla="*/ 39 w 50"/>
                  <a:gd name="T71" fmla="*/ 75 h 85"/>
                  <a:gd name="T72" fmla="*/ 25 w 50"/>
                  <a:gd name="T73" fmla="*/ 81 h 85"/>
                  <a:gd name="T74" fmla="*/ 11 w 50"/>
                  <a:gd name="T75" fmla="*/ 75 h 85"/>
                  <a:gd name="T76" fmla="*/ 7 w 50"/>
                  <a:gd name="T77" fmla="*/ 69 h 85"/>
                  <a:gd name="T78" fmla="*/ 6 w 50"/>
                  <a:gd name="T79" fmla="*/ 67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0" h="85">
                    <a:moveTo>
                      <a:pt x="25" y="85"/>
                    </a:moveTo>
                    <a:cubicBezTo>
                      <a:pt x="39" y="85"/>
                      <a:pt x="50" y="74"/>
                      <a:pt x="50" y="61"/>
                    </a:cubicBezTo>
                    <a:cubicBezTo>
                      <a:pt x="50" y="25"/>
                      <a:pt x="50" y="25"/>
                      <a:pt x="50" y="25"/>
                    </a:cubicBezTo>
                    <a:cubicBezTo>
                      <a:pt x="50" y="11"/>
                      <a:pt x="39" y="0"/>
                      <a:pt x="25" y="0"/>
                    </a:cubicBezTo>
                    <a:cubicBezTo>
                      <a:pt x="11" y="0"/>
                      <a:pt x="0" y="11"/>
                      <a:pt x="0" y="25"/>
                    </a:cubicBezTo>
                    <a:cubicBezTo>
                      <a:pt x="0" y="61"/>
                      <a:pt x="0" y="61"/>
                      <a:pt x="0" y="61"/>
                    </a:cubicBezTo>
                    <a:cubicBezTo>
                      <a:pt x="0" y="74"/>
                      <a:pt x="11" y="85"/>
                      <a:pt x="25" y="85"/>
                    </a:cubicBezTo>
                    <a:close/>
                    <a:moveTo>
                      <a:pt x="7" y="16"/>
                    </a:moveTo>
                    <a:cubicBezTo>
                      <a:pt x="8" y="14"/>
                      <a:pt x="9" y="12"/>
                      <a:pt x="11" y="10"/>
                    </a:cubicBezTo>
                    <a:cubicBezTo>
                      <a:pt x="15" y="7"/>
                      <a:pt x="20" y="5"/>
                      <a:pt x="25" y="5"/>
                    </a:cubicBezTo>
                    <a:cubicBezTo>
                      <a:pt x="30" y="5"/>
                      <a:pt x="35" y="7"/>
                      <a:pt x="39" y="10"/>
                    </a:cubicBezTo>
                    <a:cubicBezTo>
                      <a:pt x="41" y="12"/>
                      <a:pt x="42" y="14"/>
                      <a:pt x="43" y="16"/>
                    </a:cubicBezTo>
                    <a:cubicBezTo>
                      <a:pt x="44" y="18"/>
                      <a:pt x="44" y="18"/>
                      <a:pt x="44" y="18"/>
                    </a:cubicBezTo>
                    <a:cubicBezTo>
                      <a:pt x="6" y="18"/>
                      <a:pt x="6" y="18"/>
                      <a:pt x="6" y="18"/>
                    </a:cubicBezTo>
                    <a:lnTo>
                      <a:pt x="7" y="16"/>
                    </a:lnTo>
                    <a:close/>
                    <a:moveTo>
                      <a:pt x="5" y="23"/>
                    </a:moveTo>
                    <a:cubicBezTo>
                      <a:pt x="45" y="23"/>
                      <a:pt x="45" y="23"/>
                      <a:pt x="45" y="23"/>
                    </a:cubicBezTo>
                    <a:cubicBezTo>
                      <a:pt x="45" y="25"/>
                      <a:pt x="45" y="25"/>
                      <a:pt x="45" y="25"/>
                    </a:cubicBezTo>
                    <a:cubicBezTo>
                      <a:pt x="45" y="33"/>
                      <a:pt x="45" y="33"/>
                      <a:pt x="45" y="33"/>
                    </a:cubicBezTo>
                    <a:cubicBezTo>
                      <a:pt x="5" y="33"/>
                      <a:pt x="5" y="33"/>
                      <a:pt x="5" y="33"/>
                    </a:cubicBezTo>
                    <a:lnTo>
                      <a:pt x="5" y="23"/>
                    </a:lnTo>
                    <a:close/>
                    <a:moveTo>
                      <a:pt x="5" y="37"/>
                    </a:moveTo>
                    <a:cubicBezTo>
                      <a:pt x="45" y="37"/>
                      <a:pt x="45" y="37"/>
                      <a:pt x="45" y="37"/>
                    </a:cubicBezTo>
                    <a:cubicBezTo>
                      <a:pt x="45" y="48"/>
                      <a:pt x="45" y="48"/>
                      <a:pt x="45" y="48"/>
                    </a:cubicBezTo>
                    <a:cubicBezTo>
                      <a:pt x="5" y="48"/>
                      <a:pt x="5" y="48"/>
                      <a:pt x="5" y="48"/>
                    </a:cubicBezTo>
                    <a:lnTo>
                      <a:pt x="5" y="37"/>
                    </a:lnTo>
                    <a:close/>
                    <a:moveTo>
                      <a:pt x="5" y="61"/>
                    </a:moveTo>
                    <a:cubicBezTo>
                      <a:pt x="5" y="52"/>
                      <a:pt x="5" y="52"/>
                      <a:pt x="5" y="52"/>
                    </a:cubicBezTo>
                    <a:cubicBezTo>
                      <a:pt x="45" y="52"/>
                      <a:pt x="45" y="52"/>
                      <a:pt x="45" y="52"/>
                    </a:cubicBezTo>
                    <a:cubicBezTo>
                      <a:pt x="45" y="63"/>
                      <a:pt x="45" y="63"/>
                      <a:pt x="45" y="63"/>
                    </a:cubicBezTo>
                    <a:cubicBezTo>
                      <a:pt x="5" y="63"/>
                      <a:pt x="5" y="63"/>
                      <a:pt x="5" y="63"/>
                    </a:cubicBezTo>
                    <a:lnTo>
                      <a:pt x="5" y="61"/>
                    </a:lnTo>
                    <a:close/>
                    <a:moveTo>
                      <a:pt x="6" y="67"/>
                    </a:moveTo>
                    <a:cubicBezTo>
                      <a:pt x="44" y="67"/>
                      <a:pt x="44" y="67"/>
                      <a:pt x="44" y="67"/>
                    </a:cubicBezTo>
                    <a:cubicBezTo>
                      <a:pt x="43" y="69"/>
                      <a:pt x="43" y="69"/>
                      <a:pt x="43" y="69"/>
                    </a:cubicBezTo>
                    <a:cubicBezTo>
                      <a:pt x="42" y="71"/>
                      <a:pt x="41" y="73"/>
                      <a:pt x="39" y="75"/>
                    </a:cubicBezTo>
                    <a:cubicBezTo>
                      <a:pt x="35" y="79"/>
                      <a:pt x="30" y="81"/>
                      <a:pt x="25" y="81"/>
                    </a:cubicBezTo>
                    <a:cubicBezTo>
                      <a:pt x="20" y="81"/>
                      <a:pt x="15" y="79"/>
                      <a:pt x="11" y="75"/>
                    </a:cubicBezTo>
                    <a:cubicBezTo>
                      <a:pt x="9" y="73"/>
                      <a:pt x="8" y="71"/>
                      <a:pt x="7" y="69"/>
                    </a:cubicBezTo>
                    <a:lnTo>
                      <a:pt x="6" y="67"/>
                    </a:ln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grpSp>
      <p:grpSp>
        <p:nvGrpSpPr>
          <p:cNvPr id="102" name="组合 101">
            <a:extLst>
              <a:ext uri="{FF2B5EF4-FFF2-40B4-BE49-F238E27FC236}">
                <a16:creationId xmlns:a16="http://schemas.microsoft.com/office/drawing/2014/main" id="{00749CFE-AAF4-4C54-8E9D-4528614B26B5}"/>
              </a:ext>
            </a:extLst>
          </p:cNvPr>
          <p:cNvGrpSpPr/>
          <p:nvPr/>
        </p:nvGrpSpPr>
        <p:grpSpPr>
          <a:xfrm>
            <a:off x="272730" y="3023077"/>
            <a:ext cx="1179830" cy="215900"/>
            <a:chOff x="9442" y="2848"/>
            <a:chExt cx="1858" cy="340"/>
          </a:xfrm>
        </p:grpSpPr>
        <p:cxnSp>
          <p:nvCxnSpPr>
            <p:cNvPr id="103" name="直接连接符 102">
              <a:extLst>
                <a:ext uri="{FF2B5EF4-FFF2-40B4-BE49-F238E27FC236}">
                  <a16:creationId xmlns:a16="http://schemas.microsoft.com/office/drawing/2014/main" id="{9B5F3FE4-F908-45F8-9B51-B6F84B46FBFF}"/>
                </a:ext>
              </a:extLst>
            </p:cNvPr>
            <p:cNvCxnSpPr/>
            <p:nvPr/>
          </p:nvCxnSpPr>
          <p:spPr>
            <a:xfrm>
              <a:off x="9676" y="2990"/>
              <a:ext cx="1624" cy="0"/>
            </a:xfrm>
            <a:prstGeom prst="line">
              <a:avLst/>
            </a:prstGeom>
            <a:noFill/>
            <a:ln w="6350" cap="flat" cmpd="sng" algn="ctr">
              <a:solidFill>
                <a:schemeClr val="accent1"/>
              </a:solidFill>
              <a:prstDash val="solid"/>
              <a:miter lim="800000"/>
            </a:ln>
            <a:effectLst/>
          </p:spPr>
        </p:cxnSp>
        <p:sp>
          <p:nvSpPr>
            <p:cNvPr id="104" name="椭圆 103">
              <a:extLst>
                <a:ext uri="{FF2B5EF4-FFF2-40B4-BE49-F238E27FC236}">
                  <a16:creationId xmlns:a16="http://schemas.microsoft.com/office/drawing/2014/main" id="{6A07D15B-E381-48AF-A4A5-7462097DF871}"/>
                </a:ext>
              </a:extLst>
            </p:cNvPr>
            <p:cNvSpPr/>
            <p:nvPr/>
          </p:nvSpPr>
          <p:spPr>
            <a:xfrm>
              <a:off x="9442" y="2848"/>
              <a:ext cx="340" cy="340"/>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grpSp>
        <p:nvGrpSpPr>
          <p:cNvPr id="105" name="组合 104">
            <a:extLst>
              <a:ext uri="{FF2B5EF4-FFF2-40B4-BE49-F238E27FC236}">
                <a16:creationId xmlns:a16="http://schemas.microsoft.com/office/drawing/2014/main" id="{180FC2C0-1F60-4BF1-BA8C-0BC898F3E7BF}"/>
              </a:ext>
            </a:extLst>
          </p:cNvPr>
          <p:cNvGrpSpPr/>
          <p:nvPr/>
        </p:nvGrpSpPr>
        <p:grpSpPr>
          <a:xfrm>
            <a:off x="1103766" y="2842344"/>
            <a:ext cx="504000" cy="504000"/>
            <a:chOff x="4613213" y="3130275"/>
            <a:chExt cx="504000" cy="504000"/>
          </a:xfrm>
        </p:grpSpPr>
        <p:sp>
          <p:nvSpPr>
            <p:cNvPr id="106" name="椭圆 105">
              <a:extLst>
                <a:ext uri="{FF2B5EF4-FFF2-40B4-BE49-F238E27FC236}">
                  <a16:creationId xmlns:a16="http://schemas.microsoft.com/office/drawing/2014/main" id="{03E7A32D-C720-4A1A-B30E-77706268A261}"/>
                </a:ext>
              </a:extLst>
            </p:cNvPr>
            <p:cNvSpPr/>
            <p:nvPr/>
          </p:nvSpPr>
          <p:spPr>
            <a:xfrm>
              <a:off x="4613213" y="3130275"/>
              <a:ext cx="504000" cy="504000"/>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07" name="Freeform 105">
              <a:extLst>
                <a:ext uri="{FF2B5EF4-FFF2-40B4-BE49-F238E27FC236}">
                  <a16:creationId xmlns:a16="http://schemas.microsoft.com/office/drawing/2014/main" id="{8E0CD26B-E086-443D-A718-CFA48FA0F67D}"/>
                </a:ext>
              </a:extLst>
            </p:cNvPr>
            <p:cNvSpPr>
              <a:spLocks noChangeAspect="1" noEditPoints="1"/>
            </p:cNvSpPr>
            <p:nvPr/>
          </p:nvSpPr>
          <p:spPr bwMode="auto">
            <a:xfrm>
              <a:off x="4703213" y="3237919"/>
              <a:ext cx="324000" cy="288713"/>
            </a:xfrm>
            <a:custGeom>
              <a:avLst/>
              <a:gdLst>
                <a:gd name="T0" fmla="*/ 101 w 128"/>
                <a:gd name="T1" fmla="*/ 41 h 114"/>
                <a:gd name="T2" fmla="*/ 125 w 128"/>
                <a:gd name="T3" fmla="*/ 17 h 114"/>
                <a:gd name="T4" fmla="*/ 128 w 128"/>
                <a:gd name="T5" fmla="*/ 10 h 114"/>
                <a:gd name="T6" fmla="*/ 125 w 128"/>
                <a:gd name="T7" fmla="*/ 3 h 114"/>
                <a:gd name="T8" fmla="*/ 111 w 128"/>
                <a:gd name="T9" fmla="*/ 3 h 114"/>
                <a:gd name="T10" fmla="*/ 87 w 128"/>
                <a:gd name="T11" fmla="*/ 27 h 114"/>
                <a:gd name="T12" fmla="*/ 6 w 128"/>
                <a:gd name="T13" fmla="*/ 27 h 114"/>
                <a:gd name="T14" fmla="*/ 0 w 128"/>
                <a:gd name="T15" fmla="*/ 33 h 114"/>
                <a:gd name="T16" fmla="*/ 0 w 128"/>
                <a:gd name="T17" fmla="*/ 108 h 114"/>
                <a:gd name="T18" fmla="*/ 6 w 128"/>
                <a:gd name="T19" fmla="*/ 114 h 114"/>
                <a:gd name="T20" fmla="*/ 95 w 128"/>
                <a:gd name="T21" fmla="*/ 114 h 114"/>
                <a:gd name="T22" fmla="*/ 101 w 128"/>
                <a:gd name="T23" fmla="*/ 108 h 114"/>
                <a:gd name="T24" fmla="*/ 101 w 128"/>
                <a:gd name="T25" fmla="*/ 41 h 114"/>
                <a:gd name="T26" fmla="*/ 96 w 128"/>
                <a:gd name="T27" fmla="*/ 109 h 114"/>
                <a:gd name="T28" fmla="*/ 5 w 128"/>
                <a:gd name="T29" fmla="*/ 109 h 114"/>
                <a:gd name="T30" fmla="*/ 5 w 128"/>
                <a:gd name="T31" fmla="*/ 32 h 114"/>
                <a:gd name="T32" fmla="*/ 83 w 128"/>
                <a:gd name="T33" fmla="*/ 32 h 114"/>
                <a:gd name="T34" fmla="*/ 63 w 128"/>
                <a:gd name="T35" fmla="*/ 52 h 114"/>
                <a:gd name="T36" fmla="*/ 62 w 128"/>
                <a:gd name="T37" fmla="*/ 54 h 114"/>
                <a:gd name="T38" fmla="*/ 62 w 128"/>
                <a:gd name="T39" fmla="*/ 64 h 114"/>
                <a:gd name="T40" fmla="*/ 63 w 128"/>
                <a:gd name="T41" fmla="*/ 66 h 114"/>
                <a:gd name="T42" fmla="*/ 64 w 128"/>
                <a:gd name="T43" fmla="*/ 66 h 114"/>
                <a:gd name="T44" fmla="*/ 75 w 128"/>
                <a:gd name="T45" fmla="*/ 66 h 114"/>
                <a:gd name="T46" fmla="*/ 76 w 128"/>
                <a:gd name="T47" fmla="*/ 66 h 114"/>
                <a:gd name="T48" fmla="*/ 76 w 128"/>
                <a:gd name="T49" fmla="*/ 66 h 114"/>
                <a:gd name="T50" fmla="*/ 96 w 128"/>
                <a:gd name="T51" fmla="*/ 46 h 114"/>
                <a:gd name="T52" fmla="*/ 96 w 128"/>
                <a:gd name="T53" fmla="*/ 109 h 114"/>
                <a:gd name="T54" fmla="*/ 74 w 128"/>
                <a:gd name="T55" fmla="*/ 62 h 114"/>
                <a:gd name="T56" fmla="*/ 67 w 128"/>
                <a:gd name="T57" fmla="*/ 62 h 114"/>
                <a:gd name="T58" fmla="*/ 67 w 128"/>
                <a:gd name="T59" fmla="*/ 55 h 114"/>
                <a:gd name="T60" fmla="*/ 115 w 128"/>
                <a:gd name="T61" fmla="*/ 6 h 114"/>
                <a:gd name="T62" fmla="*/ 118 w 128"/>
                <a:gd name="T63" fmla="*/ 5 h 114"/>
                <a:gd name="T64" fmla="*/ 122 w 128"/>
                <a:gd name="T65" fmla="*/ 6 h 114"/>
                <a:gd name="T66" fmla="*/ 122 w 128"/>
                <a:gd name="T67" fmla="*/ 14 h 114"/>
                <a:gd name="T68" fmla="*/ 74 w 128"/>
                <a:gd name="T69" fmla="*/ 62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8" h="114">
                  <a:moveTo>
                    <a:pt x="101" y="41"/>
                  </a:moveTo>
                  <a:cubicBezTo>
                    <a:pt x="125" y="17"/>
                    <a:pt x="125" y="17"/>
                    <a:pt x="125" y="17"/>
                  </a:cubicBezTo>
                  <a:cubicBezTo>
                    <a:pt x="127" y="15"/>
                    <a:pt x="128" y="13"/>
                    <a:pt x="128" y="10"/>
                  </a:cubicBezTo>
                  <a:cubicBezTo>
                    <a:pt x="128" y="8"/>
                    <a:pt x="127" y="5"/>
                    <a:pt x="125" y="3"/>
                  </a:cubicBezTo>
                  <a:cubicBezTo>
                    <a:pt x="121" y="0"/>
                    <a:pt x="115" y="0"/>
                    <a:pt x="111" y="3"/>
                  </a:cubicBezTo>
                  <a:cubicBezTo>
                    <a:pt x="87" y="27"/>
                    <a:pt x="87" y="27"/>
                    <a:pt x="87" y="27"/>
                  </a:cubicBezTo>
                  <a:cubicBezTo>
                    <a:pt x="6" y="27"/>
                    <a:pt x="6" y="27"/>
                    <a:pt x="6" y="27"/>
                  </a:cubicBezTo>
                  <a:cubicBezTo>
                    <a:pt x="3" y="27"/>
                    <a:pt x="0" y="30"/>
                    <a:pt x="0" y="33"/>
                  </a:cubicBezTo>
                  <a:cubicBezTo>
                    <a:pt x="0" y="108"/>
                    <a:pt x="0" y="108"/>
                    <a:pt x="0" y="108"/>
                  </a:cubicBezTo>
                  <a:cubicBezTo>
                    <a:pt x="0" y="111"/>
                    <a:pt x="3" y="114"/>
                    <a:pt x="6" y="114"/>
                  </a:cubicBezTo>
                  <a:cubicBezTo>
                    <a:pt x="95" y="114"/>
                    <a:pt x="95" y="114"/>
                    <a:pt x="95" y="114"/>
                  </a:cubicBezTo>
                  <a:cubicBezTo>
                    <a:pt x="98" y="114"/>
                    <a:pt x="101" y="111"/>
                    <a:pt x="101" y="108"/>
                  </a:cubicBezTo>
                  <a:lnTo>
                    <a:pt x="101" y="41"/>
                  </a:lnTo>
                  <a:close/>
                  <a:moveTo>
                    <a:pt x="96" y="109"/>
                  </a:moveTo>
                  <a:cubicBezTo>
                    <a:pt x="5" y="109"/>
                    <a:pt x="5" y="109"/>
                    <a:pt x="5" y="109"/>
                  </a:cubicBezTo>
                  <a:cubicBezTo>
                    <a:pt x="5" y="32"/>
                    <a:pt x="5" y="32"/>
                    <a:pt x="5" y="32"/>
                  </a:cubicBezTo>
                  <a:cubicBezTo>
                    <a:pt x="83" y="32"/>
                    <a:pt x="83" y="32"/>
                    <a:pt x="83" y="32"/>
                  </a:cubicBezTo>
                  <a:cubicBezTo>
                    <a:pt x="63" y="52"/>
                    <a:pt x="63" y="52"/>
                    <a:pt x="63" y="52"/>
                  </a:cubicBezTo>
                  <a:cubicBezTo>
                    <a:pt x="62" y="52"/>
                    <a:pt x="62" y="53"/>
                    <a:pt x="62" y="54"/>
                  </a:cubicBezTo>
                  <a:cubicBezTo>
                    <a:pt x="62" y="64"/>
                    <a:pt x="62" y="64"/>
                    <a:pt x="62" y="64"/>
                  </a:cubicBezTo>
                  <a:cubicBezTo>
                    <a:pt x="62" y="65"/>
                    <a:pt x="62" y="65"/>
                    <a:pt x="63" y="66"/>
                  </a:cubicBezTo>
                  <a:cubicBezTo>
                    <a:pt x="63" y="66"/>
                    <a:pt x="64" y="66"/>
                    <a:pt x="64" y="66"/>
                  </a:cubicBezTo>
                  <a:cubicBezTo>
                    <a:pt x="75" y="66"/>
                    <a:pt x="75" y="66"/>
                    <a:pt x="75" y="66"/>
                  </a:cubicBezTo>
                  <a:cubicBezTo>
                    <a:pt x="75" y="66"/>
                    <a:pt x="76" y="66"/>
                    <a:pt x="76" y="66"/>
                  </a:cubicBezTo>
                  <a:cubicBezTo>
                    <a:pt x="76" y="66"/>
                    <a:pt x="76" y="66"/>
                    <a:pt x="76" y="66"/>
                  </a:cubicBezTo>
                  <a:cubicBezTo>
                    <a:pt x="96" y="46"/>
                    <a:pt x="96" y="46"/>
                    <a:pt x="96" y="46"/>
                  </a:cubicBezTo>
                  <a:lnTo>
                    <a:pt x="96" y="109"/>
                  </a:lnTo>
                  <a:close/>
                  <a:moveTo>
                    <a:pt x="74" y="62"/>
                  </a:moveTo>
                  <a:cubicBezTo>
                    <a:pt x="67" y="62"/>
                    <a:pt x="67" y="62"/>
                    <a:pt x="67" y="62"/>
                  </a:cubicBezTo>
                  <a:cubicBezTo>
                    <a:pt x="67" y="55"/>
                    <a:pt x="67" y="55"/>
                    <a:pt x="67" y="55"/>
                  </a:cubicBezTo>
                  <a:cubicBezTo>
                    <a:pt x="115" y="6"/>
                    <a:pt x="115" y="6"/>
                    <a:pt x="115" y="6"/>
                  </a:cubicBezTo>
                  <a:cubicBezTo>
                    <a:pt x="116" y="5"/>
                    <a:pt x="118" y="5"/>
                    <a:pt x="118" y="5"/>
                  </a:cubicBezTo>
                  <a:cubicBezTo>
                    <a:pt x="119" y="5"/>
                    <a:pt x="121" y="5"/>
                    <a:pt x="122" y="6"/>
                  </a:cubicBezTo>
                  <a:cubicBezTo>
                    <a:pt x="124" y="8"/>
                    <a:pt x="124" y="12"/>
                    <a:pt x="122" y="14"/>
                  </a:cubicBezTo>
                  <a:lnTo>
                    <a:pt x="74" y="62"/>
                  </a:lnTo>
                  <a:close/>
                </a:path>
              </a:pathLst>
            </a:custGeom>
            <a:solidFill>
              <a:srgbClr val="FFFFFF"/>
            </a:solid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grpSp>
        <p:nvGrpSpPr>
          <p:cNvPr id="108" name="组合 107">
            <a:extLst>
              <a:ext uri="{FF2B5EF4-FFF2-40B4-BE49-F238E27FC236}">
                <a16:creationId xmlns:a16="http://schemas.microsoft.com/office/drawing/2014/main" id="{53B4538A-4136-42EC-9E7C-D1438BA7735A}"/>
              </a:ext>
            </a:extLst>
          </p:cNvPr>
          <p:cNvGrpSpPr/>
          <p:nvPr/>
        </p:nvGrpSpPr>
        <p:grpSpPr>
          <a:xfrm>
            <a:off x="272730" y="2275047"/>
            <a:ext cx="1179830" cy="215900"/>
            <a:chOff x="9442" y="2848"/>
            <a:chExt cx="1858" cy="340"/>
          </a:xfrm>
        </p:grpSpPr>
        <p:cxnSp>
          <p:nvCxnSpPr>
            <p:cNvPr id="109" name="直接连接符 108">
              <a:extLst>
                <a:ext uri="{FF2B5EF4-FFF2-40B4-BE49-F238E27FC236}">
                  <a16:creationId xmlns:a16="http://schemas.microsoft.com/office/drawing/2014/main" id="{72DB3C83-0DE6-4474-8B1A-36DDAA863F5A}"/>
                </a:ext>
              </a:extLst>
            </p:cNvPr>
            <p:cNvCxnSpPr/>
            <p:nvPr/>
          </p:nvCxnSpPr>
          <p:spPr>
            <a:xfrm>
              <a:off x="9676" y="2990"/>
              <a:ext cx="1624" cy="0"/>
            </a:xfrm>
            <a:prstGeom prst="line">
              <a:avLst/>
            </a:prstGeom>
            <a:noFill/>
            <a:ln w="6350" cap="flat" cmpd="sng" algn="ctr">
              <a:solidFill>
                <a:schemeClr val="accent1"/>
              </a:solidFill>
              <a:prstDash val="solid"/>
              <a:miter lim="800000"/>
            </a:ln>
            <a:effectLst/>
          </p:spPr>
        </p:cxnSp>
        <p:sp>
          <p:nvSpPr>
            <p:cNvPr id="110" name="椭圆 109">
              <a:extLst>
                <a:ext uri="{FF2B5EF4-FFF2-40B4-BE49-F238E27FC236}">
                  <a16:creationId xmlns:a16="http://schemas.microsoft.com/office/drawing/2014/main" id="{C71683B6-DC07-4871-86EA-E45E2A3143EB}"/>
                </a:ext>
              </a:extLst>
            </p:cNvPr>
            <p:cNvSpPr/>
            <p:nvPr/>
          </p:nvSpPr>
          <p:spPr>
            <a:xfrm>
              <a:off x="9442" y="2848"/>
              <a:ext cx="340" cy="340"/>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sp>
        <p:nvSpPr>
          <p:cNvPr id="111" name="文本框 110">
            <a:extLst>
              <a:ext uri="{FF2B5EF4-FFF2-40B4-BE49-F238E27FC236}">
                <a16:creationId xmlns:a16="http://schemas.microsoft.com/office/drawing/2014/main" id="{2657FB56-8541-4D13-890B-C580E463147B}"/>
              </a:ext>
            </a:extLst>
          </p:cNvPr>
          <p:cNvSpPr txBox="1"/>
          <p:nvPr/>
        </p:nvSpPr>
        <p:spPr>
          <a:xfrm>
            <a:off x="484820" y="1347312"/>
            <a:ext cx="2030095" cy="619760"/>
          </a:xfrm>
          <a:prstGeom prst="roundRect">
            <a:avLst/>
          </a:prstGeom>
          <a:solidFill>
            <a:schemeClr val="accent1"/>
          </a:solidFill>
        </p:spPr>
        <p:txBody>
          <a:bodyPr wrap="square" lIns="0" tIns="0" rIns="0" bIns="0" rtlCol="0" anchor="ctr" anchorCtr="0">
            <a:noAutofit/>
          </a:bodyPr>
          <a:lstStyle/>
          <a:p>
            <a:pPr marR="0" indent="0" algn="ctr" defTabSz="914400" fontAlgn="auto">
              <a:lnSpc>
                <a:spcPct val="130000"/>
              </a:lnSpc>
              <a:spcBef>
                <a:spcPts val="0"/>
              </a:spcBef>
              <a:spcAft>
                <a:spcPts val="0"/>
              </a:spcAft>
              <a:buClrTx/>
              <a:buSzTx/>
              <a:buFontTx/>
              <a:buNone/>
              <a:defRPr/>
            </a:pPr>
            <a:r>
              <a:rPr kumimoji="0" lang="zh-CN" altLang="en-US" sz="2800" b="1" i="0" kern="0" cap="none" spc="300" normalizeH="0" baseline="0" noProof="0" dirty="0">
                <a:solidFill>
                  <a:srgbClr val="FFFFFF"/>
                </a:solidFill>
                <a:latin typeface="微软雅黑" panose="020B0503020204020204" pitchFamily="34" charset="-122"/>
                <a:ea typeface="微软雅黑" panose="020B0503020204020204" pitchFamily="34" charset="-122"/>
              </a:rPr>
              <a:t>硬件选择</a:t>
            </a:r>
          </a:p>
        </p:txBody>
      </p:sp>
      <p:pic>
        <p:nvPicPr>
          <p:cNvPr id="112" name="图片 111" descr="stm32zet6">
            <a:extLst>
              <a:ext uri="{FF2B5EF4-FFF2-40B4-BE49-F238E27FC236}">
                <a16:creationId xmlns:a16="http://schemas.microsoft.com/office/drawing/2014/main" id="{9867DE67-C4AA-4183-89C4-F003C8A060A6}"/>
              </a:ext>
            </a:extLst>
          </p:cNvPr>
          <p:cNvPicPr>
            <a:picLocks noChangeAspect="1"/>
          </p:cNvPicPr>
          <p:nvPr/>
        </p:nvPicPr>
        <p:blipFill>
          <a:blip r:embed="rId3"/>
          <a:stretch>
            <a:fillRect/>
          </a:stretch>
        </p:blipFill>
        <p:spPr>
          <a:xfrm>
            <a:off x="3156120" y="1881665"/>
            <a:ext cx="962025" cy="897255"/>
          </a:xfrm>
          <a:prstGeom prst="rect">
            <a:avLst/>
          </a:prstGeom>
        </p:spPr>
      </p:pic>
      <p:grpSp>
        <p:nvGrpSpPr>
          <p:cNvPr id="113" name="组合 112">
            <a:extLst>
              <a:ext uri="{FF2B5EF4-FFF2-40B4-BE49-F238E27FC236}">
                <a16:creationId xmlns:a16="http://schemas.microsoft.com/office/drawing/2014/main" id="{433DEDDB-D654-4DDB-AE36-260771C7CEF5}"/>
              </a:ext>
            </a:extLst>
          </p:cNvPr>
          <p:cNvGrpSpPr/>
          <p:nvPr/>
        </p:nvGrpSpPr>
        <p:grpSpPr>
          <a:xfrm>
            <a:off x="1776410" y="2842102"/>
            <a:ext cx="3273425" cy="525145"/>
            <a:chOff x="11810" y="2603"/>
            <a:chExt cx="5155" cy="827"/>
          </a:xfrm>
        </p:grpSpPr>
        <p:sp>
          <p:nvSpPr>
            <p:cNvPr id="114" name="文本框 113">
              <a:extLst>
                <a:ext uri="{FF2B5EF4-FFF2-40B4-BE49-F238E27FC236}">
                  <a16:creationId xmlns:a16="http://schemas.microsoft.com/office/drawing/2014/main" id="{8C7480B3-44F0-4F1B-979E-DF285940B2D0}"/>
                </a:ext>
              </a:extLst>
            </p:cNvPr>
            <p:cNvSpPr txBox="1"/>
            <p:nvPr/>
          </p:nvSpPr>
          <p:spPr>
            <a:xfrm>
              <a:off x="11810" y="2603"/>
              <a:ext cx="5155" cy="387"/>
            </a:xfrm>
            <a:prstGeom prst="rect">
              <a:avLst/>
            </a:prstGeom>
            <a:noFill/>
          </p:spPr>
          <p:txBody>
            <a:bodyPr wrap="square" lIns="0" tIns="0" rIns="0" bIns="0" rtlCol="0">
              <a:spAutoFit/>
            </a:bodyPr>
            <a:lstStyle/>
            <a:p>
              <a:pPr fontAlgn="auto">
                <a:spcBef>
                  <a:spcPts val="0"/>
                </a:spcBef>
                <a:spcAft>
                  <a:spcPts val="0"/>
                </a:spcAft>
              </a:pPr>
              <a:r>
                <a:rPr lang="zh-CN" altLang="en-US" sz="1600" b="1" spc="300" dirty="0">
                  <a:solidFill>
                    <a:schemeClr val="accent4"/>
                  </a:solidFill>
                  <a:latin typeface="微软雅黑" panose="020B0503020204020204" pitchFamily="34" charset="-122"/>
                  <a:ea typeface="微软雅黑" panose="020B0503020204020204" pitchFamily="34" charset="-122"/>
                </a:rPr>
                <a:t>通信模块</a:t>
              </a:r>
            </a:p>
          </p:txBody>
        </p:sp>
        <p:sp>
          <p:nvSpPr>
            <p:cNvPr id="115" name="文本框 114">
              <a:extLst>
                <a:ext uri="{FF2B5EF4-FFF2-40B4-BE49-F238E27FC236}">
                  <a16:creationId xmlns:a16="http://schemas.microsoft.com/office/drawing/2014/main" id="{70E396D2-7556-451F-A432-FF1A50297F20}"/>
                </a:ext>
              </a:extLst>
            </p:cNvPr>
            <p:cNvSpPr txBox="1"/>
            <p:nvPr/>
          </p:nvSpPr>
          <p:spPr>
            <a:xfrm>
              <a:off x="11810" y="2990"/>
              <a:ext cx="5155" cy="440"/>
            </a:xfrm>
            <a:prstGeom prst="rect">
              <a:avLst/>
            </a:prstGeom>
            <a:noFill/>
          </p:spPr>
          <p:txBody>
            <a:bodyPr wrap="square" lIns="0" tIns="0" rIns="0" bIns="0" rtlCol="0">
              <a:spAutoFit/>
            </a:bodyPr>
            <a:lstStyle>
              <a:defPPr>
                <a:defRPr lang="zh-CN"/>
              </a:defPPr>
              <a:lvl1pPr algn="just">
                <a:lnSpc>
                  <a:spcPct val="130000"/>
                </a:lnSpc>
                <a:defRPr sz="1400" spc="300">
                  <a:solidFill>
                    <a:schemeClr val="tx1">
                      <a:lumMod val="85000"/>
                      <a:lumOff val="15000"/>
                    </a:schemeClr>
                  </a:solidFill>
                </a:defRPr>
              </a:lvl1pPr>
            </a:lstStyle>
            <a:p>
              <a:pPr algn="l" eaLnBrk="1" fontAlgn="auto" hangingPunct="1">
                <a:spcBef>
                  <a:spcPts val="0"/>
                </a:spcBef>
                <a:spcAft>
                  <a:spcPts val="0"/>
                </a:spcAft>
              </a:pPr>
              <a:r>
                <a:rPr lang="zh-CN" altLang="en-US" dirty="0">
                  <a:solidFill>
                    <a:schemeClr val="tx1"/>
                  </a:solidFill>
                  <a:latin typeface="微软雅黑" panose="020B0503020204020204" pitchFamily="34" charset="-122"/>
                  <a:ea typeface="微软雅黑" panose="020B0503020204020204" pitchFamily="34" charset="-122"/>
                </a:rPr>
                <a:t>ATK-Lora-01</a:t>
              </a:r>
            </a:p>
          </p:txBody>
        </p:sp>
      </p:grpSp>
      <p:grpSp>
        <p:nvGrpSpPr>
          <p:cNvPr id="116" name="组合 115">
            <a:extLst>
              <a:ext uri="{FF2B5EF4-FFF2-40B4-BE49-F238E27FC236}">
                <a16:creationId xmlns:a16="http://schemas.microsoft.com/office/drawing/2014/main" id="{2C0FDB8A-A2A1-41E4-B5F1-011FDDCE2F57}"/>
              </a:ext>
            </a:extLst>
          </p:cNvPr>
          <p:cNvGrpSpPr/>
          <p:nvPr/>
        </p:nvGrpSpPr>
        <p:grpSpPr>
          <a:xfrm>
            <a:off x="1716085" y="3651727"/>
            <a:ext cx="3273425" cy="498475"/>
            <a:chOff x="11810" y="2603"/>
            <a:chExt cx="5155" cy="785"/>
          </a:xfrm>
        </p:grpSpPr>
        <p:sp>
          <p:nvSpPr>
            <p:cNvPr id="117" name="文本框 116">
              <a:extLst>
                <a:ext uri="{FF2B5EF4-FFF2-40B4-BE49-F238E27FC236}">
                  <a16:creationId xmlns:a16="http://schemas.microsoft.com/office/drawing/2014/main" id="{AB396D53-9D82-4332-B9BC-5DC616460B1F}"/>
                </a:ext>
              </a:extLst>
            </p:cNvPr>
            <p:cNvSpPr txBox="1"/>
            <p:nvPr/>
          </p:nvSpPr>
          <p:spPr>
            <a:xfrm>
              <a:off x="11810" y="2603"/>
              <a:ext cx="5155" cy="387"/>
            </a:xfrm>
            <a:prstGeom prst="rect">
              <a:avLst/>
            </a:prstGeom>
            <a:noFill/>
          </p:spPr>
          <p:txBody>
            <a:bodyPr wrap="square" lIns="0" tIns="0" rIns="0" bIns="0" rtlCol="0">
              <a:spAutoFit/>
            </a:bodyPr>
            <a:lstStyle/>
            <a:p>
              <a:pPr fontAlgn="auto">
                <a:spcBef>
                  <a:spcPts val="0"/>
                </a:spcBef>
                <a:spcAft>
                  <a:spcPts val="0"/>
                </a:spcAft>
              </a:pPr>
              <a:r>
                <a:rPr lang="zh-CN" altLang="en-US" sz="1600" b="1" spc="300" dirty="0">
                  <a:solidFill>
                    <a:schemeClr val="accent4"/>
                  </a:solidFill>
                  <a:latin typeface="微软雅黑" panose="020B0503020204020204" pitchFamily="34" charset="-122"/>
                  <a:ea typeface="微软雅黑" panose="020B0503020204020204" pitchFamily="34" charset="-122"/>
                </a:rPr>
                <a:t>显示屏</a:t>
              </a:r>
              <a:endParaRPr lang="en-US" altLang="zh-CN" sz="1600" b="1" spc="300" dirty="0">
                <a:solidFill>
                  <a:schemeClr val="accent4"/>
                </a:solidFill>
                <a:latin typeface="微软雅黑" panose="020B0503020204020204" pitchFamily="34" charset="-122"/>
                <a:ea typeface="微软雅黑" panose="020B0503020204020204" pitchFamily="34" charset="-122"/>
              </a:endParaRPr>
            </a:p>
          </p:txBody>
        </p:sp>
        <p:sp>
          <p:nvSpPr>
            <p:cNvPr id="118" name="文本框 117">
              <a:extLst>
                <a:ext uri="{FF2B5EF4-FFF2-40B4-BE49-F238E27FC236}">
                  <a16:creationId xmlns:a16="http://schemas.microsoft.com/office/drawing/2014/main" id="{A7B07673-1905-4949-8FA1-C34DB44B7514}"/>
                </a:ext>
              </a:extLst>
            </p:cNvPr>
            <p:cNvSpPr txBox="1"/>
            <p:nvPr/>
          </p:nvSpPr>
          <p:spPr>
            <a:xfrm>
              <a:off x="11810" y="2990"/>
              <a:ext cx="5155" cy="398"/>
            </a:xfrm>
            <a:prstGeom prst="rect">
              <a:avLst/>
            </a:prstGeom>
            <a:noFill/>
          </p:spPr>
          <p:txBody>
            <a:bodyPr wrap="square" lIns="0" tIns="0" rIns="0" bIns="0" rtlCol="0">
              <a:spAutoFit/>
            </a:bodyPr>
            <a:lstStyle>
              <a:defPPr>
                <a:defRPr lang="zh-CN"/>
              </a:defPPr>
              <a:lvl1pPr algn="just">
                <a:lnSpc>
                  <a:spcPct val="130000"/>
                </a:lnSpc>
                <a:defRPr sz="1400" spc="300">
                  <a:solidFill>
                    <a:schemeClr val="tx1">
                      <a:lumMod val="85000"/>
                      <a:lumOff val="15000"/>
                    </a:schemeClr>
                  </a:solidFill>
                </a:defRPr>
              </a:lvl1pPr>
            </a:lstStyle>
            <a:p>
              <a:pPr algn="l" eaLnBrk="1" fontAlgn="auto" hangingPunct="1">
                <a:spcBef>
                  <a:spcPts val="0"/>
                </a:spcBef>
                <a:spcAft>
                  <a:spcPts val="0"/>
                </a:spcAft>
              </a:pPr>
              <a:r>
                <a:rPr lang="en-US" altLang="zh-CN" dirty="0">
                  <a:solidFill>
                    <a:schemeClr val="tx1"/>
                  </a:solidFill>
                  <a:latin typeface="微软雅黑" panose="020B0503020204020204" pitchFamily="34" charset="-122"/>
                  <a:ea typeface="微软雅黑" panose="020B0503020204020204" pitchFamily="34" charset="-122"/>
                </a:rPr>
                <a:t>OLED</a:t>
              </a:r>
            </a:p>
          </p:txBody>
        </p:sp>
      </p:grpSp>
      <p:sp>
        <p:nvSpPr>
          <p:cNvPr id="121" name="文本框 120">
            <a:extLst>
              <a:ext uri="{FF2B5EF4-FFF2-40B4-BE49-F238E27FC236}">
                <a16:creationId xmlns:a16="http://schemas.microsoft.com/office/drawing/2014/main" id="{804B13FB-AFAF-47A8-8314-8CC011ACBF54}"/>
              </a:ext>
            </a:extLst>
          </p:cNvPr>
          <p:cNvSpPr txBox="1"/>
          <p:nvPr/>
        </p:nvSpPr>
        <p:spPr>
          <a:xfrm>
            <a:off x="1714830" y="5193891"/>
            <a:ext cx="1695159" cy="252730"/>
          </a:xfrm>
          <a:prstGeom prst="rect">
            <a:avLst/>
          </a:prstGeom>
          <a:noFill/>
        </p:spPr>
        <p:txBody>
          <a:bodyPr wrap="square" lIns="0" tIns="0" rIns="0" bIns="0" rtlCol="0">
            <a:spAutoFit/>
          </a:bodyPr>
          <a:lstStyle>
            <a:defPPr>
              <a:defRPr lang="zh-CN"/>
            </a:defPPr>
            <a:lvl1pPr algn="just">
              <a:lnSpc>
                <a:spcPct val="130000"/>
              </a:lnSpc>
              <a:defRPr sz="1400" spc="300">
                <a:solidFill>
                  <a:schemeClr val="tx1">
                    <a:lumMod val="85000"/>
                    <a:lumOff val="15000"/>
                  </a:schemeClr>
                </a:solidFill>
              </a:defRPr>
            </a:lvl1pPr>
          </a:lstStyle>
          <a:p>
            <a:pPr algn="l" eaLnBrk="1" fontAlgn="auto" hangingPunct="1">
              <a:spcBef>
                <a:spcPts val="0"/>
              </a:spcBef>
              <a:spcAft>
                <a:spcPts val="0"/>
              </a:spcAft>
            </a:pPr>
            <a:r>
              <a:rPr lang="zh-CN" altLang="en-US" dirty="0">
                <a:solidFill>
                  <a:schemeClr val="tx1"/>
                </a:solidFill>
                <a:latin typeface="微软雅黑" panose="020B0503020204020204" pitchFamily="34" charset="-122"/>
                <a:ea typeface="微软雅黑" panose="020B0503020204020204" pitchFamily="34" charset="-122"/>
              </a:rPr>
              <a:t>TDLAS定点模块</a:t>
            </a:r>
          </a:p>
        </p:txBody>
      </p:sp>
      <p:grpSp>
        <p:nvGrpSpPr>
          <p:cNvPr id="122" name="组合 121">
            <a:extLst>
              <a:ext uri="{FF2B5EF4-FFF2-40B4-BE49-F238E27FC236}">
                <a16:creationId xmlns:a16="http://schemas.microsoft.com/office/drawing/2014/main" id="{D6CF1E99-1080-40AF-9AE8-5A915A322B98}"/>
              </a:ext>
            </a:extLst>
          </p:cNvPr>
          <p:cNvGrpSpPr/>
          <p:nvPr/>
        </p:nvGrpSpPr>
        <p:grpSpPr>
          <a:xfrm>
            <a:off x="1776410" y="4376262"/>
            <a:ext cx="3273425" cy="525145"/>
            <a:chOff x="11810" y="2603"/>
            <a:chExt cx="5155" cy="827"/>
          </a:xfrm>
        </p:grpSpPr>
        <p:sp>
          <p:nvSpPr>
            <p:cNvPr id="123" name="文本框 122">
              <a:extLst>
                <a:ext uri="{FF2B5EF4-FFF2-40B4-BE49-F238E27FC236}">
                  <a16:creationId xmlns:a16="http://schemas.microsoft.com/office/drawing/2014/main" id="{11B83833-4A9E-4B4C-BEBF-2B1CACF0C0E3}"/>
                </a:ext>
              </a:extLst>
            </p:cNvPr>
            <p:cNvSpPr txBox="1"/>
            <p:nvPr/>
          </p:nvSpPr>
          <p:spPr>
            <a:xfrm>
              <a:off x="11810" y="2603"/>
              <a:ext cx="5155" cy="387"/>
            </a:xfrm>
            <a:prstGeom prst="rect">
              <a:avLst/>
            </a:prstGeom>
            <a:noFill/>
          </p:spPr>
          <p:txBody>
            <a:bodyPr wrap="square" lIns="0" tIns="0" rIns="0" bIns="0" rtlCol="0">
              <a:spAutoFit/>
            </a:bodyPr>
            <a:lstStyle/>
            <a:p>
              <a:pPr fontAlgn="auto">
                <a:spcBef>
                  <a:spcPts val="0"/>
                </a:spcBef>
                <a:spcAft>
                  <a:spcPts val="0"/>
                </a:spcAft>
              </a:pPr>
              <a:r>
                <a:rPr lang="zh-CN" altLang="en-US" sz="1600" b="1" spc="300" dirty="0">
                  <a:solidFill>
                    <a:schemeClr val="accent4"/>
                  </a:solidFill>
                  <a:latin typeface="微软雅黑" panose="020B0503020204020204" pitchFamily="34" charset="-122"/>
                  <a:ea typeface="微软雅黑" panose="020B0503020204020204" pitchFamily="34" charset="-122"/>
                </a:rPr>
                <a:t>温湿度传感器</a:t>
              </a:r>
            </a:p>
          </p:txBody>
        </p:sp>
        <p:sp>
          <p:nvSpPr>
            <p:cNvPr id="124" name="文本框 123">
              <a:extLst>
                <a:ext uri="{FF2B5EF4-FFF2-40B4-BE49-F238E27FC236}">
                  <a16:creationId xmlns:a16="http://schemas.microsoft.com/office/drawing/2014/main" id="{46815303-1208-44A6-BE5A-C253D5762BFF}"/>
                </a:ext>
              </a:extLst>
            </p:cNvPr>
            <p:cNvSpPr txBox="1"/>
            <p:nvPr/>
          </p:nvSpPr>
          <p:spPr>
            <a:xfrm>
              <a:off x="11810" y="2990"/>
              <a:ext cx="5155" cy="440"/>
            </a:xfrm>
            <a:prstGeom prst="rect">
              <a:avLst/>
            </a:prstGeom>
            <a:noFill/>
          </p:spPr>
          <p:txBody>
            <a:bodyPr wrap="square" lIns="0" tIns="0" rIns="0" bIns="0" rtlCol="0">
              <a:spAutoFit/>
            </a:bodyPr>
            <a:lstStyle>
              <a:defPPr>
                <a:defRPr lang="zh-CN"/>
              </a:defPPr>
              <a:lvl1pPr algn="just">
                <a:lnSpc>
                  <a:spcPct val="130000"/>
                </a:lnSpc>
                <a:defRPr sz="1400" spc="300">
                  <a:solidFill>
                    <a:schemeClr val="tx1">
                      <a:lumMod val="85000"/>
                      <a:lumOff val="15000"/>
                    </a:schemeClr>
                  </a:solidFill>
                </a:defRPr>
              </a:lvl1pPr>
            </a:lstStyle>
            <a:p>
              <a:pPr algn="l" eaLnBrk="1" fontAlgn="auto" hangingPunct="1">
                <a:spcBef>
                  <a:spcPts val="0"/>
                </a:spcBef>
                <a:spcAft>
                  <a:spcPts val="0"/>
                </a:spcAft>
              </a:pPr>
              <a:r>
                <a:rPr lang="en-US" altLang="zh-CN" dirty="0">
                  <a:solidFill>
                    <a:schemeClr val="tx1"/>
                  </a:solidFill>
                  <a:latin typeface="微软雅黑" panose="020B0503020204020204" pitchFamily="34" charset="-122"/>
                  <a:ea typeface="微软雅黑" panose="020B0503020204020204" pitchFamily="34" charset="-122"/>
                </a:rPr>
                <a:t>DHT11</a:t>
              </a:r>
            </a:p>
          </p:txBody>
        </p:sp>
      </p:grpSp>
      <p:grpSp>
        <p:nvGrpSpPr>
          <p:cNvPr id="125" name="组合 124">
            <a:extLst>
              <a:ext uri="{FF2B5EF4-FFF2-40B4-BE49-F238E27FC236}">
                <a16:creationId xmlns:a16="http://schemas.microsoft.com/office/drawing/2014/main" id="{BDF48B13-DDE2-4390-923C-91CA6BDBE85F}"/>
              </a:ext>
            </a:extLst>
          </p:cNvPr>
          <p:cNvGrpSpPr/>
          <p:nvPr/>
        </p:nvGrpSpPr>
        <p:grpSpPr>
          <a:xfrm>
            <a:off x="1777045" y="5871052"/>
            <a:ext cx="3273425" cy="525145"/>
            <a:chOff x="11810" y="2603"/>
            <a:chExt cx="5155" cy="827"/>
          </a:xfrm>
        </p:grpSpPr>
        <p:sp>
          <p:nvSpPr>
            <p:cNvPr id="126" name="文本框 125">
              <a:extLst>
                <a:ext uri="{FF2B5EF4-FFF2-40B4-BE49-F238E27FC236}">
                  <a16:creationId xmlns:a16="http://schemas.microsoft.com/office/drawing/2014/main" id="{916049FF-FA29-4F6A-945D-3DE3D011789F}"/>
                </a:ext>
              </a:extLst>
            </p:cNvPr>
            <p:cNvSpPr txBox="1"/>
            <p:nvPr/>
          </p:nvSpPr>
          <p:spPr>
            <a:xfrm>
              <a:off x="11810" y="2603"/>
              <a:ext cx="5155" cy="387"/>
            </a:xfrm>
            <a:prstGeom prst="rect">
              <a:avLst/>
            </a:prstGeom>
            <a:noFill/>
          </p:spPr>
          <p:txBody>
            <a:bodyPr wrap="square" lIns="0" tIns="0" rIns="0" bIns="0" rtlCol="0">
              <a:spAutoFit/>
            </a:bodyPr>
            <a:lstStyle/>
            <a:p>
              <a:pPr fontAlgn="auto">
                <a:spcBef>
                  <a:spcPts val="0"/>
                </a:spcBef>
                <a:spcAft>
                  <a:spcPts val="0"/>
                </a:spcAft>
              </a:pPr>
              <a:r>
                <a:rPr lang="zh-CN" altLang="en-US" sz="1600" b="1" spc="300" dirty="0">
                  <a:solidFill>
                    <a:schemeClr val="accent4"/>
                  </a:solidFill>
                  <a:latin typeface="微软雅黑" panose="020B0503020204020204" pitchFamily="34" charset="-122"/>
                  <a:ea typeface="微软雅黑" panose="020B0503020204020204" pitchFamily="34" charset="-122"/>
                </a:rPr>
                <a:t>数据存储</a:t>
              </a:r>
            </a:p>
          </p:txBody>
        </p:sp>
        <p:sp>
          <p:nvSpPr>
            <p:cNvPr id="127" name="文本框 126">
              <a:extLst>
                <a:ext uri="{FF2B5EF4-FFF2-40B4-BE49-F238E27FC236}">
                  <a16:creationId xmlns:a16="http://schemas.microsoft.com/office/drawing/2014/main" id="{529D154E-E83C-43AB-A15D-6A9E6949A27F}"/>
                </a:ext>
              </a:extLst>
            </p:cNvPr>
            <p:cNvSpPr txBox="1"/>
            <p:nvPr/>
          </p:nvSpPr>
          <p:spPr>
            <a:xfrm>
              <a:off x="11810" y="2990"/>
              <a:ext cx="5155" cy="440"/>
            </a:xfrm>
            <a:prstGeom prst="rect">
              <a:avLst/>
            </a:prstGeom>
            <a:noFill/>
          </p:spPr>
          <p:txBody>
            <a:bodyPr wrap="square" lIns="0" tIns="0" rIns="0" bIns="0" rtlCol="0">
              <a:spAutoFit/>
            </a:bodyPr>
            <a:lstStyle>
              <a:defPPr>
                <a:defRPr lang="zh-CN"/>
              </a:defPPr>
              <a:lvl1pPr algn="just">
                <a:lnSpc>
                  <a:spcPct val="130000"/>
                </a:lnSpc>
                <a:defRPr sz="1400" spc="300">
                  <a:solidFill>
                    <a:schemeClr val="tx1">
                      <a:lumMod val="85000"/>
                      <a:lumOff val="15000"/>
                    </a:schemeClr>
                  </a:solidFill>
                </a:defRPr>
              </a:lvl1pPr>
            </a:lstStyle>
            <a:p>
              <a:pPr algn="l" eaLnBrk="1" fontAlgn="auto" hangingPunct="1">
                <a:spcBef>
                  <a:spcPts val="0"/>
                </a:spcBef>
                <a:spcAft>
                  <a:spcPts val="0"/>
                </a:spcAft>
              </a:pPr>
              <a:r>
                <a:rPr lang="zh-CN" altLang="en-US" dirty="0">
                  <a:solidFill>
                    <a:schemeClr val="tx1"/>
                  </a:solidFill>
                  <a:latin typeface="微软雅黑" panose="020B0503020204020204" pitchFamily="34" charset="-122"/>
                  <a:ea typeface="微软雅黑" panose="020B0503020204020204" pitchFamily="34" charset="-122"/>
                </a:rPr>
                <a:t>SD卡</a:t>
              </a:r>
            </a:p>
          </p:txBody>
        </p:sp>
      </p:grpSp>
      <p:pic>
        <p:nvPicPr>
          <p:cNvPr id="128" name="图片 127" descr="SD卡">
            <a:extLst>
              <a:ext uri="{FF2B5EF4-FFF2-40B4-BE49-F238E27FC236}">
                <a16:creationId xmlns:a16="http://schemas.microsoft.com/office/drawing/2014/main" id="{DBB88D1E-7BE0-42D5-9C8F-9C0E5AE74084}"/>
              </a:ext>
            </a:extLst>
          </p:cNvPr>
          <p:cNvPicPr>
            <a:picLocks noChangeAspect="1"/>
          </p:cNvPicPr>
          <p:nvPr/>
        </p:nvPicPr>
        <p:blipFill>
          <a:blip r:embed="rId4"/>
          <a:stretch>
            <a:fillRect/>
          </a:stretch>
        </p:blipFill>
        <p:spPr>
          <a:xfrm>
            <a:off x="3310582" y="5739105"/>
            <a:ext cx="826770" cy="826770"/>
          </a:xfrm>
          <a:prstGeom prst="rect">
            <a:avLst/>
          </a:prstGeom>
        </p:spPr>
      </p:pic>
      <p:pic>
        <p:nvPicPr>
          <p:cNvPr id="129" name="图片 128" descr="DHT11">
            <a:extLst>
              <a:ext uri="{FF2B5EF4-FFF2-40B4-BE49-F238E27FC236}">
                <a16:creationId xmlns:a16="http://schemas.microsoft.com/office/drawing/2014/main" id="{872B42BE-5CE9-4C7E-9929-557CDD8C2C5A}"/>
              </a:ext>
            </a:extLst>
          </p:cNvPr>
          <p:cNvPicPr>
            <a:picLocks noChangeAspect="1"/>
          </p:cNvPicPr>
          <p:nvPr/>
        </p:nvPicPr>
        <p:blipFill>
          <a:blip r:embed="rId5"/>
          <a:stretch>
            <a:fillRect/>
          </a:stretch>
        </p:blipFill>
        <p:spPr>
          <a:xfrm>
            <a:off x="3329632" y="4210778"/>
            <a:ext cx="807720" cy="807720"/>
          </a:xfrm>
          <a:prstGeom prst="rect">
            <a:avLst/>
          </a:prstGeom>
        </p:spPr>
      </p:pic>
      <p:pic>
        <p:nvPicPr>
          <p:cNvPr id="130" name="图片 129">
            <a:extLst>
              <a:ext uri="{FF2B5EF4-FFF2-40B4-BE49-F238E27FC236}">
                <a16:creationId xmlns:a16="http://schemas.microsoft.com/office/drawing/2014/main" id="{B16DA499-BC3E-4CA1-AF8A-3053BC826EC6}"/>
              </a:ext>
            </a:extLst>
          </p:cNvPr>
          <p:cNvPicPr>
            <a:picLocks noRot="1" noChangeAspect="1"/>
          </p:cNvPicPr>
          <p:nvPr/>
        </p:nvPicPr>
        <p:blipFill>
          <a:blip r:embed="rId6"/>
          <a:stretch>
            <a:fillRect/>
          </a:stretch>
        </p:blipFill>
        <p:spPr>
          <a:xfrm>
            <a:off x="3352797" y="2881711"/>
            <a:ext cx="1003935" cy="435610"/>
          </a:xfrm>
          <a:prstGeom prst="rect">
            <a:avLst/>
          </a:prstGeom>
          <a:noFill/>
          <a:ln w="9525">
            <a:noFill/>
          </a:ln>
        </p:spPr>
      </p:pic>
      <p:pic>
        <p:nvPicPr>
          <p:cNvPr id="131" name="图片 130" descr="OLED">
            <a:extLst>
              <a:ext uri="{FF2B5EF4-FFF2-40B4-BE49-F238E27FC236}">
                <a16:creationId xmlns:a16="http://schemas.microsoft.com/office/drawing/2014/main" id="{AC8ADDF4-A704-4124-8A30-BAFBA4C79415}"/>
              </a:ext>
            </a:extLst>
          </p:cNvPr>
          <p:cNvPicPr>
            <a:picLocks noChangeAspect="1"/>
          </p:cNvPicPr>
          <p:nvPr/>
        </p:nvPicPr>
        <p:blipFill>
          <a:blip r:embed="rId7"/>
          <a:stretch>
            <a:fillRect/>
          </a:stretch>
        </p:blipFill>
        <p:spPr>
          <a:xfrm rot="10800000" flipV="1">
            <a:off x="3156120" y="3599102"/>
            <a:ext cx="1022350" cy="717550"/>
          </a:xfrm>
          <a:prstGeom prst="rect">
            <a:avLst/>
          </a:prstGeom>
        </p:spPr>
      </p:pic>
      <p:pic>
        <p:nvPicPr>
          <p:cNvPr id="132" name="图片 131">
            <a:extLst>
              <a:ext uri="{FF2B5EF4-FFF2-40B4-BE49-F238E27FC236}">
                <a16:creationId xmlns:a16="http://schemas.microsoft.com/office/drawing/2014/main" id="{553BD87C-7F4A-4A28-A0DF-487FFA143E2A}"/>
              </a:ext>
            </a:extLst>
          </p:cNvPr>
          <p:cNvPicPr>
            <a:picLocks noRot="1" noChangeAspect="1"/>
          </p:cNvPicPr>
          <p:nvPr/>
        </p:nvPicPr>
        <p:blipFill>
          <a:blip r:embed="rId8"/>
          <a:stretch>
            <a:fillRect/>
          </a:stretch>
        </p:blipFill>
        <p:spPr>
          <a:xfrm>
            <a:off x="7592474" y="4067527"/>
            <a:ext cx="1491615" cy="803910"/>
          </a:xfrm>
          <a:prstGeom prst="rect">
            <a:avLst/>
          </a:prstGeom>
          <a:noFill/>
          <a:ln w="9525">
            <a:noFill/>
          </a:ln>
        </p:spPr>
      </p:pic>
      <p:pic>
        <p:nvPicPr>
          <p:cNvPr id="133" name="图片 132">
            <a:extLst>
              <a:ext uri="{FF2B5EF4-FFF2-40B4-BE49-F238E27FC236}">
                <a16:creationId xmlns:a16="http://schemas.microsoft.com/office/drawing/2014/main" id="{FB441CB5-B999-4346-B328-AEB9CC57AAE4}"/>
              </a:ext>
            </a:extLst>
          </p:cNvPr>
          <p:cNvPicPr>
            <a:picLocks noRot="1" noChangeAspect="1"/>
          </p:cNvPicPr>
          <p:nvPr/>
        </p:nvPicPr>
        <p:blipFill>
          <a:blip r:embed="rId9"/>
          <a:stretch>
            <a:fillRect/>
          </a:stretch>
        </p:blipFill>
        <p:spPr>
          <a:xfrm flipH="1">
            <a:off x="3416936" y="4867117"/>
            <a:ext cx="907415" cy="806450"/>
          </a:xfrm>
          <a:prstGeom prst="rect">
            <a:avLst/>
          </a:prstGeom>
          <a:noFill/>
          <a:ln w="9525">
            <a:noFill/>
          </a:ln>
        </p:spPr>
      </p:pic>
      <p:grpSp>
        <p:nvGrpSpPr>
          <p:cNvPr id="134" name="组合 133">
            <a:extLst>
              <a:ext uri="{FF2B5EF4-FFF2-40B4-BE49-F238E27FC236}">
                <a16:creationId xmlns:a16="http://schemas.microsoft.com/office/drawing/2014/main" id="{9CE670D7-D8F1-4A71-B07F-431334B1A5EC}"/>
              </a:ext>
            </a:extLst>
          </p:cNvPr>
          <p:cNvGrpSpPr/>
          <p:nvPr/>
        </p:nvGrpSpPr>
        <p:grpSpPr>
          <a:xfrm>
            <a:off x="4681498" y="5229318"/>
            <a:ext cx="1179830" cy="215900"/>
            <a:chOff x="9442" y="2848"/>
            <a:chExt cx="1858" cy="340"/>
          </a:xfrm>
        </p:grpSpPr>
        <p:cxnSp>
          <p:nvCxnSpPr>
            <p:cNvPr id="135" name="直接连接符 134">
              <a:extLst>
                <a:ext uri="{FF2B5EF4-FFF2-40B4-BE49-F238E27FC236}">
                  <a16:creationId xmlns:a16="http://schemas.microsoft.com/office/drawing/2014/main" id="{B7AEB61C-3BD2-4538-AA41-1223AC08175C}"/>
                </a:ext>
              </a:extLst>
            </p:cNvPr>
            <p:cNvCxnSpPr/>
            <p:nvPr/>
          </p:nvCxnSpPr>
          <p:spPr>
            <a:xfrm>
              <a:off x="9676" y="2990"/>
              <a:ext cx="1624" cy="0"/>
            </a:xfrm>
            <a:prstGeom prst="line">
              <a:avLst/>
            </a:prstGeom>
            <a:noFill/>
            <a:ln w="6350" cap="flat" cmpd="sng" algn="ctr">
              <a:solidFill>
                <a:schemeClr val="accent1"/>
              </a:solidFill>
              <a:prstDash val="solid"/>
              <a:miter lim="800000"/>
            </a:ln>
            <a:effectLst/>
          </p:spPr>
        </p:cxnSp>
        <p:sp>
          <p:nvSpPr>
            <p:cNvPr id="136" name="椭圆 135">
              <a:extLst>
                <a:ext uri="{FF2B5EF4-FFF2-40B4-BE49-F238E27FC236}">
                  <a16:creationId xmlns:a16="http://schemas.microsoft.com/office/drawing/2014/main" id="{D1E7A6C4-79E0-4147-B7BF-6497F7C66105}"/>
                </a:ext>
              </a:extLst>
            </p:cNvPr>
            <p:cNvSpPr/>
            <p:nvPr/>
          </p:nvSpPr>
          <p:spPr>
            <a:xfrm>
              <a:off x="9442" y="2848"/>
              <a:ext cx="340" cy="340"/>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cxnSp>
        <p:nvCxnSpPr>
          <p:cNvPr id="137" name="直接连接符 136">
            <a:extLst>
              <a:ext uri="{FF2B5EF4-FFF2-40B4-BE49-F238E27FC236}">
                <a16:creationId xmlns:a16="http://schemas.microsoft.com/office/drawing/2014/main" id="{0870717E-74A8-4AC5-B1B2-B921AEB2899A}"/>
              </a:ext>
            </a:extLst>
          </p:cNvPr>
          <p:cNvCxnSpPr/>
          <p:nvPr/>
        </p:nvCxnSpPr>
        <p:spPr>
          <a:xfrm>
            <a:off x="4780015" y="4391289"/>
            <a:ext cx="1021080" cy="0"/>
          </a:xfrm>
          <a:prstGeom prst="line">
            <a:avLst/>
          </a:prstGeom>
          <a:noFill/>
          <a:ln w="6350" cap="flat" cmpd="sng" algn="ctr">
            <a:solidFill>
              <a:schemeClr val="accent1"/>
            </a:solidFill>
            <a:prstDash val="solid"/>
            <a:miter lim="800000"/>
          </a:ln>
          <a:effectLst/>
        </p:spPr>
      </p:cxnSp>
      <p:grpSp>
        <p:nvGrpSpPr>
          <p:cNvPr id="138" name="组合 137">
            <a:extLst>
              <a:ext uri="{FF2B5EF4-FFF2-40B4-BE49-F238E27FC236}">
                <a16:creationId xmlns:a16="http://schemas.microsoft.com/office/drawing/2014/main" id="{CD18EEA8-C471-458D-B71A-A786817BFF13}"/>
              </a:ext>
            </a:extLst>
          </p:cNvPr>
          <p:cNvGrpSpPr/>
          <p:nvPr/>
        </p:nvGrpSpPr>
        <p:grpSpPr>
          <a:xfrm>
            <a:off x="4667978" y="3202048"/>
            <a:ext cx="1179830" cy="215900"/>
            <a:chOff x="9442" y="2848"/>
            <a:chExt cx="1858" cy="340"/>
          </a:xfrm>
        </p:grpSpPr>
        <p:cxnSp>
          <p:nvCxnSpPr>
            <p:cNvPr id="139" name="直接连接符 138">
              <a:extLst>
                <a:ext uri="{FF2B5EF4-FFF2-40B4-BE49-F238E27FC236}">
                  <a16:creationId xmlns:a16="http://schemas.microsoft.com/office/drawing/2014/main" id="{15567BDE-EFD8-4DC7-8738-648B019B562A}"/>
                </a:ext>
              </a:extLst>
            </p:cNvPr>
            <p:cNvCxnSpPr/>
            <p:nvPr/>
          </p:nvCxnSpPr>
          <p:spPr>
            <a:xfrm>
              <a:off x="9676" y="2990"/>
              <a:ext cx="1624" cy="0"/>
            </a:xfrm>
            <a:prstGeom prst="line">
              <a:avLst/>
            </a:prstGeom>
            <a:noFill/>
            <a:ln w="6350" cap="flat" cmpd="sng" algn="ctr">
              <a:solidFill>
                <a:schemeClr val="accent1"/>
              </a:solidFill>
              <a:prstDash val="solid"/>
              <a:miter lim="800000"/>
            </a:ln>
            <a:effectLst/>
          </p:spPr>
        </p:cxnSp>
        <p:sp>
          <p:nvSpPr>
            <p:cNvPr id="140" name="椭圆 139">
              <a:extLst>
                <a:ext uri="{FF2B5EF4-FFF2-40B4-BE49-F238E27FC236}">
                  <a16:creationId xmlns:a16="http://schemas.microsoft.com/office/drawing/2014/main" id="{3DFD643F-DA59-4345-A119-F0C6C94509B6}"/>
                </a:ext>
              </a:extLst>
            </p:cNvPr>
            <p:cNvSpPr/>
            <p:nvPr/>
          </p:nvSpPr>
          <p:spPr>
            <a:xfrm>
              <a:off x="9442" y="2848"/>
              <a:ext cx="340" cy="340"/>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cxnSp>
        <p:nvCxnSpPr>
          <p:cNvPr id="141" name="直接连接符 140">
            <a:extLst>
              <a:ext uri="{FF2B5EF4-FFF2-40B4-BE49-F238E27FC236}">
                <a16:creationId xmlns:a16="http://schemas.microsoft.com/office/drawing/2014/main" id="{79FA611A-8452-4509-B97D-A07114D20E3C}"/>
              </a:ext>
            </a:extLst>
          </p:cNvPr>
          <p:cNvCxnSpPr/>
          <p:nvPr/>
        </p:nvCxnSpPr>
        <p:spPr>
          <a:xfrm flipV="1">
            <a:off x="4756514" y="2357512"/>
            <a:ext cx="1031240" cy="3175"/>
          </a:xfrm>
          <a:prstGeom prst="line">
            <a:avLst/>
          </a:prstGeom>
          <a:noFill/>
          <a:ln w="6350" cap="flat" cmpd="sng" algn="ctr">
            <a:solidFill>
              <a:schemeClr val="accent1"/>
            </a:solidFill>
            <a:prstDash val="solid"/>
            <a:miter lim="800000"/>
          </a:ln>
          <a:effectLst/>
        </p:spPr>
      </p:cxnSp>
      <p:cxnSp>
        <p:nvCxnSpPr>
          <p:cNvPr id="142" name="直接连接符 141">
            <a:extLst>
              <a:ext uri="{FF2B5EF4-FFF2-40B4-BE49-F238E27FC236}">
                <a16:creationId xmlns:a16="http://schemas.microsoft.com/office/drawing/2014/main" id="{A00EAAB0-F97D-43FD-8910-162644E69908}"/>
              </a:ext>
            </a:extLst>
          </p:cNvPr>
          <p:cNvCxnSpPr/>
          <p:nvPr/>
        </p:nvCxnSpPr>
        <p:spPr>
          <a:xfrm>
            <a:off x="4759349" y="1532847"/>
            <a:ext cx="0" cy="5003800"/>
          </a:xfrm>
          <a:prstGeom prst="line">
            <a:avLst/>
          </a:prstGeom>
          <a:noFill/>
          <a:ln w="28575" cap="flat" cmpd="sng" algn="ctr">
            <a:solidFill>
              <a:schemeClr val="accent1"/>
            </a:solidFill>
            <a:prstDash val="solid"/>
            <a:miter lim="800000"/>
          </a:ln>
          <a:effectLst/>
        </p:spPr>
      </p:cxnSp>
      <p:sp>
        <p:nvSpPr>
          <p:cNvPr id="143" name="椭圆 142">
            <a:extLst>
              <a:ext uri="{FF2B5EF4-FFF2-40B4-BE49-F238E27FC236}">
                <a16:creationId xmlns:a16="http://schemas.microsoft.com/office/drawing/2014/main" id="{6DEE0603-6DCA-4A65-83E2-D2C00136B64A}"/>
              </a:ext>
            </a:extLst>
          </p:cNvPr>
          <p:cNvSpPr/>
          <p:nvPr/>
        </p:nvSpPr>
        <p:spPr>
          <a:xfrm>
            <a:off x="4663804" y="2250832"/>
            <a:ext cx="215900" cy="215900"/>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44" name="椭圆 143">
            <a:extLst>
              <a:ext uri="{FF2B5EF4-FFF2-40B4-BE49-F238E27FC236}">
                <a16:creationId xmlns:a16="http://schemas.microsoft.com/office/drawing/2014/main" id="{D4816083-187B-4616-9634-8C0E89C1E42A}"/>
              </a:ext>
            </a:extLst>
          </p:cNvPr>
          <p:cNvSpPr/>
          <p:nvPr/>
        </p:nvSpPr>
        <p:spPr>
          <a:xfrm>
            <a:off x="4680955" y="4283339"/>
            <a:ext cx="215900" cy="215900"/>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nvGrpSpPr>
          <p:cNvPr id="148" name="组合 147">
            <a:extLst>
              <a:ext uri="{FF2B5EF4-FFF2-40B4-BE49-F238E27FC236}">
                <a16:creationId xmlns:a16="http://schemas.microsoft.com/office/drawing/2014/main" id="{6B5E3C35-5D66-4BB5-A5A8-9D19BC46EFE9}"/>
              </a:ext>
            </a:extLst>
          </p:cNvPr>
          <p:cNvGrpSpPr/>
          <p:nvPr/>
        </p:nvGrpSpPr>
        <p:grpSpPr>
          <a:xfrm>
            <a:off x="5506940" y="3056373"/>
            <a:ext cx="504000" cy="504000"/>
            <a:chOff x="7982080" y="4240456"/>
            <a:chExt cx="504000" cy="504000"/>
          </a:xfrm>
        </p:grpSpPr>
        <p:sp>
          <p:nvSpPr>
            <p:cNvPr id="149" name="椭圆 148">
              <a:extLst>
                <a:ext uri="{FF2B5EF4-FFF2-40B4-BE49-F238E27FC236}">
                  <a16:creationId xmlns:a16="http://schemas.microsoft.com/office/drawing/2014/main" id="{CF7340D5-0252-49B4-AB91-321C236BDB09}"/>
                </a:ext>
              </a:extLst>
            </p:cNvPr>
            <p:cNvSpPr/>
            <p:nvPr/>
          </p:nvSpPr>
          <p:spPr>
            <a:xfrm>
              <a:off x="7982080" y="4240456"/>
              <a:ext cx="504000" cy="504000"/>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50" name="Freeform 108">
              <a:extLst>
                <a:ext uri="{FF2B5EF4-FFF2-40B4-BE49-F238E27FC236}">
                  <a16:creationId xmlns:a16="http://schemas.microsoft.com/office/drawing/2014/main" id="{B749AD1F-3C7F-4CCD-A95C-0458FFA8B1D1}"/>
                </a:ext>
              </a:extLst>
            </p:cNvPr>
            <p:cNvSpPr>
              <a:spLocks noChangeAspect="1" noEditPoints="1"/>
            </p:cNvSpPr>
            <p:nvPr/>
          </p:nvSpPr>
          <p:spPr bwMode="auto">
            <a:xfrm>
              <a:off x="8054080" y="4382788"/>
              <a:ext cx="360000" cy="219337"/>
            </a:xfrm>
            <a:custGeom>
              <a:avLst/>
              <a:gdLst>
                <a:gd name="T0" fmla="*/ 126 w 128"/>
                <a:gd name="T1" fmla="*/ 74 h 78"/>
                <a:gd name="T2" fmla="*/ 114 w 128"/>
                <a:gd name="T3" fmla="*/ 74 h 78"/>
                <a:gd name="T4" fmla="*/ 114 w 128"/>
                <a:gd name="T5" fmla="*/ 50 h 78"/>
                <a:gd name="T6" fmla="*/ 108 w 128"/>
                <a:gd name="T7" fmla="*/ 44 h 78"/>
                <a:gd name="T8" fmla="*/ 94 w 128"/>
                <a:gd name="T9" fmla="*/ 44 h 78"/>
                <a:gd name="T10" fmla="*/ 88 w 128"/>
                <a:gd name="T11" fmla="*/ 50 h 78"/>
                <a:gd name="T12" fmla="*/ 88 w 128"/>
                <a:gd name="T13" fmla="*/ 74 h 78"/>
                <a:gd name="T14" fmla="*/ 77 w 128"/>
                <a:gd name="T15" fmla="*/ 74 h 78"/>
                <a:gd name="T16" fmla="*/ 77 w 128"/>
                <a:gd name="T17" fmla="*/ 6 h 78"/>
                <a:gd name="T18" fmla="*/ 71 w 128"/>
                <a:gd name="T19" fmla="*/ 0 h 78"/>
                <a:gd name="T20" fmla="*/ 57 w 128"/>
                <a:gd name="T21" fmla="*/ 0 h 78"/>
                <a:gd name="T22" fmla="*/ 51 w 128"/>
                <a:gd name="T23" fmla="*/ 6 h 78"/>
                <a:gd name="T24" fmla="*/ 51 w 128"/>
                <a:gd name="T25" fmla="*/ 74 h 78"/>
                <a:gd name="T26" fmla="*/ 40 w 128"/>
                <a:gd name="T27" fmla="*/ 74 h 78"/>
                <a:gd name="T28" fmla="*/ 40 w 128"/>
                <a:gd name="T29" fmla="*/ 35 h 78"/>
                <a:gd name="T30" fmla="*/ 34 w 128"/>
                <a:gd name="T31" fmla="*/ 29 h 78"/>
                <a:gd name="T32" fmla="*/ 20 w 128"/>
                <a:gd name="T33" fmla="*/ 29 h 78"/>
                <a:gd name="T34" fmla="*/ 14 w 128"/>
                <a:gd name="T35" fmla="*/ 35 h 78"/>
                <a:gd name="T36" fmla="*/ 14 w 128"/>
                <a:gd name="T37" fmla="*/ 74 h 78"/>
                <a:gd name="T38" fmla="*/ 2 w 128"/>
                <a:gd name="T39" fmla="*/ 74 h 78"/>
                <a:gd name="T40" fmla="*/ 0 w 128"/>
                <a:gd name="T41" fmla="*/ 76 h 78"/>
                <a:gd name="T42" fmla="*/ 2 w 128"/>
                <a:gd name="T43" fmla="*/ 78 h 78"/>
                <a:gd name="T44" fmla="*/ 126 w 128"/>
                <a:gd name="T45" fmla="*/ 78 h 78"/>
                <a:gd name="T46" fmla="*/ 128 w 128"/>
                <a:gd name="T47" fmla="*/ 76 h 78"/>
                <a:gd name="T48" fmla="*/ 126 w 128"/>
                <a:gd name="T49" fmla="*/ 74 h 78"/>
                <a:gd name="T50" fmla="*/ 36 w 128"/>
                <a:gd name="T51" fmla="*/ 74 h 78"/>
                <a:gd name="T52" fmla="*/ 18 w 128"/>
                <a:gd name="T53" fmla="*/ 74 h 78"/>
                <a:gd name="T54" fmla="*/ 18 w 128"/>
                <a:gd name="T55" fmla="*/ 34 h 78"/>
                <a:gd name="T56" fmla="*/ 36 w 128"/>
                <a:gd name="T57" fmla="*/ 34 h 78"/>
                <a:gd name="T58" fmla="*/ 36 w 128"/>
                <a:gd name="T59" fmla="*/ 74 h 78"/>
                <a:gd name="T60" fmla="*/ 73 w 128"/>
                <a:gd name="T61" fmla="*/ 74 h 78"/>
                <a:gd name="T62" fmla="*/ 55 w 128"/>
                <a:gd name="T63" fmla="*/ 74 h 78"/>
                <a:gd name="T64" fmla="*/ 55 w 128"/>
                <a:gd name="T65" fmla="*/ 4 h 78"/>
                <a:gd name="T66" fmla="*/ 73 w 128"/>
                <a:gd name="T67" fmla="*/ 4 h 78"/>
                <a:gd name="T68" fmla="*/ 73 w 128"/>
                <a:gd name="T69" fmla="*/ 74 h 78"/>
                <a:gd name="T70" fmla="*/ 110 w 128"/>
                <a:gd name="T71" fmla="*/ 74 h 78"/>
                <a:gd name="T72" fmla="*/ 92 w 128"/>
                <a:gd name="T73" fmla="*/ 74 h 78"/>
                <a:gd name="T74" fmla="*/ 92 w 128"/>
                <a:gd name="T75" fmla="*/ 49 h 78"/>
                <a:gd name="T76" fmla="*/ 110 w 128"/>
                <a:gd name="T77" fmla="*/ 49 h 78"/>
                <a:gd name="T78" fmla="*/ 110 w 128"/>
                <a:gd name="T79" fmla="*/ 74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28" h="78">
                  <a:moveTo>
                    <a:pt x="126" y="74"/>
                  </a:moveTo>
                  <a:cubicBezTo>
                    <a:pt x="114" y="74"/>
                    <a:pt x="114" y="74"/>
                    <a:pt x="114" y="74"/>
                  </a:cubicBezTo>
                  <a:cubicBezTo>
                    <a:pt x="114" y="50"/>
                    <a:pt x="114" y="50"/>
                    <a:pt x="114" y="50"/>
                  </a:cubicBezTo>
                  <a:cubicBezTo>
                    <a:pt x="114" y="47"/>
                    <a:pt x="112" y="44"/>
                    <a:pt x="108" y="44"/>
                  </a:cubicBezTo>
                  <a:cubicBezTo>
                    <a:pt x="94" y="44"/>
                    <a:pt x="94" y="44"/>
                    <a:pt x="94" y="44"/>
                  </a:cubicBezTo>
                  <a:cubicBezTo>
                    <a:pt x="90" y="44"/>
                    <a:pt x="88" y="47"/>
                    <a:pt x="88" y="50"/>
                  </a:cubicBezTo>
                  <a:cubicBezTo>
                    <a:pt x="88" y="74"/>
                    <a:pt x="88" y="74"/>
                    <a:pt x="88" y="74"/>
                  </a:cubicBezTo>
                  <a:cubicBezTo>
                    <a:pt x="77" y="74"/>
                    <a:pt x="77" y="74"/>
                    <a:pt x="77" y="74"/>
                  </a:cubicBezTo>
                  <a:cubicBezTo>
                    <a:pt x="77" y="6"/>
                    <a:pt x="77" y="6"/>
                    <a:pt x="77" y="6"/>
                  </a:cubicBezTo>
                  <a:cubicBezTo>
                    <a:pt x="77" y="2"/>
                    <a:pt x="75" y="0"/>
                    <a:pt x="71" y="0"/>
                  </a:cubicBezTo>
                  <a:cubicBezTo>
                    <a:pt x="57" y="0"/>
                    <a:pt x="57" y="0"/>
                    <a:pt x="57" y="0"/>
                  </a:cubicBezTo>
                  <a:cubicBezTo>
                    <a:pt x="53" y="0"/>
                    <a:pt x="51" y="2"/>
                    <a:pt x="51" y="6"/>
                  </a:cubicBezTo>
                  <a:cubicBezTo>
                    <a:pt x="51" y="74"/>
                    <a:pt x="51" y="74"/>
                    <a:pt x="51" y="74"/>
                  </a:cubicBezTo>
                  <a:cubicBezTo>
                    <a:pt x="40" y="74"/>
                    <a:pt x="40" y="74"/>
                    <a:pt x="40" y="74"/>
                  </a:cubicBezTo>
                  <a:cubicBezTo>
                    <a:pt x="40" y="35"/>
                    <a:pt x="40" y="35"/>
                    <a:pt x="40" y="35"/>
                  </a:cubicBezTo>
                  <a:cubicBezTo>
                    <a:pt x="40" y="32"/>
                    <a:pt x="38" y="29"/>
                    <a:pt x="34" y="29"/>
                  </a:cubicBezTo>
                  <a:cubicBezTo>
                    <a:pt x="20" y="29"/>
                    <a:pt x="20" y="29"/>
                    <a:pt x="20" y="29"/>
                  </a:cubicBezTo>
                  <a:cubicBezTo>
                    <a:pt x="16" y="29"/>
                    <a:pt x="14" y="32"/>
                    <a:pt x="14" y="35"/>
                  </a:cubicBezTo>
                  <a:cubicBezTo>
                    <a:pt x="14" y="74"/>
                    <a:pt x="14" y="74"/>
                    <a:pt x="14" y="74"/>
                  </a:cubicBezTo>
                  <a:cubicBezTo>
                    <a:pt x="2" y="74"/>
                    <a:pt x="2" y="74"/>
                    <a:pt x="2" y="74"/>
                  </a:cubicBezTo>
                  <a:cubicBezTo>
                    <a:pt x="1" y="74"/>
                    <a:pt x="0" y="75"/>
                    <a:pt x="0" y="76"/>
                  </a:cubicBezTo>
                  <a:cubicBezTo>
                    <a:pt x="0" y="77"/>
                    <a:pt x="1" y="78"/>
                    <a:pt x="2" y="78"/>
                  </a:cubicBezTo>
                  <a:cubicBezTo>
                    <a:pt x="126" y="78"/>
                    <a:pt x="126" y="78"/>
                    <a:pt x="126" y="78"/>
                  </a:cubicBezTo>
                  <a:cubicBezTo>
                    <a:pt x="127" y="78"/>
                    <a:pt x="128" y="77"/>
                    <a:pt x="128" y="76"/>
                  </a:cubicBezTo>
                  <a:cubicBezTo>
                    <a:pt x="128" y="75"/>
                    <a:pt x="127" y="74"/>
                    <a:pt x="126" y="74"/>
                  </a:cubicBezTo>
                  <a:close/>
                  <a:moveTo>
                    <a:pt x="36" y="74"/>
                  </a:moveTo>
                  <a:cubicBezTo>
                    <a:pt x="18" y="74"/>
                    <a:pt x="18" y="74"/>
                    <a:pt x="18" y="74"/>
                  </a:cubicBezTo>
                  <a:cubicBezTo>
                    <a:pt x="18" y="34"/>
                    <a:pt x="18" y="34"/>
                    <a:pt x="18" y="34"/>
                  </a:cubicBezTo>
                  <a:cubicBezTo>
                    <a:pt x="36" y="34"/>
                    <a:pt x="36" y="34"/>
                    <a:pt x="36" y="34"/>
                  </a:cubicBezTo>
                  <a:lnTo>
                    <a:pt x="36" y="74"/>
                  </a:lnTo>
                  <a:close/>
                  <a:moveTo>
                    <a:pt x="73" y="74"/>
                  </a:moveTo>
                  <a:cubicBezTo>
                    <a:pt x="55" y="74"/>
                    <a:pt x="55" y="74"/>
                    <a:pt x="55" y="74"/>
                  </a:cubicBezTo>
                  <a:cubicBezTo>
                    <a:pt x="55" y="4"/>
                    <a:pt x="55" y="4"/>
                    <a:pt x="55" y="4"/>
                  </a:cubicBezTo>
                  <a:cubicBezTo>
                    <a:pt x="73" y="4"/>
                    <a:pt x="73" y="4"/>
                    <a:pt x="73" y="4"/>
                  </a:cubicBezTo>
                  <a:lnTo>
                    <a:pt x="73" y="74"/>
                  </a:lnTo>
                  <a:close/>
                  <a:moveTo>
                    <a:pt x="110" y="74"/>
                  </a:moveTo>
                  <a:cubicBezTo>
                    <a:pt x="92" y="74"/>
                    <a:pt x="92" y="74"/>
                    <a:pt x="92" y="74"/>
                  </a:cubicBezTo>
                  <a:cubicBezTo>
                    <a:pt x="92" y="49"/>
                    <a:pt x="92" y="49"/>
                    <a:pt x="92" y="49"/>
                  </a:cubicBezTo>
                  <a:cubicBezTo>
                    <a:pt x="110" y="49"/>
                    <a:pt x="110" y="49"/>
                    <a:pt x="110" y="49"/>
                  </a:cubicBezTo>
                  <a:lnTo>
                    <a:pt x="110" y="74"/>
                  </a:lnTo>
                  <a:close/>
                </a:path>
              </a:pathLst>
            </a:custGeom>
            <a:solidFill>
              <a:srgbClr val="FFFFFF"/>
            </a:solid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grpSp>
        <p:nvGrpSpPr>
          <p:cNvPr id="151" name="组合 150">
            <a:extLst>
              <a:ext uri="{FF2B5EF4-FFF2-40B4-BE49-F238E27FC236}">
                <a16:creationId xmlns:a16="http://schemas.microsoft.com/office/drawing/2014/main" id="{8140AEFE-8EAC-4348-A221-5102B18E154E}"/>
              </a:ext>
            </a:extLst>
          </p:cNvPr>
          <p:cNvGrpSpPr/>
          <p:nvPr/>
        </p:nvGrpSpPr>
        <p:grpSpPr>
          <a:xfrm>
            <a:off x="5521095" y="5085341"/>
            <a:ext cx="504000" cy="504000"/>
            <a:chOff x="7982080" y="5312514"/>
            <a:chExt cx="504000" cy="504000"/>
          </a:xfrm>
        </p:grpSpPr>
        <p:sp>
          <p:nvSpPr>
            <p:cNvPr id="152" name="椭圆 151">
              <a:extLst>
                <a:ext uri="{FF2B5EF4-FFF2-40B4-BE49-F238E27FC236}">
                  <a16:creationId xmlns:a16="http://schemas.microsoft.com/office/drawing/2014/main" id="{FA3494E4-57B2-4CF6-BAFE-7911943C97B4}"/>
                </a:ext>
              </a:extLst>
            </p:cNvPr>
            <p:cNvSpPr/>
            <p:nvPr/>
          </p:nvSpPr>
          <p:spPr>
            <a:xfrm>
              <a:off x="7982080" y="5312514"/>
              <a:ext cx="504000" cy="504000"/>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53" name="Freeform 96">
              <a:extLst>
                <a:ext uri="{FF2B5EF4-FFF2-40B4-BE49-F238E27FC236}">
                  <a16:creationId xmlns:a16="http://schemas.microsoft.com/office/drawing/2014/main" id="{69D2AF6B-9AC3-46C7-BE73-D338DF33E5FD}"/>
                </a:ext>
              </a:extLst>
            </p:cNvPr>
            <p:cNvSpPr>
              <a:spLocks noChangeAspect="1" noEditPoints="1"/>
            </p:cNvSpPr>
            <p:nvPr/>
          </p:nvSpPr>
          <p:spPr bwMode="auto">
            <a:xfrm>
              <a:off x="8072080" y="5401977"/>
              <a:ext cx="324000" cy="325074"/>
            </a:xfrm>
            <a:custGeom>
              <a:avLst/>
              <a:gdLst>
                <a:gd name="T0" fmla="*/ 64 w 128"/>
                <a:gd name="T1" fmla="*/ 128 h 128"/>
                <a:gd name="T2" fmla="*/ 20 w 128"/>
                <a:gd name="T3" fmla="*/ 24 h 128"/>
                <a:gd name="T4" fmla="*/ 48 w 128"/>
                <a:gd name="T5" fmla="*/ 7 h 128"/>
                <a:gd name="T6" fmla="*/ 33 w 128"/>
                <a:gd name="T7" fmla="*/ 30 h 128"/>
                <a:gd name="T8" fmla="*/ 21 w 128"/>
                <a:gd name="T9" fmla="*/ 26 h 128"/>
                <a:gd name="T10" fmla="*/ 5 w 128"/>
                <a:gd name="T11" fmla="*/ 60 h 128"/>
                <a:gd name="T12" fmla="*/ 16 w 128"/>
                <a:gd name="T13" fmla="*/ 29 h 128"/>
                <a:gd name="T14" fmla="*/ 30 w 128"/>
                <a:gd name="T15" fmla="*/ 35 h 128"/>
                <a:gd name="T16" fmla="*/ 24 w 128"/>
                <a:gd name="T17" fmla="*/ 62 h 128"/>
                <a:gd name="T18" fmla="*/ 17 w 128"/>
                <a:gd name="T19" fmla="*/ 98 h 128"/>
                <a:gd name="T20" fmla="*/ 9 w 128"/>
                <a:gd name="T21" fmla="*/ 87 h 128"/>
                <a:gd name="T22" fmla="*/ 24 w 128"/>
                <a:gd name="T23" fmla="*/ 66 h 128"/>
                <a:gd name="T24" fmla="*/ 30 w 128"/>
                <a:gd name="T25" fmla="*/ 93 h 128"/>
                <a:gd name="T26" fmla="*/ 48 w 128"/>
                <a:gd name="T27" fmla="*/ 121 h 128"/>
                <a:gd name="T28" fmla="*/ 20 w 128"/>
                <a:gd name="T29" fmla="*/ 104 h 128"/>
                <a:gd name="T30" fmla="*/ 31 w 128"/>
                <a:gd name="T31" fmla="*/ 98 h 128"/>
                <a:gd name="T32" fmla="*/ 49 w 128"/>
                <a:gd name="T33" fmla="*/ 119 h 128"/>
                <a:gd name="T34" fmla="*/ 62 w 128"/>
                <a:gd name="T35" fmla="*/ 122 h 128"/>
                <a:gd name="T36" fmla="*/ 37 w 128"/>
                <a:gd name="T37" fmla="*/ 97 h 128"/>
                <a:gd name="T38" fmla="*/ 60 w 128"/>
                <a:gd name="T39" fmla="*/ 92 h 128"/>
                <a:gd name="T40" fmla="*/ 62 w 128"/>
                <a:gd name="T41" fmla="*/ 88 h 128"/>
                <a:gd name="T42" fmla="*/ 34 w 128"/>
                <a:gd name="T43" fmla="*/ 92 h 128"/>
                <a:gd name="T44" fmla="*/ 29 w 128"/>
                <a:gd name="T45" fmla="*/ 66 h 128"/>
                <a:gd name="T46" fmla="*/ 62 w 128"/>
                <a:gd name="T47" fmla="*/ 62 h 128"/>
                <a:gd name="T48" fmla="*/ 34 w 128"/>
                <a:gd name="T49" fmla="*/ 38 h 128"/>
                <a:gd name="T50" fmla="*/ 60 w 128"/>
                <a:gd name="T51" fmla="*/ 40 h 128"/>
                <a:gd name="T52" fmla="*/ 62 w 128"/>
                <a:gd name="T53" fmla="*/ 36 h 128"/>
                <a:gd name="T54" fmla="*/ 36 w 128"/>
                <a:gd name="T55" fmla="*/ 32 h 128"/>
                <a:gd name="T56" fmla="*/ 60 w 128"/>
                <a:gd name="T57" fmla="*/ 7 h 128"/>
                <a:gd name="T58" fmla="*/ 111 w 128"/>
                <a:gd name="T59" fmla="*/ 30 h 128"/>
                <a:gd name="T60" fmla="*/ 119 w 128"/>
                <a:gd name="T61" fmla="*/ 41 h 128"/>
                <a:gd name="T62" fmla="*/ 104 w 128"/>
                <a:gd name="T63" fmla="*/ 62 h 128"/>
                <a:gd name="T64" fmla="*/ 98 w 128"/>
                <a:gd name="T65" fmla="*/ 35 h 128"/>
                <a:gd name="T66" fmla="*/ 80 w 128"/>
                <a:gd name="T67" fmla="*/ 7 h 128"/>
                <a:gd name="T68" fmla="*/ 108 w 128"/>
                <a:gd name="T69" fmla="*/ 24 h 128"/>
                <a:gd name="T70" fmla="*/ 97 w 128"/>
                <a:gd name="T71" fmla="*/ 30 h 128"/>
                <a:gd name="T72" fmla="*/ 79 w 128"/>
                <a:gd name="T73" fmla="*/ 9 h 128"/>
                <a:gd name="T74" fmla="*/ 66 w 128"/>
                <a:gd name="T75" fmla="*/ 6 h 128"/>
                <a:gd name="T76" fmla="*/ 91 w 128"/>
                <a:gd name="T77" fmla="*/ 31 h 128"/>
                <a:gd name="T78" fmla="*/ 68 w 128"/>
                <a:gd name="T79" fmla="*/ 36 h 128"/>
                <a:gd name="T80" fmla="*/ 66 w 128"/>
                <a:gd name="T81" fmla="*/ 40 h 128"/>
                <a:gd name="T82" fmla="*/ 94 w 128"/>
                <a:gd name="T83" fmla="*/ 36 h 128"/>
                <a:gd name="T84" fmla="*/ 99 w 128"/>
                <a:gd name="T85" fmla="*/ 62 h 128"/>
                <a:gd name="T86" fmla="*/ 66 w 128"/>
                <a:gd name="T87" fmla="*/ 66 h 128"/>
                <a:gd name="T88" fmla="*/ 94 w 128"/>
                <a:gd name="T89" fmla="*/ 90 h 128"/>
                <a:gd name="T90" fmla="*/ 68 w 128"/>
                <a:gd name="T91" fmla="*/ 88 h 128"/>
                <a:gd name="T92" fmla="*/ 66 w 128"/>
                <a:gd name="T93" fmla="*/ 122 h 128"/>
                <a:gd name="T94" fmla="*/ 90 w 128"/>
                <a:gd name="T95" fmla="*/ 95 h 128"/>
                <a:gd name="T96" fmla="*/ 80 w 128"/>
                <a:gd name="T97" fmla="*/ 112 h 128"/>
                <a:gd name="T98" fmla="*/ 108 w 128"/>
                <a:gd name="T99" fmla="*/ 104 h 128"/>
                <a:gd name="T100" fmla="*/ 80 w 128"/>
                <a:gd name="T101" fmla="*/ 121 h 128"/>
                <a:gd name="T102" fmla="*/ 95 w 128"/>
                <a:gd name="T103" fmla="*/ 98 h 128"/>
                <a:gd name="T104" fmla="*/ 107 w 128"/>
                <a:gd name="T105" fmla="*/ 102 h 128"/>
                <a:gd name="T106" fmla="*/ 123 w 128"/>
                <a:gd name="T107" fmla="*/ 68 h 128"/>
                <a:gd name="T108" fmla="*/ 112 w 128"/>
                <a:gd name="T109" fmla="*/ 99 h 128"/>
                <a:gd name="T110" fmla="*/ 98 w 128"/>
                <a:gd name="T111" fmla="*/ 93 h 128"/>
                <a:gd name="T112" fmla="*/ 104 w 128"/>
                <a:gd name="T113" fmla="*/ 6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28" h="128">
                  <a:moveTo>
                    <a:pt x="64" y="0"/>
                  </a:moveTo>
                  <a:cubicBezTo>
                    <a:pt x="29" y="0"/>
                    <a:pt x="0" y="29"/>
                    <a:pt x="0" y="64"/>
                  </a:cubicBezTo>
                  <a:cubicBezTo>
                    <a:pt x="0" y="99"/>
                    <a:pt x="29" y="128"/>
                    <a:pt x="64" y="128"/>
                  </a:cubicBezTo>
                  <a:cubicBezTo>
                    <a:pt x="99" y="128"/>
                    <a:pt x="128" y="99"/>
                    <a:pt x="128" y="64"/>
                  </a:cubicBezTo>
                  <a:cubicBezTo>
                    <a:pt x="128" y="29"/>
                    <a:pt x="99" y="0"/>
                    <a:pt x="64" y="0"/>
                  </a:cubicBezTo>
                  <a:close/>
                  <a:moveTo>
                    <a:pt x="20" y="24"/>
                  </a:moveTo>
                  <a:cubicBezTo>
                    <a:pt x="21" y="23"/>
                    <a:pt x="21" y="23"/>
                    <a:pt x="22" y="22"/>
                  </a:cubicBezTo>
                  <a:cubicBezTo>
                    <a:pt x="27" y="17"/>
                    <a:pt x="34" y="12"/>
                    <a:pt x="41" y="9"/>
                  </a:cubicBezTo>
                  <a:cubicBezTo>
                    <a:pt x="43" y="8"/>
                    <a:pt x="46" y="7"/>
                    <a:pt x="48" y="7"/>
                  </a:cubicBezTo>
                  <a:cubicBezTo>
                    <a:pt x="54" y="5"/>
                    <a:pt x="54" y="5"/>
                    <a:pt x="54" y="5"/>
                  </a:cubicBezTo>
                  <a:cubicBezTo>
                    <a:pt x="49" y="9"/>
                    <a:pt x="49" y="9"/>
                    <a:pt x="49" y="9"/>
                  </a:cubicBezTo>
                  <a:cubicBezTo>
                    <a:pt x="43" y="15"/>
                    <a:pt x="37" y="22"/>
                    <a:pt x="33" y="30"/>
                  </a:cubicBezTo>
                  <a:cubicBezTo>
                    <a:pt x="32" y="31"/>
                    <a:pt x="32" y="31"/>
                    <a:pt x="32" y="31"/>
                  </a:cubicBezTo>
                  <a:cubicBezTo>
                    <a:pt x="31" y="30"/>
                    <a:pt x="31" y="30"/>
                    <a:pt x="31" y="30"/>
                  </a:cubicBezTo>
                  <a:cubicBezTo>
                    <a:pt x="27" y="29"/>
                    <a:pt x="24" y="28"/>
                    <a:pt x="21" y="26"/>
                  </a:cubicBezTo>
                  <a:cubicBezTo>
                    <a:pt x="19" y="25"/>
                    <a:pt x="19" y="25"/>
                    <a:pt x="19" y="25"/>
                  </a:cubicBezTo>
                  <a:lnTo>
                    <a:pt x="20" y="24"/>
                  </a:lnTo>
                  <a:close/>
                  <a:moveTo>
                    <a:pt x="5" y="60"/>
                  </a:moveTo>
                  <a:cubicBezTo>
                    <a:pt x="5" y="54"/>
                    <a:pt x="7" y="47"/>
                    <a:pt x="9" y="41"/>
                  </a:cubicBezTo>
                  <a:cubicBezTo>
                    <a:pt x="11" y="37"/>
                    <a:pt x="13" y="33"/>
                    <a:pt x="15" y="30"/>
                  </a:cubicBezTo>
                  <a:cubicBezTo>
                    <a:pt x="16" y="29"/>
                    <a:pt x="16" y="29"/>
                    <a:pt x="16" y="29"/>
                  </a:cubicBezTo>
                  <a:cubicBezTo>
                    <a:pt x="17" y="30"/>
                    <a:pt x="17" y="30"/>
                    <a:pt x="17" y="30"/>
                  </a:cubicBezTo>
                  <a:cubicBezTo>
                    <a:pt x="21" y="31"/>
                    <a:pt x="25" y="33"/>
                    <a:pt x="29" y="34"/>
                  </a:cubicBezTo>
                  <a:cubicBezTo>
                    <a:pt x="30" y="35"/>
                    <a:pt x="30" y="35"/>
                    <a:pt x="30" y="35"/>
                  </a:cubicBezTo>
                  <a:cubicBezTo>
                    <a:pt x="29" y="36"/>
                    <a:pt x="29" y="36"/>
                    <a:pt x="29" y="36"/>
                  </a:cubicBezTo>
                  <a:cubicBezTo>
                    <a:pt x="26" y="44"/>
                    <a:pt x="24" y="52"/>
                    <a:pt x="24" y="60"/>
                  </a:cubicBezTo>
                  <a:cubicBezTo>
                    <a:pt x="24" y="62"/>
                    <a:pt x="24" y="62"/>
                    <a:pt x="24" y="62"/>
                  </a:cubicBezTo>
                  <a:cubicBezTo>
                    <a:pt x="5" y="62"/>
                    <a:pt x="5" y="62"/>
                    <a:pt x="5" y="62"/>
                  </a:cubicBezTo>
                  <a:lnTo>
                    <a:pt x="5" y="60"/>
                  </a:lnTo>
                  <a:close/>
                  <a:moveTo>
                    <a:pt x="17" y="98"/>
                  </a:moveTo>
                  <a:cubicBezTo>
                    <a:pt x="16" y="99"/>
                    <a:pt x="16" y="99"/>
                    <a:pt x="16" y="99"/>
                  </a:cubicBezTo>
                  <a:cubicBezTo>
                    <a:pt x="15" y="98"/>
                    <a:pt x="15" y="98"/>
                    <a:pt x="15" y="98"/>
                  </a:cubicBezTo>
                  <a:cubicBezTo>
                    <a:pt x="13" y="95"/>
                    <a:pt x="11" y="91"/>
                    <a:pt x="9" y="87"/>
                  </a:cubicBezTo>
                  <a:cubicBezTo>
                    <a:pt x="7" y="81"/>
                    <a:pt x="5" y="74"/>
                    <a:pt x="5" y="68"/>
                  </a:cubicBezTo>
                  <a:cubicBezTo>
                    <a:pt x="5" y="66"/>
                    <a:pt x="5" y="66"/>
                    <a:pt x="5" y="66"/>
                  </a:cubicBezTo>
                  <a:cubicBezTo>
                    <a:pt x="24" y="66"/>
                    <a:pt x="24" y="66"/>
                    <a:pt x="24" y="66"/>
                  </a:cubicBezTo>
                  <a:cubicBezTo>
                    <a:pt x="24" y="68"/>
                    <a:pt x="24" y="68"/>
                    <a:pt x="24" y="68"/>
                  </a:cubicBezTo>
                  <a:cubicBezTo>
                    <a:pt x="24" y="76"/>
                    <a:pt x="26" y="84"/>
                    <a:pt x="29" y="92"/>
                  </a:cubicBezTo>
                  <a:cubicBezTo>
                    <a:pt x="30" y="93"/>
                    <a:pt x="30" y="93"/>
                    <a:pt x="30" y="93"/>
                  </a:cubicBezTo>
                  <a:cubicBezTo>
                    <a:pt x="29" y="94"/>
                    <a:pt x="29" y="94"/>
                    <a:pt x="29" y="94"/>
                  </a:cubicBezTo>
                  <a:cubicBezTo>
                    <a:pt x="25" y="95"/>
                    <a:pt x="21" y="97"/>
                    <a:pt x="17" y="98"/>
                  </a:cubicBezTo>
                  <a:close/>
                  <a:moveTo>
                    <a:pt x="48" y="121"/>
                  </a:moveTo>
                  <a:cubicBezTo>
                    <a:pt x="46" y="121"/>
                    <a:pt x="43" y="120"/>
                    <a:pt x="41" y="119"/>
                  </a:cubicBezTo>
                  <a:cubicBezTo>
                    <a:pt x="34" y="116"/>
                    <a:pt x="27" y="112"/>
                    <a:pt x="22" y="106"/>
                  </a:cubicBezTo>
                  <a:cubicBezTo>
                    <a:pt x="21" y="105"/>
                    <a:pt x="21" y="105"/>
                    <a:pt x="20" y="104"/>
                  </a:cubicBezTo>
                  <a:cubicBezTo>
                    <a:pt x="19" y="103"/>
                    <a:pt x="19" y="103"/>
                    <a:pt x="19" y="103"/>
                  </a:cubicBezTo>
                  <a:cubicBezTo>
                    <a:pt x="21" y="102"/>
                    <a:pt x="21" y="102"/>
                    <a:pt x="21" y="102"/>
                  </a:cubicBezTo>
                  <a:cubicBezTo>
                    <a:pt x="24" y="100"/>
                    <a:pt x="27" y="99"/>
                    <a:pt x="31" y="98"/>
                  </a:cubicBezTo>
                  <a:cubicBezTo>
                    <a:pt x="32" y="97"/>
                    <a:pt x="32" y="97"/>
                    <a:pt x="32" y="97"/>
                  </a:cubicBezTo>
                  <a:cubicBezTo>
                    <a:pt x="33" y="98"/>
                    <a:pt x="33" y="98"/>
                    <a:pt x="33" y="98"/>
                  </a:cubicBezTo>
                  <a:cubicBezTo>
                    <a:pt x="37" y="106"/>
                    <a:pt x="43" y="113"/>
                    <a:pt x="49" y="119"/>
                  </a:cubicBezTo>
                  <a:cubicBezTo>
                    <a:pt x="54" y="123"/>
                    <a:pt x="54" y="123"/>
                    <a:pt x="54" y="123"/>
                  </a:cubicBezTo>
                  <a:lnTo>
                    <a:pt x="48" y="121"/>
                  </a:lnTo>
                  <a:close/>
                  <a:moveTo>
                    <a:pt x="62" y="122"/>
                  </a:moveTo>
                  <a:cubicBezTo>
                    <a:pt x="60" y="121"/>
                    <a:pt x="60" y="121"/>
                    <a:pt x="60" y="121"/>
                  </a:cubicBezTo>
                  <a:cubicBezTo>
                    <a:pt x="55" y="118"/>
                    <a:pt x="52" y="115"/>
                    <a:pt x="48" y="112"/>
                  </a:cubicBezTo>
                  <a:cubicBezTo>
                    <a:pt x="44" y="107"/>
                    <a:pt x="40" y="103"/>
                    <a:pt x="37" y="97"/>
                  </a:cubicBezTo>
                  <a:cubicBezTo>
                    <a:pt x="36" y="96"/>
                    <a:pt x="36" y="96"/>
                    <a:pt x="36" y="96"/>
                  </a:cubicBezTo>
                  <a:cubicBezTo>
                    <a:pt x="38" y="95"/>
                    <a:pt x="38" y="95"/>
                    <a:pt x="38" y="95"/>
                  </a:cubicBezTo>
                  <a:cubicBezTo>
                    <a:pt x="45" y="94"/>
                    <a:pt x="53" y="93"/>
                    <a:pt x="60" y="92"/>
                  </a:cubicBezTo>
                  <a:cubicBezTo>
                    <a:pt x="62" y="92"/>
                    <a:pt x="62" y="92"/>
                    <a:pt x="62" y="92"/>
                  </a:cubicBezTo>
                  <a:lnTo>
                    <a:pt x="62" y="122"/>
                  </a:lnTo>
                  <a:close/>
                  <a:moveTo>
                    <a:pt x="62" y="88"/>
                  </a:moveTo>
                  <a:cubicBezTo>
                    <a:pt x="60" y="88"/>
                    <a:pt x="60" y="88"/>
                    <a:pt x="60" y="88"/>
                  </a:cubicBezTo>
                  <a:cubicBezTo>
                    <a:pt x="52" y="88"/>
                    <a:pt x="44" y="89"/>
                    <a:pt x="36" y="91"/>
                  </a:cubicBezTo>
                  <a:cubicBezTo>
                    <a:pt x="34" y="92"/>
                    <a:pt x="34" y="92"/>
                    <a:pt x="34" y="92"/>
                  </a:cubicBezTo>
                  <a:cubicBezTo>
                    <a:pt x="34" y="90"/>
                    <a:pt x="34" y="90"/>
                    <a:pt x="34" y="90"/>
                  </a:cubicBezTo>
                  <a:cubicBezTo>
                    <a:pt x="31" y="83"/>
                    <a:pt x="29" y="76"/>
                    <a:pt x="29" y="68"/>
                  </a:cubicBezTo>
                  <a:cubicBezTo>
                    <a:pt x="29" y="66"/>
                    <a:pt x="29" y="66"/>
                    <a:pt x="29" y="66"/>
                  </a:cubicBezTo>
                  <a:cubicBezTo>
                    <a:pt x="62" y="66"/>
                    <a:pt x="62" y="66"/>
                    <a:pt x="62" y="66"/>
                  </a:cubicBezTo>
                  <a:lnTo>
                    <a:pt x="62" y="88"/>
                  </a:lnTo>
                  <a:close/>
                  <a:moveTo>
                    <a:pt x="62" y="62"/>
                  </a:moveTo>
                  <a:cubicBezTo>
                    <a:pt x="29" y="62"/>
                    <a:pt x="29" y="62"/>
                    <a:pt x="29" y="62"/>
                  </a:cubicBezTo>
                  <a:cubicBezTo>
                    <a:pt x="29" y="60"/>
                    <a:pt x="29" y="60"/>
                    <a:pt x="29" y="60"/>
                  </a:cubicBezTo>
                  <a:cubicBezTo>
                    <a:pt x="29" y="52"/>
                    <a:pt x="31" y="45"/>
                    <a:pt x="34" y="38"/>
                  </a:cubicBezTo>
                  <a:cubicBezTo>
                    <a:pt x="34" y="37"/>
                    <a:pt x="34" y="37"/>
                    <a:pt x="34" y="37"/>
                  </a:cubicBezTo>
                  <a:cubicBezTo>
                    <a:pt x="36" y="37"/>
                    <a:pt x="36" y="37"/>
                    <a:pt x="36" y="37"/>
                  </a:cubicBezTo>
                  <a:cubicBezTo>
                    <a:pt x="44" y="39"/>
                    <a:pt x="52" y="40"/>
                    <a:pt x="60" y="40"/>
                  </a:cubicBezTo>
                  <a:cubicBezTo>
                    <a:pt x="62" y="40"/>
                    <a:pt x="62" y="40"/>
                    <a:pt x="62" y="40"/>
                  </a:cubicBezTo>
                  <a:lnTo>
                    <a:pt x="62" y="62"/>
                  </a:lnTo>
                  <a:close/>
                  <a:moveTo>
                    <a:pt x="62" y="36"/>
                  </a:moveTo>
                  <a:cubicBezTo>
                    <a:pt x="60" y="36"/>
                    <a:pt x="60" y="36"/>
                    <a:pt x="60" y="36"/>
                  </a:cubicBezTo>
                  <a:cubicBezTo>
                    <a:pt x="53" y="35"/>
                    <a:pt x="45" y="34"/>
                    <a:pt x="38" y="33"/>
                  </a:cubicBezTo>
                  <a:cubicBezTo>
                    <a:pt x="36" y="32"/>
                    <a:pt x="36" y="32"/>
                    <a:pt x="36" y="32"/>
                  </a:cubicBezTo>
                  <a:cubicBezTo>
                    <a:pt x="37" y="31"/>
                    <a:pt x="37" y="31"/>
                    <a:pt x="37" y="31"/>
                  </a:cubicBezTo>
                  <a:cubicBezTo>
                    <a:pt x="40" y="25"/>
                    <a:pt x="44" y="21"/>
                    <a:pt x="48" y="17"/>
                  </a:cubicBezTo>
                  <a:cubicBezTo>
                    <a:pt x="52" y="13"/>
                    <a:pt x="55" y="10"/>
                    <a:pt x="60" y="7"/>
                  </a:cubicBezTo>
                  <a:cubicBezTo>
                    <a:pt x="62" y="6"/>
                    <a:pt x="62" y="6"/>
                    <a:pt x="62" y="6"/>
                  </a:cubicBezTo>
                  <a:lnTo>
                    <a:pt x="62" y="36"/>
                  </a:lnTo>
                  <a:close/>
                  <a:moveTo>
                    <a:pt x="111" y="30"/>
                  </a:moveTo>
                  <a:cubicBezTo>
                    <a:pt x="112" y="29"/>
                    <a:pt x="112" y="29"/>
                    <a:pt x="112" y="29"/>
                  </a:cubicBezTo>
                  <a:cubicBezTo>
                    <a:pt x="113" y="30"/>
                    <a:pt x="113" y="30"/>
                    <a:pt x="113" y="30"/>
                  </a:cubicBezTo>
                  <a:cubicBezTo>
                    <a:pt x="115" y="33"/>
                    <a:pt x="117" y="37"/>
                    <a:pt x="119" y="41"/>
                  </a:cubicBezTo>
                  <a:cubicBezTo>
                    <a:pt x="121" y="47"/>
                    <a:pt x="123" y="54"/>
                    <a:pt x="123" y="60"/>
                  </a:cubicBezTo>
                  <a:cubicBezTo>
                    <a:pt x="123" y="62"/>
                    <a:pt x="123" y="62"/>
                    <a:pt x="123" y="62"/>
                  </a:cubicBezTo>
                  <a:cubicBezTo>
                    <a:pt x="104" y="62"/>
                    <a:pt x="104" y="62"/>
                    <a:pt x="104" y="62"/>
                  </a:cubicBezTo>
                  <a:cubicBezTo>
                    <a:pt x="104" y="60"/>
                    <a:pt x="104" y="60"/>
                    <a:pt x="104" y="60"/>
                  </a:cubicBezTo>
                  <a:cubicBezTo>
                    <a:pt x="104" y="52"/>
                    <a:pt x="102" y="44"/>
                    <a:pt x="98" y="36"/>
                  </a:cubicBezTo>
                  <a:cubicBezTo>
                    <a:pt x="98" y="35"/>
                    <a:pt x="98" y="35"/>
                    <a:pt x="98" y="35"/>
                  </a:cubicBezTo>
                  <a:cubicBezTo>
                    <a:pt x="99" y="34"/>
                    <a:pt x="99" y="34"/>
                    <a:pt x="99" y="34"/>
                  </a:cubicBezTo>
                  <a:cubicBezTo>
                    <a:pt x="103" y="33"/>
                    <a:pt x="107" y="31"/>
                    <a:pt x="111" y="30"/>
                  </a:cubicBezTo>
                  <a:close/>
                  <a:moveTo>
                    <a:pt x="80" y="7"/>
                  </a:moveTo>
                  <a:cubicBezTo>
                    <a:pt x="82" y="7"/>
                    <a:pt x="85" y="8"/>
                    <a:pt x="87" y="9"/>
                  </a:cubicBezTo>
                  <a:cubicBezTo>
                    <a:pt x="94" y="12"/>
                    <a:pt x="101" y="17"/>
                    <a:pt x="106" y="22"/>
                  </a:cubicBezTo>
                  <a:cubicBezTo>
                    <a:pt x="107" y="23"/>
                    <a:pt x="107" y="23"/>
                    <a:pt x="108" y="24"/>
                  </a:cubicBezTo>
                  <a:cubicBezTo>
                    <a:pt x="109" y="25"/>
                    <a:pt x="109" y="25"/>
                    <a:pt x="109" y="25"/>
                  </a:cubicBezTo>
                  <a:cubicBezTo>
                    <a:pt x="107" y="26"/>
                    <a:pt x="107" y="26"/>
                    <a:pt x="107" y="26"/>
                  </a:cubicBezTo>
                  <a:cubicBezTo>
                    <a:pt x="104" y="28"/>
                    <a:pt x="101" y="29"/>
                    <a:pt x="97" y="30"/>
                  </a:cubicBezTo>
                  <a:cubicBezTo>
                    <a:pt x="96" y="31"/>
                    <a:pt x="96" y="31"/>
                    <a:pt x="96" y="31"/>
                  </a:cubicBezTo>
                  <a:cubicBezTo>
                    <a:pt x="95" y="30"/>
                    <a:pt x="95" y="30"/>
                    <a:pt x="95" y="30"/>
                  </a:cubicBezTo>
                  <a:cubicBezTo>
                    <a:pt x="91" y="22"/>
                    <a:pt x="85" y="15"/>
                    <a:pt x="79" y="9"/>
                  </a:cubicBezTo>
                  <a:cubicBezTo>
                    <a:pt x="74" y="5"/>
                    <a:pt x="74" y="5"/>
                    <a:pt x="74" y="5"/>
                  </a:cubicBezTo>
                  <a:lnTo>
                    <a:pt x="80" y="7"/>
                  </a:lnTo>
                  <a:close/>
                  <a:moveTo>
                    <a:pt x="66" y="6"/>
                  </a:moveTo>
                  <a:cubicBezTo>
                    <a:pt x="68" y="7"/>
                    <a:pt x="68" y="7"/>
                    <a:pt x="68" y="7"/>
                  </a:cubicBezTo>
                  <a:cubicBezTo>
                    <a:pt x="73" y="10"/>
                    <a:pt x="76" y="13"/>
                    <a:pt x="80" y="16"/>
                  </a:cubicBezTo>
                  <a:cubicBezTo>
                    <a:pt x="84" y="21"/>
                    <a:pt x="88" y="25"/>
                    <a:pt x="91" y="31"/>
                  </a:cubicBezTo>
                  <a:cubicBezTo>
                    <a:pt x="91" y="32"/>
                    <a:pt x="91" y="32"/>
                    <a:pt x="91" y="32"/>
                  </a:cubicBezTo>
                  <a:cubicBezTo>
                    <a:pt x="90" y="33"/>
                    <a:pt x="90" y="33"/>
                    <a:pt x="90" y="33"/>
                  </a:cubicBezTo>
                  <a:cubicBezTo>
                    <a:pt x="83" y="34"/>
                    <a:pt x="75" y="35"/>
                    <a:pt x="68" y="36"/>
                  </a:cubicBezTo>
                  <a:cubicBezTo>
                    <a:pt x="66" y="36"/>
                    <a:pt x="66" y="36"/>
                    <a:pt x="66" y="36"/>
                  </a:cubicBezTo>
                  <a:lnTo>
                    <a:pt x="66" y="6"/>
                  </a:lnTo>
                  <a:close/>
                  <a:moveTo>
                    <a:pt x="66" y="40"/>
                  </a:moveTo>
                  <a:cubicBezTo>
                    <a:pt x="68" y="40"/>
                    <a:pt x="68" y="40"/>
                    <a:pt x="68" y="40"/>
                  </a:cubicBezTo>
                  <a:cubicBezTo>
                    <a:pt x="76" y="40"/>
                    <a:pt x="84" y="39"/>
                    <a:pt x="92" y="37"/>
                  </a:cubicBezTo>
                  <a:cubicBezTo>
                    <a:pt x="94" y="36"/>
                    <a:pt x="94" y="36"/>
                    <a:pt x="94" y="36"/>
                  </a:cubicBezTo>
                  <a:cubicBezTo>
                    <a:pt x="94" y="38"/>
                    <a:pt x="94" y="38"/>
                    <a:pt x="94" y="38"/>
                  </a:cubicBezTo>
                  <a:cubicBezTo>
                    <a:pt x="97" y="45"/>
                    <a:pt x="99" y="52"/>
                    <a:pt x="99" y="60"/>
                  </a:cubicBezTo>
                  <a:cubicBezTo>
                    <a:pt x="99" y="62"/>
                    <a:pt x="99" y="62"/>
                    <a:pt x="99" y="62"/>
                  </a:cubicBezTo>
                  <a:cubicBezTo>
                    <a:pt x="66" y="62"/>
                    <a:pt x="66" y="62"/>
                    <a:pt x="66" y="62"/>
                  </a:cubicBezTo>
                  <a:lnTo>
                    <a:pt x="66" y="40"/>
                  </a:lnTo>
                  <a:close/>
                  <a:moveTo>
                    <a:pt x="66" y="66"/>
                  </a:moveTo>
                  <a:cubicBezTo>
                    <a:pt x="99" y="66"/>
                    <a:pt x="99" y="66"/>
                    <a:pt x="99" y="66"/>
                  </a:cubicBezTo>
                  <a:cubicBezTo>
                    <a:pt x="99" y="68"/>
                    <a:pt x="99" y="68"/>
                    <a:pt x="99" y="68"/>
                  </a:cubicBezTo>
                  <a:cubicBezTo>
                    <a:pt x="99" y="76"/>
                    <a:pt x="97" y="83"/>
                    <a:pt x="94" y="90"/>
                  </a:cubicBezTo>
                  <a:cubicBezTo>
                    <a:pt x="94" y="91"/>
                    <a:pt x="94" y="91"/>
                    <a:pt x="94" y="91"/>
                  </a:cubicBezTo>
                  <a:cubicBezTo>
                    <a:pt x="92" y="91"/>
                    <a:pt x="92" y="91"/>
                    <a:pt x="92" y="91"/>
                  </a:cubicBezTo>
                  <a:cubicBezTo>
                    <a:pt x="84" y="89"/>
                    <a:pt x="76" y="88"/>
                    <a:pt x="68" y="88"/>
                  </a:cubicBezTo>
                  <a:cubicBezTo>
                    <a:pt x="66" y="88"/>
                    <a:pt x="66" y="88"/>
                    <a:pt x="66" y="88"/>
                  </a:cubicBezTo>
                  <a:lnTo>
                    <a:pt x="66" y="66"/>
                  </a:lnTo>
                  <a:close/>
                  <a:moveTo>
                    <a:pt x="66" y="122"/>
                  </a:moveTo>
                  <a:cubicBezTo>
                    <a:pt x="66" y="92"/>
                    <a:pt x="66" y="92"/>
                    <a:pt x="66" y="92"/>
                  </a:cubicBezTo>
                  <a:cubicBezTo>
                    <a:pt x="68" y="92"/>
                    <a:pt x="68" y="92"/>
                    <a:pt x="68" y="92"/>
                  </a:cubicBezTo>
                  <a:cubicBezTo>
                    <a:pt x="75" y="93"/>
                    <a:pt x="83" y="94"/>
                    <a:pt x="90" y="95"/>
                  </a:cubicBezTo>
                  <a:cubicBezTo>
                    <a:pt x="91" y="96"/>
                    <a:pt x="91" y="96"/>
                    <a:pt x="91" y="96"/>
                  </a:cubicBezTo>
                  <a:cubicBezTo>
                    <a:pt x="91" y="97"/>
                    <a:pt x="91" y="97"/>
                    <a:pt x="91" y="97"/>
                  </a:cubicBezTo>
                  <a:cubicBezTo>
                    <a:pt x="88" y="103"/>
                    <a:pt x="84" y="107"/>
                    <a:pt x="80" y="112"/>
                  </a:cubicBezTo>
                  <a:cubicBezTo>
                    <a:pt x="76" y="115"/>
                    <a:pt x="73" y="118"/>
                    <a:pt x="68" y="121"/>
                  </a:cubicBezTo>
                  <a:lnTo>
                    <a:pt x="66" y="122"/>
                  </a:lnTo>
                  <a:close/>
                  <a:moveTo>
                    <a:pt x="108" y="104"/>
                  </a:moveTo>
                  <a:cubicBezTo>
                    <a:pt x="107" y="105"/>
                    <a:pt x="107" y="105"/>
                    <a:pt x="106" y="106"/>
                  </a:cubicBezTo>
                  <a:cubicBezTo>
                    <a:pt x="101" y="112"/>
                    <a:pt x="94" y="116"/>
                    <a:pt x="87" y="119"/>
                  </a:cubicBezTo>
                  <a:cubicBezTo>
                    <a:pt x="85" y="120"/>
                    <a:pt x="82" y="121"/>
                    <a:pt x="80" y="121"/>
                  </a:cubicBezTo>
                  <a:cubicBezTo>
                    <a:pt x="74" y="123"/>
                    <a:pt x="74" y="123"/>
                    <a:pt x="74" y="123"/>
                  </a:cubicBezTo>
                  <a:cubicBezTo>
                    <a:pt x="79" y="119"/>
                    <a:pt x="79" y="119"/>
                    <a:pt x="79" y="119"/>
                  </a:cubicBezTo>
                  <a:cubicBezTo>
                    <a:pt x="85" y="113"/>
                    <a:pt x="91" y="106"/>
                    <a:pt x="95" y="98"/>
                  </a:cubicBezTo>
                  <a:cubicBezTo>
                    <a:pt x="96" y="97"/>
                    <a:pt x="96" y="97"/>
                    <a:pt x="96" y="97"/>
                  </a:cubicBezTo>
                  <a:cubicBezTo>
                    <a:pt x="97" y="98"/>
                    <a:pt x="97" y="98"/>
                    <a:pt x="97" y="98"/>
                  </a:cubicBezTo>
                  <a:cubicBezTo>
                    <a:pt x="101" y="99"/>
                    <a:pt x="104" y="100"/>
                    <a:pt x="107" y="102"/>
                  </a:cubicBezTo>
                  <a:cubicBezTo>
                    <a:pt x="109" y="103"/>
                    <a:pt x="109" y="103"/>
                    <a:pt x="109" y="103"/>
                  </a:cubicBezTo>
                  <a:lnTo>
                    <a:pt x="108" y="104"/>
                  </a:lnTo>
                  <a:close/>
                  <a:moveTo>
                    <a:pt x="123" y="68"/>
                  </a:moveTo>
                  <a:cubicBezTo>
                    <a:pt x="123" y="74"/>
                    <a:pt x="121" y="81"/>
                    <a:pt x="119" y="87"/>
                  </a:cubicBezTo>
                  <a:cubicBezTo>
                    <a:pt x="117" y="91"/>
                    <a:pt x="115" y="95"/>
                    <a:pt x="113" y="98"/>
                  </a:cubicBezTo>
                  <a:cubicBezTo>
                    <a:pt x="112" y="99"/>
                    <a:pt x="112" y="99"/>
                    <a:pt x="112" y="99"/>
                  </a:cubicBezTo>
                  <a:cubicBezTo>
                    <a:pt x="111" y="98"/>
                    <a:pt x="111" y="98"/>
                    <a:pt x="111" y="98"/>
                  </a:cubicBezTo>
                  <a:cubicBezTo>
                    <a:pt x="107" y="97"/>
                    <a:pt x="103" y="95"/>
                    <a:pt x="99" y="94"/>
                  </a:cubicBezTo>
                  <a:cubicBezTo>
                    <a:pt x="98" y="93"/>
                    <a:pt x="98" y="93"/>
                    <a:pt x="98" y="93"/>
                  </a:cubicBezTo>
                  <a:cubicBezTo>
                    <a:pt x="98" y="92"/>
                    <a:pt x="98" y="92"/>
                    <a:pt x="98" y="92"/>
                  </a:cubicBezTo>
                  <a:cubicBezTo>
                    <a:pt x="102" y="84"/>
                    <a:pt x="104" y="76"/>
                    <a:pt x="104" y="68"/>
                  </a:cubicBezTo>
                  <a:cubicBezTo>
                    <a:pt x="104" y="66"/>
                    <a:pt x="104" y="66"/>
                    <a:pt x="104" y="66"/>
                  </a:cubicBezTo>
                  <a:cubicBezTo>
                    <a:pt x="123" y="66"/>
                    <a:pt x="123" y="66"/>
                    <a:pt x="123" y="66"/>
                  </a:cubicBezTo>
                  <a:lnTo>
                    <a:pt x="123" y="68"/>
                  </a:lnTo>
                  <a:close/>
                </a:path>
              </a:pathLst>
            </a:custGeom>
            <a:solidFill>
              <a:srgbClr val="FFFFFF"/>
            </a:solid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grpSp>
        <p:nvGrpSpPr>
          <p:cNvPr id="154" name="组合 153">
            <a:extLst>
              <a:ext uri="{FF2B5EF4-FFF2-40B4-BE49-F238E27FC236}">
                <a16:creationId xmlns:a16="http://schemas.microsoft.com/office/drawing/2014/main" id="{F36AFB54-7F00-4D68-A20F-708681CB13AB}"/>
              </a:ext>
            </a:extLst>
          </p:cNvPr>
          <p:cNvGrpSpPr/>
          <p:nvPr/>
        </p:nvGrpSpPr>
        <p:grpSpPr>
          <a:xfrm>
            <a:off x="5502460" y="2091383"/>
            <a:ext cx="504000" cy="504000"/>
            <a:chOff x="4613213" y="4247997"/>
            <a:chExt cx="504000" cy="504000"/>
          </a:xfrm>
        </p:grpSpPr>
        <p:sp>
          <p:nvSpPr>
            <p:cNvPr id="155" name="椭圆 154">
              <a:extLst>
                <a:ext uri="{FF2B5EF4-FFF2-40B4-BE49-F238E27FC236}">
                  <a16:creationId xmlns:a16="http://schemas.microsoft.com/office/drawing/2014/main" id="{B9388695-2593-4BC4-9560-976590390AA6}"/>
                </a:ext>
              </a:extLst>
            </p:cNvPr>
            <p:cNvSpPr/>
            <p:nvPr/>
          </p:nvSpPr>
          <p:spPr>
            <a:xfrm>
              <a:off x="4613213" y="4247997"/>
              <a:ext cx="504000" cy="504000"/>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56" name="Freeform 70">
              <a:extLst>
                <a:ext uri="{FF2B5EF4-FFF2-40B4-BE49-F238E27FC236}">
                  <a16:creationId xmlns:a16="http://schemas.microsoft.com/office/drawing/2014/main" id="{85B54DF4-3148-4466-B7C7-AB97EFF13E18}"/>
                </a:ext>
              </a:extLst>
            </p:cNvPr>
            <p:cNvSpPr>
              <a:spLocks noChangeAspect="1" noEditPoints="1"/>
            </p:cNvSpPr>
            <p:nvPr/>
          </p:nvSpPr>
          <p:spPr bwMode="auto">
            <a:xfrm>
              <a:off x="4703213" y="4337463"/>
              <a:ext cx="324000" cy="325068"/>
            </a:xfrm>
            <a:custGeom>
              <a:avLst/>
              <a:gdLst>
                <a:gd name="T0" fmla="*/ 111 w 128"/>
                <a:gd name="T1" fmla="*/ 62 h 128"/>
                <a:gd name="T2" fmla="*/ 68 w 128"/>
                <a:gd name="T3" fmla="*/ 17 h 128"/>
                <a:gd name="T4" fmla="*/ 66 w 128"/>
                <a:gd name="T5" fmla="*/ 2 h 128"/>
                <a:gd name="T6" fmla="*/ 62 w 128"/>
                <a:gd name="T7" fmla="*/ 2 h 128"/>
                <a:gd name="T8" fmla="*/ 60 w 128"/>
                <a:gd name="T9" fmla="*/ 17 h 128"/>
                <a:gd name="T10" fmla="*/ 17 w 128"/>
                <a:gd name="T11" fmla="*/ 62 h 128"/>
                <a:gd name="T12" fmla="*/ 0 w 128"/>
                <a:gd name="T13" fmla="*/ 64 h 128"/>
                <a:gd name="T14" fmla="*/ 17 w 128"/>
                <a:gd name="T15" fmla="*/ 66 h 128"/>
                <a:gd name="T16" fmla="*/ 60 w 128"/>
                <a:gd name="T17" fmla="*/ 111 h 128"/>
                <a:gd name="T18" fmla="*/ 62 w 128"/>
                <a:gd name="T19" fmla="*/ 126 h 128"/>
                <a:gd name="T20" fmla="*/ 66 w 128"/>
                <a:gd name="T21" fmla="*/ 126 h 128"/>
                <a:gd name="T22" fmla="*/ 68 w 128"/>
                <a:gd name="T23" fmla="*/ 111 h 128"/>
                <a:gd name="T24" fmla="*/ 111 w 128"/>
                <a:gd name="T25" fmla="*/ 66 h 128"/>
                <a:gd name="T26" fmla="*/ 128 w 128"/>
                <a:gd name="T27" fmla="*/ 64 h 128"/>
                <a:gd name="T28" fmla="*/ 62 w 128"/>
                <a:gd name="T29" fmla="*/ 106 h 128"/>
                <a:gd name="T30" fmla="*/ 48 w 128"/>
                <a:gd name="T31" fmla="*/ 103 h 128"/>
                <a:gd name="T32" fmla="*/ 25 w 128"/>
                <a:gd name="T33" fmla="*/ 80 h 128"/>
                <a:gd name="T34" fmla="*/ 22 w 128"/>
                <a:gd name="T35" fmla="*/ 66 h 128"/>
                <a:gd name="T36" fmla="*/ 62 w 128"/>
                <a:gd name="T37" fmla="*/ 106 h 128"/>
                <a:gd name="T38" fmla="*/ 22 w 128"/>
                <a:gd name="T39" fmla="*/ 62 h 128"/>
                <a:gd name="T40" fmla="*/ 25 w 128"/>
                <a:gd name="T41" fmla="*/ 48 h 128"/>
                <a:gd name="T42" fmla="*/ 48 w 128"/>
                <a:gd name="T43" fmla="*/ 25 h 128"/>
                <a:gd name="T44" fmla="*/ 62 w 128"/>
                <a:gd name="T45" fmla="*/ 22 h 128"/>
                <a:gd name="T46" fmla="*/ 106 w 128"/>
                <a:gd name="T47" fmla="*/ 68 h 128"/>
                <a:gd name="T48" fmla="*/ 94 w 128"/>
                <a:gd name="T49" fmla="*/ 94 h 128"/>
                <a:gd name="T50" fmla="*/ 68 w 128"/>
                <a:gd name="T51" fmla="*/ 106 h 128"/>
                <a:gd name="T52" fmla="*/ 66 w 128"/>
                <a:gd name="T53" fmla="*/ 66 h 128"/>
                <a:gd name="T54" fmla="*/ 106 w 128"/>
                <a:gd name="T55" fmla="*/ 68 h 128"/>
                <a:gd name="T56" fmla="*/ 66 w 128"/>
                <a:gd name="T57" fmla="*/ 22 h 128"/>
                <a:gd name="T58" fmla="*/ 80 w 128"/>
                <a:gd name="T59" fmla="*/ 25 h 128"/>
                <a:gd name="T60" fmla="*/ 103 w 128"/>
                <a:gd name="T61" fmla="*/ 48 h 128"/>
                <a:gd name="T62" fmla="*/ 106 w 128"/>
                <a:gd name="T63" fmla="*/ 6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8" h="128">
                  <a:moveTo>
                    <a:pt x="126" y="62"/>
                  </a:moveTo>
                  <a:cubicBezTo>
                    <a:pt x="111" y="62"/>
                    <a:pt x="111" y="62"/>
                    <a:pt x="111" y="62"/>
                  </a:cubicBezTo>
                  <a:cubicBezTo>
                    <a:pt x="111" y="60"/>
                    <a:pt x="111" y="60"/>
                    <a:pt x="111" y="60"/>
                  </a:cubicBezTo>
                  <a:cubicBezTo>
                    <a:pt x="109" y="38"/>
                    <a:pt x="90" y="19"/>
                    <a:pt x="68" y="17"/>
                  </a:cubicBezTo>
                  <a:cubicBezTo>
                    <a:pt x="66" y="17"/>
                    <a:pt x="66" y="17"/>
                    <a:pt x="66" y="17"/>
                  </a:cubicBezTo>
                  <a:cubicBezTo>
                    <a:pt x="66" y="2"/>
                    <a:pt x="66" y="2"/>
                    <a:pt x="66" y="2"/>
                  </a:cubicBezTo>
                  <a:cubicBezTo>
                    <a:pt x="66" y="1"/>
                    <a:pt x="65" y="0"/>
                    <a:pt x="64" y="0"/>
                  </a:cubicBezTo>
                  <a:cubicBezTo>
                    <a:pt x="63" y="0"/>
                    <a:pt x="62" y="1"/>
                    <a:pt x="62" y="2"/>
                  </a:cubicBezTo>
                  <a:cubicBezTo>
                    <a:pt x="62" y="17"/>
                    <a:pt x="62" y="17"/>
                    <a:pt x="62" y="17"/>
                  </a:cubicBezTo>
                  <a:cubicBezTo>
                    <a:pt x="60" y="17"/>
                    <a:pt x="60" y="17"/>
                    <a:pt x="60" y="17"/>
                  </a:cubicBezTo>
                  <a:cubicBezTo>
                    <a:pt x="38" y="19"/>
                    <a:pt x="19" y="38"/>
                    <a:pt x="17" y="60"/>
                  </a:cubicBezTo>
                  <a:cubicBezTo>
                    <a:pt x="17" y="62"/>
                    <a:pt x="17" y="62"/>
                    <a:pt x="17" y="62"/>
                  </a:cubicBezTo>
                  <a:cubicBezTo>
                    <a:pt x="2" y="62"/>
                    <a:pt x="2" y="62"/>
                    <a:pt x="2" y="62"/>
                  </a:cubicBezTo>
                  <a:cubicBezTo>
                    <a:pt x="1" y="62"/>
                    <a:pt x="0" y="63"/>
                    <a:pt x="0" y="64"/>
                  </a:cubicBezTo>
                  <a:cubicBezTo>
                    <a:pt x="0" y="65"/>
                    <a:pt x="1" y="66"/>
                    <a:pt x="2" y="66"/>
                  </a:cubicBezTo>
                  <a:cubicBezTo>
                    <a:pt x="17" y="66"/>
                    <a:pt x="17" y="66"/>
                    <a:pt x="17" y="66"/>
                  </a:cubicBezTo>
                  <a:cubicBezTo>
                    <a:pt x="17" y="68"/>
                    <a:pt x="17" y="68"/>
                    <a:pt x="17" y="68"/>
                  </a:cubicBezTo>
                  <a:cubicBezTo>
                    <a:pt x="19" y="90"/>
                    <a:pt x="38" y="109"/>
                    <a:pt x="60" y="111"/>
                  </a:cubicBezTo>
                  <a:cubicBezTo>
                    <a:pt x="62" y="111"/>
                    <a:pt x="62" y="111"/>
                    <a:pt x="62" y="111"/>
                  </a:cubicBezTo>
                  <a:cubicBezTo>
                    <a:pt x="62" y="126"/>
                    <a:pt x="62" y="126"/>
                    <a:pt x="62" y="126"/>
                  </a:cubicBezTo>
                  <a:cubicBezTo>
                    <a:pt x="62" y="127"/>
                    <a:pt x="63" y="128"/>
                    <a:pt x="64" y="128"/>
                  </a:cubicBezTo>
                  <a:cubicBezTo>
                    <a:pt x="65" y="128"/>
                    <a:pt x="66" y="127"/>
                    <a:pt x="66" y="126"/>
                  </a:cubicBezTo>
                  <a:cubicBezTo>
                    <a:pt x="66" y="111"/>
                    <a:pt x="66" y="111"/>
                    <a:pt x="66" y="111"/>
                  </a:cubicBezTo>
                  <a:cubicBezTo>
                    <a:pt x="68" y="111"/>
                    <a:pt x="68" y="111"/>
                    <a:pt x="68" y="111"/>
                  </a:cubicBezTo>
                  <a:cubicBezTo>
                    <a:pt x="90" y="109"/>
                    <a:pt x="109" y="90"/>
                    <a:pt x="111" y="68"/>
                  </a:cubicBezTo>
                  <a:cubicBezTo>
                    <a:pt x="111" y="66"/>
                    <a:pt x="111" y="66"/>
                    <a:pt x="111" y="66"/>
                  </a:cubicBezTo>
                  <a:cubicBezTo>
                    <a:pt x="126" y="66"/>
                    <a:pt x="126" y="66"/>
                    <a:pt x="126" y="66"/>
                  </a:cubicBezTo>
                  <a:cubicBezTo>
                    <a:pt x="127" y="66"/>
                    <a:pt x="128" y="65"/>
                    <a:pt x="128" y="64"/>
                  </a:cubicBezTo>
                  <a:cubicBezTo>
                    <a:pt x="128" y="63"/>
                    <a:pt x="127" y="62"/>
                    <a:pt x="126" y="62"/>
                  </a:cubicBezTo>
                  <a:close/>
                  <a:moveTo>
                    <a:pt x="62" y="106"/>
                  </a:moveTo>
                  <a:cubicBezTo>
                    <a:pt x="60" y="106"/>
                    <a:pt x="60" y="106"/>
                    <a:pt x="60" y="106"/>
                  </a:cubicBezTo>
                  <a:cubicBezTo>
                    <a:pt x="56" y="106"/>
                    <a:pt x="52" y="105"/>
                    <a:pt x="48" y="103"/>
                  </a:cubicBezTo>
                  <a:cubicBezTo>
                    <a:pt x="43" y="101"/>
                    <a:pt x="38" y="98"/>
                    <a:pt x="34" y="94"/>
                  </a:cubicBezTo>
                  <a:cubicBezTo>
                    <a:pt x="30" y="90"/>
                    <a:pt x="27" y="85"/>
                    <a:pt x="25" y="80"/>
                  </a:cubicBezTo>
                  <a:cubicBezTo>
                    <a:pt x="23" y="76"/>
                    <a:pt x="22" y="72"/>
                    <a:pt x="22" y="68"/>
                  </a:cubicBezTo>
                  <a:cubicBezTo>
                    <a:pt x="22" y="66"/>
                    <a:pt x="22" y="66"/>
                    <a:pt x="22" y="66"/>
                  </a:cubicBezTo>
                  <a:cubicBezTo>
                    <a:pt x="62" y="66"/>
                    <a:pt x="62" y="66"/>
                    <a:pt x="62" y="66"/>
                  </a:cubicBezTo>
                  <a:lnTo>
                    <a:pt x="62" y="106"/>
                  </a:lnTo>
                  <a:close/>
                  <a:moveTo>
                    <a:pt x="62" y="62"/>
                  </a:moveTo>
                  <a:cubicBezTo>
                    <a:pt x="22" y="62"/>
                    <a:pt x="22" y="62"/>
                    <a:pt x="22" y="62"/>
                  </a:cubicBezTo>
                  <a:cubicBezTo>
                    <a:pt x="22" y="60"/>
                    <a:pt x="22" y="60"/>
                    <a:pt x="22" y="60"/>
                  </a:cubicBezTo>
                  <a:cubicBezTo>
                    <a:pt x="22" y="56"/>
                    <a:pt x="23" y="52"/>
                    <a:pt x="25" y="48"/>
                  </a:cubicBezTo>
                  <a:cubicBezTo>
                    <a:pt x="27" y="43"/>
                    <a:pt x="30" y="38"/>
                    <a:pt x="34" y="34"/>
                  </a:cubicBezTo>
                  <a:cubicBezTo>
                    <a:pt x="38" y="30"/>
                    <a:pt x="43" y="27"/>
                    <a:pt x="48" y="25"/>
                  </a:cubicBezTo>
                  <a:cubicBezTo>
                    <a:pt x="52" y="23"/>
                    <a:pt x="56" y="22"/>
                    <a:pt x="60" y="22"/>
                  </a:cubicBezTo>
                  <a:cubicBezTo>
                    <a:pt x="62" y="22"/>
                    <a:pt x="62" y="22"/>
                    <a:pt x="62" y="22"/>
                  </a:cubicBezTo>
                  <a:lnTo>
                    <a:pt x="62" y="62"/>
                  </a:lnTo>
                  <a:close/>
                  <a:moveTo>
                    <a:pt x="106" y="68"/>
                  </a:moveTo>
                  <a:cubicBezTo>
                    <a:pt x="106" y="72"/>
                    <a:pt x="105" y="76"/>
                    <a:pt x="103" y="80"/>
                  </a:cubicBezTo>
                  <a:cubicBezTo>
                    <a:pt x="101" y="85"/>
                    <a:pt x="98" y="90"/>
                    <a:pt x="94" y="94"/>
                  </a:cubicBezTo>
                  <a:cubicBezTo>
                    <a:pt x="90" y="98"/>
                    <a:pt x="85" y="101"/>
                    <a:pt x="80" y="103"/>
                  </a:cubicBezTo>
                  <a:cubicBezTo>
                    <a:pt x="76" y="105"/>
                    <a:pt x="72" y="106"/>
                    <a:pt x="68" y="106"/>
                  </a:cubicBezTo>
                  <a:cubicBezTo>
                    <a:pt x="66" y="106"/>
                    <a:pt x="66" y="106"/>
                    <a:pt x="66" y="106"/>
                  </a:cubicBezTo>
                  <a:cubicBezTo>
                    <a:pt x="66" y="66"/>
                    <a:pt x="66" y="66"/>
                    <a:pt x="66" y="66"/>
                  </a:cubicBezTo>
                  <a:cubicBezTo>
                    <a:pt x="106" y="66"/>
                    <a:pt x="106" y="66"/>
                    <a:pt x="106" y="66"/>
                  </a:cubicBezTo>
                  <a:lnTo>
                    <a:pt x="106" y="68"/>
                  </a:lnTo>
                  <a:close/>
                  <a:moveTo>
                    <a:pt x="66" y="62"/>
                  </a:moveTo>
                  <a:cubicBezTo>
                    <a:pt x="66" y="22"/>
                    <a:pt x="66" y="22"/>
                    <a:pt x="66" y="22"/>
                  </a:cubicBezTo>
                  <a:cubicBezTo>
                    <a:pt x="68" y="22"/>
                    <a:pt x="68" y="22"/>
                    <a:pt x="68" y="22"/>
                  </a:cubicBezTo>
                  <a:cubicBezTo>
                    <a:pt x="72" y="22"/>
                    <a:pt x="76" y="23"/>
                    <a:pt x="80" y="25"/>
                  </a:cubicBezTo>
                  <a:cubicBezTo>
                    <a:pt x="85" y="27"/>
                    <a:pt x="90" y="30"/>
                    <a:pt x="94" y="34"/>
                  </a:cubicBezTo>
                  <a:cubicBezTo>
                    <a:pt x="98" y="38"/>
                    <a:pt x="101" y="43"/>
                    <a:pt x="103" y="48"/>
                  </a:cubicBezTo>
                  <a:cubicBezTo>
                    <a:pt x="105" y="52"/>
                    <a:pt x="106" y="56"/>
                    <a:pt x="106" y="60"/>
                  </a:cubicBezTo>
                  <a:cubicBezTo>
                    <a:pt x="106" y="62"/>
                    <a:pt x="106" y="62"/>
                    <a:pt x="106" y="62"/>
                  </a:cubicBezTo>
                  <a:lnTo>
                    <a:pt x="66" y="62"/>
                  </a:lnTo>
                  <a:close/>
                </a:path>
              </a:pathLst>
            </a:custGeom>
            <a:solidFill>
              <a:srgbClr val="FFFFFF"/>
            </a:solid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grpSp>
        <p:nvGrpSpPr>
          <p:cNvPr id="160" name="组合 159">
            <a:extLst>
              <a:ext uri="{FF2B5EF4-FFF2-40B4-BE49-F238E27FC236}">
                <a16:creationId xmlns:a16="http://schemas.microsoft.com/office/drawing/2014/main" id="{BACBC6F0-2E8A-4C3F-BF13-947A3FA6DD95}"/>
              </a:ext>
            </a:extLst>
          </p:cNvPr>
          <p:cNvGrpSpPr/>
          <p:nvPr/>
        </p:nvGrpSpPr>
        <p:grpSpPr>
          <a:xfrm>
            <a:off x="5525326" y="4091322"/>
            <a:ext cx="504000" cy="504000"/>
            <a:chOff x="4613213" y="5317762"/>
            <a:chExt cx="504000" cy="504000"/>
          </a:xfrm>
        </p:grpSpPr>
        <p:sp>
          <p:nvSpPr>
            <p:cNvPr id="161" name="椭圆 160">
              <a:extLst>
                <a:ext uri="{FF2B5EF4-FFF2-40B4-BE49-F238E27FC236}">
                  <a16:creationId xmlns:a16="http://schemas.microsoft.com/office/drawing/2014/main" id="{E0B40B14-ACBC-4351-AA06-1200D885672E}"/>
                </a:ext>
              </a:extLst>
            </p:cNvPr>
            <p:cNvSpPr/>
            <p:nvPr/>
          </p:nvSpPr>
          <p:spPr>
            <a:xfrm>
              <a:off x="4613213" y="5317762"/>
              <a:ext cx="504000" cy="504000"/>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nvGrpSpPr>
            <p:cNvPr id="162" name="组合 161">
              <a:extLst>
                <a:ext uri="{FF2B5EF4-FFF2-40B4-BE49-F238E27FC236}">
                  <a16:creationId xmlns:a16="http://schemas.microsoft.com/office/drawing/2014/main" id="{2BED6C0D-38BE-443C-BFF9-C239A5939E8C}"/>
                </a:ext>
              </a:extLst>
            </p:cNvPr>
            <p:cNvGrpSpPr>
              <a:grpSpLocks noChangeAspect="1"/>
            </p:cNvGrpSpPr>
            <p:nvPr/>
          </p:nvGrpSpPr>
          <p:grpSpPr>
            <a:xfrm>
              <a:off x="4775213" y="5422357"/>
              <a:ext cx="180000" cy="294810"/>
              <a:chOff x="8350250" y="5110163"/>
              <a:chExt cx="293688" cy="481012"/>
            </a:xfrm>
            <a:solidFill>
              <a:srgbClr val="FFFFFF"/>
            </a:solidFill>
          </p:grpSpPr>
          <p:sp>
            <p:nvSpPr>
              <p:cNvPr id="163" name="Freeform 52">
                <a:extLst>
                  <a:ext uri="{FF2B5EF4-FFF2-40B4-BE49-F238E27FC236}">
                    <a16:creationId xmlns:a16="http://schemas.microsoft.com/office/drawing/2014/main" id="{F142B0DE-6328-46E0-A8FB-8338BE7B0412}"/>
                  </a:ext>
                </a:extLst>
              </p:cNvPr>
              <p:cNvSpPr/>
              <p:nvPr/>
            </p:nvSpPr>
            <p:spPr bwMode="auto">
              <a:xfrm>
                <a:off x="8350250" y="5327650"/>
                <a:ext cx="293688" cy="263525"/>
              </a:xfrm>
              <a:custGeom>
                <a:avLst/>
                <a:gdLst>
                  <a:gd name="T0" fmla="*/ 69 w 78"/>
                  <a:gd name="T1" fmla="*/ 65 h 70"/>
                  <a:gd name="T2" fmla="*/ 41 w 78"/>
                  <a:gd name="T3" fmla="*/ 65 h 70"/>
                  <a:gd name="T4" fmla="*/ 41 w 78"/>
                  <a:gd name="T5" fmla="*/ 43 h 70"/>
                  <a:gd name="T6" fmla="*/ 43 w 78"/>
                  <a:gd name="T7" fmla="*/ 42 h 70"/>
                  <a:gd name="T8" fmla="*/ 78 w 78"/>
                  <a:gd name="T9" fmla="*/ 3 h 70"/>
                  <a:gd name="T10" fmla="*/ 76 w 78"/>
                  <a:gd name="T11" fmla="*/ 0 h 70"/>
                  <a:gd name="T12" fmla="*/ 74 w 78"/>
                  <a:gd name="T13" fmla="*/ 3 h 70"/>
                  <a:gd name="T14" fmla="*/ 64 w 78"/>
                  <a:gd name="T15" fmla="*/ 27 h 70"/>
                  <a:gd name="T16" fmla="*/ 39 w 78"/>
                  <a:gd name="T17" fmla="*/ 38 h 70"/>
                  <a:gd name="T18" fmla="*/ 14 w 78"/>
                  <a:gd name="T19" fmla="*/ 27 h 70"/>
                  <a:gd name="T20" fmla="*/ 4 w 78"/>
                  <a:gd name="T21" fmla="*/ 4 h 70"/>
                  <a:gd name="T22" fmla="*/ 4 w 78"/>
                  <a:gd name="T23" fmla="*/ 3 h 70"/>
                  <a:gd name="T24" fmla="*/ 2 w 78"/>
                  <a:gd name="T25" fmla="*/ 0 h 70"/>
                  <a:gd name="T26" fmla="*/ 0 w 78"/>
                  <a:gd name="T27" fmla="*/ 2 h 70"/>
                  <a:gd name="T28" fmla="*/ 0 w 78"/>
                  <a:gd name="T29" fmla="*/ 4 h 70"/>
                  <a:gd name="T30" fmla="*/ 35 w 78"/>
                  <a:gd name="T31" fmla="*/ 42 h 70"/>
                  <a:gd name="T32" fmla="*/ 37 w 78"/>
                  <a:gd name="T33" fmla="*/ 43 h 70"/>
                  <a:gd name="T34" fmla="*/ 37 w 78"/>
                  <a:gd name="T35" fmla="*/ 65 h 70"/>
                  <a:gd name="T36" fmla="*/ 9 w 78"/>
                  <a:gd name="T37" fmla="*/ 65 h 70"/>
                  <a:gd name="T38" fmla="*/ 7 w 78"/>
                  <a:gd name="T39" fmla="*/ 68 h 70"/>
                  <a:gd name="T40" fmla="*/ 9 w 78"/>
                  <a:gd name="T41" fmla="*/ 70 h 70"/>
                  <a:gd name="T42" fmla="*/ 69 w 78"/>
                  <a:gd name="T43" fmla="*/ 70 h 70"/>
                  <a:gd name="T44" fmla="*/ 71 w 78"/>
                  <a:gd name="T45" fmla="*/ 68 h 70"/>
                  <a:gd name="T46" fmla="*/ 69 w 78"/>
                  <a:gd name="T47" fmla="*/ 65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8" h="70">
                    <a:moveTo>
                      <a:pt x="69" y="65"/>
                    </a:moveTo>
                    <a:cubicBezTo>
                      <a:pt x="41" y="65"/>
                      <a:pt x="41" y="65"/>
                      <a:pt x="41" y="65"/>
                    </a:cubicBezTo>
                    <a:cubicBezTo>
                      <a:pt x="41" y="43"/>
                      <a:pt x="41" y="43"/>
                      <a:pt x="41" y="43"/>
                    </a:cubicBezTo>
                    <a:cubicBezTo>
                      <a:pt x="43" y="42"/>
                      <a:pt x="43" y="42"/>
                      <a:pt x="43" y="42"/>
                    </a:cubicBezTo>
                    <a:cubicBezTo>
                      <a:pt x="63" y="40"/>
                      <a:pt x="78" y="23"/>
                      <a:pt x="78" y="3"/>
                    </a:cubicBezTo>
                    <a:cubicBezTo>
                      <a:pt x="78" y="2"/>
                      <a:pt x="77" y="0"/>
                      <a:pt x="76" y="0"/>
                    </a:cubicBezTo>
                    <a:cubicBezTo>
                      <a:pt x="75" y="0"/>
                      <a:pt x="74" y="2"/>
                      <a:pt x="74" y="3"/>
                    </a:cubicBezTo>
                    <a:cubicBezTo>
                      <a:pt x="74" y="12"/>
                      <a:pt x="70" y="21"/>
                      <a:pt x="64" y="27"/>
                    </a:cubicBezTo>
                    <a:cubicBezTo>
                      <a:pt x="57" y="34"/>
                      <a:pt x="48" y="38"/>
                      <a:pt x="39" y="38"/>
                    </a:cubicBezTo>
                    <a:cubicBezTo>
                      <a:pt x="30" y="38"/>
                      <a:pt x="21" y="34"/>
                      <a:pt x="14" y="27"/>
                    </a:cubicBezTo>
                    <a:cubicBezTo>
                      <a:pt x="8" y="21"/>
                      <a:pt x="5" y="13"/>
                      <a:pt x="4" y="4"/>
                    </a:cubicBezTo>
                    <a:cubicBezTo>
                      <a:pt x="4" y="3"/>
                      <a:pt x="4" y="3"/>
                      <a:pt x="4" y="3"/>
                    </a:cubicBezTo>
                    <a:cubicBezTo>
                      <a:pt x="4" y="1"/>
                      <a:pt x="3" y="0"/>
                      <a:pt x="2" y="0"/>
                    </a:cubicBezTo>
                    <a:cubicBezTo>
                      <a:pt x="1" y="0"/>
                      <a:pt x="0" y="1"/>
                      <a:pt x="0" y="2"/>
                    </a:cubicBezTo>
                    <a:cubicBezTo>
                      <a:pt x="0" y="4"/>
                      <a:pt x="0" y="4"/>
                      <a:pt x="0" y="4"/>
                    </a:cubicBezTo>
                    <a:cubicBezTo>
                      <a:pt x="0" y="24"/>
                      <a:pt x="15" y="40"/>
                      <a:pt x="35" y="42"/>
                    </a:cubicBezTo>
                    <a:cubicBezTo>
                      <a:pt x="37" y="43"/>
                      <a:pt x="37" y="43"/>
                      <a:pt x="37" y="43"/>
                    </a:cubicBezTo>
                    <a:cubicBezTo>
                      <a:pt x="37" y="65"/>
                      <a:pt x="37" y="65"/>
                      <a:pt x="37" y="65"/>
                    </a:cubicBezTo>
                    <a:cubicBezTo>
                      <a:pt x="9" y="65"/>
                      <a:pt x="9" y="65"/>
                      <a:pt x="9" y="65"/>
                    </a:cubicBezTo>
                    <a:cubicBezTo>
                      <a:pt x="8" y="65"/>
                      <a:pt x="7" y="66"/>
                      <a:pt x="7" y="68"/>
                    </a:cubicBezTo>
                    <a:cubicBezTo>
                      <a:pt x="7" y="69"/>
                      <a:pt x="8" y="70"/>
                      <a:pt x="9" y="70"/>
                    </a:cubicBezTo>
                    <a:cubicBezTo>
                      <a:pt x="69" y="70"/>
                      <a:pt x="69" y="70"/>
                      <a:pt x="69" y="70"/>
                    </a:cubicBezTo>
                    <a:cubicBezTo>
                      <a:pt x="70" y="70"/>
                      <a:pt x="71" y="69"/>
                      <a:pt x="71" y="68"/>
                    </a:cubicBezTo>
                    <a:cubicBezTo>
                      <a:pt x="71" y="66"/>
                      <a:pt x="70" y="65"/>
                      <a:pt x="69" y="65"/>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4" name="Freeform 53">
                <a:extLst>
                  <a:ext uri="{FF2B5EF4-FFF2-40B4-BE49-F238E27FC236}">
                    <a16:creationId xmlns:a16="http://schemas.microsoft.com/office/drawing/2014/main" id="{40D6FBCE-208C-401C-84C7-607951DA20CD}"/>
                  </a:ext>
                </a:extLst>
              </p:cNvPr>
              <p:cNvSpPr>
                <a:spLocks noEditPoints="1"/>
              </p:cNvSpPr>
              <p:nvPr/>
            </p:nvSpPr>
            <p:spPr bwMode="auto">
              <a:xfrm>
                <a:off x="8402638" y="5110163"/>
                <a:ext cx="187325" cy="319088"/>
              </a:xfrm>
              <a:custGeom>
                <a:avLst/>
                <a:gdLst>
                  <a:gd name="T0" fmla="*/ 25 w 50"/>
                  <a:gd name="T1" fmla="*/ 85 h 85"/>
                  <a:gd name="T2" fmla="*/ 50 w 50"/>
                  <a:gd name="T3" fmla="*/ 61 h 85"/>
                  <a:gd name="T4" fmla="*/ 50 w 50"/>
                  <a:gd name="T5" fmla="*/ 25 h 85"/>
                  <a:gd name="T6" fmla="*/ 25 w 50"/>
                  <a:gd name="T7" fmla="*/ 0 h 85"/>
                  <a:gd name="T8" fmla="*/ 0 w 50"/>
                  <a:gd name="T9" fmla="*/ 25 h 85"/>
                  <a:gd name="T10" fmla="*/ 0 w 50"/>
                  <a:gd name="T11" fmla="*/ 61 h 85"/>
                  <a:gd name="T12" fmla="*/ 25 w 50"/>
                  <a:gd name="T13" fmla="*/ 85 h 85"/>
                  <a:gd name="T14" fmla="*/ 7 w 50"/>
                  <a:gd name="T15" fmla="*/ 16 h 85"/>
                  <a:gd name="T16" fmla="*/ 11 w 50"/>
                  <a:gd name="T17" fmla="*/ 10 h 85"/>
                  <a:gd name="T18" fmla="*/ 25 w 50"/>
                  <a:gd name="T19" fmla="*/ 5 h 85"/>
                  <a:gd name="T20" fmla="*/ 39 w 50"/>
                  <a:gd name="T21" fmla="*/ 10 h 85"/>
                  <a:gd name="T22" fmla="*/ 43 w 50"/>
                  <a:gd name="T23" fmla="*/ 16 h 85"/>
                  <a:gd name="T24" fmla="*/ 44 w 50"/>
                  <a:gd name="T25" fmla="*/ 18 h 85"/>
                  <a:gd name="T26" fmla="*/ 6 w 50"/>
                  <a:gd name="T27" fmla="*/ 18 h 85"/>
                  <a:gd name="T28" fmla="*/ 7 w 50"/>
                  <a:gd name="T29" fmla="*/ 16 h 85"/>
                  <a:gd name="T30" fmla="*/ 5 w 50"/>
                  <a:gd name="T31" fmla="*/ 23 h 85"/>
                  <a:gd name="T32" fmla="*/ 45 w 50"/>
                  <a:gd name="T33" fmla="*/ 23 h 85"/>
                  <a:gd name="T34" fmla="*/ 45 w 50"/>
                  <a:gd name="T35" fmla="*/ 25 h 85"/>
                  <a:gd name="T36" fmla="*/ 45 w 50"/>
                  <a:gd name="T37" fmla="*/ 33 h 85"/>
                  <a:gd name="T38" fmla="*/ 5 w 50"/>
                  <a:gd name="T39" fmla="*/ 33 h 85"/>
                  <a:gd name="T40" fmla="*/ 5 w 50"/>
                  <a:gd name="T41" fmla="*/ 23 h 85"/>
                  <a:gd name="T42" fmla="*/ 5 w 50"/>
                  <a:gd name="T43" fmla="*/ 37 h 85"/>
                  <a:gd name="T44" fmla="*/ 45 w 50"/>
                  <a:gd name="T45" fmla="*/ 37 h 85"/>
                  <a:gd name="T46" fmla="*/ 45 w 50"/>
                  <a:gd name="T47" fmla="*/ 48 h 85"/>
                  <a:gd name="T48" fmla="*/ 5 w 50"/>
                  <a:gd name="T49" fmla="*/ 48 h 85"/>
                  <a:gd name="T50" fmla="*/ 5 w 50"/>
                  <a:gd name="T51" fmla="*/ 37 h 85"/>
                  <a:gd name="T52" fmla="*/ 5 w 50"/>
                  <a:gd name="T53" fmla="*/ 61 h 85"/>
                  <a:gd name="T54" fmla="*/ 5 w 50"/>
                  <a:gd name="T55" fmla="*/ 52 h 85"/>
                  <a:gd name="T56" fmla="*/ 45 w 50"/>
                  <a:gd name="T57" fmla="*/ 52 h 85"/>
                  <a:gd name="T58" fmla="*/ 45 w 50"/>
                  <a:gd name="T59" fmla="*/ 63 h 85"/>
                  <a:gd name="T60" fmla="*/ 5 w 50"/>
                  <a:gd name="T61" fmla="*/ 63 h 85"/>
                  <a:gd name="T62" fmla="*/ 5 w 50"/>
                  <a:gd name="T63" fmla="*/ 61 h 85"/>
                  <a:gd name="T64" fmla="*/ 6 w 50"/>
                  <a:gd name="T65" fmla="*/ 67 h 85"/>
                  <a:gd name="T66" fmla="*/ 44 w 50"/>
                  <a:gd name="T67" fmla="*/ 67 h 85"/>
                  <a:gd name="T68" fmla="*/ 43 w 50"/>
                  <a:gd name="T69" fmla="*/ 69 h 85"/>
                  <a:gd name="T70" fmla="*/ 39 w 50"/>
                  <a:gd name="T71" fmla="*/ 75 h 85"/>
                  <a:gd name="T72" fmla="*/ 25 w 50"/>
                  <a:gd name="T73" fmla="*/ 81 h 85"/>
                  <a:gd name="T74" fmla="*/ 11 w 50"/>
                  <a:gd name="T75" fmla="*/ 75 h 85"/>
                  <a:gd name="T76" fmla="*/ 7 w 50"/>
                  <a:gd name="T77" fmla="*/ 69 h 85"/>
                  <a:gd name="T78" fmla="*/ 6 w 50"/>
                  <a:gd name="T79" fmla="*/ 67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0" h="85">
                    <a:moveTo>
                      <a:pt x="25" y="85"/>
                    </a:moveTo>
                    <a:cubicBezTo>
                      <a:pt x="39" y="85"/>
                      <a:pt x="50" y="74"/>
                      <a:pt x="50" y="61"/>
                    </a:cubicBezTo>
                    <a:cubicBezTo>
                      <a:pt x="50" y="25"/>
                      <a:pt x="50" y="25"/>
                      <a:pt x="50" y="25"/>
                    </a:cubicBezTo>
                    <a:cubicBezTo>
                      <a:pt x="50" y="11"/>
                      <a:pt x="39" y="0"/>
                      <a:pt x="25" y="0"/>
                    </a:cubicBezTo>
                    <a:cubicBezTo>
                      <a:pt x="11" y="0"/>
                      <a:pt x="0" y="11"/>
                      <a:pt x="0" y="25"/>
                    </a:cubicBezTo>
                    <a:cubicBezTo>
                      <a:pt x="0" y="61"/>
                      <a:pt x="0" y="61"/>
                      <a:pt x="0" y="61"/>
                    </a:cubicBezTo>
                    <a:cubicBezTo>
                      <a:pt x="0" y="74"/>
                      <a:pt x="11" y="85"/>
                      <a:pt x="25" y="85"/>
                    </a:cubicBezTo>
                    <a:close/>
                    <a:moveTo>
                      <a:pt x="7" y="16"/>
                    </a:moveTo>
                    <a:cubicBezTo>
                      <a:pt x="8" y="14"/>
                      <a:pt x="9" y="12"/>
                      <a:pt x="11" y="10"/>
                    </a:cubicBezTo>
                    <a:cubicBezTo>
                      <a:pt x="15" y="7"/>
                      <a:pt x="20" y="5"/>
                      <a:pt x="25" y="5"/>
                    </a:cubicBezTo>
                    <a:cubicBezTo>
                      <a:pt x="30" y="5"/>
                      <a:pt x="35" y="7"/>
                      <a:pt x="39" y="10"/>
                    </a:cubicBezTo>
                    <a:cubicBezTo>
                      <a:pt x="41" y="12"/>
                      <a:pt x="42" y="14"/>
                      <a:pt x="43" y="16"/>
                    </a:cubicBezTo>
                    <a:cubicBezTo>
                      <a:pt x="44" y="18"/>
                      <a:pt x="44" y="18"/>
                      <a:pt x="44" y="18"/>
                    </a:cubicBezTo>
                    <a:cubicBezTo>
                      <a:pt x="6" y="18"/>
                      <a:pt x="6" y="18"/>
                      <a:pt x="6" y="18"/>
                    </a:cubicBezTo>
                    <a:lnTo>
                      <a:pt x="7" y="16"/>
                    </a:lnTo>
                    <a:close/>
                    <a:moveTo>
                      <a:pt x="5" y="23"/>
                    </a:moveTo>
                    <a:cubicBezTo>
                      <a:pt x="45" y="23"/>
                      <a:pt x="45" y="23"/>
                      <a:pt x="45" y="23"/>
                    </a:cubicBezTo>
                    <a:cubicBezTo>
                      <a:pt x="45" y="25"/>
                      <a:pt x="45" y="25"/>
                      <a:pt x="45" y="25"/>
                    </a:cubicBezTo>
                    <a:cubicBezTo>
                      <a:pt x="45" y="33"/>
                      <a:pt x="45" y="33"/>
                      <a:pt x="45" y="33"/>
                    </a:cubicBezTo>
                    <a:cubicBezTo>
                      <a:pt x="5" y="33"/>
                      <a:pt x="5" y="33"/>
                      <a:pt x="5" y="33"/>
                    </a:cubicBezTo>
                    <a:lnTo>
                      <a:pt x="5" y="23"/>
                    </a:lnTo>
                    <a:close/>
                    <a:moveTo>
                      <a:pt x="5" y="37"/>
                    </a:moveTo>
                    <a:cubicBezTo>
                      <a:pt x="45" y="37"/>
                      <a:pt x="45" y="37"/>
                      <a:pt x="45" y="37"/>
                    </a:cubicBezTo>
                    <a:cubicBezTo>
                      <a:pt x="45" y="48"/>
                      <a:pt x="45" y="48"/>
                      <a:pt x="45" y="48"/>
                    </a:cubicBezTo>
                    <a:cubicBezTo>
                      <a:pt x="5" y="48"/>
                      <a:pt x="5" y="48"/>
                      <a:pt x="5" y="48"/>
                    </a:cubicBezTo>
                    <a:lnTo>
                      <a:pt x="5" y="37"/>
                    </a:lnTo>
                    <a:close/>
                    <a:moveTo>
                      <a:pt x="5" y="61"/>
                    </a:moveTo>
                    <a:cubicBezTo>
                      <a:pt x="5" y="52"/>
                      <a:pt x="5" y="52"/>
                      <a:pt x="5" y="52"/>
                    </a:cubicBezTo>
                    <a:cubicBezTo>
                      <a:pt x="45" y="52"/>
                      <a:pt x="45" y="52"/>
                      <a:pt x="45" y="52"/>
                    </a:cubicBezTo>
                    <a:cubicBezTo>
                      <a:pt x="45" y="63"/>
                      <a:pt x="45" y="63"/>
                      <a:pt x="45" y="63"/>
                    </a:cubicBezTo>
                    <a:cubicBezTo>
                      <a:pt x="5" y="63"/>
                      <a:pt x="5" y="63"/>
                      <a:pt x="5" y="63"/>
                    </a:cubicBezTo>
                    <a:lnTo>
                      <a:pt x="5" y="61"/>
                    </a:lnTo>
                    <a:close/>
                    <a:moveTo>
                      <a:pt x="6" y="67"/>
                    </a:moveTo>
                    <a:cubicBezTo>
                      <a:pt x="44" y="67"/>
                      <a:pt x="44" y="67"/>
                      <a:pt x="44" y="67"/>
                    </a:cubicBezTo>
                    <a:cubicBezTo>
                      <a:pt x="43" y="69"/>
                      <a:pt x="43" y="69"/>
                      <a:pt x="43" y="69"/>
                    </a:cubicBezTo>
                    <a:cubicBezTo>
                      <a:pt x="42" y="71"/>
                      <a:pt x="41" y="73"/>
                      <a:pt x="39" y="75"/>
                    </a:cubicBezTo>
                    <a:cubicBezTo>
                      <a:pt x="35" y="79"/>
                      <a:pt x="30" y="81"/>
                      <a:pt x="25" y="81"/>
                    </a:cubicBezTo>
                    <a:cubicBezTo>
                      <a:pt x="20" y="81"/>
                      <a:pt x="15" y="79"/>
                      <a:pt x="11" y="75"/>
                    </a:cubicBezTo>
                    <a:cubicBezTo>
                      <a:pt x="9" y="73"/>
                      <a:pt x="8" y="71"/>
                      <a:pt x="7" y="69"/>
                    </a:cubicBezTo>
                    <a:lnTo>
                      <a:pt x="6" y="67"/>
                    </a:ln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grpSp>
      <p:grpSp>
        <p:nvGrpSpPr>
          <p:cNvPr id="179" name="组合 178">
            <a:extLst>
              <a:ext uri="{FF2B5EF4-FFF2-40B4-BE49-F238E27FC236}">
                <a16:creationId xmlns:a16="http://schemas.microsoft.com/office/drawing/2014/main" id="{F4C42BD7-F7F6-4EBD-AEA4-AA8B327BE9AE}"/>
              </a:ext>
            </a:extLst>
          </p:cNvPr>
          <p:cNvGrpSpPr/>
          <p:nvPr/>
        </p:nvGrpSpPr>
        <p:grpSpPr>
          <a:xfrm>
            <a:off x="6114780" y="2114942"/>
            <a:ext cx="1009358" cy="498475"/>
            <a:chOff x="11810" y="2603"/>
            <a:chExt cx="5155" cy="785"/>
          </a:xfrm>
        </p:grpSpPr>
        <p:sp>
          <p:nvSpPr>
            <p:cNvPr id="180" name="文本框 179">
              <a:extLst>
                <a:ext uri="{FF2B5EF4-FFF2-40B4-BE49-F238E27FC236}">
                  <a16:creationId xmlns:a16="http://schemas.microsoft.com/office/drawing/2014/main" id="{D0E8183B-FF09-4101-81AA-4AB1FE5D24CC}"/>
                </a:ext>
              </a:extLst>
            </p:cNvPr>
            <p:cNvSpPr txBox="1"/>
            <p:nvPr/>
          </p:nvSpPr>
          <p:spPr>
            <a:xfrm>
              <a:off x="11810" y="2603"/>
              <a:ext cx="5155" cy="387"/>
            </a:xfrm>
            <a:prstGeom prst="rect">
              <a:avLst/>
            </a:prstGeom>
            <a:noFill/>
          </p:spPr>
          <p:txBody>
            <a:bodyPr wrap="square" lIns="0" tIns="0" rIns="0" bIns="0" rtlCol="0">
              <a:spAutoFit/>
            </a:bodyPr>
            <a:lstStyle/>
            <a:p>
              <a:pPr fontAlgn="auto">
                <a:spcBef>
                  <a:spcPts val="0"/>
                </a:spcBef>
                <a:spcAft>
                  <a:spcPts val="0"/>
                </a:spcAft>
              </a:pPr>
              <a:r>
                <a:rPr lang="zh-CN" altLang="en-US" sz="1600" b="1" spc="300" dirty="0">
                  <a:solidFill>
                    <a:schemeClr val="accent4"/>
                  </a:solidFill>
                  <a:latin typeface="微软雅黑" panose="020B0503020204020204" pitchFamily="34" charset="-122"/>
                  <a:ea typeface="微软雅黑" panose="020B0503020204020204" pitchFamily="34" charset="-122"/>
                </a:rPr>
                <a:t>显示屏</a:t>
              </a:r>
              <a:endParaRPr lang="en-US" altLang="zh-CN" sz="1600" b="1" spc="300" dirty="0">
                <a:solidFill>
                  <a:schemeClr val="accent4"/>
                </a:solidFill>
                <a:latin typeface="微软雅黑" panose="020B0503020204020204" pitchFamily="34" charset="-122"/>
                <a:ea typeface="微软雅黑" panose="020B0503020204020204" pitchFamily="34" charset="-122"/>
              </a:endParaRPr>
            </a:p>
          </p:txBody>
        </p:sp>
        <p:sp>
          <p:nvSpPr>
            <p:cNvPr id="181" name="文本框 180">
              <a:extLst>
                <a:ext uri="{FF2B5EF4-FFF2-40B4-BE49-F238E27FC236}">
                  <a16:creationId xmlns:a16="http://schemas.microsoft.com/office/drawing/2014/main" id="{A8E13067-9A54-44A0-AA74-30AA822DCE4A}"/>
                </a:ext>
              </a:extLst>
            </p:cNvPr>
            <p:cNvSpPr txBox="1"/>
            <p:nvPr/>
          </p:nvSpPr>
          <p:spPr>
            <a:xfrm>
              <a:off x="11810" y="2990"/>
              <a:ext cx="5155" cy="398"/>
            </a:xfrm>
            <a:prstGeom prst="rect">
              <a:avLst/>
            </a:prstGeom>
            <a:noFill/>
          </p:spPr>
          <p:txBody>
            <a:bodyPr wrap="square" lIns="0" tIns="0" rIns="0" bIns="0" rtlCol="0">
              <a:spAutoFit/>
            </a:bodyPr>
            <a:lstStyle>
              <a:defPPr>
                <a:defRPr lang="zh-CN"/>
              </a:defPPr>
              <a:lvl1pPr algn="just">
                <a:lnSpc>
                  <a:spcPct val="130000"/>
                </a:lnSpc>
                <a:defRPr sz="1400" spc="300">
                  <a:solidFill>
                    <a:schemeClr val="tx1">
                      <a:lumMod val="85000"/>
                      <a:lumOff val="15000"/>
                    </a:schemeClr>
                  </a:solidFill>
                </a:defRPr>
              </a:lvl1pPr>
            </a:lstStyle>
            <a:p>
              <a:pPr algn="l" eaLnBrk="1" fontAlgn="auto" hangingPunct="1">
                <a:spcBef>
                  <a:spcPts val="0"/>
                </a:spcBef>
                <a:spcAft>
                  <a:spcPts val="0"/>
                </a:spcAft>
              </a:pPr>
              <a:r>
                <a:rPr lang="en-US" altLang="zh-CN" dirty="0">
                  <a:solidFill>
                    <a:schemeClr val="tx1"/>
                  </a:solidFill>
                  <a:latin typeface="微软雅黑" panose="020B0503020204020204" pitchFamily="34" charset="-122"/>
                  <a:ea typeface="微软雅黑" panose="020B0503020204020204" pitchFamily="34" charset="-122"/>
                </a:rPr>
                <a:t>LCD</a:t>
              </a:r>
            </a:p>
          </p:txBody>
        </p:sp>
      </p:grpSp>
      <p:sp>
        <p:nvSpPr>
          <p:cNvPr id="184" name="文本框 183">
            <a:extLst>
              <a:ext uri="{FF2B5EF4-FFF2-40B4-BE49-F238E27FC236}">
                <a16:creationId xmlns:a16="http://schemas.microsoft.com/office/drawing/2014/main" id="{C40ACB9E-FBB4-425F-8E50-D964078B7B19}"/>
              </a:ext>
            </a:extLst>
          </p:cNvPr>
          <p:cNvSpPr txBox="1"/>
          <p:nvPr/>
        </p:nvSpPr>
        <p:spPr>
          <a:xfrm>
            <a:off x="6171934" y="4166063"/>
            <a:ext cx="1707860" cy="252730"/>
          </a:xfrm>
          <a:prstGeom prst="rect">
            <a:avLst/>
          </a:prstGeom>
          <a:noFill/>
        </p:spPr>
        <p:txBody>
          <a:bodyPr wrap="square" lIns="0" tIns="0" rIns="0" bIns="0" rtlCol="0">
            <a:spAutoFit/>
          </a:bodyPr>
          <a:lstStyle>
            <a:defPPr>
              <a:defRPr lang="zh-CN"/>
            </a:defPPr>
            <a:lvl1pPr algn="just">
              <a:lnSpc>
                <a:spcPct val="130000"/>
              </a:lnSpc>
              <a:defRPr sz="1400" spc="300">
                <a:solidFill>
                  <a:schemeClr val="tx1">
                    <a:lumMod val="85000"/>
                    <a:lumOff val="15000"/>
                  </a:schemeClr>
                </a:solidFill>
              </a:defRPr>
            </a:lvl1pPr>
          </a:lstStyle>
          <a:p>
            <a:pPr algn="l" eaLnBrk="1" fontAlgn="auto" hangingPunct="1">
              <a:spcBef>
                <a:spcPts val="0"/>
              </a:spcBef>
              <a:spcAft>
                <a:spcPts val="0"/>
              </a:spcAft>
            </a:pPr>
            <a:r>
              <a:rPr lang="zh-CN" altLang="en-US" dirty="0">
                <a:solidFill>
                  <a:schemeClr val="tx1"/>
                </a:solidFill>
                <a:latin typeface="微软雅黑" panose="020B0503020204020204" pitchFamily="34" charset="-122"/>
                <a:ea typeface="微软雅黑" panose="020B0503020204020204" pitchFamily="34" charset="-122"/>
              </a:rPr>
              <a:t>TDLAS遥测模块</a:t>
            </a:r>
          </a:p>
        </p:txBody>
      </p:sp>
      <p:grpSp>
        <p:nvGrpSpPr>
          <p:cNvPr id="185" name="组合 184">
            <a:extLst>
              <a:ext uri="{FF2B5EF4-FFF2-40B4-BE49-F238E27FC236}">
                <a16:creationId xmlns:a16="http://schemas.microsoft.com/office/drawing/2014/main" id="{8AB1722D-5EFB-4AA9-883F-EDD11A060BA9}"/>
              </a:ext>
            </a:extLst>
          </p:cNvPr>
          <p:cNvGrpSpPr/>
          <p:nvPr/>
        </p:nvGrpSpPr>
        <p:grpSpPr>
          <a:xfrm>
            <a:off x="6155284" y="3166208"/>
            <a:ext cx="2033004" cy="498475"/>
            <a:chOff x="11831" y="1941"/>
            <a:chExt cx="5181" cy="785"/>
          </a:xfrm>
        </p:grpSpPr>
        <p:sp>
          <p:nvSpPr>
            <p:cNvPr id="186" name="文本框 185">
              <a:extLst>
                <a:ext uri="{FF2B5EF4-FFF2-40B4-BE49-F238E27FC236}">
                  <a16:creationId xmlns:a16="http://schemas.microsoft.com/office/drawing/2014/main" id="{1CDB8F85-F7CA-4EED-A394-15CBA92132F0}"/>
                </a:ext>
              </a:extLst>
            </p:cNvPr>
            <p:cNvSpPr txBox="1"/>
            <p:nvPr/>
          </p:nvSpPr>
          <p:spPr>
            <a:xfrm>
              <a:off x="11857" y="1941"/>
              <a:ext cx="5155" cy="776"/>
            </a:xfrm>
            <a:prstGeom prst="rect">
              <a:avLst/>
            </a:prstGeom>
            <a:noFill/>
          </p:spPr>
          <p:txBody>
            <a:bodyPr wrap="square" lIns="0" tIns="0" rIns="0" bIns="0" rtlCol="0">
              <a:spAutoFit/>
            </a:bodyPr>
            <a:lstStyle/>
            <a:p>
              <a:pPr fontAlgn="auto">
                <a:spcBef>
                  <a:spcPts val="0"/>
                </a:spcBef>
                <a:spcAft>
                  <a:spcPts val="0"/>
                </a:spcAft>
              </a:pPr>
              <a:r>
                <a:rPr lang="zh-CN" altLang="en-US" sz="1600" b="1" spc="300" dirty="0">
                  <a:solidFill>
                    <a:schemeClr val="accent4"/>
                  </a:solidFill>
                  <a:latin typeface="微软雅黑" panose="020B0503020204020204" pitchFamily="34" charset="-122"/>
                  <a:ea typeface="微软雅黑" panose="020B0503020204020204" pitchFamily="34" charset="-122"/>
                </a:rPr>
                <a:t>六轴传感器传感器</a:t>
              </a:r>
            </a:p>
          </p:txBody>
        </p:sp>
        <p:sp>
          <p:nvSpPr>
            <p:cNvPr id="187" name="文本框 186">
              <a:extLst>
                <a:ext uri="{FF2B5EF4-FFF2-40B4-BE49-F238E27FC236}">
                  <a16:creationId xmlns:a16="http://schemas.microsoft.com/office/drawing/2014/main" id="{699DCF94-781F-4C5F-82F8-4F339FB22ACC}"/>
                </a:ext>
              </a:extLst>
            </p:cNvPr>
            <p:cNvSpPr txBox="1"/>
            <p:nvPr/>
          </p:nvSpPr>
          <p:spPr>
            <a:xfrm>
              <a:off x="11831" y="2328"/>
              <a:ext cx="5155" cy="398"/>
            </a:xfrm>
            <a:prstGeom prst="rect">
              <a:avLst/>
            </a:prstGeom>
            <a:noFill/>
          </p:spPr>
          <p:txBody>
            <a:bodyPr wrap="square" lIns="0" tIns="0" rIns="0" bIns="0" rtlCol="0">
              <a:spAutoFit/>
            </a:bodyPr>
            <a:lstStyle>
              <a:defPPr>
                <a:defRPr lang="zh-CN"/>
              </a:defPPr>
              <a:lvl1pPr algn="just">
                <a:lnSpc>
                  <a:spcPct val="130000"/>
                </a:lnSpc>
                <a:defRPr sz="1400" spc="300">
                  <a:solidFill>
                    <a:schemeClr val="tx1">
                      <a:lumMod val="85000"/>
                      <a:lumOff val="15000"/>
                    </a:schemeClr>
                  </a:solidFill>
                </a:defRPr>
              </a:lvl1pPr>
            </a:lstStyle>
            <a:p>
              <a:pPr algn="l" eaLnBrk="1" fontAlgn="auto" hangingPunct="1">
                <a:spcBef>
                  <a:spcPts val="0"/>
                </a:spcBef>
                <a:spcAft>
                  <a:spcPts val="0"/>
                </a:spcAft>
              </a:pPr>
              <a:r>
                <a:rPr lang="en-US" altLang="zh-CN" dirty="0">
                  <a:solidFill>
                    <a:schemeClr val="tx1"/>
                  </a:solidFill>
                  <a:latin typeface="微软雅黑" panose="020B0503020204020204" pitchFamily="34" charset="-122"/>
                  <a:ea typeface="微软雅黑" panose="020B0503020204020204" pitchFamily="34" charset="-122"/>
                </a:rPr>
                <a:t>MPU6050</a:t>
              </a:r>
            </a:p>
          </p:txBody>
        </p:sp>
      </p:grpSp>
      <p:sp>
        <p:nvSpPr>
          <p:cNvPr id="189" name="文本框 188">
            <a:extLst>
              <a:ext uri="{FF2B5EF4-FFF2-40B4-BE49-F238E27FC236}">
                <a16:creationId xmlns:a16="http://schemas.microsoft.com/office/drawing/2014/main" id="{67BDAA37-E40B-4414-A143-77808BCABAF4}"/>
              </a:ext>
            </a:extLst>
          </p:cNvPr>
          <p:cNvSpPr txBox="1"/>
          <p:nvPr/>
        </p:nvSpPr>
        <p:spPr>
          <a:xfrm>
            <a:off x="6239814" y="5199473"/>
            <a:ext cx="1085189" cy="246221"/>
          </a:xfrm>
          <a:prstGeom prst="rect">
            <a:avLst/>
          </a:prstGeom>
          <a:noFill/>
        </p:spPr>
        <p:txBody>
          <a:bodyPr wrap="square" lIns="0" tIns="0" rIns="0" bIns="0" rtlCol="0">
            <a:spAutoFit/>
          </a:bodyPr>
          <a:lstStyle/>
          <a:p>
            <a:pPr fontAlgn="auto">
              <a:spcBef>
                <a:spcPts val="0"/>
              </a:spcBef>
              <a:spcAft>
                <a:spcPts val="0"/>
              </a:spcAft>
            </a:pPr>
            <a:r>
              <a:rPr lang="zh-CN" altLang="en-US" sz="1600" b="1" spc="300" dirty="0">
                <a:solidFill>
                  <a:schemeClr val="accent4"/>
                </a:solidFill>
                <a:latin typeface="微软雅黑" panose="020B0503020204020204" pitchFamily="34" charset="-122"/>
                <a:ea typeface="微软雅黑" panose="020B0503020204020204" pitchFamily="34" charset="-122"/>
              </a:rPr>
              <a:t>智能云台</a:t>
            </a:r>
          </a:p>
        </p:txBody>
      </p:sp>
      <p:pic>
        <p:nvPicPr>
          <p:cNvPr id="197" name="图片 196">
            <a:extLst>
              <a:ext uri="{FF2B5EF4-FFF2-40B4-BE49-F238E27FC236}">
                <a16:creationId xmlns:a16="http://schemas.microsoft.com/office/drawing/2014/main" id="{03AB1C68-5851-4332-B332-27502D8818DA}"/>
              </a:ext>
            </a:extLst>
          </p:cNvPr>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283174" y="5201538"/>
            <a:ext cx="1531613" cy="1007510"/>
          </a:xfrm>
          <a:prstGeom prst="rect">
            <a:avLst/>
          </a:prstGeom>
          <a:noFill/>
          <a:ln>
            <a:noFill/>
          </a:ln>
        </p:spPr>
      </p:pic>
      <p:pic>
        <p:nvPicPr>
          <p:cNvPr id="3" name="图片 2">
            <a:extLst>
              <a:ext uri="{FF2B5EF4-FFF2-40B4-BE49-F238E27FC236}">
                <a16:creationId xmlns:a16="http://schemas.microsoft.com/office/drawing/2014/main" id="{99068CD1-C918-4221-853E-D8501693B9F8}"/>
              </a:ext>
            </a:extLst>
          </p:cNvPr>
          <p:cNvPicPr>
            <a:picLocks noChangeAspect="1"/>
          </p:cNvPicPr>
          <p:nvPr/>
        </p:nvPicPr>
        <p:blipFill>
          <a:blip r:embed="rId11"/>
          <a:stretch>
            <a:fillRect/>
          </a:stretch>
        </p:blipFill>
        <p:spPr>
          <a:xfrm>
            <a:off x="8223254" y="2964211"/>
            <a:ext cx="808592" cy="634903"/>
          </a:xfrm>
          <a:prstGeom prst="rect">
            <a:avLst/>
          </a:prstGeom>
        </p:spPr>
      </p:pic>
      <p:pic>
        <p:nvPicPr>
          <p:cNvPr id="199" name="图片 198">
            <a:extLst>
              <a:ext uri="{FF2B5EF4-FFF2-40B4-BE49-F238E27FC236}">
                <a16:creationId xmlns:a16="http://schemas.microsoft.com/office/drawing/2014/main" id="{88005307-CEA4-4A24-AF07-524644ABEFB9}"/>
              </a:ext>
            </a:extLst>
          </p:cNvPr>
          <p:cNvPicPr/>
          <p:nvPr/>
        </p:nvPicPr>
        <p:blipFill rotWithShape="1">
          <a:blip r:embed="rId12" cstate="print">
            <a:extLst>
              <a:ext uri="{28A0092B-C50C-407E-A947-70E740481C1C}">
                <a14:useLocalDpi xmlns:a14="http://schemas.microsoft.com/office/drawing/2010/main" val="0"/>
              </a:ext>
            </a:extLst>
          </a:blip>
          <a:srcRect l="16998" t="23067" r="21519" b="9905"/>
          <a:stretch/>
        </p:blipFill>
        <p:spPr bwMode="auto">
          <a:xfrm>
            <a:off x="8057564" y="1773026"/>
            <a:ext cx="696072" cy="85198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584597047"/>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00BF4D4A-8C38-4B6F-97B7-6275CE1792BE}"/>
              </a:ext>
            </a:extLst>
          </p:cNvPr>
          <p:cNvSpPr>
            <a:spLocks noChangeArrowheads="1"/>
          </p:cNvSpPr>
          <p:nvPr/>
        </p:nvSpPr>
        <p:spPr bwMode="auto">
          <a:xfrm>
            <a:off x="2366962" y="85601"/>
            <a:ext cx="6732129" cy="800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152352" bIns="152352"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Arial" panose="020B0604020202020204" pitchFamily="34" charset="0"/>
              <a:buNone/>
            </a:pPr>
            <a:r>
              <a:rPr lang="zh-CN" altLang="en-US" sz="3200" b="1" dirty="0">
                <a:solidFill>
                  <a:srgbClr val="FF0000"/>
                </a:solidFill>
                <a:latin typeface="黑体" panose="02010609060101010101" pitchFamily="49" charset="-122"/>
                <a:ea typeface="黑体" panose="02010609060101010101" pitchFamily="49" charset="-122"/>
              </a:rPr>
              <a:t>三、硬件选型与设计</a:t>
            </a:r>
            <a:r>
              <a:rPr lang="en-US" altLang="zh-CN" sz="3200" b="1" dirty="0">
                <a:solidFill>
                  <a:srgbClr val="FF0000"/>
                </a:solidFill>
                <a:latin typeface="黑体" panose="02010609060101010101" pitchFamily="49" charset="-122"/>
                <a:ea typeface="黑体" panose="02010609060101010101" pitchFamily="49" charset="-122"/>
              </a:rPr>
              <a:t>——</a:t>
            </a:r>
            <a:r>
              <a:rPr lang="zh-CN" altLang="en-US" sz="3200" b="1" dirty="0">
                <a:solidFill>
                  <a:srgbClr val="FF0000"/>
                </a:solidFill>
                <a:latin typeface="黑体" panose="02010609060101010101" pitchFamily="49" charset="-122"/>
                <a:ea typeface="黑体" panose="02010609060101010101" pitchFamily="49" charset="-122"/>
              </a:rPr>
              <a:t>搭建实物</a:t>
            </a:r>
            <a:endParaRPr lang="en-US" altLang="zh-CN" sz="3200" b="1" dirty="0">
              <a:solidFill>
                <a:srgbClr val="FF0000"/>
              </a:solidFill>
              <a:latin typeface="黑体" panose="02010609060101010101" pitchFamily="49" charset="-122"/>
              <a:ea typeface="黑体" panose="02010609060101010101" pitchFamily="49" charset="-122"/>
            </a:endParaRPr>
          </a:p>
        </p:txBody>
      </p:sp>
      <p:sp>
        <p:nvSpPr>
          <p:cNvPr id="5124" name="灯片编号占位符 1">
            <a:extLst>
              <a:ext uri="{FF2B5EF4-FFF2-40B4-BE49-F238E27FC236}">
                <a16:creationId xmlns:a16="http://schemas.microsoft.com/office/drawing/2014/main" id="{BB56ADB0-04AF-4CE3-9017-F6E15E580F29}"/>
              </a:ext>
            </a:extLst>
          </p:cNvPr>
          <p:cNvSpPr txBox="1">
            <a:spLocks noGrp="1" noChangeArrowheads="1"/>
          </p:cNvSpPr>
          <p:nvPr/>
        </p:nvSpPr>
        <p:spPr bwMode="auto">
          <a:xfrm>
            <a:off x="6965491" y="6385131"/>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fld id="{7C452FCC-F500-4704-91E2-2F390F4FF943}" type="slidenum">
              <a:rPr lang="en-US" altLang="zh-CN" sz="1400"/>
              <a:pPr algn="r" eaLnBrk="1" hangingPunct="1">
                <a:buFont typeface="Arial" panose="020B0604020202020204" pitchFamily="34" charset="0"/>
                <a:buNone/>
              </a:pPr>
              <a:t>11</a:t>
            </a:fld>
            <a:endParaRPr lang="en-US" altLang="zh-CN" sz="1400"/>
          </a:p>
        </p:txBody>
      </p:sp>
      <p:cxnSp>
        <p:nvCxnSpPr>
          <p:cNvPr id="5" name="直接连接符 4">
            <a:extLst>
              <a:ext uri="{FF2B5EF4-FFF2-40B4-BE49-F238E27FC236}">
                <a16:creationId xmlns:a16="http://schemas.microsoft.com/office/drawing/2014/main" id="{58CF87F1-3AD9-4206-9BE0-16FF13E7AEFE}"/>
              </a:ext>
            </a:extLst>
          </p:cNvPr>
          <p:cNvCxnSpPr>
            <a:cxnSpLocks/>
          </p:cNvCxnSpPr>
          <p:nvPr/>
        </p:nvCxnSpPr>
        <p:spPr>
          <a:xfrm>
            <a:off x="0" y="990600"/>
            <a:ext cx="9144000" cy="0"/>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pic>
        <p:nvPicPr>
          <p:cNvPr id="6" name="图片 5">
            <a:extLst>
              <a:ext uri="{FF2B5EF4-FFF2-40B4-BE49-F238E27FC236}">
                <a16:creationId xmlns:a16="http://schemas.microsoft.com/office/drawing/2014/main" id="{05A39EF2-C128-4002-8834-888366A5B9C4}"/>
              </a:ext>
            </a:extLst>
          </p:cNvPr>
          <p:cNvPicPr>
            <a:picLocks noChangeAspect="1"/>
          </p:cNvPicPr>
          <p:nvPr/>
        </p:nvPicPr>
        <p:blipFill rotWithShape="1">
          <a:blip r:embed="rId3">
            <a:extLst>
              <a:ext uri="{28A0092B-C50C-407E-A947-70E740481C1C}">
                <a14:useLocalDpi xmlns:a14="http://schemas.microsoft.com/office/drawing/2010/main" val="0"/>
              </a:ext>
            </a:extLst>
          </a:blip>
          <a:srcRect l="5365" t="9391" r="5363" b="16667"/>
          <a:stretch/>
        </p:blipFill>
        <p:spPr>
          <a:xfrm>
            <a:off x="-19050" y="162718"/>
            <a:ext cx="1981200" cy="693738"/>
          </a:xfrm>
          <a:prstGeom prst="rect">
            <a:avLst/>
          </a:prstGeom>
        </p:spPr>
      </p:pic>
      <p:pic>
        <p:nvPicPr>
          <p:cNvPr id="119" name="图片 118">
            <a:extLst>
              <a:ext uri="{FF2B5EF4-FFF2-40B4-BE49-F238E27FC236}">
                <a16:creationId xmlns:a16="http://schemas.microsoft.com/office/drawing/2014/main" id="{5B9A1C91-50D0-4BA8-A57A-05E8CF328FDB}"/>
              </a:ext>
            </a:extLst>
          </p:cNvPr>
          <p:cNvPicPr/>
          <p:nvPr/>
        </p:nvPicPr>
        <p:blipFill rotWithShape="1">
          <a:blip r:embed="rId4" cstate="print">
            <a:extLst>
              <a:ext uri="{28A0092B-C50C-407E-A947-70E740481C1C}">
                <a14:useLocalDpi xmlns:a14="http://schemas.microsoft.com/office/drawing/2010/main" val="0"/>
              </a:ext>
            </a:extLst>
          </a:blip>
          <a:srcRect l="22629" t="17728" r="20183" b="12246"/>
          <a:stretch/>
        </p:blipFill>
        <p:spPr bwMode="auto">
          <a:xfrm>
            <a:off x="6965491" y="1155613"/>
            <a:ext cx="1182158" cy="2055667"/>
          </a:xfrm>
          <a:prstGeom prst="rect">
            <a:avLst/>
          </a:prstGeom>
          <a:noFill/>
          <a:ln>
            <a:noFill/>
          </a:ln>
          <a:extLst>
            <a:ext uri="{53640926-AAD7-44D8-BBD7-CCE9431645EC}">
              <a14:shadowObscured xmlns:a14="http://schemas.microsoft.com/office/drawing/2010/main"/>
            </a:ext>
          </a:extLst>
        </p:spPr>
      </p:pic>
      <p:pic>
        <p:nvPicPr>
          <p:cNvPr id="120" name="图片 119">
            <a:extLst>
              <a:ext uri="{FF2B5EF4-FFF2-40B4-BE49-F238E27FC236}">
                <a16:creationId xmlns:a16="http://schemas.microsoft.com/office/drawing/2014/main" id="{CF6AFC59-7E30-4B7D-A56C-35F51CEC5842}"/>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rot="10800000">
            <a:off x="4267200" y="1155613"/>
            <a:ext cx="2698291" cy="2055665"/>
          </a:xfrm>
          <a:prstGeom prst="rect">
            <a:avLst/>
          </a:prstGeom>
          <a:noFill/>
          <a:ln>
            <a:noFill/>
          </a:ln>
        </p:spPr>
      </p:pic>
      <p:pic>
        <p:nvPicPr>
          <p:cNvPr id="145" name="图片 144">
            <a:extLst>
              <a:ext uri="{FF2B5EF4-FFF2-40B4-BE49-F238E27FC236}">
                <a16:creationId xmlns:a16="http://schemas.microsoft.com/office/drawing/2014/main" id="{BB440E00-D634-4C0B-8F7D-54E97C2827A1}"/>
              </a:ext>
            </a:extLst>
          </p:cNvPr>
          <p:cNvPicPr/>
          <p:nvPr/>
        </p:nvPicPr>
        <p:blipFill rotWithShape="1">
          <a:blip r:embed="rId6" cstate="print">
            <a:extLst>
              <a:ext uri="{28A0092B-C50C-407E-A947-70E740481C1C}">
                <a14:useLocalDpi xmlns:a14="http://schemas.microsoft.com/office/drawing/2010/main" val="0"/>
              </a:ext>
            </a:extLst>
          </a:blip>
          <a:srcRect l="10273" t="16593" r="9747" b="20569"/>
          <a:stretch/>
        </p:blipFill>
        <p:spPr bwMode="auto">
          <a:xfrm rot="5400000">
            <a:off x="691027" y="1106499"/>
            <a:ext cx="2055663" cy="2153896"/>
          </a:xfrm>
          <a:prstGeom prst="rect">
            <a:avLst/>
          </a:prstGeom>
          <a:noFill/>
          <a:ln>
            <a:noFill/>
          </a:ln>
          <a:extLst>
            <a:ext uri="{53640926-AAD7-44D8-BBD7-CCE9431645EC}">
              <a14:shadowObscured xmlns:a14="http://schemas.microsoft.com/office/drawing/2010/main"/>
            </a:ext>
          </a:extLst>
        </p:spPr>
      </p:pic>
      <p:sp>
        <p:nvSpPr>
          <p:cNvPr id="2" name="矩形 1">
            <a:extLst>
              <a:ext uri="{FF2B5EF4-FFF2-40B4-BE49-F238E27FC236}">
                <a16:creationId xmlns:a16="http://schemas.microsoft.com/office/drawing/2014/main" id="{463252E9-EEAF-49C2-A8AB-DD79A4F4B68F}"/>
              </a:ext>
            </a:extLst>
          </p:cNvPr>
          <p:cNvSpPr/>
          <p:nvPr/>
        </p:nvSpPr>
        <p:spPr>
          <a:xfrm>
            <a:off x="641910" y="3439878"/>
            <a:ext cx="2031325" cy="461665"/>
          </a:xfrm>
          <a:prstGeom prst="rect">
            <a:avLst/>
          </a:prstGeom>
          <a:noFill/>
        </p:spPr>
        <p:txBody>
          <a:bodyPr wrap="none" lIns="91440" tIns="45720" rIns="91440" bIns="45720">
            <a:spAutoFit/>
          </a:bodyPr>
          <a:lstStyle/>
          <a:p>
            <a:pPr algn="ctr"/>
            <a:r>
              <a:rPr lang="zh-CN" altLang="en-US" b="0" cap="none" spc="0" dirty="0">
                <a:ln w="0"/>
                <a:solidFill>
                  <a:schemeClr val="tx1"/>
                </a:solidFill>
                <a:effectLst>
                  <a:outerShdw blurRad="38100" dist="19050" dir="2700000" algn="tl" rotWithShape="0">
                    <a:schemeClr val="dk1">
                      <a:alpha val="40000"/>
                    </a:schemeClr>
                  </a:outerShdw>
                </a:effectLst>
                <a:latin typeface="+mn-ea"/>
                <a:ea typeface="+mn-ea"/>
              </a:rPr>
              <a:t>固定检测节点</a:t>
            </a:r>
          </a:p>
        </p:txBody>
      </p:sp>
      <p:sp>
        <p:nvSpPr>
          <p:cNvPr id="146" name="矩形 145">
            <a:extLst>
              <a:ext uri="{FF2B5EF4-FFF2-40B4-BE49-F238E27FC236}">
                <a16:creationId xmlns:a16="http://schemas.microsoft.com/office/drawing/2014/main" id="{6BCB0E30-4E83-4AEB-A51D-6C56262D427C}"/>
              </a:ext>
            </a:extLst>
          </p:cNvPr>
          <p:cNvSpPr/>
          <p:nvPr/>
        </p:nvSpPr>
        <p:spPr>
          <a:xfrm>
            <a:off x="5288973" y="3363180"/>
            <a:ext cx="2031325" cy="461665"/>
          </a:xfrm>
          <a:prstGeom prst="rect">
            <a:avLst/>
          </a:prstGeom>
          <a:noFill/>
        </p:spPr>
        <p:txBody>
          <a:bodyPr wrap="none" lIns="91440" tIns="45720" rIns="91440" bIns="45720">
            <a:spAutoFit/>
          </a:bodyPr>
          <a:lstStyle/>
          <a:p>
            <a:pPr algn="ctr"/>
            <a:r>
              <a:rPr lang="zh-CN" altLang="en-US" b="0" cap="none" spc="0" dirty="0">
                <a:ln w="0"/>
                <a:solidFill>
                  <a:schemeClr val="tx1"/>
                </a:solidFill>
                <a:effectLst>
                  <a:outerShdw blurRad="38100" dist="19050" dir="2700000" algn="tl" rotWithShape="0">
                    <a:schemeClr val="dk1">
                      <a:alpha val="40000"/>
                    </a:schemeClr>
                  </a:outerShdw>
                </a:effectLst>
                <a:latin typeface="+mn-ea"/>
                <a:ea typeface="+mn-ea"/>
              </a:rPr>
              <a:t>遥测定位节点</a:t>
            </a:r>
          </a:p>
        </p:txBody>
      </p:sp>
      <p:pic>
        <p:nvPicPr>
          <p:cNvPr id="11" name="图片 10">
            <a:extLst>
              <a:ext uri="{FF2B5EF4-FFF2-40B4-BE49-F238E27FC236}">
                <a16:creationId xmlns:a16="http://schemas.microsoft.com/office/drawing/2014/main" id="{06AA1708-30C8-401F-8A10-9DB0226FD8A2}"/>
              </a:ext>
            </a:extLst>
          </p:cNvPr>
          <p:cNvPicPr/>
          <p:nvPr/>
        </p:nvPicPr>
        <p:blipFill rotWithShape="1">
          <a:blip r:embed="rId7" cstate="print">
            <a:extLst>
              <a:ext uri="{28A0092B-C50C-407E-A947-70E740481C1C}">
                <a14:useLocalDpi xmlns:a14="http://schemas.microsoft.com/office/drawing/2010/main" val="0"/>
              </a:ext>
            </a:extLst>
          </a:blip>
          <a:srcRect l="6897" t="4717" r="14741"/>
          <a:stretch/>
        </p:blipFill>
        <p:spPr bwMode="auto">
          <a:xfrm rot="16200000">
            <a:off x="3077845" y="3145085"/>
            <a:ext cx="2378710" cy="3856990"/>
          </a:xfrm>
          <a:prstGeom prst="rect">
            <a:avLst/>
          </a:prstGeom>
          <a:noFill/>
          <a:ln>
            <a:noFill/>
          </a:ln>
          <a:extLst>
            <a:ext uri="{53640926-AAD7-44D8-BBD7-CCE9431645EC}">
              <a14:shadowObscured xmlns:a14="http://schemas.microsoft.com/office/drawing/2010/main"/>
            </a:ext>
          </a:extLst>
        </p:spPr>
      </p:pic>
      <p:sp>
        <p:nvSpPr>
          <p:cNvPr id="12" name="矩形 11">
            <a:extLst>
              <a:ext uri="{FF2B5EF4-FFF2-40B4-BE49-F238E27FC236}">
                <a16:creationId xmlns:a16="http://schemas.microsoft.com/office/drawing/2014/main" id="{997EFEFC-69E4-4133-9045-5B80B7F6CFB7}"/>
              </a:ext>
            </a:extLst>
          </p:cNvPr>
          <p:cNvSpPr/>
          <p:nvPr/>
        </p:nvSpPr>
        <p:spPr>
          <a:xfrm>
            <a:off x="3124200" y="6322314"/>
            <a:ext cx="2031325" cy="461665"/>
          </a:xfrm>
          <a:prstGeom prst="rect">
            <a:avLst/>
          </a:prstGeom>
          <a:noFill/>
        </p:spPr>
        <p:txBody>
          <a:bodyPr wrap="none" lIns="91440" tIns="45720" rIns="91440" bIns="45720">
            <a:spAutoFit/>
          </a:bodyPr>
          <a:lstStyle/>
          <a:p>
            <a:pPr algn="ctr"/>
            <a:r>
              <a:rPr lang="zh-CN" altLang="en-US" b="0" cap="none" spc="0" dirty="0">
                <a:ln w="0"/>
                <a:solidFill>
                  <a:schemeClr val="tx1"/>
                </a:solidFill>
                <a:effectLst>
                  <a:outerShdw blurRad="38100" dist="19050" dir="2700000" algn="tl" rotWithShape="0">
                    <a:schemeClr val="dk1">
                      <a:alpha val="40000"/>
                    </a:schemeClr>
                  </a:outerShdw>
                </a:effectLst>
                <a:latin typeface="+mn-ea"/>
                <a:ea typeface="+mn-ea"/>
              </a:rPr>
              <a:t>中继协调节点</a:t>
            </a:r>
          </a:p>
        </p:txBody>
      </p:sp>
    </p:spTree>
    <p:extLst>
      <p:ext uri="{BB962C8B-B14F-4D97-AF65-F5344CB8AC3E}">
        <p14:creationId xmlns:p14="http://schemas.microsoft.com/office/powerpoint/2010/main" val="1462244167"/>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00BF4D4A-8C38-4B6F-97B7-6275CE1792BE}"/>
              </a:ext>
            </a:extLst>
          </p:cNvPr>
          <p:cNvSpPr>
            <a:spLocks noChangeArrowheads="1"/>
          </p:cNvSpPr>
          <p:nvPr/>
        </p:nvSpPr>
        <p:spPr bwMode="auto">
          <a:xfrm>
            <a:off x="2366963" y="192088"/>
            <a:ext cx="4597400"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52352" bIns="152352"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50000"/>
              </a:lnSpc>
              <a:buFont typeface="Arial" panose="020B0604020202020204" pitchFamily="34" charset="0"/>
              <a:buNone/>
            </a:pPr>
            <a:r>
              <a:rPr lang="zh-CN" altLang="en-US" sz="5400" b="1">
                <a:solidFill>
                  <a:srgbClr val="CC0000"/>
                </a:solidFill>
                <a:latin typeface="华文新魏" panose="02010800040101010101" pitchFamily="2" charset="-122"/>
                <a:ea typeface="华文新魏" panose="02010800040101010101" pitchFamily="2" charset="-122"/>
              </a:rPr>
              <a:t>汇  报  提  纲</a:t>
            </a:r>
          </a:p>
        </p:txBody>
      </p:sp>
      <p:sp>
        <p:nvSpPr>
          <p:cNvPr id="5123" name="Text Box 2">
            <a:extLst>
              <a:ext uri="{FF2B5EF4-FFF2-40B4-BE49-F238E27FC236}">
                <a16:creationId xmlns:a16="http://schemas.microsoft.com/office/drawing/2014/main" id="{03FD2BE7-39E2-49F6-9A71-7C99BB53A0DB}"/>
              </a:ext>
            </a:extLst>
          </p:cNvPr>
          <p:cNvSpPr txBox="1">
            <a:spLocks noChangeArrowheads="1"/>
          </p:cNvSpPr>
          <p:nvPr/>
        </p:nvSpPr>
        <p:spPr bwMode="auto">
          <a:xfrm>
            <a:off x="2832894" y="2020351"/>
            <a:ext cx="3665537"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dirty="0">
                <a:solidFill>
                  <a:srgbClr val="000066"/>
                </a:solidFill>
                <a:latin typeface="黑体" panose="02010609060101010101" pitchFamily="49" charset="-122"/>
                <a:ea typeface="黑体" panose="02010609060101010101" pitchFamily="49" charset="-122"/>
              </a:rPr>
              <a:t>一、系统目标 </a:t>
            </a:r>
            <a:endParaRPr lang="en-US" altLang="zh-CN" sz="2800" dirty="0">
              <a:solidFill>
                <a:srgbClr val="000066"/>
              </a:solidFill>
              <a:latin typeface="黑体" panose="02010609060101010101" pitchFamily="49" charset="-122"/>
              <a:ea typeface="黑体" panose="02010609060101010101" pitchFamily="49" charset="-122"/>
            </a:endParaRPr>
          </a:p>
          <a:p>
            <a:pPr eaLnBrk="1" hangingPunct="1">
              <a:spcBef>
                <a:spcPct val="50000"/>
              </a:spcBef>
            </a:pPr>
            <a:r>
              <a:rPr lang="zh-CN" altLang="en-US" sz="2800" dirty="0">
                <a:solidFill>
                  <a:srgbClr val="000066"/>
                </a:solidFill>
                <a:latin typeface="黑体" panose="02010609060101010101" pitchFamily="49" charset="-122"/>
                <a:ea typeface="黑体" panose="02010609060101010101" pitchFamily="49" charset="-122"/>
              </a:rPr>
              <a:t>二、技术原理</a:t>
            </a:r>
            <a:endParaRPr lang="en-US" altLang="zh-CN" sz="2800" dirty="0">
              <a:solidFill>
                <a:srgbClr val="000066"/>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buNone/>
            </a:pPr>
            <a:r>
              <a:rPr lang="zh-CN" altLang="en-US" sz="2800" b="1" dirty="0">
                <a:solidFill>
                  <a:srgbClr val="000066"/>
                </a:solidFill>
                <a:latin typeface="黑体" panose="02010609060101010101" pitchFamily="49" charset="-122"/>
                <a:ea typeface="黑体" panose="02010609060101010101" pitchFamily="49" charset="-122"/>
              </a:rPr>
              <a:t>三、硬件选型与设计</a:t>
            </a:r>
            <a:endParaRPr lang="en-US" altLang="zh-CN" sz="2800" b="1" dirty="0">
              <a:solidFill>
                <a:srgbClr val="000066"/>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buNone/>
            </a:pPr>
            <a:r>
              <a:rPr lang="zh-CN" altLang="en-US" sz="2800" dirty="0">
                <a:solidFill>
                  <a:srgbClr val="FF0000"/>
                </a:solidFill>
                <a:latin typeface="黑体" panose="02010609060101010101" pitchFamily="49" charset="-122"/>
                <a:ea typeface="黑体" panose="02010609060101010101" pitchFamily="49" charset="-122"/>
              </a:rPr>
              <a:t>四</a:t>
            </a:r>
            <a:r>
              <a:rPr lang="zh-CN" altLang="en-US" sz="2800" b="1" dirty="0">
                <a:solidFill>
                  <a:srgbClr val="FF0000"/>
                </a:solidFill>
                <a:latin typeface="黑体" panose="02010609060101010101" pitchFamily="49" charset="-122"/>
                <a:ea typeface="黑体" panose="02010609060101010101" pitchFamily="49" charset="-122"/>
              </a:rPr>
              <a:t>、硬件平台</a:t>
            </a:r>
            <a:endParaRPr lang="en-US" altLang="zh-CN" sz="2800" b="1" dirty="0">
              <a:solidFill>
                <a:srgbClr val="FF0000"/>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buNone/>
            </a:pPr>
            <a:r>
              <a:rPr lang="zh-CN" altLang="en-US" sz="2800" dirty="0">
                <a:solidFill>
                  <a:srgbClr val="000066"/>
                </a:solidFill>
                <a:latin typeface="黑体" panose="02010609060101010101" pitchFamily="49" charset="-122"/>
                <a:ea typeface="黑体" panose="02010609060101010101" pitchFamily="49" charset="-122"/>
              </a:rPr>
              <a:t>五</a:t>
            </a:r>
            <a:r>
              <a:rPr lang="zh-CN" altLang="en-US" sz="2800" b="1" dirty="0">
                <a:solidFill>
                  <a:srgbClr val="000066"/>
                </a:solidFill>
                <a:latin typeface="黑体" panose="02010609060101010101" pitchFamily="49" charset="-122"/>
                <a:ea typeface="黑体" panose="02010609060101010101" pitchFamily="49" charset="-122"/>
              </a:rPr>
              <a:t>、监控平台</a:t>
            </a:r>
            <a:endParaRPr lang="en-US" altLang="zh-CN" sz="2800" b="1" dirty="0">
              <a:solidFill>
                <a:srgbClr val="000066"/>
              </a:solidFill>
              <a:latin typeface="黑体" panose="02010609060101010101" pitchFamily="49" charset="-122"/>
              <a:ea typeface="黑体" panose="02010609060101010101" pitchFamily="49" charset="-122"/>
            </a:endParaRPr>
          </a:p>
          <a:p>
            <a:pPr eaLnBrk="1" hangingPunct="1">
              <a:spcBef>
                <a:spcPct val="50000"/>
              </a:spcBef>
            </a:pPr>
            <a:r>
              <a:rPr lang="zh-CN" altLang="en-US" sz="2800" b="1" dirty="0">
                <a:solidFill>
                  <a:srgbClr val="000066"/>
                </a:solidFill>
                <a:latin typeface="黑体" panose="02010609060101010101" pitchFamily="49" charset="-122"/>
                <a:ea typeface="黑体" panose="02010609060101010101" pitchFamily="49" charset="-122"/>
              </a:rPr>
              <a:t>六、系统后续进展</a:t>
            </a:r>
            <a:endParaRPr lang="en-US" altLang="zh-CN" sz="2800" b="1" dirty="0">
              <a:solidFill>
                <a:srgbClr val="000066"/>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buNone/>
            </a:pPr>
            <a:endParaRPr lang="en-US" altLang="zh-CN" sz="2800" b="1" dirty="0">
              <a:solidFill>
                <a:srgbClr val="000066"/>
              </a:solidFill>
              <a:latin typeface="黑体" panose="02010609060101010101" pitchFamily="49" charset="-122"/>
              <a:ea typeface="黑体" panose="02010609060101010101" pitchFamily="49" charset="-122"/>
            </a:endParaRPr>
          </a:p>
        </p:txBody>
      </p:sp>
      <p:sp>
        <p:nvSpPr>
          <p:cNvPr id="5124" name="灯片编号占位符 1">
            <a:extLst>
              <a:ext uri="{FF2B5EF4-FFF2-40B4-BE49-F238E27FC236}">
                <a16:creationId xmlns:a16="http://schemas.microsoft.com/office/drawing/2014/main" id="{BB56ADB0-04AF-4CE3-9017-F6E15E580F29}"/>
              </a:ext>
            </a:extLst>
          </p:cNvPr>
          <p:cNvSpPr txBox="1">
            <a:spLocks noGrp="1" noChangeArrowheads="1"/>
          </p:cNvSpPr>
          <p:nvPr/>
        </p:nvSpPr>
        <p:spPr bwMode="auto">
          <a:xfrm>
            <a:off x="6934200" y="64579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fld id="{7C452FCC-F500-4704-91E2-2F390F4FF943}" type="slidenum">
              <a:rPr lang="en-US" altLang="zh-CN" sz="1400"/>
              <a:pPr algn="r" eaLnBrk="1" hangingPunct="1">
                <a:buFont typeface="Arial" panose="020B0604020202020204" pitchFamily="34" charset="0"/>
                <a:buNone/>
              </a:pPr>
              <a:t>12</a:t>
            </a:fld>
            <a:endParaRPr lang="en-US" altLang="zh-CN" sz="1400"/>
          </a:p>
        </p:txBody>
      </p:sp>
      <p:cxnSp>
        <p:nvCxnSpPr>
          <p:cNvPr id="5" name="直接连接符 4">
            <a:extLst>
              <a:ext uri="{FF2B5EF4-FFF2-40B4-BE49-F238E27FC236}">
                <a16:creationId xmlns:a16="http://schemas.microsoft.com/office/drawing/2014/main" id="{58CF87F1-3AD9-4206-9BE0-16FF13E7AEFE}"/>
              </a:ext>
            </a:extLst>
          </p:cNvPr>
          <p:cNvCxnSpPr>
            <a:cxnSpLocks/>
          </p:cNvCxnSpPr>
          <p:nvPr/>
        </p:nvCxnSpPr>
        <p:spPr>
          <a:xfrm>
            <a:off x="0" y="990600"/>
            <a:ext cx="9144000" cy="0"/>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pic>
        <p:nvPicPr>
          <p:cNvPr id="6" name="图片 5">
            <a:extLst>
              <a:ext uri="{FF2B5EF4-FFF2-40B4-BE49-F238E27FC236}">
                <a16:creationId xmlns:a16="http://schemas.microsoft.com/office/drawing/2014/main" id="{05A39EF2-C128-4002-8834-888366A5B9C4}"/>
              </a:ext>
            </a:extLst>
          </p:cNvPr>
          <p:cNvPicPr>
            <a:picLocks noChangeAspect="1"/>
          </p:cNvPicPr>
          <p:nvPr/>
        </p:nvPicPr>
        <p:blipFill rotWithShape="1">
          <a:blip r:embed="rId2">
            <a:extLst>
              <a:ext uri="{28A0092B-C50C-407E-A947-70E740481C1C}">
                <a14:useLocalDpi xmlns:a14="http://schemas.microsoft.com/office/drawing/2010/main" val="0"/>
              </a:ext>
            </a:extLst>
          </a:blip>
          <a:srcRect l="5365" t="9391" r="5363" b="16667"/>
          <a:stretch/>
        </p:blipFill>
        <p:spPr>
          <a:xfrm>
            <a:off x="-19050" y="162718"/>
            <a:ext cx="1981200" cy="693738"/>
          </a:xfrm>
          <a:prstGeom prst="rect">
            <a:avLst/>
          </a:prstGeom>
        </p:spPr>
      </p:pic>
    </p:spTree>
    <p:extLst>
      <p:ext uri="{BB962C8B-B14F-4D97-AF65-F5344CB8AC3E}">
        <p14:creationId xmlns:p14="http://schemas.microsoft.com/office/powerpoint/2010/main" val="2112274914"/>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00BF4D4A-8C38-4B6F-97B7-6275CE1792BE}"/>
              </a:ext>
            </a:extLst>
          </p:cNvPr>
          <p:cNvSpPr>
            <a:spLocks noChangeArrowheads="1"/>
          </p:cNvSpPr>
          <p:nvPr/>
        </p:nvSpPr>
        <p:spPr bwMode="auto">
          <a:xfrm>
            <a:off x="2366962" y="85601"/>
            <a:ext cx="5710238" cy="800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152352" bIns="152352"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Arial" panose="020B0604020202020204" pitchFamily="34" charset="0"/>
              <a:buNone/>
            </a:pPr>
            <a:r>
              <a:rPr lang="zh-CN" altLang="en-US" sz="3200" dirty="0">
                <a:solidFill>
                  <a:srgbClr val="FF0000"/>
                </a:solidFill>
                <a:latin typeface="黑体" panose="02010609060101010101" pitchFamily="49" charset="-122"/>
                <a:ea typeface="黑体" panose="02010609060101010101" pitchFamily="49" charset="-122"/>
              </a:rPr>
              <a:t>四</a:t>
            </a:r>
            <a:r>
              <a:rPr lang="zh-CN" altLang="en-US" sz="3200" b="1" dirty="0">
                <a:solidFill>
                  <a:srgbClr val="FF0000"/>
                </a:solidFill>
                <a:latin typeface="黑体" panose="02010609060101010101" pitchFamily="49" charset="-122"/>
                <a:ea typeface="黑体" panose="02010609060101010101" pitchFamily="49" charset="-122"/>
              </a:rPr>
              <a:t>、硬件平台</a:t>
            </a:r>
            <a:r>
              <a:rPr lang="en-US" altLang="zh-CN" sz="3200" b="1" dirty="0">
                <a:solidFill>
                  <a:srgbClr val="FF0000"/>
                </a:solidFill>
                <a:latin typeface="黑体" panose="02010609060101010101" pitchFamily="49" charset="-122"/>
                <a:ea typeface="黑体" panose="02010609060101010101" pitchFamily="49" charset="-122"/>
              </a:rPr>
              <a:t>——</a:t>
            </a:r>
            <a:r>
              <a:rPr lang="zh-CN" altLang="en-US" sz="3200" b="1" dirty="0">
                <a:solidFill>
                  <a:srgbClr val="FF0000"/>
                </a:solidFill>
                <a:latin typeface="黑体" panose="02010609060101010101" pitchFamily="49" charset="-122"/>
                <a:ea typeface="黑体" panose="02010609060101010101" pitchFamily="49" charset="-122"/>
              </a:rPr>
              <a:t>软件设计</a:t>
            </a:r>
            <a:endParaRPr lang="en-US" altLang="zh-CN" sz="3200" b="1" dirty="0">
              <a:solidFill>
                <a:srgbClr val="FF0000"/>
              </a:solidFill>
              <a:latin typeface="黑体" panose="02010609060101010101" pitchFamily="49" charset="-122"/>
              <a:ea typeface="黑体" panose="02010609060101010101" pitchFamily="49" charset="-122"/>
            </a:endParaRPr>
          </a:p>
        </p:txBody>
      </p:sp>
      <p:sp>
        <p:nvSpPr>
          <p:cNvPr id="5124" name="灯片编号占位符 1">
            <a:extLst>
              <a:ext uri="{FF2B5EF4-FFF2-40B4-BE49-F238E27FC236}">
                <a16:creationId xmlns:a16="http://schemas.microsoft.com/office/drawing/2014/main" id="{BB56ADB0-04AF-4CE3-9017-F6E15E580F29}"/>
              </a:ext>
            </a:extLst>
          </p:cNvPr>
          <p:cNvSpPr txBox="1">
            <a:spLocks noGrp="1" noChangeArrowheads="1"/>
          </p:cNvSpPr>
          <p:nvPr/>
        </p:nvSpPr>
        <p:spPr bwMode="auto">
          <a:xfrm>
            <a:off x="6934200" y="64579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fld id="{7C452FCC-F500-4704-91E2-2F390F4FF943}" type="slidenum">
              <a:rPr lang="en-US" altLang="zh-CN" sz="1400"/>
              <a:pPr algn="r" eaLnBrk="1" hangingPunct="1">
                <a:buFont typeface="Arial" panose="020B0604020202020204" pitchFamily="34" charset="0"/>
                <a:buNone/>
              </a:pPr>
              <a:t>13</a:t>
            </a:fld>
            <a:endParaRPr lang="en-US" altLang="zh-CN" sz="1400"/>
          </a:p>
        </p:txBody>
      </p:sp>
      <p:cxnSp>
        <p:nvCxnSpPr>
          <p:cNvPr id="5" name="直接连接符 4">
            <a:extLst>
              <a:ext uri="{FF2B5EF4-FFF2-40B4-BE49-F238E27FC236}">
                <a16:creationId xmlns:a16="http://schemas.microsoft.com/office/drawing/2014/main" id="{58CF87F1-3AD9-4206-9BE0-16FF13E7AEFE}"/>
              </a:ext>
            </a:extLst>
          </p:cNvPr>
          <p:cNvCxnSpPr>
            <a:cxnSpLocks/>
          </p:cNvCxnSpPr>
          <p:nvPr/>
        </p:nvCxnSpPr>
        <p:spPr>
          <a:xfrm>
            <a:off x="0" y="990600"/>
            <a:ext cx="9144000" cy="0"/>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pic>
        <p:nvPicPr>
          <p:cNvPr id="6" name="图片 5">
            <a:extLst>
              <a:ext uri="{FF2B5EF4-FFF2-40B4-BE49-F238E27FC236}">
                <a16:creationId xmlns:a16="http://schemas.microsoft.com/office/drawing/2014/main" id="{05A39EF2-C128-4002-8834-888366A5B9C4}"/>
              </a:ext>
            </a:extLst>
          </p:cNvPr>
          <p:cNvPicPr>
            <a:picLocks noChangeAspect="1"/>
          </p:cNvPicPr>
          <p:nvPr/>
        </p:nvPicPr>
        <p:blipFill rotWithShape="1">
          <a:blip r:embed="rId3">
            <a:extLst>
              <a:ext uri="{28A0092B-C50C-407E-A947-70E740481C1C}">
                <a14:useLocalDpi xmlns:a14="http://schemas.microsoft.com/office/drawing/2010/main" val="0"/>
              </a:ext>
            </a:extLst>
          </a:blip>
          <a:srcRect l="5365" t="9391" r="5363" b="16667"/>
          <a:stretch/>
        </p:blipFill>
        <p:spPr>
          <a:xfrm>
            <a:off x="-19050" y="162718"/>
            <a:ext cx="1981200" cy="693738"/>
          </a:xfrm>
          <a:prstGeom prst="rect">
            <a:avLst/>
          </a:prstGeom>
        </p:spPr>
      </p:pic>
      <p:sp>
        <p:nvSpPr>
          <p:cNvPr id="3" name="Rectangle 2">
            <a:extLst>
              <a:ext uri="{FF2B5EF4-FFF2-40B4-BE49-F238E27FC236}">
                <a16:creationId xmlns:a16="http://schemas.microsoft.com/office/drawing/2014/main" id="{678D3D26-AC34-4645-8A27-52F44F6F0452}"/>
              </a:ext>
            </a:extLst>
          </p:cNvPr>
          <p:cNvSpPr>
            <a:spLocks noChangeArrowheads="1"/>
          </p:cNvSpPr>
          <p:nvPr/>
        </p:nvSpPr>
        <p:spPr bwMode="auto">
          <a:xfrm>
            <a:off x="3117368" y="199004"/>
            <a:ext cx="1077343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4" name="对象 3">
            <a:extLst>
              <a:ext uri="{FF2B5EF4-FFF2-40B4-BE49-F238E27FC236}">
                <a16:creationId xmlns:a16="http://schemas.microsoft.com/office/drawing/2014/main" id="{6BE56DC4-F852-44A7-89BC-9C876B982619}"/>
              </a:ext>
            </a:extLst>
          </p:cNvPr>
          <p:cNvGraphicFramePr>
            <a:graphicFrameLocks noChangeAspect="1"/>
          </p:cNvGraphicFramePr>
          <p:nvPr>
            <p:extLst>
              <p:ext uri="{D42A27DB-BD31-4B8C-83A1-F6EECF244321}">
                <p14:modId xmlns:p14="http://schemas.microsoft.com/office/powerpoint/2010/main" val="2667999527"/>
              </p:ext>
            </p:extLst>
          </p:nvPr>
        </p:nvGraphicFramePr>
        <p:xfrm>
          <a:off x="2133600" y="1188885"/>
          <a:ext cx="5353050" cy="5454051"/>
        </p:xfrm>
        <a:graphic>
          <a:graphicData uri="http://schemas.openxmlformats.org/presentationml/2006/ole">
            <mc:AlternateContent xmlns:mc="http://schemas.openxmlformats.org/markup-compatibility/2006">
              <mc:Choice xmlns:v="urn:schemas-microsoft-com:vml" Requires="v">
                <p:oleObj name="Visio" r:id="rId4" imgW="8305598" imgH="8429432" progId="Visio.Drawing.15">
                  <p:embed/>
                </p:oleObj>
              </mc:Choice>
              <mc:Fallback>
                <p:oleObj name="Visio" r:id="rId4" imgW="8305598" imgH="8429432" progId="Visio.Drawing.15">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3600" y="1188885"/>
                        <a:ext cx="5353050" cy="5454051"/>
                      </a:xfrm>
                      <a:prstGeom prst="rect">
                        <a:avLst/>
                      </a:prstGeom>
                      <a:noFill/>
                    </p:spPr>
                  </p:pic>
                </p:oleObj>
              </mc:Fallback>
            </mc:AlternateContent>
          </a:graphicData>
        </a:graphic>
      </p:graphicFrame>
      <p:sp>
        <p:nvSpPr>
          <p:cNvPr id="9" name="矩形 8">
            <a:extLst>
              <a:ext uri="{FF2B5EF4-FFF2-40B4-BE49-F238E27FC236}">
                <a16:creationId xmlns:a16="http://schemas.microsoft.com/office/drawing/2014/main" id="{D7C6DA13-EE2F-42F6-A646-2FB18F04772A}"/>
              </a:ext>
            </a:extLst>
          </p:cNvPr>
          <p:cNvSpPr/>
          <p:nvPr/>
        </p:nvSpPr>
        <p:spPr>
          <a:xfrm>
            <a:off x="228840" y="1736478"/>
            <a:ext cx="1485419" cy="1200329"/>
          </a:xfrm>
          <a:prstGeom prst="rect">
            <a:avLst/>
          </a:prstGeom>
          <a:noFill/>
        </p:spPr>
        <p:txBody>
          <a:bodyPr wrap="square" lIns="91440" tIns="45720" rIns="91440" bIns="45720">
            <a:spAutoFit/>
          </a:bodyPr>
          <a:lstStyle/>
          <a:p>
            <a:pPr algn="ctr"/>
            <a:r>
              <a:rPr lang="zh-CN" altLang="en-US" b="0" cap="none" spc="0" dirty="0">
                <a:ln w="0"/>
                <a:solidFill>
                  <a:schemeClr val="tx1"/>
                </a:solidFill>
                <a:effectLst>
                  <a:outerShdw blurRad="38100" dist="19050" dir="2700000" algn="tl" rotWithShape="0">
                    <a:schemeClr val="dk1">
                      <a:alpha val="40000"/>
                    </a:schemeClr>
                  </a:outerShdw>
                </a:effectLst>
                <a:latin typeface="+mn-ea"/>
                <a:ea typeface="+mn-ea"/>
              </a:rPr>
              <a:t>基于</a:t>
            </a:r>
            <a:r>
              <a:rPr lang="en-US" altLang="zh-CN" b="0" cap="none" spc="0" dirty="0">
                <a:ln w="0"/>
                <a:solidFill>
                  <a:srgbClr val="FF0000"/>
                </a:solidFill>
                <a:effectLst>
                  <a:outerShdw blurRad="38100" dist="19050" dir="2700000" algn="tl" rotWithShape="0">
                    <a:schemeClr val="dk1">
                      <a:alpha val="40000"/>
                    </a:schemeClr>
                  </a:outerShdw>
                </a:effectLst>
                <a:latin typeface="+mn-ea"/>
                <a:ea typeface="+mn-ea"/>
              </a:rPr>
              <a:t>Keil</a:t>
            </a:r>
            <a:r>
              <a:rPr lang="zh-CN" altLang="en-US" b="0" cap="none" spc="0" dirty="0">
                <a:ln w="0"/>
                <a:solidFill>
                  <a:schemeClr val="tx1"/>
                </a:solidFill>
                <a:effectLst>
                  <a:outerShdw blurRad="38100" dist="19050" dir="2700000" algn="tl" rotWithShape="0">
                    <a:schemeClr val="dk1">
                      <a:alpha val="40000"/>
                    </a:schemeClr>
                  </a:outerShdw>
                </a:effectLst>
                <a:latin typeface="+mn-ea"/>
                <a:ea typeface="+mn-ea"/>
              </a:rPr>
              <a:t>平台上的软件设计</a:t>
            </a:r>
          </a:p>
        </p:txBody>
      </p:sp>
      <p:sp>
        <p:nvSpPr>
          <p:cNvPr id="10" name="矩形 9">
            <a:extLst>
              <a:ext uri="{FF2B5EF4-FFF2-40B4-BE49-F238E27FC236}">
                <a16:creationId xmlns:a16="http://schemas.microsoft.com/office/drawing/2014/main" id="{59762C84-7BE7-4870-A4B3-FE5F3361FB71}"/>
              </a:ext>
            </a:extLst>
          </p:cNvPr>
          <p:cNvSpPr/>
          <p:nvPr/>
        </p:nvSpPr>
        <p:spPr>
          <a:xfrm>
            <a:off x="228840" y="4114800"/>
            <a:ext cx="1485419" cy="1569660"/>
          </a:xfrm>
          <a:prstGeom prst="rect">
            <a:avLst/>
          </a:prstGeom>
          <a:noFill/>
        </p:spPr>
        <p:txBody>
          <a:bodyPr wrap="square" lIns="91440" tIns="45720" rIns="91440" bIns="45720">
            <a:spAutoFit/>
          </a:bodyPr>
          <a:lstStyle/>
          <a:p>
            <a:pPr algn="ctr"/>
            <a:r>
              <a:rPr lang="zh-CN" altLang="en-US" b="0" cap="none" spc="0" dirty="0">
                <a:ln w="0"/>
                <a:solidFill>
                  <a:schemeClr val="tx1"/>
                </a:solidFill>
                <a:effectLst>
                  <a:outerShdw blurRad="38100" dist="19050" dir="2700000" algn="tl" rotWithShape="0">
                    <a:schemeClr val="dk1">
                      <a:alpha val="40000"/>
                    </a:schemeClr>
                  </a:outerShdw>
                </a:effectLst>
                <a:latin typeface="+mn-ea"/>
                <a:ea typeface="+mn-ea"/>
              </a:rPr>
              <a:t>移植</a:t>
            </a:r>
            <a:r>
              <a:rPr lang="en-US" altLang="zh-CN" b="0" dirty="0">
                <a:ln w="0"/>
                <a:solidFill>
                  <a:srgbClr val="FF0000"/>
                </a:solidFill>
                <a:effectLst>
                  <a:outerShdw blurRad="38100" dist="19050" dir="2700000" algn="tl" rotWithShape="0">
                    <a:schemeClr val="dk1">
                      <a:alpha val="40000"/>
                    </a:schemeClr>
                  </a:outerShdw>
                </a:effectLst>
                <a:latin typeface="+mn-ea"/>
                <a:ea typeface="+mn-ea"/>
              </a:rPr>
              <a:t>UCOS</a:t>
            </a:r>
            <a:r>
              <a:rPr lang="zh-CN" altLang="en-US" b="0" dirty="0">
                <a:ln w="0"/>
                <a:effectLst>
                  <a:outerShdw blurRad="38100" dist="19050" dir="2700000" algn="tl" rotWithShape="0">
                    <a:schemeClr val="dk1">
                      <a:alpha val="40000"/>
                    </a:schemeClr>
                  </a:outerShdw>
                </a:effectLst>
                <a:latin typeface="+mn-ea"/>
                <a:ea typeface="+mn-ea"/>
              </a:rPr>
              <a:t>操作系统实现多任务并行</a:t>
            </a:r>
            <a:endParaRPr lang="zh-CN" altLang="en-US" b="0" cap="none" spc="0" dirty="0">
              <a:ln w="0"/>
              <a:solidFill>
                <a:schemeClr val="tx1"/>
              </a:solidFill>
              <a:effectLst>
                <a:outerShdw blurRad="38100" dist="19050" dir="2700000" algn="tl" rotWithShape="0">
                  <a:schemeClr val="dk1">
                    <a:alpha val="40000"/>
                  </a:schemeClr>
                </a:outerShdw>
              </a:effectLst>
              <a:latin typeface="+mn-ea"/>
              <a:ea typeface="+mn-ea"/>
            </a:endParaRPr>
          </a:p>
        </p:txBody>
      </p:sp>
      <p:sp>
        <p:nvSpPr>
          <p:cNvPr id="7" name="箭头: 下 6">
            <a:extLst>
              <a:ext uri="{FF2B5EF4-FFF2-40B4-BE49-F238E27FC236}">
                <a16:creationId xmlns:a16="http://schemas.microsoft.com/office/drawing/2014/main" id="{5C61C69E-C241-4023-A345-55582C31E904}"/>
              </a:ext>
            </a:extLst>
          </p:cNvPr>
          <p:cNvSpPr/>
          <p:nvPr/>
        </p:nvSpPr>
        <p:spPr>
          <a:xfrm>
            <a:off x="838200" y="3197431"/>
            <a:ext cx="323851" cy="5683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38632112"/>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00BF4D4A-8C38-4B6F-97B7-6275CE1792BE}"/>
              </a:ext>
            </a:extLst>
          </p:cNvPr>
          <p:cNvSpPr>
            <a:spLocks noChangeArrowheads="1"/>
          </p:cNvSpPr>
          <p:nvPr/>
        </p:nvSpPr>
        <p:spPr bwMode="auto">
          <a:xfrm>
            <a:off x="2366962" y="85601"/>
            <a:ext cx="6015038" cy="800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152352" bIns="152352"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Arial" panose="020B0604020202020204" pitchFamily="34" charset="0"/>
              <a:buNone/>
            </a:pPr>
            <a:r>
              <a:rPr lang="zh-CN" altLang="en-US" sz="3200" dirty="0">
                <a:solidFill>
                  <a:srgbClr val="FF0000"/>
                </a:solidFill>
                <a:latin typeface="黑体" panose="02010609060101010101" pitchFamily="49" charset="-122"/>
                <a:ea typeface="黑体" panose="02010609060101010101" pitchFamily="49" charset="-122"/>
              </a:rPr>
              <a:t>四</a:t>
            </a:r>
            <a:r>
              <a:rPr lang="zh-CN" altLang="en-US" sz="3200" b="1" dirty="0">
                <a:solidFill>
                  <a:srgbClr val="FF0000"/>
                </a:solidFill>
                <a:latin typeface="黑体" panose="02010609060101010101" pitchFamily="49" charset="-122"/>
                <a:ea typeface="黑体" panose="02010609060101010101" pitchFamily="49" charset="-122"/>
              </a:rPr>
              <a:t>、硬件平台</a:t>
            </a:r>
            <a:r>
              <a:rPr lang="en-US" altLang="zh-CN" sz="3200" b="1" dirty="0">
                <a:solidFill>
                  <a:srgbClr val="FF0000"/>
                </a:solidFill>
                <a:latin typeface="黑体" panose="02010609060101010101" pitchFamily="49" charset="-122"/>
                <a:ea typeface="黑体" panose="02010609060101010101" pitchFamily="49" charset="-122"/>
              </a:rPr>
              <a:t>——</a:t>
            </a:r>
            <a:r>
              <a:rPr lang="zh-CN" altLang="en-US" sz="3200" b="1" dirty="0">
                <a:solidFill>
                  <a:srgbClr val="FF0000"/>
                </a:solidFill>
                <a:latin typeface="黑体" panose="02010609060101010101" pitchFamily="49" charset="-122"/>
                <a:ea typeface="黑体" panose="02010609060101010101" pitchFamily="49" charset="-122"/>
              </a:rPr>
              <a:t>运行效果</a:t>
            </a:r>
            <a:endParaRPr lang="en-US" altLang="zh-CN" sz="3200" b="1" dirty="0">
              <a:solidFill>
                <a:srgbClr val="FF0000"/>
              </a:solidFill>
              <a:latin typeface="黑体" panose="02010609060101010101" pitchFamily="49" charset="-122"/>
              <a:ea typeface="黑体" panose="02010609060101010101" pitchFamily="49" charset="-122"/>
            </a:endParaRPr>
          </a:p>
        </p:txBody>
      </p:sp>
      <p:sp>
        <p:nvSpPr>
          <p:cNvPr id="5124" name="灯片编号占位符 1">
            <a:extLst>
              <a:ext uri="{FF2B5EF4-FFF2-40B4-BE49-F238E27FC236}">
                <a16:creationId xmlns:a16="http://schemas.microsoft.com/office/drawing/2014/main" id="{BB56ADB0-04AF-4CE3-9017-F6E15E580F29}"/>
              </a:ext>
            </a:extLst>
          </p:cNvPr>
          <p:cNvSpPr txBox="1">
            <a:spLocks noGrp="1" noChangeArrowheads="1"/>
          </p:cNvSpPr>
          <p:nvPr/>
        </p:nvSpPr>
        <p:spPr bwMode="auto">
          <a:xfrm>
            <a:off x="6934200" y="64579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fld id="{7C452FCC-F500-4704-91E2-2F390F4FF943}" type="slidenum">
              <a:rPr lang="en-US" altLang="zh-CN" sz="1400"/>
              <a:pPr algn="r" eaLnBrk="1" hangingPunct="1">
                <a:buFont typeface="Arial" panose="020B0604020202020204" pitchFamily="34" charset="0"/>
                <a:buNone/>
              </a:pPr>
              <a:t>14</a:t>
            </a:fld>
            <a:endParaRPr lang="en-US" altLang="zh-CN" sz="1400"/>
          </a:p>
        </p:txBody>
      </p:sp>
      <p:cxnSp>
        <p:nvCxnSpPr>
          <p:cNvPr id="5" name="直接连接符 4">
            <a:extLst>
              <a:ext uri="{FF2B5EF4-FFF2-40B4-BE49-F238E27FC236}">
                <a16:creationId xmlns:a16="http://schemas.microsoft.com/office/drawing/2014/main" id="{58CF87F1-3AD9-4206-9BE0-16FF13E7AEFE}"/>
              </a:ext>
            </a:extLst>
          </p:cNvPr>
          <p:cNvCxnSpPr>
            <a:cxnSpLocks/>
          </p:cNvCxnSpPr>
          <p:nvPr/>
        </p:nvCxnSpPr>
        <p:spPr>
          <a:xfrm>
            <a:off x="0" y="990600"/>
            <a:ext cx="9144000" cy="0"/>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pic>
        <p:nvPicPr>
          <p:cNvPr id="6" name="图片 5">
            <a:extLst>
              <a:ext uri="{FF2B5EF4-FFF2-40B4-BE49-F238E27FC236}">
                <a16:creationId xmlns:a16="http://schemas.microsoft.com/office/drawing/2014/main" id="{05A39EF2-C128-4002-8834-888366A5B9C4}"/>
              </a:ext>
            </a:extLst>
          </p:cNvPr>
          <p:cNvPicPr>
            <a:picLocks noChangeAspect="1"/>
          </p:cNvPicPr>
          <p:nvPr/>
        </p:nvPicPr>
        <p:blipFill rotWithShape="1">
          <a:blip r:embed="rId2">
            <a:extLst>
              <a:ext uri="{28A0092B-C50C-407E-A947-70E740481C1C}">
                <a14:useLocalDpi xmlns:a14="http://schemas.microsoft.com/office/drawing/2010/main" val="0"/>
              </a:ext>
            </a:extLst>
          </a:blip>
          <a:srcRect l="5365" t="9391" r="5363" b="16667"/>
          <a:stretch/>
        </p:blipFill>
        <p:spPr>
          <a:xfrm>
            <a:off x="-19050" y="162718"/>
            <a:ext cx="1981200" cy="693738"/>
          </a:xfrm>
          <a:prstGeom prst="rect">
            <a:avLst/>
          </a:prstGeom>
        </p:spPr>
      </p:pic>
      <p:graphicFrame>
        <p:nvGraphicFramePr>
          <p:cNvPr id="2" name="对象 1">
            <a:extLst>
              <a:ext uri="{FF2B5EF4-FFF2-40B4-BE49-F238E27FC236}">
                <a16:creationId xmlns:a16="http://schemas.microsoft.com/office/drawing/2014/main" id="{F7362840-4F79-4DF8-942D-1745E0F58AA2}"/>
              </a:ext>
            </a:extLst>
          </p:cNvPr>
          <p:cNvGraphicFramePr>
            <a:graphicFrameLocks noChangeAspect="1"/>
          </p:cNvGraphicFramePr>
          <p:nvPr>
            <p:extLst>
              <p:ext uri="{D42A27DB-BD31-4B8C-83A1-F6EECF244321}">
                <p14:modId xmlns:p14="http://schemas.microsoft.com/office/powerpoint/2010/main" val="2966135893"/>
              </p:ext>
            </p:extLst>
          </p:nvPr>
        </p:nvGraphicFramePr>
        <p:xfrm>
          <a:off x="2330676" y="1524000"/>
          <a:ext cx="5105400" cy="3219450"/>
        </p:xfrm>
        <a:graphic>
          <a:graphicData uri="http://schemas.openxmlformats.org/presentationml/2006/ole">
            <mc:AlternateContent xmlns:mc="http://schemas.openxmlformats.org/markup-compatibility/2006">
              <mc:Choice xmlns:v="urn:schemas-microsoft-com:vml" Requires="v">
                <p:oleObj name="Visio" r:id="rId3" imgW="5105371" imgH="3219553" progId="Visio.Drawing.15">
                  <p:embed/>
                </p:oleObj>
              </mc:Choice>
              <mc:Fallback>
                <p:oleObj name="Visio" r:id="rId3" imgW="5105371" imgH="3219553" progId="Visio.Drawing.15">
                  <p:embed/>
                  <p:pic>
                    <p:nvPicPr>
                      <p:cNvPr id="0" name=""/>
                      <p:cNvPicPr/>
                      <p:nvPr/>
                    </p:nvPicPr>
                    <p:blipFill>
                      <a:blip r:embed="rId4"/>
                      <a:stretch>
                        <a:fillRect/>
                      </a:stretch>
                    </p:blipFill>
                    <p:spPr>
                      <a:xfrm>
                        <a:off x="2330676" y="1524000"/>
                        <a:ext cx="5105400" cy="3219450"/>
                      </a:xfrm>
                      <a:prstGeom prst="rect">
                        <a:avLst/>
                      </a:prstGeom>
                    </p:spPr>
                  </p:pic>
                </p:oleObj>
              </mc:Fallback>
            </mc:AlternateContent>
          </a:graphicData>
        </a:graphic>
      </p:graphicFrame>
      <p:sp>
        <p:nvSpPr>
          <p:cNvPr id="8" name="矩形 7">
            <a:extLst>
              <a:ext uri="{FF2B5EF4-FFF2-40B4-BE49-F238E27FC236}">
                <a16:creationId xmlns:a16="http://schemas.microsoft.com/office/drawing/2014/main" id="{CFE257FA-C8CE-414C-835E-70DA3BAD781E}"/>
              </a:ext>
            </a:extLst>
          </p:cNvPr>
          <p:cNvSpPr/>
          <p:nvPr/>
        </p:nvSpPr>
        <p:spPr>
          <a:xfrm>
            <a:off x="1315013" y="5379916"/>
            <a:ext cx="2031325" cy="461665"/>
          </a:xfrm>
          <a:prstGeom prst="rect">
            <a:avLst/>
          </a:prstGeom>
          <a:noFill/>
        </p:spPr>
        <p:txBody>
          <a:bodyPr wrap="none" lIns="91440" tIns="45720" rIns="91440" bIns="45720">
            <a:spAutoFit/>
          </a:bodyPr>
          <a:lstStyle/>
          <a:p>
            <a:pPr algn="ctr"/>
            <a:r>
              <a:rPr lang="zh-CN" altLang="en-US" b="0" cap="none" spc="0" dirty="0">
                <a:ln w="0"/>
                <a:solidFill>
                  <a:schemeClr val="tx1"/>
                </a:solidFill>
                <a:effectLst>
                  <a:outerShdw blurRad="38100" dist="19050" dir="2700000" algn="tl" rotWithShape="0">
                    <a:schemeClr val="dk1">
                      <a:alpha val="40000"/>
                    </a:schemeClr>
                  </a:outerShdw>
                </a:effectLst>
                <a:latin typeface="+mn-ea"/>
                <a:ea typeface="+mn-ea"/>
              </a:rPr>
              <a:t>固定检测节点</a:t>
            </a:r>
          </a:p>
        </p:txBody>
      </p:sp>
      <p:sp>
        <p:nvSpPr>
          <p:cNvPr id="9" name="矩形 8">
            <a:extLst>
              <a:ext uri="{FF2B5EF4-FFF2-40B4-BE49-F238E27FC236}">
                <a16:creationId xmlns:a16="http://schemas.microsoft.com/office/drawing/2014/main" id="{840F12AF-A528-42CE-82F0-4947C10C2D99}"/>
              </a:ext>
            </a:extLst>
          </p:cNvPr>
          <p:cNvSpPr/>
          <p:nvPr/>
        </p:nvSpPr>
        <p:spPr>
          <a:xfrm>
            <a:off x="3766339" y="5379916"/>
            <a:ext cx="2031325" cy="461665"/>
          </a:xfrm>
          <a:prstGeom prst="rect">
            <a:avLst/>
          </a:prstGeom>
          <a:noFill/>
        </p:spPr>
        <p:txBody>
          <a:bodyPr wrap="none" lIns="91440" tIns="45720" rIns="91440" bIns="45720">
            <a:spAutoFit/>
          </a:bodyPr>
          <a:lstStyle/>
          <a:p>
            <a:pPr algn="ctr"/>
            <a:r>
              <a:rPr lang="zh-CN" altLang="en-US" b="0" cap="none" spc="0" dirty="0">
                <a:ln w="0"/>
                <a:solidFill>
                  <a:schemeClr val="tx1"/>
                </a:solidFill>
                <a:effectLst>
                  <a:outerShdw blurRad="38100" dist="19050" dir="2700000" algn="tl" rotWithShape="0">
                    <a:schemeClr val="dk1">
                      <a:alpha val="40000"/>
                    </a:schemeClr>
                  </a:outerShdw>
                </a:effectLst>
                <a:latin typeface="+mn-ea"/>
                <a:ea typeface="+mn-ea"/>
              </a:rPr>
              <a:t>遥测定位节点</a:t>
            </a:r>
          </a:p>
        </p:txBody>
      </p:sp>
      <p:sp>
        <p:nvSpPr>
          <p:cNvPr id="10" name="矩形 9">
            <a:extLst>
              <a:ext uri="{FF2B5EF4-FFF2-40B4-BE49-F238E27FC236}">
                <a16:creationId xmlns:a16="http://schemas.microsoft.com/office/drawing/2014/main" id="{AB1C1C53-6B70-4051-BF8D-A5E552B45B5A}"/>
              </a:ext>
            </a:extLst>
          </p:cNvPr>
          <p:cNvSpPr/>
          <p:nvPr/>
        </p:nvSpPr>
        <p:spPr>
          <a:xfrm>
            <a:off x="6179342" y="5379916"/>
            <a:ext cx="2031325" cy="461665"/>
          </a:xfrm>
          <a:prstGeom prst="rect">
            <a:avLst/>
          </a:prstGeom>
          <a:noFill/>
        </p:spPr>
        <p:txBody>
          <a:bodyPr wrap="none" lIns="91440" tIns="45720" rIns="91440" bIns="45720">
            <a:spAutoFit/>
          </a:bodyPr>
          <a:lstStyle/>
          <a:p>
            <a:pPr algn="ctr"/>
            <a:r>
              <a:rPr lang="zh-CN" altLang="en-US" b="0" cap="none" spc="0" dirty="0">
                <a:ln w="0"/>
                <a:solidFill>
                  <a:schemeClr val="tx1"/>
                </a:solidFill>
                <a:effectLst>
                  <a:outerShdw blurRad="38100" dist="19050" dir="2700000" algn="tl" rotWithShape="0">
                    <a:schemeClr val="dk1">
                      <a:alpha val="40000"/>
                    </a:schemeClr>
                  </a:outerShdw>
                </a:effectLst>
                <a:latin typeface="+mn-ea"/>
                <a:ea typeface="+mn-ea"/>
              </a:rPr>
              <a:t>中继协调节点</a:t>
            </a:r>
          </a:p>
        </p:txBody>
      </p:sp>
      <p:sp>
        <p:nvSpPr>
          <p:cNvPr id="3" name="箭头: 右 2">
            <a:extLst>
              <a:ext uri="{FF2B5EF4-FFF2-40B4-BE49-F238E27FC236}">
                <a16:creationId xmlns:a16="http://schemas.microsoft.com/office/drawing/2014/main" id="{2940C5FE-8561-4086-B483-C4D32E569791}"/>
              </a:ext>
            </a:extLst>
          </p:cNvPr>
          <p:cNvSpPr/>
          <p:nvPr/>
        </p:nvSpPr>
        <p:spPr>
          <a:xfrm rot="18551508">
            <a:off x="2366962" y="5029200"/>
            <a:ext cx="604838"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箭头: 右 11">
            <a:extLst>
              <a:ext uri="{FF2B5EF4-FFF2-40B4-BE49-F238E27FC236}">
                <a16:creationId xmlns:a16="http://schemas.microsoft.com/office/drawing/2014/main" id="{175264E6-5850-44D3-B139-3D9058430590}"/>
              </a:ext>
            </a:extLst>
          </p:cNvPr>
          <p:cNvSpPr/>
          <p:nvPr/>
        </p:nvSpPr>
        <p:spPr>
          <a:xfrm rot="16200000">
            <a:off x="4428557" y="4966259"/>
            <a:ext cx="604838"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箭头: 右 12">
            <a:extLst>
              <a:ext uri="{FF2B5EF4-FFF2-40B4-BE49-F238E27FC236}">
                <a16:creationId xmlns:a16="http://schemas.microsoft.com/office/drawing/2014/main" id="{AB42283B-9364-4032-8805-B7CA249EC96D}"/>
              </a:ext>
            </a:extLst>
          </p:cNvPr>
          <p:cNvSpPr/>
          <p:nvPr/>
        </p:nvSpPr>
        <p:spPr>
          <a:xfrm rot="14231951">
            <a:off x="6892584" y="4966259"/>
            <a:ext cx="604838"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526126576"/>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00BF4D4A-8C38-4B6F-97B7-6275CE1792BE}"/>
              </a:ext>
            </a:extLst>
          </p:cNvPr>
          <p:cNvSpPr>
            <a:spLocks noChangeArrowheads="1"/>
          </p:cNvSpPr>
          <p:nvPr/>
        </p:nvSpPr>
        <p:spPr bwMode="auto">
          <a:xfrm>
            <a:off x="2366963" y="192088"/>
            <a:ext cx="4597400"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52352" bIns="152352"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50000"/>
              </a:lnSpc>
              <a:buFont typeface="Arial" panose="020B0604020202020204" pitchFamily="34" charset="0"/>
              <a:buNone/>
            </a:pPr>
            <a:r>
              <a:rPr lang="zh-CN" altLang="en-US" sz="5400" b="1">
                <a:solidFill>
                  <a:srgbClr val="CC0000"/>
                </a:solidFill>
                <a:latin typeface="华文新魏" panose="02010800040101010101" pitchFamily="2" charset="-122"/>
                <a:ea typeface="华文新魏" panose="02010800040101010101" pitchFamily="2" charset="-122"/>
              </a:rPr>
              <a:t>汇  报  提  纲</a:t>
            </a:r>
          </a:p>
        </p:txBody>
      </p:sp>
      <p:sp>
        <p:nvSpPr>
          <p:cNvPr id="5123" name="Text Box 2">
            <a:extLst>
              <a:ext uri="{FF2B5EF4-FFF2-40B4-BE49-F238E27FC236}">
                <a16:creationId xmlns:a16="http://schemas.microsoft.com/office/drawing/2014/main" id="{03FD2BE7-39E2-49F6-9A71-7C99BB53A0DB}"/>
              </a:ext>
            </a:extLst>
          </p:cNvPr>
          <p:cNvSpPr txBox="1">
            <a:spLocks noChangeArrowheads="1"/>
          </p:cNvSpPr>
          <p:nvPr/>
        </p:nvSpPr>
        <p:spPr bwMode="auto">
          <a:xfrm>
            <a:off x="2832894" y="1741541"/>
            <a:ext cx="3665537" cy="3754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dirty="0">
                <a:solidFill>
                  <a:srgbClr val="000066"/>
                </a:solidFill>
                <a:latin typeface="黑体" panose="02010609060101010101" pitchFamily="49" charset="-122"/>
                <a:ea typeface="黑体" panose="02010609060101010101" pitchFamily="49" charset="-122"/>
              </a:rPr>
              <a:t>一、系统目标 </a:t>
            </a:r>
            <a:endParaRPr lang="en-US" altLang="zh-CN" sz="2800" dirty="0">
              <a:solidFill>
                <a:srgbClr val="000066"/>
              </a:solidFill>
              <a:latin typeface="黑体" panose="02010609060101010101" pitchFamily="49" charset="-122"/>
              <a:ea typeface="黑体" panose="02010609060101010101" pitchFamily="49" charset="-122"/>
            </a:endParaRPr>
          </a:p>
          <a:p>
            <a:pPr eaLnBrk="1" hangingPunct="1">
              <a:spcBef>
                <a:spcPct val="50000"/>
              </a:spcBef>
            </a:pPr>
            <a:r>
              <a:rPr lang="zh-CN" altLang="en-US" sz="2800" dirty="0">
                <a:solidFill>
                  <a:srgbClr val="000066"/>
                </a:solidFill>
                <a:latin typeface="黑体" panose="02010609060101010101" pitchFamily="49" charset="-122"/>
                <a:ea typeface="黑体" panose="02010609060101010101" pitchFamily="49" charset="-122"/>
              </a:rPr>
              <a:t>二、技术原理</a:t>
            </a:r>
            <a:endParaRPr lang="en-US" altLang="zh-CN" sz="2800" dirty="0">
              <a:solidFill>
                <a:srgbClr val="000066"/>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buNone/>
            </a:pPr>
            <a:r>
              <a:rPr lang="zh-CN" altLang="en-US" sz="2800" b="1" dirty="0">
                <a:solidFill>
                  <a:srgbClr val="000066"/>
                </a:solidFill>
                <a:latin typeface="黑体" panose="02010609060101010101" pitchFamily="49" charset="-122"/>
                <a:ea typeface="黑体" panose="02010609060101010101" pitchFamily="49" charset="-122"/>
              </a:rPr>
              <a:t>三、硬件选型与设计</a:t>
            </a:r>
            <a:endParaRPr lang="en-US" altLang="zh-CN" sz="2800" b="1" dirty="0">
              <a:solidFill>
                <a:srgbClr val="000066"/>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buNone/>
            </a:pPr>
            <a:r>
              <a:rPr lang="zh-CN" altLang="en-US" sz="2800" dirty="0">
                <a:solidFill>
                  <a:srgbClr val="000066"/>
                </a:solidFill>
                <a:latin typeface="黑体" panose="02010609060101010101" pitchFamily="49" charset="-122"/>
                <a:ea typeface="黑体" panose="02010609060101010101" pitchFamily="49" charset="-122"/>
              </a:rPr>
              <a:t>四</a:t>
            </a:r>
            <a:r>
              <a:rPr lang="zh-CN" altLang="en-US" sz="2800" b="1" dirty="0">
                <a:solidFill>
                  <a:srgbClr val="000066"/>
                </a:solidFill>
                <a:latin typeface="黑体" panose="02010609060101010101" pitchFamily="49" charset="-122"/>
                <a:ea typeface="黑体" panose="02010609060101010101" pitchFamily="49" charset="-122"/>
              </a:rPr>
              <a:t>、硬件平台</a:t>
            </a:r>
            <a:endParaRPr lang="en-US" altLang="zh-CN" sz="2800" b="1" dirty="0">
              <a:solidFill>
                <a:srgbClr val="000066"/>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buNone/>
            </a:pPr>
            <a:r>
              <a:rPr lang="zh-CN" altLang="en-US" sz="2800" dirty="0">
                <a:solidFill>
                  <a:srgbClr val="FF0000"/>
                </a:solidFill>
                <a:latin typeface="黑体" panose="02010609060101010101" pitchFamily="49" charset="-122"/>
                <a:ea typeface="黑体" panose="02010609060101010101" pitchFamily="49" charset="-122"/>
              </a:rPr>
              <a:t>五</a:t>
            </a:r>
            <a:r>
              <a:rPr lang="zh-CN" altLang="en-US" sz="2800" b="1" dirty="0">
                <a:solidFill>
                  <a:srgbClr val="FF0000"/>
                </a:solidFill>
                <a:latin typeface="黑体" panose="02010609060101010101" pitchFamily="49" charset="-122"/>
                <a:ea typeface="黑体" panose="02010609060101010101" pitchFamily="49" charset="-122"/>
              </a:rPr>
              <a:t>、监控平台</a:t>
            </a:r>
            <a:endParaRPr lang="en-US" altLang="zh-CN" sz="2800" b="1" dirty="0">
              <a:solidFill>
                <a:srgbClr val="FF0000"/>
              </a:solidFill>
              <a:latin typeface="黑体" panose="02010609060101010101" pitchFamily="49" charset="-122"/>
              <a:ea typeface="黑体" panose="02010609060101010101" pitchFamily="49" charset="-122"/>
            </a:endParaRPr>
          </a:p>
          <a:p>
            <a:pPr eaLnBrk="1" hangingPunct="1">
              <a:spcBef>
                <a:spcPct val="50000"/>
              </a:spcBef>
            </a:pPr>
            <a:r>
              <a:rPr lang="zh-CN" altLang="en-US" sz="2800" b="1" dirty="0">
                <a:solidFill>
                  <a:srgbClr val="000066"/>
                </a:solidFill>
                <a:latin typeface="黑体" panose="02010609060101010101" pitchFamily="49" charset="-122"/>
                <a:ea typeface="黑体" panose="02010609060101010101" pitchFamily="49" charset="-122"/>
              </a:rPr>
              <a:t>六、系统后续进展</a:t>
            </a:r>
            <a:endParaRPr lang="en-US" altLang="zh-CN" sz="2800" b="1" dirty="0">
              <a:solidFill>
                <a:srgbClr val="000066"/>
              </a:solidFill>
              <a:latin typeface="黑体" panose="02010609060101010101" pitchFamily="49" charset="-122"/>
              <a:ea typeface="黑体" panose="02010609060101010101" pitchFamily="49" charset="-122"/>
            </a:endParaRPr>
          </a:p>
        </p:txBody>
      </p:sp>
      <p:sp>
        <p:nvSpPr>
          <p:cNvPr id="5124" name="灯片编号占位符 1">
            <a:extLst>
              <a:ext uri="{FF2B5EF4-FFF2-40B4-BE49-F238E27FC236}">
                <a16:creationId xmlns:a16="http://schemas.microsoft.com/office/drawing/2014/main" id="{BB56ADB0-04AF-4CE3-9017-F6E15E580F29}"/>
              </a:ext>
            </a:extLst>
          </p:cNvPr>
          <p:cNvSpPr txBox="1">
            <a:spLocks noGrp="1" noChangeArrowheads="1"/>
          </p:cNvSpPr>
          <p:nvPr/>
        </p:nvSpPr>
        <p:spPr bwMode="auto">
          <a:xfrm>
            <a:off x="6934200" y="64579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fld id="{7C452FCC-F500-4704-91E2-2F390F4FF943}" type="slidenum">
              <a:rPr lang="en-US" altLang="zh-CN" sz="1400"/>
              <a:pPr algn="r" eaLnBrk="1" hangingPunct="1">
                <a:buFont typeface="Arial" panose="020B0604020202020204" pitchFamily="34" charset="0"/>
                <a:buNone/>
              </a:pPr>
              <a:t>15</a:t>
            </a:fld>
            <a:endParaRPr lang="en-US" altLang="zh-CN" sz="1400"/>
          </a:p>
        </p:txBody>
      </p:sp>
      <p:cxnSp>
        <p:nvCxnSpPr>
          <p:cNvPr id="5" name="直接连接符 4">
            <a:extLst>
              <a:ext uri="{FF2B5EF4-FFF2-40B4-BE49-F238E27FC236}">
                <a16:creationId xmlns:a16="http://schemas.microsoft.com/office/drawing/2014/main" id="{58CF87F1-3AD9-4206-9BE0-16FF13E7AEFE}"/>
              </a:ext>
            </a:extLst>
          </p:cNvPr>
          <p:cNvCxnSpPr>
            <a:cxnSpLocks/>
          </p:cNvCxnSpPr>
          <p:nvPr/>
        </p:nvCxnSpPr>
        <p:spPr>
          <a:xfrm>
            <a:off x="0" y="990600"/>
            <a:ext cx="9144000" cy="0"/>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pic>
        <p:nvPicPr>
          <p:cNvPr id="6" name="图片 5">
            <a:extLst>
              <a:ext uri="{FF2B5EF4-FFF2-40B4-BE49-F238E27FC236}">
                <a16:creationId xmlns:a16="http://schemas.microsoft.com/office/drawing/2014/main" id="{05A39EF2-C128-4002-8834-888366A5B9C4}"/>
              </a:ext>
            </a:extLst>
          </p:cNvPr>
          <p:cNvPicPr>
            <a:picLocks noChangeAspect="1"/>
          </p:cNvPicPr>
          <p:nvPr/>
        </p:nvPicPr>
        <p:blipFill rotWithShape="1">
          <a:blip r:embed="rId2">
            <a:extLst>
              <a:ext uri="{28A0092B-C50C-407E-A947-70E740481C1C}">
                <a14:useLocalDpi xmlns:a14="http://schemas.microsoft.com/office/drawing/2010/main" val="0"/>
              </a:ext>
            </a:extLst>
          </a:blip>
          <a:srcRect l="5365" t="9391" r="5363" b="16667"/>
          <a:stretch/>
        </p:blipFill>
        <p:spPr>
          <a:xfrm>
            <a:off x="-19050" y="162718"/>
            <a:ext cx="1981200" cy="693738"/>
          </a:xfrm>
          <a:prstGeom prst="rect">
            <a:avLst/>
          </a:prstGeom>
        </p:spPr>
      </p:pic>
    </p:spTree>
    <p:extLst>
      <p:ext uri="{BB962C8B-B14F-4D97-AF65-F5344CB8AC3E}">
        <p14:creationId xmlns:p14="http://schemas.microsoft.com/office/powerpoint/2010/main" val="802110894"/>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00BF4D4A-8C38-4B6F-97B7-6275CE1792BE}"/>
              </a:ext>
            </a:extLst>
          </p:cNvPr>
          <p:cNvSpPr>
            <a:spLocks noChangeArrowheads="1"/>
          </p:cNvSpPr>
          <p:nvPr/>
        </p:nvSpPr>
        <p:spPr bwMode="auto">
          <a:xfrm>
            <a:off x="2366962" y="85601"/>
            <a:ext cx="5521005" cy="800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152352" bIns="152352"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Arial" panose="020B0604020202020204" pitchFamily="34" charset="0"/>
              <a:buNone/>
            </a:pPr>
            <a:r>
              <a:rPr lang="zh-CN" altLang="en-US" sz="3200" dirty="0">
                <a:solidFill>
                  <a:srgbClr val="FF0000"/>
                </a:solidFill>
                <a:latin typeface="黑体" panose="02010609060101010101" pitchFamily="49" charset="-122"/>
                <a:ea typeface="黑体" panose="02010609060101010101" pitchFamily="49" charset="-122"/>
              </a:rPr>
              <a:t>五</a:t>
            </a:r>
            <a:r>
              <a:rPr lang="zh-CN" altLang="en-US" sz="3200" b="1" dirty="0">
                <a:solidFill>
                  <a:srgbClr val="FF0000"/>
                </a:solidFill>
                <a:latin typeface="黑体" panose="02010609060101010101" pitchFamily="49" charset="-122"/>
                <a:ea typeface="黑体" panose="02010609060101010101" pitchFamily="49" charset="-122"/>
              </a:rPr>
              <a:t>、监控平台</a:t>
            </a:r>
            <a:r>
              <a:rPr lang="en-US" altLang="zh-CN" sz="3200" b="1" dirty="0">
                <a:solidFill>
                  <a:srgbClr val="FF0000"/>
                </a:solidFill>
                <a:latin typeface="黑体" panose="02010609060101010101" pitchFamily="49" charset="-122"/>
                <a:ea typeface="黑体" panose="02010609060101010101" pitchFamily="49" charset="-122"/>
              </a:rPr>
              <a:t>——</a:t>
            </a:r>
            <a:r>
              <a:rPr lang="zh-CN" altLang="en-US" sz="3200" b="1" dirty="0">
                <a:solidFill>
                  <a:srgbClr val="FF0000"/>
                </a:solidFill>
                <a:latin typeface="黑体" panose="02010609060101010101" pitchFamily="49" charset="-122"/>
                <a:ea typeface="黑体" panose="02010609060101010101" pitchFamily="49" charset="-122"/>
              </a:rPr>
              <a:t>软件设计</a:t>
            </a:r>
            <a:endParaRPr lang="en-US" altLang="zh-CN" sz="3200" b="1" dirty="0">
              <a:solidFill>
                <a:srgbClr val="FF0000"/>
              </a:solidFill>
              <a:latin typeface="黑体" panose="02010609060101010101" pitchFamily="49" charset="-122"/>
              <a:ea typeface="黑体" panose="02010609060101010101" pitchFamily="49" charset="-122"/>
            </a:endParaRPr>
          </a:p>
        </p:txBody>
      </p:sp>
      <p:sp>
        <p:nvSpPr>
          <p:cNvPr id="5124" name="灯片编号占位符 1">
            <a:extLst>
              <a:ext uri="{FF2B5EF4-FFF2-40B4-BE49-F238E27FC236}">
                <a16:creationId xmlns:a16="http://schemas.microsoft.com/office/drawing/2014/main" id="{BB56ADB0-04AF-4CE3-9017-F6E15E580F29}"/>
              </a:ext>
            </a:extLst>
          </p:cNvPr>
          <p:cNvSpPr txBox="1">
            <a:spLocks noGrp="1" noChangeArrowheads="1"/>
          </p:cNvSpPr>
          <p:nvPr/>
        </p:nvSpPr>
        <p:spPr bwMode="auto">
          <a:xfrm>
            <a:off x="6967429" y="5716853"/>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fld id="{7C452FCC-F500-4704-91E2-2F390F4FF943}" type="slidenum">
              <a:rPr lang="en-US" altLang="zh-CN" sz="1400"/>
              <a:pPr algn="r" eaLnBrk="1" hangingPunct="1">
                <a:buFont typeface="Arial" panose="020B0604020202020204" pitchFamily="34" charset="0"/>
                <a:buNone/>
              </a:pPr>
              <a:t>16</a:t>
            </a:fld>
            <a:endParaRPr lang="en-US" altLang="zh-CN" sz="1400"/>
          </a:p>
        </p:txBody>
      </p:sp>
      <p:cxnSp>
        <p:nvCxnSpPr>
          <p:cNvPr id="5" name="直接连接符 4">
            <a:extLst>
              <a:ext uri="{FF2B5EF4-FFF2-40B4-BE49-F238E27FC236}">
                <a16:creationId xmlns:a16="http://schemas.microsoft.com/office/drawing/2014/main" id="{58CF87F1-3AD9-4206-9BE0-16FF13E7AEFE}"/>
              </a:ext>
            </a:extLst>
          </p:cNvPr>
          <p:cNvCxnSpPr>
            <a:cxnSpLocks/>
          </p:cNvCxnSpPr>
          <p:nvPr/>
        </p:nvCxnSpPr>
        <p:spPr>
          <a:xfrm>
            <a:off x="0" y="990600"/>
            <a:ext cx="9144000" cy="0"/>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pic>
        <p:nvPicPr>
          <p:cNvPr id="6" name="图片 5">
            <a:extLst>
              <a:ext uri="{FF2B5EF4-FFF2-40B4-BE49-F238E27FC236}">
                <a16:creationId xmlns:a16="http://schemas.microsoft.com/office/drawing/2014/main" id="{05A39EF2-C128-4002-8834-888366A5B9C4}"/>
              </a:ext>
            </a:extLst>
          </p:cNvPr>
          <p:cNvPicPr>
            <a:picLocks noChangeAspect="1"/>
          </p:cNvPicPr>
          <p:nvPr/>
        </p:nvPicPr>
        <p:blipFill rotWithShape="1">
          <a:blip r:embed="rId2">
            <a:extLst>
              <a:ext uri="{28A0092B-C50C-407E-A947-70E740481C1C}">
                <a14:useLocalDpi xmlns:a14="http://schemas.microsoft.com/office/drawing/2010/main" val="0"/>
              </a:ext>
            </a:extLst>
          </a:blip>
          <a:srcRect l="5365" t="9391" r="5363" b="16667"/>
          <a:stretch/>
        </p:blipFill>
        <p:spPr>
          <a:xfrm>
            <a:off x="-19050" y="162718"/>
            <a:ext cx="1981200" cy="693738"/>
          </a:xfrm>
          <a:prstGeom prst="rect">
            <a:avLst/>
          </a:prstGeom>
        </p:spPr>
      </p:pic>
      <p:cxnSp>
        <p:nvCxnSpPr>
          <p:cNvPr id="53" name="直接连接符 52">
            <a:extLst>
              <a:ext uri="{FF2B5EF4-FFF2-40B4-BE49-F238E27FC236}">
                <a16:creationId xmlns:a16="http://schemas.microsoft.com/office/drawing/2014/main" id="{802092CF-B6DC-4B15-BEEF-6656406DC6B0}"/>
              </a:ext>
            </a:extLst>
          </p:cNvPr>
          <p:cNvCxnSpPr/>
          <p:nvPr/>
        </p:nvCxnSpPr>
        <p:spPr>
          <a:xfrm>
            <a:off x="5094179" y="4904585"/>
            <a:ext cx="1021080" cy="0"/>
          </a:xfrm>
          <a:prstGeom prst="line">
            <a:avLst/>
          </a:prstGeom>
          <a:noFill/>
          <a:ln w="6350" cap="flat" cmpd="sng" algn="ctr">
            <a:solidFill>
              <a:schemeClr val="accent1"/>
            </a:solidFill>
            <a:prstDash val="solid"/>
            <a:miter lim="800000"/>
          </a:ln>
          <a:effectLst/>
        </p:spPr>
      </p:cxnSp>
      <p:grpSp>
        <p:nvGrpSpPr>
          <p:cNvPr id="54" name="组合 53">
            <a:extLst>
              <a:ext uri="{FF2B5EF4-FFF2-40B4-BE49-F238E27FC236}">
                <a16:creationId xmlns:a16="http://schemas.microsoft.com/office/drawing/2014/main" id="{AA0CB448-FF47-4720-A38F-DD91FFEF406A}"/>
              </a:ext>
            </a:extLst>
          </p:cNvPr>
          <p:cNvGrpSpPr/>
          <p:nvPr/>
        </p:nvGrpSpPr>
        <p:grpSpPr>
          <a:xfrm>
            <a:off x="5000171" y="4104574"/>
            <a:ext cx="1179830" cy="215900"/>
            <a:chOff x="9442" y="2848"/>
            <a:chExt cx="1858" cy="340"/>
          </a:xfrm>
        </p:grpSpPr>
        <p:cxnSp>
          <p:nvCxnSpPr>
            <p:cNvPr id="55" name="直接连接符 54">
              <a:extLst>
                <a:ext uri="{FF2B5EF4-FFF2-40B4-BE49-F238E27FC236}">
                  <a16:creationId xmlns:a16="http://schemas.microsoft.com/office/drawing/2014/main" id="{3220B970-B3FA-4186-BC9C-C7E60E698DA2}"/>
                </a:ext>
              </a:extLst>
            </p:cNvPr>
            <p:cNvCxnSpPr/>
            <p:nvPr/>
          </p:nvCxnSpPr>
          <p:spPr>
            <a:xfrm>
              <a:off x="9676" y="2990"/>
              <a:ext cx="1624" cy="0"/>
            </a:xfrm>
            <a:prstGeom prst="line">
              <a:avLst/>
            </a:prstGeom>
            <a:noFill/>
            <a:ln w="6350" cap="flat" cmpd="sng" algn="ctr">
              <a:solidFill>
                <a:schemeClr val="accent1"/>
              </a:solidFill>
              <a:prstDash val="solid"/>
              <a:miter lim="800000"/>
            </a:ln>
            <a:effectLst/>
          </p:spPr>
        </p:cxnSp>
        <p:sp>
          <p:nvSpPr>
            <p:cNvPr id="56" name="椭圆 55">
              <a:extLst>
                <a:ext uri="{FF2B5EF4-FFF2-40B4-BE49-F238E27FC236}">
                  <a16:creationId xmlns:a16="http://schemas.microsoft.com/office/drawing/2014/main" id="{0951127A-DD0D-42B0-9B95-345F59D6CDCA}"/>
                </a:ext>
              </a:extLst>
            </p:cNvPr>
            <p:cNvSpPr/>
            <p:nvPr/>
          </p:nvSpPr>
          <p:spPr>
            <a:xfrm>
              <a:off x="9442" y="2848"/>
              <a:ext cx="340" cy="340"/>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cxnSp>
        <p:nvCxnSpPr>
          <p:cNvPr id="57" name="直接连接符 56">
            <a:extLst>
              <a:ext uri="{FF2B5EF4-FFF2-40B4-BE49-F238E27FC236}">
                <a16:creationId xmlns:a16="http://schemas.microsoft.com/office/drawing/2014/main" id="{7ADAB24A-CB2F-451B-92C9-AFBE114A3547}"/>
              </a:ext>
            </a:extLst>
          </p:cNvPr>
          <p:cNvCxnSpPr/>
          <p:nvPr/>
        </p:nvCxnSpPr>
        <p:spPr>
          <a:xfrm flipV="1">
            <a:off x="5085261" y="3606593"/>
            <a:ext cx="1031240" cy="3175"/>
          </a:xfrm>
          <a:prstGeom prst="line">
            <a:avLst/>
          </a:prstGeom>
          <a:noFill/>
          <a:ln w="6350" cap="flat" cmpd="sng" algn="ctr">
            <a:solidFill>
              <a:schemeClr val="accent1"/>
            </a:solidFill>
            <a:prstDash val="solid"/>
            <a:miter lim="800000"/>
          </a:ln>
          <a:effectLst/>
        </p:spPr>
      </p:cxnSp>
      <p:cxnSp>
        <p:nvCxnSpPr>
          <p:cNvPr id="58" name="直接连接符 57">
            <a:extLst>
              <a:ext uri="{FF2B5EF4-FFF2-40B4-BE49-F238E27FC236}">
                <a16:creationId xmlns:a16="http://schemas.microsoft.com/office/drawing/2014/main" id="{07A3AF07-7436-4511-BE87-4D0D21283567}"/>
              </a:ext>
            </a:extLst>
          </p:cNvPr>
          <p:cNvCxnSpPr/>
          <p:nvPr/>
        </p:nvCxnSpPr>
        <p:spPr>
          <a:xfrm>
            <a:off x="5073650" y="1372235"/>
            <a:ext cx="0" cy="5003800"/>
          </a:xfrm>
          <a:prstGeom prst="line">
            <a:avLst/>
          </a:prstGeom>
          <a:noFill/>
          <a:ln w="28575" cap="flat" cmpd="sng" algn="ctr">
            <a:solidFill>
              <a:schemeClr val="accent1"/>
            </a:solidFill>
            <a:prstDash val="solid"/>
            <a:miter lim="800000"/>
          </a:ln>
          <a:effectLst/>
        </p:spPr>
      </p:cxnSp>
      <p:sp>
        <p:nvSpPr>
          <p:cNvPr id="59" name="椭圆 58">
            <a:extLst>
              <a:ext uri="{FF2B5EF4-FFF2-40B4-BE49-F238E27FC236}">
                <a16:creationId xmlns:a16="http://schemas.microsoft.com/office/drawing/2014/main" id="{C429DA5A-7598-4E4D-AC13-CD12ED253BD7}"/>
              </a:ext>
            </a:extLst>
          </p:cNvPr>
          <p:cNvSpPr/>
          <p:nvPr/>
        </p:nvSpPr>
        <p:spPr>
          <a:xfrm>
            <a:off x="4992551" y="3499913"/>
            <a:ext cx="215900" cy="215900"/>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60" name="椭圆 59">
            <a:extLst>
              <a:ext uri="{FF2B5EF4-FFF2-40B4-BE49-F238E27FC236}">
                <a16:creationId xmlns:a16="http://schemas.microsoft.com/office/drawing/2014/main" id="{A27BD650-D439-4C34-AF93-0CA0A435E2EB}"/>
              </a:ext>
            </a:extLst>
          </p:cNvPr>
          <p:cNvSpPr/>
          <p:nvPr/>
        </p:nvSpPr>
        <p:spPr>
          <a:xfrm>
            <a:off x="4995119" y="4796635"/>
            <a:ext cx="215900" cy="215900"/>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62" name="文本框 61">
            <a:extLst>
              <a:ext uri="{FF2B5EF4-FFF2-40B4-BE49-F238E27FC236}">
                <a16:creationId xmlns:a16="http://schemas.microsoft.com/office/drawing/2014/main" id="{A67E692D-6070-4FF0-B6DC-64EC9586EB78}"/>
              </a:ext>
            </a:extLst>
          </p:cNvPr>
          <p:cNvSpPr txBox="1"/>
          <p:nvPr/>
        </p:nvSpPr>
        <p:spPr>
          <a:xfrm>
            <a:off x="6409056" y="2155825"/>
            <a:ext cx="1478914" cy="245745"/>
          </a:xfrm>
          <a:prstGeom prst="rect">
            <a:avLst/>
          </a:prstGeom>
          <a:noFill/>
        </p:spPr>
        <p:txBody>
          <a:bodyPr wrap="square" lIns="0" tIns="0" rIns="0" bIns="0" rtlCol="0">
            <a:spAutoFit/>
          </a:bodyPr>
          <a:lstStyle/>
          <a:p>
            <a:pPr fontAlgn="auto">
              <a:spcBef>
                <a:spcPts val="0"/>
              </a:spcBef>
              <a:spcAft>
                <a:spcPts val="0"/>
              </a:spcAft>
            </a:pPr>
            <a:r>
              <a:rPr lang="zh-CN" altLang="en-US" sz="1600" b="1" spc="300" dirty="0">
                <a:solidFill>
                  <a:schemeClr val="accent4"/>
                </a:solidFill>
                <a:latin typeface="微软雅黑" panose="020B0503020204020204" pitchFamily="34" charset="-122"/>
                <a:ea typeface="微软雅黑" panose="020B0503020204020204" pitchFamily="34" charset="-122"/>
              </a:rPr>
              <a:t>UI界面设计</a:t>
            </a:r>
          </a:p>
        </p:txBody>
      </p:sp>
      <p:grpSp>
        <p:nvGrpSpPr>
          <p:cNvPr id="64" name="组合 63">
            <a:extLst>
              <a:ext uri="{FF2B5EF4-FFF2-40B4-BE49-F238E27FC236}">
                <a16:creationId xmlns:a16="http://schemas.microsoft.com/office/drawing/2014/main" id="{15AC7620-DC05-4EBE-BF2F-AB121D1EAA45}"/>
              </a:ext>
            </a:extLst>
          </p:cNvPr>
          <p:cNvGrpSpPr/>
          <p:nvPr/>
        </p:nvGrpSpPr>
        <p:grpSpPr>
          <a:xfrm>
            <a:off x="5828122" y="3958153"/>
            <a:ext cx="504000" cy="504000"/>
            <a:chOff x="7982080" y="4240456"/>
            <a:chExt cx="504000" cy="504000"/>
          </a:xfrm>
        </p:grpSpPr>
        <p:sp>
          <p:nvSpPr>
            <p:cNvPr id="65" name="椭圆 64">
              <a:extLst>
                <a:ext uri="{FF2B5EF4-FFF2-40B4-BE49-F238E27FC236}">
                  <a16:creationId xmlns:a16="http://schemas.microsoft.com/office/drawing/2014/main" id="{54042877-6529-4AFF-B408-B57DB4CB388E}"/>
                </a:ext>
              </a:extLst>
            </p:cNvPr>
            <p:cNvSpPr/>
            <p:nvPr/>
          </p:nvSpPr>
          <p:spPr>
            <a:xfrm>
              <a:off x="7982080" y="4240456"/>
              <a:ext cx="504000" cy="504000"/>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66" name="Freeform 108">
              <a:extLst>
                <a:ext uri="{FF2B5EF4-FFF2-40B4-BE49-F238E27FC236}">
                  <a16:creationId xmlns:a16="http://schemas.microsoft.com/office/drawing/2014/main" id="{BF4FC123-BD4C-4C24-B192-D9783E3C49B8}"/>
                </a:ext>
              </a:extLst>
            </p:cNvPr>
            <p:cNvSpPr>
              <a:spLocks noChangeAspect="1" noEditPoints="1"/>
            </p:cNvSpPr>
            <p:nvPr/>
          </p:nvSpPr>
          <p:spPr bwMode="auto">
            <a:xfrm>
              <a:off x="8054080" y="4382788"/>
              <a:ext cx="360000" cy="219337"/>
            </a:xfrm>
            <a:custGeom>
              <a:avLst/>
              <a:gdLst>
                <a:gd name="T0" fmla="*/ 126 w 128"/>
                <a:gd name="T1" fmla="*/ 74 h 78"/>
                <a:gd name="T2" fmla="*/ 114 w 128"/>
                <a:gd name="T3" fmla="*/ 74 h 78"/>
                <a:gd name="T4" fmla="*/ 114 w 128"/>
                <a:gd name="T5" fmla="*/ 50 h 78"/>
                <a:gd name="T6" fmla="*/ 108 w 128"/>
                <a:gd name="T7" fmla="*/ 44 h 78"/>
                <a:gd name="T8" fmla="*/ 94 w 128"/>
                <a:gd name="T9" fmla="*/ 44 h 78"/>
                <a:gd name="T10" fmla="*/ 88 w 128"/>
                <a:gd name="T11" fmla="*/ 50 h 78"/>
                <a:gd name="T12" fmla="*/ 88 w 128"/>
                <a:gd name="T13" fmla="*/ 74 h 78"/>
                <a:gd name="T14" fmla="*/ 77 w 128"/>
                <a:gd name="T15" fmla="*/ 74 h 78"/>
                <a:gd name="T16" fmla="*/ 77 w 128"/>
                <a:gd name="T17" fmla="*/ 6 h 78"/>
                <a:gd name="T18" fmla="*/ 71 w 128"/>
                <a:gd name="T19" fmla="*/ 0 h 78"/>
                <a:gd name="T20" fmla="*/ 57 w 128"/>
                <a:gd name="T21" fmla="*/ 0 h 78"/>
                <a:gd name="T22" fmla="*/ 51 w 128"/>
                <a:gd name="T23" fmla="*/ 6 h 78"/>
                <a:gd name="T24" fmla="*/ 51 w 128"/>
                <a:gd name="T25" fmla="*/ 74 h 78"/>
                <a:gd name="T26" fmla="*/ 40 w 128"/>
                <a:gd name="T27" fmla="*/ 74 h 78"/>
                <a:gd name="T28" fmla="*/ 40 w 128"/>
                <a:gd name="T29" fmla="*/ 35 h 78"/>
                <a:gd name="T30" fmla="*/ 34 w 128"/>
                <a:gd name="T31" fmla="*/ 29 h 78"/>
                <a:gd name="T32" fmla="*/ 20 w 128"/>
                <a:gd name="T33" fmla="*/ 29 h 78"/>
                <a:gd name="T34" fmla="*/ 14 w 128"/>
                <a:gd name="T35" fmla="*/ 35 h 78"/>
                <a:gd name="T36" fmla="*/ 14 w 128"/>
                <a:gd name="T37" fmla="*/ 74 h 78"/>
                <a:gd name="T38" fmla="*/ 2 w 128"/>
                <a:gd name="T39" fmla="*/ 74 h 78"/>
                <a:gd name="T40" fmla="*/ 0 w 128"/>
                <a:gd name="T41" fmla="*/ 76 h 78"/>
                <a:gd name="T42" fmla="*/ 2 w 128"/>
                <a:gd name="T43" fmla="*/ 78 h 78"/>
                <a:gd name="T44" fmla="*/ 126 w 128"/>
                <a:gd name="T45" fmla="*/ 78 h 78"/>
                <a:gd name="T46" fmla="*/ 128 w 128"/>
                <a:gd name="T47" fmla="*/ 76 h 78"/>
                <a:gd name="T48" fmla="*/ 126 w 128"/>
                <a:gd name="T49" fmla="*/ 74 h 78"/>
                <a:gd name="T50" fmla="*/ 36 w 128"/>
                <a:gd name="T51" fmla="*/ 74 h 78"/>
                <a:gd name="T52" fmla="*/ 18 w 128"/>
                <a:gd name="T53" fmla="*/ 74 h 78"/>
                <a:gd name="T54" fmla="*/ 18 w 128"/>
                <a:gd name="T55" fmla="*/ 34 h 78"/>
                <a:gd name="T56" fmla="*/ 36 w 128"/>
                <a:gd name="T57" fmla="*/ 34 h 78"/>
                <a:gd name="T58" fmla="*/ 36 w 128"/>
                <a:gd name="T59" fmla="*/ 74 h 78"/>
                <a:gd name="T60" fmla="*/ 73 w 128"/>
                <a:gd name="T61" fmla="*/ 74 h 78"/>
                <a:gd name="T62" fmla="*/ 55 w 128"/>
                <a:gd name="T63" fmla="*/ 74 h 78"/>
                <a:gd name="T64" fmla="*/ 55 w 128"/>
                <a:gd name="T65" fmla="*/ 4 h 78"/>
                <a:gd name="T66" fmla="*/ 73 w 128"/>
                <a:gd name="T67" fmla="*/ 4 h 78"/>
                <a:gd name="T68" fmla="*/ 73 w 128"/>
                <a:gd name="T69" fmla="*/ 74 h 78"/>
                <a:gd name="T70" fmla="*/ 110 w 128"/>
                <a:gd name="T71" fmla="*/ 74 h 78"/>
                <a:gd name="T72" fmla="*/ 92 w 128"/>
                <a:gd name="T73" fmla="*/ 74 h 78"/>
                <a:gd name="T74" fmla="*/ 92 w 128"/>
                <a:gd name="T75" fmla="*/ 49 h 78"/>
                <a:gd name="T76" fmla="*/ 110 w 128"/>
                <a:gd name="T77" fmla="*/ 49 h 78"/>
                <a:gd name="T78" fmla="*/ 110 w 128"/>
                <a:gd name="T79" fmla="*/ 74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28" h="78">
                  <a:moveTo>
                    <a:pt x="126" y="74"/>
                  </a:moveTo>
                  <a:cubicBezTo>
                    <a:pt x="114" y="74"/>
                    <a:pt x="114" y="74"/>
                    <a:pt x="114" y="74"/>
                  </a:cubicBezTo>
                  <a:cubicBezTo>
                    <a:pt x="114" y="50"/>
                    <a:pt x="114" y="50"/>
                    <a:pt x="114" y="50"/>
                  </a:cubicBezTo>
                  <a:cubicBezTo>
                    <a:pt x="114" y="47"/>
                    <a:pt x="112" y="44"/>
                    <a:pt x="108" y="44"/>
                  </a:cubicBezTo>
                  <a:cubicBezTo>
                    <a:pt x="94" y="44"/>
                    <a:pt x="94" y="44"/>
                    <a:pt x="94" y="44"/>
                  </a:cubicBezTo>
                  <a:cubicBezTo>
                    <a:pt x="90" y="44"/>
                    <a:pt x="88" y="47"/>
                    <a:pt x="88" y="50"/>
                  </a:cubicBezTo>
                  <a:cubicBezTo>
                    <a:pt x="88" y="74"/>
                    <a:pt x="88" y="74"/>
                    <a:pt x="88" y="74"/>
                  </a:cubicBezTo>
                  <a:cubicBezTo>
                    <a:pt x="77" y="74"/>
                    <a:pt x="77" y="74"/>
                    <a:pt x="77" y="74"/>
                  </a:cubicBezTo>
                  <a:cubicBezTo>
                    <a:pt x="77" y="6"/>
                    <a:pt x="77" y="6"/>
                    <a:pt x="77" y="6"/>
                  </a:cubicBezTo>
                  <a:cubicBezTo>
                    <a:pt x="77" y="2"/>
                    <a:pt x="75" y="0"/>
                    <a:pt x="71" y="0"/>
                  </a:cubicBezTo>
                  <a:cubicBezTo>
                    <a:pt x="57" y="0"/>
                    <a:pt x="57" y="0"/>
                    <a:pt x="57" y="0"/>
                  </a:cubicBezTo>
                  <a:cubicBezTo>
                    <a:pt x="53" y="0"/>
                    <a:pt x="51" y="2"/>
                    <a:pt x="51" y="6"/>
                  </a:cubicBezTo>
                  <a:cubicBezTo>
                    <a:pt x="51" y="74"/>
                    <a:pt x="51" y="74"/>
                    <a:pt x="51" y="74"/>
                  </a:cubicBezTo>
                  <a:cubicBezTo>
                    <a:pt x="40" y="74"/>
                    <a:pt x="40" y="74"/>
                    <a:pt x="40" y="74"/>
                  </a:cubicBezTo>
                  <a:cubicBezTo>
                    <a:pt x="40" y="35"/>
                    <a:pt x="40" y="35"/>
                    <a:pt x="40" y="35"/>
                  </a:cubicBezTo>
                  <a:cubicBezTo>
                    <a:pt x="40" y="32"/>
                    <a:pt x="38" y="29"/>
                    <a:pt x="34" y="29"/>
                  </a:cubicBezTo>
                  <a:cubicBezTo>
                    <a:pt x="20" y="29"/>
                    <a:pt x="20" y="29"/>
                    <a:pt x="20" y="29"/>
                  </a:cubicBezTo>
                  <a:cubicBezTo>
                    <a:pt x="16" y="29"/>
                    <a:pt x="14" y="32"/>
                    <a:pt x="14" y="35"/>
                  </a:cubicBezTo>
                  <a:cubicBezTo>
                    <a:pt x="14" y="74"/>
                    <a:pt x="14" y="74"/>
                    <a:pt x="14" y="74"/>
                  </a:cubicBezTo>
                  <a:cubicBezTo>
                    <a:pt x="2" y="74"/>
                    <a:pt x="2" y="74"/>
                    <a:pt x="2" y="74"/>
                  </a:cubicBezTo>
                  <a:cubicBezTo>
                    <a:pt x="1" y="74"/>
                    <a:pt x="0" y="75"/>
                    <a:pt x="0" y="76"/>
                  </a:cubicBezTo>
                  <a:cubicBezTo>
                    <a:pt x="0" y="77"/>
                    <a:pt x="1" y="78"/>
                    <a:pt x="2" y="78"/>
                  </a:cubicBezTo>
                  <a:cubicBezTo>
                    <a:pt x="126" y="78"/>
                    <a:pt x="126" y="78"/>
                    <a:pt x="126" y="78"/>
                  </a:cubicBezTo>
                  <a:cubicBezTo>
                    <a:pt x="127" y="78"/>
                    <a:pt x="128" y="77"/>
                    <a:pt x="128" y="76"/>
                  </a:cubicBezTo>
                  <a:cubicBezTo>
                    <a:pt x="128" y="75"/>
                    <a:pt x="127" y="74"/>
                    <a:pt x="126" y="74"/>
                  </a:cubicBezTo>
                  <a:close/>
                  <a:moveTo>
                    <a:pt x="36" y="74"/>
                  </a:moveTo>
                  <a:cubicBezTo>
                    <a:pt x="18" y="74"/>
                    <a:pt x="18" y="74"/>
                    <a:pt x="18" y="74"/>
                  </a:cubicBezTo>
                  <a:cubicBezTo>
                    <a:pt x="18" y="34"/>
                    <a:pt x="18" y="34"/>
                    <a:pt x="18" y="34"/>
                  </a:cubicBezTo>
                  <a:cubicBezTo>
                    <a:pt x="36" y="34"/>
                    <a:pt x="36" y="34"/>
                    <a:pt x="36" y="34"/>
                  </a:cubicBezTo>
                  <a:lnTo>
                    <a:pt x="36" y="74"/>
                  </a:lnTo>
                  <a:close/>
                  <a:moveTo>
                    <a:pt x="73" y="74"/>
                  </a:moveTo>
                  <a:cubicBezTo>
                    <a:pt x="55" y="74"/>
                    <a:pt x="55" y="74"/>
                    <a:pt x="55" y="74"/>
                  </a:cubicBezTo>
                  <a:cubicBezTo>
                    <a:pt x="55" y="4"/>
                    <a:pt x="55" y="4"/>
                    <a:pt x="55" y="4"/>
                  </a:cubicBezTo>
                  <a:cubicBezTo>
                    <a:pt x="73" y="4"/>
                    <a:pt x="73" y="4"/>
                    <a:pt x="73" y="4"/>
                  </a:cubicBezTo>
                  <a:lnTo>
                    <a:pt x="73" y="74"/>
                  </a:lnTo>
                  <a:close/>
                  <a:moveTo>
                    <a:pt x="110" y="74"/>
                  </a:moveTo>
                  <a:cubicBezTo>
                    <a:pt x="92" y="74"/>
                    <a:pt x="92" y="74"/>
                    <a:pt x="92" y="74"/>
                  </a:cubicBezTo>
                  <a:cubicBezTo>
                    <a:pt x="92" y="49"/>
                    <a:pt x="92" y="49"/>
                    <a:pt x="92" y="49"/>
                  </a:cubicBezTo>
                  <a:cubicBezTo>
                    <a:pt x="110" y="49"/>
                    <a:pt x="110" y="49"/>
                    <a:pt x="110" y="49"/>
                  </a:cubicBezTo>
                  <a:lnTo>
                    <a:pt x="110" y="74"/>
                  </a:lnTo>
                  <a:close/>
                </a:path>
              </a:pathLst>
            </a:custGeom>
            <a:solidFill>
              <a:srgbClr val="FFFFFF"/>
            </a:solid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grpSp>
        <p:nvGrpSpPr>
          <p:cNvPr id="70" name="组合 69">
            <a:extLst>
              <a:ext uri="{FF2B5EF4-FFF2-40B4-BE49-F238E27FC236}">
                <a16:creationId xmlns:a16="http://schemas.microsoft.com/office/drawing/2014/main" id="{8EC2CEBC-9224-4ECF-A7AB-C34993C43822}"/>
              </a:ext>
            </a:extLst>
          </p:cNvPr>
          <p:cNvGrpSpPr/>
          <p:nvPr/>
        </p:nvGrpSpPr>
        <p:grpSpPr>
          <a:xfrm>
            <a:off x="5804662" y="2031964"/>
            <a:ext cx="504000" cy="504000"/>
            <a:chOff x="7982080" y="3120819"/>
            <a:chExt cx="504000" cy="504000"/>
          </a:xfrm>
        </p:grpSpPr>
        <p:sp>
          <p:nvSpPr>
            <p:cNvPr id="71" name="椭圆 70">
              <a:extLst>
                <a:ext uri="{FF2B5EF4-FFF2-40B4-BE49-F238E27FC236}">
                  <a16:creationId xmlns:a16="http://schemas.microsoft.com/office/drawing/2014/main" id="{1C3C9E20-AC11-4DBB-A663-ED370FA28AB4}"/>
                </a:ext>
              </a:extLst>
            </p:cNvPr>
            <p:cNvSpPr/>
            <p:nvPr/>
          </p:nvSpPr>
          <p:spPr>
            <a:xfrm>
              <a:off x="7982080" y="3120819"/>
              <a:ext cx="504000" cy="504000"/>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72" name="Freeform 73">
              <a:extLst>
                <a:ext uri="{FF2B5EF4-FFF2-40B4-BE49-F238E27FC236}">
                  <a16:creationId xmlns:a16="http://schemas.microsoft.com/office/drawing/2014/main" id="{221EE9D8-C545-4677-90CE-3CDCD1E664D0}"/>
                </a:ext>
              </a:extLst>
            </p:cNvPr>
            <p:cNvSpPr>
              <a:spLocks noChangeAspect="1" noEditPoints="1"/>
            </p:cNvSpPr>
            <p:nvPr/>
          </p:nvSpPr>
          <p:spPr bwMode="auto">
            <a:xfrm>
              <a:off x="8072080" y="3190343"/>
              <a:ext cx="324000" cy="364952"/>
            </a:xfrm>
            <a:custGeom>
              <a:avLst/>
              <a:gdLst>
                <a:gd name="T0" fmla="*/ 114 w 114"/>
                <a:gd name="T1" fmla="*/ 95 h 128"/>
                <a:gd name="T2" fmla="*/ 114 w 114"/>
                <a:gd name="T3" fmla="*/ 34 h 128"/>
                <a:gd name="T4" fmla="*/ 112 w 114"/>
                <a:gd name="T5" fmla="*/ 32 h 128"/>
                <a:gd name="T6" fmla="*/ 58 w 114"/>
                <a:gd name="T7" fmla="*/ 1 h 128"/>
                <a:gd name="T8" fmla="*/ 57 w 114"/>
                <a:gd name="T9" fmla="*/ 0 h 128"/>
                <a:gd name="T10" fmla="*/ 56 w 114"/>
                <a:gd name="T11" fmla="*/ 1 h 128"/>
                <a:gd name="T12" fmla="*/ 1 w 114"/>
                <a:gd name="T13" fmla="*/ 32 h 128"/>
                <a:gd name="T14" fmla="*/ 0 w 114"/>
                <a:gd name="T15" fmla="*/ 34 h 128"/>
                <a:gd name="T16" fmla="*/ 0 w 114"/>
                <a:gd name="T17" fmla="*/ 94 h 128"/>
                <a:gd name="T18" fmla="*/ 0 w 114"/>
                <a:gd name="T19" fmla="*/ 95 h 128"/>
                <a:gd name="T20" fmla="*/ 1 w 114"/>
                <a:gd name="T21" fmla="*/ 97 h 128"/>
                <a:gd name="T22" fmla="*/ 56 w 114"/>
                <a:gd name="T23" fmla="*/ 128 h 128"/>
                <a:gd name="T24" fmla="*/ 58 w 114"/>
                <a:gd name="T25" fmla="*/ 128 h 128"/>
                <a:gd name="T26" fmla="*/ 112 w 114"/>
                <a:gd name="T27" fmla="*/ 97 h 128"/>
                <a:gd name="T28" fmla="*/ 114 w 114"/>
                <a:gd name="T29" fmla="*/ 95 h 128"/>
                <a:gd name="T30" fmla="*/ 55 w 114"/>
                <a:gd name="T31" fmla="*/ 122 h 128"/>
                <a:gd name="T32" fmla="*/ 5 w 114"/>
                <a:gd name="T33" fmla="*/ 93 h 128"/>
                <a:gd name="T34" fmla="*/ 5 w 114"/>
                <a:gd name="T35" fmla="*/ 38 h 128"/>
                <a:gd name="T36" fmla="*/ 55 w 114"/>
                <a:gd name="T37" fmla="*/ 67 h 128"/>
                <a:gd name="T38" fmla="*/ 55 w 114"/>
                <a:gd name="T39" fmla="*/ 122 h 128"/>
                <a:gd name="T40" fmla="*/ 57 w 114"/>
                <a:gd name="T41" fmla="*/ 63 h 128"/>
                <a:gd name="T42" fmla="*/ 7 w 114"/>
                <a:gd name="T43" fmla="*/ 34 h 128"/>
                <a:gd name="T44" fmla="*/ 57 w 114"/>
                <a:gd name="T45" fmla="*/ 5 h 128"/>
                <a:gd name="T46" fmla="*/ 107 w 114"/>
                <a:gd name="T47" fmla="*/ 34 h 128"/>
                <a:gd name="T48" fmla="*/ 57 w 114"/>
                <a:gd name="T49" fmla="*/ 63 h 128"/>
                <a:gd name="T50" fmla="*/ 109 w 114"/>
                <a:gd name="T51" fmla="*/ 93 h 128"/>
                <a:gd name="T52" fmla="*/ 59 w 114"/>
                <a:gd name="T53" fmla="*/ 122 h 128"/>
                <a:gd name="T54" fmla="*/ 59 w 114"/>
                <a:gd name="T55" fmla="*/ 67 h 128"/>
                <a:gd name="T56" fmla="*/ 109 w 114"/>
                <a:gd name="T57" fmla="*/ 38 h 128"/>
                <a:gd name="T58" fmla="*/ 109 w 114"/>
                <a:gd name="T59" fmla="*/ 93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4" h="128">
                  <a:moveTo>
                    <a:pt x="114" y="95"/>
                  </a:moveTo>
                  <a:cubicBezTo>
                    <a:pt x="114" y="34"/>
                    <a:pt x="114" y="34"/>
                    <a:pt x="114" y="34"/>
                  </a:cubicBezTo>
                  <a:cubicBezTo>
                    <a:pt x="114" y="33"/>
                    <a:pt x="113" y="32"/>
                    <a:pt x="112" y="32"/>
                  </a:cubicBezTo>
                  <a:cubicBezTo>
                    <a:pt x="58" y="1"/>
                    <a:pt x="58" y="1"/>
                    <a:pt x="58" y="1"/>
                  </a:cubicBezTo>
                  <a:cubicBezTo>
                    <a:pt x="58" y="0"/>
                    <a:pt x="57" y="0"/>
                    <a:pt x="57" y="0"/>
                  </a:cubicBezTo>
                  <a:cubicBezTo>
                    <a:pt x="57" y="0"/>
                    <a:pt x="56" y="0"/>
                    <a:pt x="56" y="1"/>
                  </a:cubicBezTo>
                  <a:cubicBezTo>
                    <a:pt x="1" y="32"/>
                    <a:pt x="1" y="32"/>
                    <a:pt x="1" y="32"/>
                  </a:cubicBezTo>
                  <a:cubicBezTo>
                    <a:pt x="1" y="32"/>
                    <a:pt x="0" y="33"/>
                    <a:pt x="0" y="34"/>
                  </a:cubicBezTo>
                  <a:cubicBezTo>
                    <a:pt x="0" y="94"/>
                    <a:pt x="0" y="94"/>
                    <a:pt x="0" y="94"/>
                  </a:cubicBezTo>
                  <a:cubicBezTo>
                    <a:pt x="0" y="94"/>
                    <a:pt x="0" y="95"/>
                    <a:pt x="0" y="95"/>
                  </a:cubicBezTo>
                  <a:cubicBezTo>
                    <a:pt x="0" y="95"/>
                    <a:pt x="1" y="96"/>
                    <a:pt x="1" y="97"/>
                  </a:cubicBezTo>
                  <a:cubicBezTo>
                    <a:pt x="56" y="128"/>
                    <a:pt x="56" y="128"/>
                    <a:pt x="56" y="128"/>
                  </a:cubicBezTo>
                  <a:cubicBezTo>
                    <a:pt x="56" y="128"/>
                    <a:pt x="57" y="128"/>
                    <a:pt x="58" y="128"/>
                  </a:cubicBezTo>
                  <a:cubicBezTo>
                    <a:pt x="112" y="97"/>
                    <a:pt x="112" y="97"/>
                    <a:pt x="112" y="97"/>
                  </a:cubicBezTo>
                  <a:cubicBezTo>
                    <a:pt x="113" y="96"/>
                    <a:pt x="114" y="95"/>
                    <a:pt x="114" y="95"/>
                  </a:cubicBezTo>
                  <a:close/>
                  <a:moveTo>
                    <a:pt x="55" y="122"/>
                  </a:moveTo>
                  <a:cubicBezTo>
                    <a:pt x="5" y="93"/>
                    <a:pt x="5" y="93"/>
                    <a:pt x="5" y="93"/>
                  </a:cubicBezTo>
                  <a:cubicBezTo>
                    <a:pt x="5" y="38"/>
                    <a:pt x="5" y="38"/>
                    <a:pt x="5" y="38"/>
                  </a:cubicBezTo>
                  <a:cubicBezTo>
                    <a:pt x="55" y="67"/>
                    <a:pt x="55" y="67"/>
                    <a:pt x="55" y="67"/>
                  </a:cubicBezTo>
                  <a:lnTo>
                    <a:pt x="55" y="122"/>
                  </a:lnTo>
                  <a:close/>
                  <a:moveTo>
                    <a:pt x="57" y="63"/>
                  </a:moveTo>
                  <a:cubicBezTo>
                    <a:pt x="7" y="34"/>
                    <a:pt x="7" y="34"/>
                    <a:pt x="7" y="34"/>
                  </a:cubicBezTo>
                  <a:cubicBezTo>
                    <a:pt x="57" y="5"/>
                    <a:pt x="57" y="5"/>
                    <a:pt x="57" y="5"/>
                  </a:cubicBezTo>
                  <a:cubicBezTo>
                    <a:pt x="107" y="34"/>
                    <a:pt x="107" y="34"/>
                    <a:pt x="107" y="34"/>
                  </a:cubicBezTo>
                  <a:lnTo>
                    <a:pt x="57" y="63"/>
                  </a:lnTo>
                  <a:close/>
                  <a:moveTo>
                    <a:pt x="109" y="93"/>
                  </a:moveTo>
                  <a:cubicBezTo>
                    <a:pt x="59" y="122"/>
                    <a:pt x="59" y="122"/>
                    <a:pt x="59" y="122"/>
                  </a:cubicBezTo>
                  <a:cubicBezTo>
                    <a:pt x="59" y="67"/>
                    <a:pt x="59" y="67"/>
                    <a:pt x="59" y="67"/>
                  </a:cubicBezTo>
                  <a:cubicBezTo>
                    <a:pt x="109" y="38"/>
                    <a:pt x="109" y="38"/>
                    <a:pt x="109" y="38"/>
                  </a:cubicBezTo>
                  <a:lnTo>
                    <a:pt x="109" y="93"/>
                  </a:lnTo>
                  <a:close/>
                </a:path>
              </a:pathLst>
            </a:custGeom>
            <a:solidFill>
              <a:srgbClr val="FFFFFF"/>
            </a:solid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grpSp>
        <p:nvGrpSpPr>
          <p:cNvPr id="73" name="组合 72">
            <a:extLst>
              <a:ext uri="{FF2B5EF4-FFF2-40B4-BE49-F238E27FC236}">
                <a16:creationId xmlns:a16="http://schemas.microsoft.com/office/drawing/2014/main" id="{6BC980A7-6841-420C-9E2C-C03CCAB0E6EE}"/>
              </a:ext>
            </a:extLst>
          </p:cNvPr>
          <p:cNvGrpSpPr/>
          <p:nvPr/>
        </p:nvGrpSpPr>
        <p:grpSpPr>
          <a:xfrm>
            <a:off x="5833088" y="3323919"/>
            <a:ext cx="504000" cy="504000"/>
            <a:chOff x="4613213" y="5317762"/>
            <a:chExt cx="504000" cy="504000"/>
          </a:xfrm>
        </p:grpSpPr>
        <p:sp>
          <p:nvSpPr>
            <p:cNvPr id="74" name="椭圆 73">
              <a:extLst>
                <a:ext uri="{FF2B5EF4-FFF2-40B4-BE49-F238E27FC236}">
                  <a16:creationId xmlns:a16="http://schemas.microsoft.com/office/drawing/2014/main" id="{1F009CDA-59EA-4BE6-B852-761A81796960}"/>
                </a:ext>
              </a:extLst>
            </p:cNvPr>
            <p:cNvSpPr/>
            <p:nvPr/>
          </p:nvSpPr>
          <p:spPr>
            <a:xfrm>
              <a:off x="4613213" y="5317762"/>
              <a:ext cx="504000" cy="504000"/>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nvGrpSpPr>
            <p:cNvPr id="75" name="组合 74">
              <a:extLst>
                <a:ext uri="{FF2B5EF4-FFF2-40B4-BE49-F238E27FC236}">
                  <a16:creationId xmlns:a16="http://schemas.microsoft.com/office/drawing/2014/main" id="{84DCD31F-A451-4A39-92CB-F8D83996AA3C}"/>
                </a:ext>
              </a:extLst>
            </p:cNvPr>
            <p:cNvGrpSpPr>
              <a:grpSpLocks noChangeAspect="1"/>
            </p:cNvGrpSpPr>
            <p:nvPr/>
          </p:nvGrpSpPr>
          <p:grpSpPr>
            <a:xfrm>
              <a:off x="4775213" y="5422357"/>
              <a:ext cx="180000" cy="294810"/>
              <a:chOff x="8350250" y="5110163"/>
              <a:chExt cx="293688" cy="481012"/>
            </a:xfrm>
            <a:solidFill>
              <a:srgbClr val="FFFFFF"/>
            </a:solidFill>
          </p:grpSpPr>
          <p:sp>
            <p:nvSpPr>
              <p:cNvPr id="76" name="Freeform 52">
                <a:extLst>
                  <a:ext uri="{FF2B5EF4-FFF2-40B4-BE49-F238E27FC236}">
                    <a16:creationId xmlns:a16="http://schemas.microsoft.com/office/drawing/2014/main" id="{DD6C3826-8197-4638-9937-7F74C3A22CBE}"/>
                  </a:ext>
                </a:extLst>
              </p:cNvPr>
              <p:cNvSpPr/>
              <p:nvPr/>
            </p:nvSpPr>
            <p:spPr bwMode="auto">
              <a:xfrm>
                <a:off x="8350250" y="5327650"/>
                <a:ext cx="293688" cy="263525"/>
              </a:xfrm>
              <a:custGeom>
                <a:avLst/>
                <a:gdLst>
                  <a:gd name="T0" fmla="*/ 69 w 78"/>
                  <a:gd name="T1" fmla="*/ 65 h 70"/>
                  <a:gd name="T2" fmla="*/ 41 w 78"/>
                  <a:gd name="T3" fmla="*/ 65 h 70"/>
                  <a:gd name="T4" fmla="*/ 41 w 78"/>
                  <a:gd name="T5" fmla="*/ 43 h 70"/>
                  <a:gd name="T6" fmla="*/ 43 w 78"/>
                  <a:gd name="T7" fmla="*/ 42 h 70"/>
                  <a:gd name="T8" fmla="*/ 78 w 78"/>
                  <a:gd name="T9" fmla="*/ 3 h 70"/>
                  <a:gd name="T10" fmla="*/ 76 w 78"/>
                  <a:gd name="T11" fmla="*/ 0 h 70"/>
                  <a:gd name="T12" fmla="*/ 74 w 78"/>
                  <a:gd name="T13" fmla="*/ 3 h 70"/>
                  <a:gd name="T14" fmla="*/ 64 w 78"/>
                  <a:gd name="T15" fmla="*/ 27 h 70"/>
                  <a:gd name="T16" fmla="*/ 39 w 78"/>
                  <a:gd name="T17" fmla="*/ 38 h 70"/>
                  <a:gd name="T18" fmla="*/ 14 w 78"/>
                  <a:gd name="T19" fmla="*/ 27 h 70"/>
                  <a:gd name="T20" fmla="*/ 4 w 78"/>
                  <a:gd name="T21" fmla="*/ 4 h 70"/>
                  <a:gd name="T22" fmla="*/ 4 w 78"/>
                  <a:gd name="T23" fmla="*/ 3 h 70"/>
                  <a:gd name="T24" fmla="*/ 2 w 78"/>
                  <a:gd name="T25" fmla="*/ 0 h 70"/>
                  <a:gd name="T26" fmla="*/ 0 w 78"/>
                  <a:gd name="T27" fmla="*/ 2 h 70"/>
                  <a:gd name="T28" fmla="*/ 0 w 78"/>
                  <a:gd name="T29" fmla="*/ 4 h 70"/>
                  <a:gd name="T30" fmla="*/ 35 w 78"/>
                  <a:gd name="T31" fmla="*/ 42 h 70"/>
                  <a:gd name="T32" fmla="*/ 37 w 78"/>
                  <a:gd name="T33" fmla="*/ 43 h 70"/>
                  <a:gd name="T34" fmla="*/ 37 w 78"/>
                  <a:gd name="T35" fmla="*/ 65 h 70"/>
                  <a:gd name="T36" fmla="*/ 9 w 78"/>
                  <a:gd name="T37" fmla="*/ 65 h 70"/>
                  <a:gd name="T38" fmla="*/ 7 w 78"/>
                  <a:gd name="T39" fmla="*/ 68 h 70"/>
                  <a:gd name="T40" fmla="*/ 9 w 78"/>
                  <a:gd name="T41" fmla="*/ 70 h 70"/>
                  <a:gd name="T42" fmla="*/ 69 w 78"/>
                  <a:gd name="T43" fmla="*/ 70 h 70"/>
                  <a:gd name="T44" fmla="*/ 71 w 78"/>
                  <a:gd name="T45" fmla="*/ 68 h 70"/>
                  <a:gd name="T46" fmla="*/ 69 w 78"/>
                  <a:gd name="T47" fmla="*/ 65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8" h="70">
                    <a:moveTo>
                      <a:pt x="69" y="65"/>
                    </a:moveTo>
                    <a:cubicBezTo>
                      <a:pt x="41" y="65"/>
                      <a:pt x="41" y="65"/>
                      <a:pt x="41" y="65"/>
                    </a:cubicBezTo>
                    <a:cubicBezTo>
                      <a:pt x="41" y="43"/>
                      <a:pt x="41" y="43"/>
                      <a:pt x="41" y="43"/>
                    </a:cubicBezTo>
                    <a:cubicBezTo>
                      <a:pt x="43" y="42"/>
                      <a:pt x="43" y="42"/>
                      <a:pt x="43" y="42"/>
                    </a:cubicBezTo>
                    <a:cubicBezTo>
                      <a:pt x="63" y="40"/>
                      <a:pt x="78" y="23"/>
                      <a:pt x="78" y="3"/>
                    </a:cubicBezTo>
                    <a:cubicBezTo>
                      <a:pt x="78" y="2"/>
                      <a:pt x="77" y="0"/>
                      <a:pt x="76" y="0"/>
                    </a:cubicBezTo>
                    <a:cubicBezTo>
                      <a:pt x="75" y="0"/>
                      <a:pt x="74" y="2"/>
                      <a:pt x="74" y="3"/>
                    </a:cubicBezTo>
                    <a:cubicBezTo>
                      <a:pt x="74" y="12"/>
                      <a:pt x="70" y="21"/>
                      <a:pt x="64" y="27"/>
                    </a:cubicBezTo>
                    <a:cubicBezTo>
                      <a:pt x="57" y="34"/>
                      <a:pt x="48" y="38"/>
                      <a:pt x="39" y="38"/>
                    </a:cubicBezTo>
                    <a:cubicBezTo>
                      <a:pt x="30" y="38"/>
                      <a:pt x="21" y="34"/>
                      <a:pt x="14" y="27"/>
                    </a:cubicBezTo>
                    <a:cubicBezTo>
                      <a:pt x="8" y="21"/>
                      <a:pt x="5" y="13"/>
                      <a:pt x="4" y="4"/>
                    </a:cubicBezTo>
                    <a:cubicBezTo>
                      <a:pt x="4" y="3"/>
                      <a:pt x="4" y="3"/>
                      <a:pt x="4" y="3"/>
                    </a:cubicBezTo>
                    <a:cubicBezTo>
                      <a:pt x="4" y="1"/>
                      <a:pt x="3" y="0"/>
                      <a:pt x="2" y="0"/>
                    </a:cubicBezTo>
                    <a:cubicBezTo>
                      <a:pt x="1" y="0"/>
                      <a:pt x="0" y="1"/>
                      <a:pt x="0" y="2"/>
                    </a:cubicBezTo>
                    <a:cubicBezTo>
                      <a:pt x="0" y="4"/>
                      <a:pt x="0" y="4"/>
                      <a:pt x="0" y="4"/>
                    </a:cubicBezTo>
                    <a:cubicBezTo>
                      <a:pt x="0" y="24"/>
                      <a:pt x="15" y="40"/>
                      <a:pt x="35" y="42"/>
                    </a:cubicBezTo>
                    <a:cubicBezTo>
                      <a:pt x="37" y="43"/>
                      <a:pt x="37" y="43"/>
                      <a:pt x="37" y="43"/>
                    </a:cubicBezTo>
                    <a:cubicBezTo>
                      <a:pt x="37" y="65"/>
                      <a:pt x="37" y="65"/>
                      <a:pt x="37" y="65"/>
                    </a:cubicBezTo>
                    <a:cubicBezTo>
                      <a:pt x="9" y="65"/>
                      <a:pt x="9" y="65"/>
                      <a:pt x="9" y="65"/>
                    </a:cubicBezTo>
                    <a:cubicBezTo>
                      <a:pt x="8" y="65"/>
                      <a:pt x="7" y="66"/>
                      <a:pt x="7" y="68"/>
                    </a:cubicBezTo>
                    <a:cubicBezTo>
                      <a:pt x="7" y="69"/>
                      <a:pt x="8" y="70"/>
                      <a:pt x="9" y="70"/>
                    </a:cubicBezTo>
                    <a:cubicBezTo>
                      <a:pt x="69" y="70"/>
                      <a:pt x="69" y="70"/>
                      <a:pt x="69" y="70"/>
                    </a:cubicBezTo>
                    <a:cubicBezTo>
                      <a:pt x="70" y="70"/>
                      <a:pt x="71" y="69"/>
                      <a:pt x="71" y="68"/>
                    </a:cubicBezTo>
                    <a:cubicBezTo>
                      <a:pt x="71" y="66"/>
                      <a:pt x="70" y="65"/>
                      <a:pt x="69" y="65"/>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77" name="Freeform 53">
                <a:extLst>
                  <a:ext uri="{FF2B5EF4-FFF2-40B4-BE49-F238E27FC236}">
                    <a16:creationId xmlns:a16="http://schemas.microsoft.com/office/drawing/2014/main" id="{81531C5A-1992-49A0-9C92-F526E5F0963D}"/>
                  </a:ext>
                </a:extLst>
              </p:cNvPr>
              <p:cNvSpPr>
                <a:spLocks noEditPoints="1"/>
              </p:cNvSpPr>
              <p:nvPr/>
            </p:nvSpPr>
            <p:spPr bwMode="auto">
              <a:xfrm>
                <a:off x="8402638" y="5110163"/>
                <a:ext cx="187325" cy="319088"/>
              </a:xfrm>
              <a:custGeom>
                <a:avLst/>
                <a:gdLst>
                  <a:gd name="T0" fmla="*/ 25 w 50"/>
                  <a:gd name="T1" fmla="*/ 85 h 85"/>
                  <a:gd name="T2" fmla="*/ 50 w 50"/>
                  <a:gd name="T3" fmla="*/ 61 h 85"/>
                  <a:gd name="T4" fmla="*/ 50 w 50"/>
                  <a:gd name="T5" fmla="*/ 25 h 85"/>
                  <a:gd name="T6" fmla="*/ 25 w 50"/>
                  <a:gd name="T7" fmla="*/ 0 h 85"/>
                  <a:gd name="T8" fmla="*/ 0 w 50"/>
                  <a:gd name="T9" fmla="*/ 25 h 85"/>
                  <a:gd name="T10" fmla="*/ 0 w 50"/>
                  <a:gd name="T11" fmla="*/ 61 h 85"/>
                  <a:gd name="T12" fmla="*/ 25 w 50"/>
                  <a:gd name="T13" fmla="*/ 85 h 85"/>
                  <a:gd name="T14" fmla="*/ 7 w 50"/>
                  <a:gd name="T15" fmla="*/ 16 h 85"/>
                  <a:gd name="T16" fmla="*/ 11 w 50"/>
                  <a:gd name="T17" fmla="*/ 10 h 85"/>
                  <a:gd name="T18" fmla="*/ 25 w 50"/>
                  <a:gd name="T19" fmla="*/ 5 h 85"/>
                  <a:gd name="T20" fmla="*/ 39 w 50"/>
                  <a:gd name="T21" fmla="*/ 10 h 85"/>
                  <a:gd name="T22" fmla="*/ 43 w 50"/>
                  <a:gd name="T23" fmla="*/ 16 h 85"/>
                  <a:gd name="T24" fmla="*/ 44 w 50"/>
                  <a:gd name="T25" fmla="*/ 18 h 85"/>
                  <a:gd name="T26" fmla="*/ 6 w 50"/>
                  <a:gd name="T27" fmla="*/ 18 h 85"/>
                  <a:gd name="T28" fmla="*/ 7 w 50"/>
                  <a:gd name="T29" fmla="*/ 16 h 85"/>
                  <a:gd name="T30" fmla="*/ 5 w 50"/>
                  <a:gd name="T31" fmla="*/ 23 h 85"/>
                  <a:gd name="T32" fmla="*/ 45 w 50"/>
                  <a:gd name="T33" fmla="*/ 23 h 85"/>
                  <a:gd name="T34" fmla="*/ 45 w 50"/>
                  <a:gd name="T35" fmla="*/ 25 h 85"/>
                  <a:gd name="T36" fmla="*/ 45 w 50"/>
                  <a:gd name="T37" fmla="*/ 33 h 85"/>
                  <a:gd name="T38" fmla="*/ 5 w 50"/>
                  <a:gd name="T39" fmla="*/ 33 h 85"/>
                  <a:gd name="T40" fmla="*/ 5 w 50"/>
                  <a:gd name="T41" fmla="*/ 23 h 85"/>
                  <a:gd name="T42" fmla="*/ 5 w 50"/>
                  <a:gd name="T43" fmla="*/ 37 h 85"/>
                  <a:gd name="T44" fmla="*/ 45 w 50"/>
                  <a:gd name="T45" fmla="*/ 37 h 85"/>
                  <a:gd name="T46" fmla="*/ 45 w 50"/>
                  <a:gd name="T47" fmla="*/ 48 h 85"/>
                  <a:gd name="T48" fmla="*/ 5 w 50"/>
                  <a:gd name="T49" fmla="*/ 48 h 85"/>
                  <a:gd name="T50" fmla="*/ 5 w 50"/>
                  <a:gd name="T51" fmla="*/ 37 h 85"/>
                  <a:gd name="T52" fmla="*/ 5 w 50"/>
                  <a:gd name="T53" fmla="*/ 61 h 85"/>
                  <a:gd name="T54" fmla="*/ 5 w 50"/>
                  <a:gd name="T55" fmla="*/ 52 h 85"/>
                  <a:gd name="T56" fmla="*/ 45 w 50"/>
                  <a:gd name="T57" fmla="*/ 52 h 85"/>
                  <a:gd name="T58" fmla="*/ 45 w 50"/>
                  <a:gd name="T59" fmla="*/ 63 h 85"/>
                  <a:gd name="T60" fmla="*/ 5 w 50"/>
                  <a:gd name="T61" fmla="*/ 63 h 85"/>
                  <a:gd name="T62" fmla="*/ 5 w 50"/>
                  <a:gd name="T63" fmla="*/ 61 h 85"/>
                  <a:gd name="T64" fmla="*/ 6 w 50"/>
                  <a:gd name="T65" fmla="*/ 67 h 85"/>
                  <a:gd name="T66" fmla="*/ 44 w 50"/>
                  <a:gd name="T67" fmla="*/ 67 h 85"/>
                  <a:gd name="T68" fmla="*/ 43 w 50"/>
                  <a:gd name="T69" fmla="*/ 69 h 85"/>
                  <a:gd name="T70" fmla="*/ 39 w 50"/>
                  <a:gd name="T71" fmla="*/ 75 h 85"/>
                  <a:gd name="T72" fmla="*/ 25 w 50"/>
                  <a:gd name="T73" fmla="*/ 81 h 85"/>
                  <a:gd name="T74" fmla="*/ 11 w 50"/>
                  <a:gd name="T75" fmla="*/ 75 h 85"/>
                  <a:gd name="T76" fmla="*/ 7 w 50"/>
                  <a:gd name="T77" fmla="*/ 69 h 85"/>
                  <a:gd name="T78" fmla="*/ 6 w 50"/>
                  <a:gd name="T79" fmla="*/ 67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0" h="85">
                    <a:moveTo>
                      <a:pt x="25" y="85"/>
                    </a:moveTo>
                    <a:cubicBezTo>
                      <a:pt x="39" y="85"/>
                      <a:pt x="50" y="74"/>
                      <a:pt x="50" y="61"/>
                    </a:cubicBezTo>
                    <a:cubicBezTo>
                      <a:pt x="50" y="25"/>
                      <a:pt x="50" y="25"/>
                      <a:pt x="50" y="25"/>
                    </a:cubicBezTo>
                    <a:cubicBezTo>
                      <a:pt x="50" y="11"/>
                      <a:pt x="39" y="0"/>
                      <a:pt x="25" y="0"/>
                    </a:cubicBezTo>
                    <a:cubicBezTo>
                      <a:pt x="11" y="0"/>
                      <a:pt x="0" y="11"/>
                      <a:pt x="0" y="25"/>
                    </a:cubicBezTo>
                    <a:cubicBezTo>
                      <a:pt x="0" y="61"/>
                      <a:pt x="0" y="61"/>
                      <a:pt x="0" y="61"/>
                    </a:cubicBezTo>
                    <a:cubicBezTo>
                      <a:pt x="0" y="74"/>
                      <a:pt x="11" y="85"/>
                      <a:pt x="25" y="85"/>
                    </a:cubicBezTo>
                    <a:close/>
                    <a:moveTo>
                      <a:pt x="7" y="16"/>
                    </a:moveTo>
                    <a:cubicBezTo>
                      <a:pt x="8" y="14"/>
                      <a:pt x="9" y="12"/>
                      <a:pt x="11" y="10"/>
                    </a:cubicBezTo>
                    <a:cubicBezTo>
                      <a:pt x="15" y="7"/>
                      <a:pt x="20" y="5"/>
                      <a:pt x="25" y="5"/>
                    </a:cubicBezTo>
                    <a:cubicBezTo>
                      <a:pt x="30" y="5"/>
                      <a:pt x="35" y="7"/>
                      <a:pt x="39" y="10"/>
                    </a:cubicBezTo>
                    <a:cubicBezTo>
                      <a:pt x="41" y="12"/>
                      <a:pt x="42" y="14"/>
                      <a:pt x="43" y="16"/>
                    </a:cubicBezTo>
                    <a:cubicBezTo>
                      <a:pt x="44" y="18"/>
                      <a:pt x="44" y="18"/>
                      <a:pt x="44" y="18"/>
                    </a:cubicBezTo>
                    <a:cubicBezTo>
                      <a:pt x="6" y="18"/>
                      <a:pt x="6" y="18"/>
                      <a:pt x="6" y="18"/>
                    </a:cubicBezTo>
                    <a:lnTo>
                      <a:pt x="7" y="16"/>
                    </a:lnTo>
                    <a:close/>
                    <a:moveTo>
                      <a:pt x="5" y="23"/>
                    </a:moveTo>
                    <a:cubicBezTo>
                      <a:pt x="45" y="23"/>
                      <a:pt x="45" y="23"/>
                      <a:pt x="45" y="23"/>
                    </a:cubicBezTo>
                    <a:cubicBezTo>
                      <a:pt x="45" y="25"/>
                      <a:pt x="45" y="25"/>
                      <a:pt x="45" y="25"/>
                    </a:cubicBezTo>
                    <a:cubicBezTo>
                      <a:pt x="45" y="33"/>
                      <a:pt x="45" y="33"/>
                      <a:pt x="45" y="33"/>
                    </a:cubicBezTo>
                    <a:cubicBezTo>
                      <a:pt x="5" y="33"/>
                      <a:pt x="5" y="33"/>
                      <a:pt x="5" y="33"/>
                    </a:cubicBezTo>
                    <a:lnTo>
                      <a:pt x="5" y="23"/>
                    </a:lnTo>
                    <a:close/>
                    <a:moveTo>
                      <a:pt x="5" y="37"/>
                    </a:moveTo>
                    <a:cubicBezTo>
                      <a:pt x="45" y="37"/>
                      <a:pt x="45" y="37"/>
                      <a:pt x="45" y="37"/>
                    </a:cubicBezTo>
                    <a:cubicBezTo>
                      <a:pt x="45" y="48"/>
                      <a:pt x="45" y="48"/>
                      <a:pt x="45" y="48"/>
                    </a:cubicBezTo>
                    <a:cubicBezTo>
                      <a:pt x="5" y="48"/>
                      <a:pt x="5" y="48"/>
                      <a:pt x="5" y="48"/>
                    </a:cubicBezTo>
                    <a:lnTo>
                      <a:pt x="5" y="37"/>
                    </a:lnTo>
                    <a:close/>
                    <a:moveTo>
                      <a:pt x="5" y="61"/>
                    </a:moveTo>
                    <a:cubicBezTo>
                      <a:pt x="5" y="52"/>
                      <a:pt x="5" y="52"/>
                      <a:pt x="5" y="52"/>
                    </a:cubicBezTo>
                    <a:cubicBezTo>
                      <a:pt x="45" y="52"/>
                      <a:pt x="45" y="52"/>
                      <a:pt x="45" y="52"/>
                    </a:cubicBezTo>
                    <a:cubicBezTo>
                      <a:pt x="45" y="63"/>
                      <a:pt x="45" y="63"/>
                      <a:pt x="45" y="63"/>
                    </a:cubicBezTo>
                    <a:cubicBezTo>
                      <a:pt x="5" y="63"/>
                      <a:pt x="5" y="63"/>
                      <a:pt x="5" y="63"/>
                    </a:cubicBezTo>
                    <a:lnTo>
                      <a:pt x="5" y="61"/>
                    </a:lnTo>
                    <a:close/>
                    <a:moveTo>
                      <a:pt x="6" y="67"/>
                    </a:moveTo>
                    <a:cubicBezTo>
                      <a:pt x="44" y="67"/>
                      <a:pt x="44" y="67"/>
                      <a:pt x="44" y="67"/>
                    </a:cubicBezTo>
                    <a:cubicBezTo>
                      <a:pt x="43" y="69"/>
                      <a:pt x="43" y="69"/>
                      <a:pt x="43" y="69"/>
                    </a:cubicBezTo>
                    <a:cubicBezTo>
                      <a:pt x="42" y="71"/>
                      <a:pt x="41" y="73"/>
                      <a:pt x="39" y="75"/>
                    </a:cubicBezTo>
                    <a:cubicBezTo>
                      <a:pt x="35" y="79"/>
                      <a:pt x="30" y="81"/>
                      <a:pt x="25" y="81"/>
                    </a:cubicBezTo>
                    <a:cubicBezTo>
                      <a:pt x="20" y="81"/>
                      <a:pt x="15" y="79"/>
                      <a:pt x="11" y="75"/>
                    </a:cubicBezTo>
                    <a:cubicBezTo>
                      <a:pt x="9" y="73"/>
                      <a:pt x="8" y="71"/>
                      <a:pt x="7" y="69"/>
                    </a:cubicBezTo>
                    <a:lnTo>
                      <a:pt x="6" y="67"/>
                    </a:ln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grpSp>
      <p:grpSp>
        <p:nvGrpSpPr>
          <p:cNvPr id="78" name="组合 77">
            <a:extLst>
              <a:ext uri="{FF2B5EF4-FFF2-40B4-BE49-F238E27FC236}">
                <a16:creationId xmlns:a16="http://schemas.microsoft.com/office/drawing/2014/main" id="{793F1443-6F60-4CB5-87E7-1F8C624C19C2}"/>
              </a:ext>
            </a:extLst>
          </p:cNvPr>
          <p:cNvGrpSpPr/>
          <p:nvPr/>
        </p:nvGrpSpPr>
        <p:grpSpPr>
          <a:xfrm>
            <a:off x="5000171" y="2852950"/>
            <a:ext cx="1179830" cy="215900"/>
            <a:chOff x="9442" y="2848"/>
            <a:chExt cx="1858" cy="340"/>
          </a:xfrm>
        </p:grpSpPr>
        <p:cxnSp>
          <p:nvCxnSpPr>
            <p:cNvPr id="79" name="直接连接符 78">
              <a:extLst>
                <a:ext uri="{FF2B5EF4-FFF2-40B4-BE49-F238E27FC236}">
                  <a16:creationId xmlns:a16="http://schemas.microsoft.com/office/drawing/2014/main" id="{7FD2529A-4468-4C08-8AF2-C753334487FC}"/>
                </a:ext>
              </a:extLst>
            </p:cNvPr>
            <p:cNvCxnSpPr/>
            <p:nvPr/>
          </p:nvCxnSpPr>
          <p:spPr>
            <a:xfrm>
              <a:off x="9676" y="2990"/>
              <a:ext cx="1624" cy="0"/>
            </a:xfrm>
            <a:prstGeom prst="line">
              <a:avLst/>
            </a:prstGeom>
            <a:noFill/>
            <a:ln w="6350" cap="flat" cmpd="sng" algn="ctr">
              <a:solidFill>
                <a:schemeClr val="accent1"/>
              </a:solidFill>
              <a:prstDash val="solid"/>
              <a:miter lim="800000"/>
            </a:ln>
            <a:effectLst/>
          </p:spPr>
        </p:cxnSp>
        <p:sp>
          <p:nvSpPr>
            <p:cNvPr id="80" name="椭圆 79">
              <a:extLst>
                <a:ext uri="{FF2B5EF4-FFF2-40B4-BE49-F238E27FC236}">
                  <a16:creationId xmlns:a16="http://schemas.microsoft.com/office/drawing/2014/main" id="{4C351B53-65EF-4DCA-AFB1-32ACC07DA6EB}"/>
                </a:ext>
              </a:extLst>
            </p:cNvPr>
            <p:cNvSpPr/>
            <p:nvPr/>
          </p:nvSpPr>
          <p:spPr>
            <a:xfrm>
              <a:off x="9442" y="2848"/>
              <a:ext cx="340" cy="340"/>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grpSp>
        <p:nvGrpSpPr>
          <p:cNvPr id="81" name="组合 80">
            <a:extLst>
              <a:ext uri="{FF2B5EF4-FFF2-40B4-BE49-F238E27FC236}">
                <a16:creationId xmlns:a16="http://schemas.microsoft.com/office/drawing/2014/main" id="{A19F7150-8284-48BD-9EEC-29C95ECF852B}"/>
              </a:ext>
            </a:extLst>
          </p:cNvPr>
          <p:cNvGrpSpPr/>
          <p:nvPr/>
        </p:nvGrpSpPr>
        <p:grpSpPr>
          <a:xfrm>
            <a:off x="5831207" y="2672217"/>
            <a:ext cx="504000" cy="504000"/>
            <a:chOff x="4613213" y="3130275"/>
            <a:chExt cx="504000" cy="504000"/>
          </a:xfrm>
        </p:grpSpPr>
        <p:sp>
          <p:nvSpPr>
            <p:cNvPr id="82" name="椭圆 81">
              <a:extLst>
                <a:ext uri="{FF2B5EF4-FFF2-40B4-BE49-F238E27FC236}">
                  <a16:creationId xmlns:a16="http://schemas.microsoft.com/office/drawing/2014/main" id="{840A6EB6-AC34-4757-B102-DFFC2900C24A}"/>
                </a:ext>
              </a:extLst>
            </p:cNvPr>
            <p:cNvSpPr/>
            <p:nvPr/>
          </p:nvSpPr>
          <p:spPr>
            <a:xfrm>
              <a:off x="4613213" y="3130275"/>
              <a:ext cx="504000" cy="504000"/>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83" name="Freeform 105">
              <a:extLst>
                <a:ext uri="{FF2B5EF4-FFF2-40B4-BE49-F238E27FC236}">
                  <a16:creationId xmlns:a16="http://schemas.microsoft.com/office/drawing/2014/main" id="{66172FA7-4CB3-43D2-B2A2-1927EEDFC803}"/>
                </a:ext>
              </a:extLst>
            </p:cNvPr>
            <p:cNvSpPr>
              <a:spLocks noChangeAspect="1" noEditPoints="1"/>
            </p:cNvSpPr>
            <p:nvPr/>
          </p:nvSpPr>
          <p:spPr bwMode="auto">
            <a:xfrm>
              <a:off x="4703213" y="3237919"/>
              <a:ext cx="324000" cy="288713"/>
            </a:xfrm>
            <a:custGeom>
              <a:avLst/>
              <a:gdLst>
                <a:gd name="T0" fmla="*/ 101 w 128"/>
                <a:gd name="T1" fmla="*/ 41 h 114"/>
                <a:gd name="T2" fmla="*/ 125 w 128"/>
                <a:gd name="T3" fmla="*/ 17 h 114"/>
                <a:gd name="T4" fmla="*/ 128 w 128"/>
                <a:gd name="T5" fmla="*/ 10 h 114"/>
                <a:gd name="T6" fmla="*/ 125 w 128"/>
                <a:gd name="T7" fmla="*/ 3 h 114"/>
                <a:gd name="T8" fmla="*/ 111 w 128"/>
                <a:gd name="T9" fmla="*/ 3 h 114"/>
                <a:gd name="T10" fmla="*/ 87 w 128"/>
                <a:gd name="T11" fmla="*/ 27 h 114"/>
                <a:gd name="T12" fmla="*/ 6 w 128"/>
                <a:gd name="T13" fmla="*/ 27 h 114"/>
                <a:gd name="T14" fmla="*/ 0 w 128"/>
                <a:gd name="T15" fmla="*/ 33 h 114"/>
                <a:gd name="T16" fmla="*/ 0 w 128"/>
                <a:gd name="T17" fmla="*/ 108 h 114"/>
                <a:gd name="T18" fmla="*/ 6 w 128"/>
                <a:gd name="T19" fmla="*/ 114 h 114"/>
                <a:gd name="T20" fmla="*/ 95 w 128"/>
                <a:gd name="T21" fmla="*/ 114 h 114"/>
                <a:gd name="T22" fmla="*/ 101 w 128"/>
                <a:gd name="T23" fmla="*/ 108 h 114"/>
                <a:gd name="T24" fmla="*/ 101 w 128"/>
                <a:gd name="T25" fmla="*/ 41 h 114"/>
                <a:gd name="T26" fmla="*/ 96 w 128"/>
                <a:gd name="T27" fmla="*/ 109 h 114"/>
                <a:gd name="T28" fmla="*/ 5 w 128"/>
                <a:gd name="T29" fmla="*/ 109 h 114"/>
                <a:gd name="T30" fmla="*/ 5 w 128"/>
                <a:gd name="T31" fmla="*/ 32 h 114"/>
                <a:gd name="T32" fmla="*/ 83 w 128"/>
                <a:gd name="T33" fmla="*/ 32 h 114"/>
                <a:gd name="T34" fmla="*/ 63 w 128"/>
                <a:gd name="T35" fmla="*/ 52 h 114"/>
                <a:gd name="T36" fmla="*/ 62 w 128"/>
                <a:gd name="T37" fmla="*/ 54 h 114"/>
                <a:gd name="T38" fmla="*/ 62 w 128"/>
                <a:gd name="T39" fmla="*/ 64 h 114"/>
                <a:gd name="T40" fmla="*/ 63 w 128"/>
                <a:gd name="T41" fmla="*/ 66 h 114"/>
                <a:gd name="T42" fmla="*/ 64 w 128"/>
                <a:gd name="T43" fmla="*/ 66 h 114"/>
                <a:gd name="T44" fmla="*/ 75 w 128"/>
                <a:gd name="T45" fmla="*/ 66 h 114"/>
                <a:gd name="T46" fmla="*/ 76 w 128"/>
                <a:gd name="T47" fmla="*/ 66 h 114"/>
                <a:gd name="T48" fmla="*/ 76 w 128"/>
                <a:gd name="T49" fmla="*/ 66 h 114"/>
                <a:gd name="T50" fmla="*/ 96 w 128"/>
                <a:gd name="T51" fmla="*/ 46 h 114"/>
                <a:gd name="T52" fmla="*/ 96 w 128"/>
                <a:gd name="T53" fmla="*/ 109 h 114"/>
                <a:gd name="T54" fmla="*/ 74 w 128"/>
                <a:gd name="T55" fmla="*/ 62 h 114"/>
                <a:gd name="T56" fmla="*/ 67 w 128"/>
                <a:gd name="T57" fmla="*/ 62 h 114"/>
                <a:gd name="T58" fmla="*/ 67 w 128"/>
                <a:gd name="T59" fmla="*/ 55 h 114"/>
                <a:gd name="T60" fmla="*/ 115 w 128"/>
                <a:gd name="T61" fmla="*/ 6 h 114"/>
                <a:gd name="T62" fmla="*/ 118 w 128"/>
                <a:gd name="T63" fmla="*/ 5 h 114"/>
                <a:gd name="T64" fmla="*/ 122 w 128"/>
                <a:gd name="T65" fmla="*/ 6 h 114"/>
                <a:gd name="T66" fmla="*/ 122 w 128"/>
                <a:gd name="T67" fmla="*/ 14 h 114"/>
                <a:gd name="T68" fmla="*/ 74 w 128"/>
                <a:gd name="T69" fmla="*/ 62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8" h="114">
                  <a:moveTo>
                    <a:pt x="101" y="41"/>
                  </a:moveTo>
                  <a:cubicBezTo>
                    <a:pt x="125" y="17"/>
                    <a:pt x="125" y="17"/>
                    <a:pt x="125" y="17"/>
                  </a:cubicBezTo>
                  <a:cubicBezTo>
                    <a:pt x="127" y="15"/>
                    <a:pt x="128" y="13"/>
                    <a:pt x="128" y="10"/>
                  </a:cubicBezTo>
                  <a:cubicBezTo>
                    <a:pt x="128" y="8"/>
                    <a:pt x="127" y="5"/>
                    <a:pt x="125" y="3"/>
                  </a:cubicBezTo>
                  <a:cubicBezTo>
                    <a:pt x="121" y="0"/>
                    <a:pt x="115" y="0"/>
                    <a:pt x="111" y="3"/>
                  </a:cubicBezTo>
                  <a:cubicBezTo>
                    <a:pt x="87" y="27"/>
                    <a:pt x="87" y="27"/>
                    <a:pt x="87" y="27"/>
                  </a:cubicBezTo>
                  <a:cubicBezTo>
                    <a:pt x="6" y="27"/>
                    <a:pt x="6" y="27"/>
                    <a:pt x="6" y="27"/>
                  </a:cubicBezTo>
                  <a:cubicBezTo>
                    <a:pt x="3" y="27"/>
                    <a:pt x="0" y="30"/>
                    <a:pt x="0" y="33"/>
                  </a:cubicBezTo>
                  <a:cubicBezTo>
                    <a:pt x="0" y="108"/>
                    <a:pt x="0" y="108"/>
                    <a:pt x="0" y="108"/>
                  </a:cubicBezTo>
                  <a:cubicBezTo>
                    <a:pt x="0" y="111"/>
                    <a:pt x="3" y="114"/>
                    <a:pt x="6" y="114"/>
                  </a:cubicBezTo>
                  <a:cubicBezTo>
                    <a:pt x="95" y="114"/>
                    <a:pt x="95" y="114"/>
                    <a:pt x="95" y="114"/>
                  </a:cubicBezTo>
                  <a:cubicBezTo>
                    <a:pt x="98" y="114"/>
                    <a:pt x="101" y="111"/>
                    <a:pt x="101" y="108"/>
                  </a:cubicBezTo>
                  <a:lnTo>
                    <a:pt x="101" y="41"/>
                  </a:lnTo>
                  <a:close/>
                  <a:moveTo>
                    <a:pt x="96" y="109"/>
                  </a:moveTo>
                  <a:cubicBezTo>
                    <a:pt x="5" y="109"/>
                    <a:pt x="5" y="109"/>
                    <a:pt x="5" y="109"/>
                  </a:cubicBezTo>
                  <a:cubicBezTo>
                    <a:pt x="5" y="32"/>
                    <a:pt x="5" y="32"/>
                    <a:pt x="5" y="32"/>
                  </a:cubicBezTo>
                  <a:cubicBezTo>
                    <a:pt x="83" y="32"/>
                    <a:pt x="83" y="32"/>
                    <a:pt x="83" y="32"/>
                  </a:cubicBezTo>
                  <a:cubicBezTo>
                    <a:pt x="63" y="52"/>
                    <a:pt x="63" y="52"/>
                    <a:pt x="63" y="52"/>
                  </a:cubicBezTo>
                  <a:cubicBezTo>
                    <a:pt x="62" y="52"/>
                    <a:pt x="62" y="53"/>
                    <a:pt x="62" y="54"/>
                  </a:cubicBezTo>
                  <a:cubicBezTo>
                    <a:pt x="62" y="64"/>
                    <a:pt x="62" y="64"/>
                    <a:pt x="62" y="64"/>
                  </a:cubicBezTo>
                  <a:cubicBezTo>
                    <a:pt x="62" y="65"/>
                    <a:pt x="62" y="65"/>
                    <a:pt x="63" y="66"/>
                  </a:cubicBezTo>
                  <a:cubicBezTo>
                    <a:pt x="63" y="66"/>
                    <a:pt x="64" y="66"/>
                    <a:pt x="64" y="66"/>
                  </a:cubicBezTo>
                  <a:cubicBezTo>
                    <a:pt x="75" y="66"/>
                    <a:pt x="75" y="66"/>
                    <a:pt x="75" y="66"/>
                  </a:cubicBezTo>
                  <a:cubicBezTo>
                    <a:pt x="75" y="66"/>
                    <a:pt x="76" y="66"/>
                    <a:pt x="76" y="66"/>
                  </a:cubicBezTo>
                  <a:cubicBezTo>
                    <a:pt x="76" y="66"/>
                    <a:pt x="76" y="66"/>
                    <a:pt x="76" y="66"/>
                  </a:cubicBezTo>
                  <a:cubicBezTo>
                    <a:pt x="96" y="46"/>
                    <a:pt x="96" y="46"/>
                    <a:pt x="96" y="46"/>
                  </a:cubicBezTo>
                  <a:lnTo>
                    <a:pt x="96" y="109"/>
                  </a:lnTo>
                  <a:close/>
                  <a:moveTo>
                    <a:pt x="74" y="62"/>
                  </a:moveTo>
                  <a:cubicBezTo>
                    <a:pt x="67" y="62"/>
                    <a:pt x="67" y="62"/>
                    <a:pt x="67" y="62"/>
                  </a:cubicBezTo>
                  <a:cubicBezTo>
                    <a:pt x="67" y="55"/>
                    <a:pt x="67" y="55"/>
                    <a:pt x="67" y="55"/>
                  </a:cubicBezTo>
                  <a:cubicBezTo>
                    <a:pt x="115" y="6"/>
                    <a:pt x="115" y="6"/>
                    <a:pt x="115" y="6"/>
                  </a:cubicBezTo>
                  <a:cubicBezTo>
                    <a:pt x="116" y="5"/>
                    <a:pt x="118" y="5"/>
                    <a:pt x="118" y="5"/>
                  </a:cubicBezTo>
                  <a:cubicBezTo>
                    <a:pt x="119" y="5"/>
                    <a:pt x="121" y="5"/>
                    <a:pt x="122" y="6"/>
                  </a:cubicBezTo>
                  <a:cubicBezTo>
                    <a:pt x="124" y="8"/>
                    <a:pt x="124" y="12"/>
                    <a:pt x="122" y="14"/>
                  </a:cubicBezTo>
                  <a:lnTo>
                    <a:pt x="74" y="62"/>
                  </a:lnTo>
                  <a:close/>
                </a:path>
              </a:pathLst>
            </a:custGeom>
            <a:solidFill>
              <a:srgbClr val="FFFFFF"/>
            </a:solid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grpSp>
        <p:nvGrpSpPr>
          <p:cNvPr id="84" name="组合 83">
            <a:extLst>
              <a:ext uri="{FF2B5EF4-FFF2-40B4-BE49-F238E27FC236}">
                <a16:creationId xmlns:a16="http://schemas.microsoft.com/office/drawing/2014/main" id="{E8A3536E-E110-4D72-A4DF-C8BCAC73A365}"/>
              </a:ext>
            </a:extLst>
          </p:cNvPr>
          <p:cNvGrpSpPr/>
          <p:nvPr/>
        </p:nvGrpSpPr>
        <p:grpSpPr>
          <a:xfrm>
            <a:off x="4965700" y="2193290"/>
            <a:ext cx="1179830" cy="215900"/>
            <a:chOff x="9442" y="2848"/>
            <a:chExt cx="1858" cy="340"/>
          </a:xfrm>
        </p:grpSpPr>
        <p:cxnSp>
          <p:nvCxnSpPr>
            <p:cNvPr id="85" name="直接连接符 84">
              <a:extLst>
                <a:ext uri="{FF2B5EF4-FFF2-40B4-BE49-F238E27FC236}">
                  <a16:creationId xmlns:a16="http://schemas.microsoft.com/office/drawing/2014/main" id="{DCF149AD-9D49-4056-82FF-D2AAA9F4273C}"/>
                </a:ext>
              </a:extLst>
            </p:cNvPr>
            <p:cNvCxnSpPr/>
            <p:nvPr/>
          </p:nvCxnSpPr>
          <p:spPr>
            <a:xfrm>
              <a:off x="9676" y="2990"/>
              <a:ext cx="1624" cy="0"/>
            </a:xfrm>
            <a:prstGeom prst="line">
              <a:avLst/>
            </a:prstGeom>
            <a:noFill/>
            <a:ln w="6350" cap="flat" cmpd="sng" algn="ctr">
              <a:solidFill>
                <a:schemeClr val="accent1"/>
              </a:solidFill>
              <a:prstDash val="solid"/>
              <a:miter lim="800000"/>
            </a:ln>
            <a:effectLst/>
          </p:spPr>
        </p:cxnSp>
        <p:sp>
          <p:nvSpPr>
            <p:cNvPr id="86" name="椭圆 85">
              <a:extLst>
                <a:ext uri="{FF2B5EF4-FFF2-40B4-BE49-F238E27FC236}">
                  <a16:creationId xmlns:a16="http://schemas.microsoft.com/office/drawing/2014/main" id="{802C0C74-0EA4-4294-8929-33E5576B77A9}"/>
                </a:ext>
              </a:extLst>
            </p:cNvPr>
            <p:cNvSpPr/>
            <p:nvPr/>
          </p:nvSpPr>
          <p:spPr>
            <a:xfrm>
              <a:off x="9442" y="2848"/>
              <a:ext cx="340" cy="340"/>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sp>
        <p:nvSpPr>
          <p:cNvPr id="87" name="文本框 86">
            <a:extLst>
              <a:ext uri="{FF2B5EF4-FFF2-40B4-BE49-F238E27FC236}">
                <a16:creationId xmlns:a16="http://schemas.microsoft.com/office/drawing/2014/main" id="{9616352C-A15E-46A8-A58D-AC83C3CFA34C}"/>
              </a:ext>
            </a:extLst>
          </p:cNvPr>
          <p:cNvSpPr txBox="1"/>
          <p:nvPr/>
        </p:nvSpPr>
        <p:spPr>
          <a:xfrm>
            <a:off x="5239385" y="1180534"/>
            <a:ext cx="2761615" cy="619760"/>
          </a:xfrm>
          <a:prstGeom prst="roundRect">
            <a:avLst/>
          </a:prstGeom>
          <a:solidFill>
            <a:schemeClr val="accent1"/>
          </a:solidFill>
        </p:spPr>
        <p:txBody>
          <a:bodyPr wrap="square" lIns="0" tIns="0" rIns="0" bIns="0" rtlCol="0" anchor="ctr" anchorCtr="0">
            <a:noAutofit/>
          </a:bodyPr>
          <a:lstStyle/>
          <a:p>
            <a:pPr marR="0" indent="0" algn="ctr" defTabSz="914400" fontAlgn="auto">
              <a:lnSpc>
                <a:spcPct val="130000"/>
              </a:lnSpc>
              <a:spcBef>
                <a:spcPts val="0"/>
              </a:spcBef>
              <a:spcAft>
                <a:spcPts val="0"/>
              </a:spcAft>
              <a:buClrTx/>
              <a:buSzTx/>
              <a:buFontTx/>
              <a:buNone/>
              <a:defRPr/>
            </a:pPr>
            <a:r>
              <a:rPr kumimoji="0" lang="zh-CN" altLang="en-US" sz="2800" b="1" i="0" kern="0" cap="none" spc="300" normalizeH="0" baseline="0" noProof="0" dirty="0">
                <a:solidFill>
                  <a:srgbClr val="FFFFFF"/>
                </a:solidFill>
                <a:latin typeface="微软雅黑" panose="020B0503020204020204" pitchFamily="34" charset="-122"/>
                <a:ea typeface="微软雅黑" panose="020B0503020204020204" pitchFamily="34" charset="-122"/>
              </a:rPr>
              <a:t>软件功能模块</a:t>
            </a:r>
          </a:p>
        </p:txBody>
      </p:sp>
      <p:sp>
        <p:nvSpPr>
          <p:cNvPr id="89" name="文本框 88">
            <a:extLst>
              <a:ext uri="{FF2B5EF4-FFF2-40B4-BE49-F238E27FC236}">
                <a16:creationId xmlns:a16="http://schemas.microsoft.com/office/drawing/2014/main" id="{4AF55E61-108C-41B1-9079-C992A2087BA5}"/>
              </a:ext>
            </a:extLst>
          </p:cNvPr>
          <p:cNvSpPr txBox="1"/>
          <p:nvPr/>
        </p:nvSpPr>
        <p:spPr>
          <a:xfrm>
            <a:off x="6503852" y="2801344"/>
            <a:ext cx="1174108" cy="245745"/>
          </a:xfrm>
          <a:prstGeom prst="rect">
            <a:avLst/>
          </a:prstGeom>
          <a:noFill/>
        </p:spPr>
        <p:txBody>
          <a:bodyPr wrap="square" lIns="0" tIns="0" rIns="0" bIns="0" rtlCol="0">
            <a:spAutoFit/>
          </a:bodyPr>
          <a:lstStyle/>
          <a:p>
            <a:pPr fontAlgn="auto">
              <a:spcBef>
                <a:spcPts val="0"/>
              </a:spcBef>
              <a:spcAft>
                <a:spcPts val="0"/>
              </a:spcAft>
            </a:pPr>
            <a:r>
              <a:rPr lang="zh-CN" altLang="en-US" sz="1600" b="1" spc="300" dirty="0">
                <a:solidFill>
                  <a:schemeClr val="accent4"/>
                </a:solidFill>
                <a:latin typeface="微软雅黑" panose="020B0503020204020204" pitchFamily="34" charset="-122"/>
                <a:ea typeface="微软雅黑" panose="020B0503020204020204" pitchFamily="34" charset="-122"/>
              </a:rPr>
              <a:t>串口设置</a:t>
            </a:r>
          </a:p>
        </p:txBody>
      </p:sp>
      <p:sp>
        <p:nvSpPr>
          <p:cNvPr id="92" name="文本框 91">
            <a:extLst>
              <a:ext uri="{FF2B5EF4-FFF2-40B4-BE49-F238E27FC236}">
                <a16:creationId xmlns:a16="http://schemas.microsoft.com/office/drawing/2014/main" id="{8A5B98B4-3B57-446F-AE37-8A1D35C97A8E}"/>
              </a:ext>
            </a:extLst>
          </p:cNvPr>
          <p:cNvSpPr txBox="1"/>
          <p:nvPr/>
        </p:nvSpPr>
        <p:spPr>
          <a:xfrm>
            <a:off x="6418127" y="3477195"/>
            <a:ext cx="2148840" cy="245745"/>
          </a:xfrm>
          <a:prstGeom prst="rect">
            <a:avLst/>
          </a:prstGeom>
          <a:noFill/>
        </p:spPr>
        <p:txBody>
          <a:bodyPr wrap="square" lIns="0" tIns="0" rIns="0" bIns="0" rtlCol="0">
            <a:spAutoFit/>
          </a:bodyPr>
          <a:lstStyle/>
          <a:p>
            <a:pPr fontAlgn="auto">
              <a:spcBef>
                <a:spcPts val="0"/>
              </a:spcBef>
              <a:spcAft>
                <a:spcPts val="0"/>
              </a:spcAft>
            </a:pPr>
            <a:r>
              <a:rPr lang="zh-CN" altLang="en-US" sz="1600" b="1" spc="300" dirty="0">
                <a:solidFill>
                  <a:schemeClr val="accent4"/>
                </a:solidFill>
                <a:latin typeface="微软雅黑" panose="020B0503020204020204" pitchFamily="34" charset="-122"/>
                <a:ea typeface="微软雅黑" panose="020B0503020204020204" pitchFamily="34" charset="-122"/>
              </a:rPr>
              <a:t>查询历史数据</a:t>
            </a:r>
          </a:p>
        </p:txBody>
      </p:sp>
      <p:sp>
        <p:nvSpPr>
          <p:cNvPr id="95" name="文本框 94">
            <a:extLst>
              <a:ext uri="{FF2B5EF4-FFF2-40B4-BE49-F238E27FC236}">
                <a16:creationId xmlns:a16="http://schemas.microsoft.com/office/drawing/2014/main" id="{F151831B-2C05-4A8F-A9F5-D5E9B7A200DF}"/>
              </a:ext>
            </a:extLst>
          </p:cNvPr>
          <p:cNvSpPr txBox="1"/>
          <p:nvPr/>
        </p:nvSpPr>
        <p:spPr>
          <a:xfrm>
            <a:off x="6442284" y="4751412"/>
            <a:ext cx="2124673" cy="492443"/>
          </a:xfrm>
          <a:prstGeom prst="rect">
            <a:avLst/>
          </a:prstGeom>
          <a:noFill/>
        </p:spPr>
        <p:txBody>
          <a:bodyPr wrap="square" lIns="0" tIns="0" rIns="0" bIns="0" rtlCol="0">
            <a:spAutoFit/>
          </a:bodyPr>
          <a:lstStyle/>
          <a:p>
            <a:pPr fontAlgn="auto">
              <a:spcBef>
                <a:spcPts val="0"/>
              </a:spcBef>
              <a:spcAft>
                <a:spcPts val="0"/>
              </a:spcAft>
            </a:pPr>
            <a:r>
              <a:rPr lang="zh-CN" altLang="en-US" sz="1600" b="1" spc="300" dirty="0">
                <a:solidFill>
                  <a:schemeClr val="accent4"/>
                </a:solidFill>
                <a:latin typeface="微软雅黑" panose="020B0503020204020204" pitchFamily="34" charset="-122"/>
                <a:ea typeface="微软雅黑" panose="020B0503020204020204" pitchFamily="34" charset="-122"/>
              </a:rPr>
              <a:t>气体浓度曲线绘制</a:t>
            </a:r>
          </a:p>
          <a:p>
            <a:pPr fontAlgn="auto">
              <a:spcBef>
                <a:spcPts val="0"/>
              </a:spcBef>
              <a:spcAft>
                <a:spcPts val="0"/>
              </a:spcAft>
            </a:pPr>
            <a:endParaRPr lang="zh-CN" altLang="en-US" sz="1600" b="1" spc="300" dirty="0">
              <a:solidFill>
                <a:schemeClr val="accent4"/>
              </a:solidFill>
              <a:latin typeface="微软雅黑" panose="020B0503020204020204" pitchFamily="34" charset="-122"/>
              <a:ea typeface="微软雅黑" panose="020B0503020204020204" pitchFamily="34" charset="-122"/>
            </a:endParaRPr>
          </a:p>
        </p:txBody>
      </p:sp>
      <p:sp>
        <p:nvSpPr>
          <p:cNvPr id="98" name="文本框 97">
            <a:extLst>
              <a:ext uri="{FF2B5EF4-FFF2-40B4-BE49-F238E27FC236}">
                <a16:creationId xmlns:a16="http://schemas.microsoft.com/office/drawing/2014/main" id="{69BCDCB2-D582-4B57-8F7D-8650AB079177}"/>
              </a:ext>
            </a:extLst>
          </p:cNvPr>
          <p:cNvSpPr txBox="1"/>
          <p:nvPr/>
        </p:nvSpPr>
        <p:spPr>
          <a:xfrm>
            <a:off x="6503852" y="4086179"/>
            <a:ext cx="1591944" cy="246221"/>
          </a:xfrm>
          <a:prstGeom prst="rect">
            <a:avLst/>
          </a:prstGeom>
          <a:noFill/>
        </p:spPr>
        <p:txBody>
          <a:bodyPr wrap="square" lIns="0" tIns="0" rIns="0" bIns="0" rtlCol="0">
            <a:spAutoFit/>
          </a:bodyPr>
          <a:lstStyle/>
          <a:p>
            <a:pPr fontAlgn="auto">
              <a:spcBef>
                <a:spcPts val="0"/>
              </a:spcBef>
              <a:spcAft>
                <a:spcPts val="0"/>
              </a:spcAft>
            </a:pPr>
            <a:r>
              <a:rPr lang="zh-CN" altLang="en-US" sz="1600" b="1" spc="300" dirty="0">
                <a:solidFill>
                  <a:schemeClr val="accent4"/>
                </a:solidFill>
                <a:latin typeface="微软雅黑" panose="020B0503020204020204" pitchFamily="34" charset="-122"/>
                <a:ea typeface="微软雅黑" panose="020B0503020204020204" pitchFamily="34" charset="-122"/>
              </a:rPr>
              <a:t>浓度数据保存</a:t>
            </a:r>
          </a:p>
        </p:txBody>
      </p:sp>
      <p:cxnSp>
        <p:nvCxnSpPr>
          <p:cNvPr id="101" name="直接连接符 100">
            <a:extLst>
              <a:ext uri="{FF2B5EF4-FFF2-40B4-BE49-F238E27FC236}">
                <a16:creationId xmlns:a16="http://schemas.microsoft.com/office/drawing/2014/main" id="{8FCBCD46-25AB-4977-87D0-4EF69DC7043C}"/>
              </a:ext>
            </a:extLst>
          </p:cNvPr>
          <p:cNvCxnSpPr/>
          <p:nvPr/>
        </p:nvCxnSpPr>
        <p:spPr>
          <a:xfrm>
            <a:off x="5094179" y="5537384"/>
            <a:ext cx="1021080" cy="0"/>
          </a:xfrm>
          <a:prstGeom prst="line">
            <a:avLst/>
          </a:prstGeom>
          <a:noFill/>
          <a:ln w="6350" cap="flat" cmpd="sng" algn="ctr">
            <a:solidFill>
              <a:schemeClr val="accent1"/>
            </a:solidFill>
            <a:prstDash val="solid"/>
            <a:miter lim="800000"/>
          </a:ln>
          <a:effectLst/>
        </p:spPr>
      </p:cxnSp>
      <p:sp>
        <p:nvSpPr>
          <p:cNvPr id="102" name="椭圆 101">
            <a:extLst>
              <a:ext uri="{FF2B5EF4-FFF2-40B4-BE49-F238E27FC236}">
                <a16:creationId xmlns:a16="http://schemas.microsoft.com/office/drawing/2014/main" id="{64B8AF26-F3A2-4D03-8C3F-EF599196A549}"/>
              </a:ext>
            </a:extLst>
          </p:cNvPr>
          <p:cNvSpPr/>
          <p:nvPr/>
        </p:nvSpPr>
        <p:spPr>
          <a:xfrm>
            <a:off x="4995119" y="5429434"/>
            <a:ext cx="215900" cy="215900"/>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09" name="文本框 108">
            <a:extLst>
              <a:ext uri="{FF2B5EF4-FFF2-40B4-BE49-F238E27FC236}">
                <a16:creationId xmlns:a16="http://schemas.microsoft.com/office/drawing/2014/main" id="{97F33D84-D038-4B25-BAA6-D469772B01E6}"/>
              </a:ext>
            </a:extLst>
          </p:cNvPr>
          <p:cNvSpPr txBox="1"/>
          <p:nvPr/>
        </p:nvSpPr>
        <p:spPr>
          <a:xfrm>
            <a:off x="6456073" y="5370853"/>
            <a:ext cx="2225040" cy="151593"/>
          </a:xfrm>
          <a:prstGeom prst="rect">
            <a:avLst/>
          </a:prstGeom>
          <a:noFill/>
        </p:spPr>
        <p:txBody>
          <a:bodyPr wrap="square" lIns="0" tIns="0" rIns="0" bIns="0" rtlCol="0">
            <a:spAutoFit/>
          </a:bodyPr>
          <a:lstStyle/>
          <a:p>
            <a:pPr fontAlgn="auto">
              <a:spcBef>
                <a:spcPts val="0"/>
              </a:spcBef>
              <a:spcAft>
                <a:spcPts val="0"/>
              </a:spcAft>
            </a:pPr>
            <a:r>
              <a:rPr lang="zh-CN" altLang="en-US" sz="1600" b="1" spc="300" dirty="0">
                <a:solidFill>
                  <a:schemeClr val="accent4"/>
                </a:solidFill>
                <a:latin typeface="微软雅黑" panose="020B0503020204020204" pitchFamily="34" charset="-122"/>
                <a:ea typeface="微软雅黑" panose="020B0503020204020204" pitchFamily="34" charset="-122"/>
              </a:rPr>
              <a:t>气体泄漏扩散示意图</a:t>
            </a:r>
          </a:p>
        </p:txBody>
      </p:sp>
      <p:cxnSp>
        <p:nvCxnSpPr>
          <p:cNvPr id="111" name="直接连接符 110">
            <a:extLst>
              <a:ext uri="{FF2B5EF4-FFF2-40B4-BE49-F238E27FC236}">
                <a16:creationId xmlns:a16="http://schemas.microsoft.com/office/drawing/2014/main" id="{967C2535-C892-4F85-8D04-CE418D5B3667}"/>
              </a:ext>
            </a:extLst>
          </p:cNvPr>
          <p:cNvCxnSpPr/>
          <p:nvPr/>
        </p:nvCxnSpPr>
        <p:spPr>
          <a:xfrm>
            <a:off x="5092937" y="6153098"/>
            <a:ext cx="1021080" cy="0"/>
          </a:xfrm>
          <a:prstGeom prst="line">
            <a:avLst/>
          </a:prstGeom>
          <a:noFill/>
          <a:ln w="6350" cap="flat" cmpd="sng" algn="ctr">
            <a:solidFill>
              <a:schemeClr val="accent1"/>
            </a:solidFill>
            <a:prstDash val="solid"/>
            <a:miter lim="800000"/>
          </a:ln>
          <a:effectLst/>
        </p:spPr>
      </p:cxnSp>
      <p:sp>
        <p:nvSpPr>
          <p:cNvPr id="112" name="椭圆 111">
            <a:extLst>
              <a:ext uri="{FF2B5EF4-FFF2-40B4-BE49-F238E27FC236}">
                <a16:creationId xmlns:a16="http://schemas.microsoft.com/office/drawing/2014/main" id="{7E2B6604-25E9-4BBA-B702-CA2D19D9E65F}"/>
              </a:ext>
            </a:extLst>
          </p:cNvPr>
          <p:cNvSpPr/>
          <p:nvPr/>
        </p:nvSpPr>
        <p:spPr>
          <a:xfrm>
            <a:off x="4993877" y="6045148"/>
            <a:ext cx="215900" cy="215900"/>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18" name="文本框 117">
            <a:extLst>
              <a:ext uri="{FF2B5EF4-FFF2-40B4-BE49-F238E27FC236}">
                <a16:creationId xmlns:a16="http://schemas.microsoft.com/office/drawing/2014/main" id="{755BED10-8A32-4A40-9A1C-DBFE617D45DB}"/>
              </a:ext>
            </a:extLst>
          </p:cNvPr>
          <p:cNvSpPr txBox="1"/>
          <p:nvPr/>
        </p:nvSpPr>
        <p:spPr>
          <a:xfrm>
            <a:off x="6454831" y="5986567"/>
            <a:ext cx="2225040" cy="246221"/>
          </a:xfrm>
          <a:prstGeom prst="rect">
            <a:avLst/>
          </a:prstGeom>
          <a:noFill/>
        </p:spPr>
        <p:txBody>
          <a:bodyPr wrap="square" lIns="0" tIns="0" rIns="0" bIns="0" rtlCol="0">
            <a:spAutoFit/>
          </a:bodyPr>
          <a:lstStyle/>
          <a:p>
            <a:pPr fontAlgn="auto">
              <a:spcBef>
                <a:spcPts val="0"/>
              </a:spcBef>
              <a:spcAft>
                <a:spcPts val="0"/>
              </a:spcAft>
            </a:pPr>
            <a:r>
              <a:rPr lang="zh-CN" altLang="en-US" sz="1600" b="1" spc="300" dirty="0">
                <a:solidFill>
                  <a:schemeClr val="accent4"/>
                </a:solidFill>
                <a:latin typeface="微软雅黑" panose="020B0503020204020204" pitchFamily="34" charset="-122"/>
                <a:ea typeface="微软雅黑" panose="020B0503020204020204" pitchFamily="34" charset="-122"/>
              </a:rPr>
              <a:t>气体浓度分布示意图</a:t>
            </a:r>
          </a:p>
        </p:txBody>
      </p:sp>
      <p:grpSp>
        <p:nvGrpSpPr>
          <p:cNvPr id="119" name="组合 118">
            <a:extLst>
              <a:ext uri="{FF2B5EF4-FFF2-40B4-BE49-F238E27FC236}">
                <a16:creationId xmlns:a16="http://schemas.microsoft.com/office/drawing/2014/main" id="{4D530757-0BD8-449E-9C1D-99C79BCDCA23}"/>
              </a:ext>
            </a:extLst>
          </p:cNvPr>
          <p:cNvGrpSpPr/>
          <p:nvPr/>
        </p:nvGrpSpPr>
        <p:grpSpPr>
          <a:xfrm>
            <a:off x="5828122" y="5279167"/>
            <a:ext cx="504000" cy="504000"/>
            <a:chOff x="4613213" y="4247997"/>
            <a:chExt cx="504000" cy="504000"/>
          </a:xfrm>
        </p:grpSpPr>
        <p:sp>
          <p:nvSpPr>
            <p:cNvPr id="120" name="椭圆 119">
              <a:extLst>
                <a:ext uri="{FF2B5EF4-FFF2-40B4-BE49-F238E27FC236}">
                  <a16:creationId xmlns:a16="http://schemas.microsoft.com/office/drawing/2014/main" id="{A033F9E1-820F-413C-A8F6-8BC77EB74EA6}"/>
                </a:ext>
              </a:extLst>
            </p:cNvPr>
            <p:cNvSpPr/>
            <p:nvPr/>
          </p:nvSpPr>
          <p:spPr>
            <a:xfrm>
              <a:off x="4613213" y="4247997"/>
              <a:ext cx="504000" cy="504000"/>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21" name="Freeform 70">
              <a:extLst>
                <a:ext uri="{FF2B5EF4-FFF2-40B4-BE49-F238E27FC236}">
                  <a16:creationId xmlns:a16="http://schemas.microsoft.com/office/drawing/2014/main" id="{B2AE2768-21BE-4B86-AE40-59463BF863D7}"/>
                </a:ext>
              </a:extLst>
            </p:cNvPr>
            <p:cNvSpPr>
              <a:spLocks noChangeAspect="1" noEditPoints="1"/>
            </p:cNvSpPr>
            <p:nvPr/>
          </p:nvSpPr>
          <p:spPr bwMode="auto">
            <a:xfrm>
              <a:off x="4703213" y="4337463"/>
              <a:ext cx="324000" cy="325068"/>
            </a:xfrm>
            <a:custGeom>
              <a:avLst/>
              <a:gdLst>
                <a:gd name="T0" fmla="*/ 111 w 128"/>
                <a:gd name="T1" fmla="*/ 62 h 128"/>
                <a:gd name="T2" fmla="*/ 68 w 128"/>
                <a:gd name="T3" fmla="*/ 17 h 128"/>
                <a:gd name="T4" fmla="*/ 66 w 128"/>
                <a:gd name="T5" fmla="*/ 2 h 128"/>
                <a:gd name="T6" fmla="*/ 62 w 128"/>
                <a:gd name="T7" fmla="*/ 2 h 128"/>
                <a:gd name="T8" fmla="*/ 60 w 128"/>
                <a:gd name="T9" fmla="*/ 17 h 128"/>
                <a:gd name="T10" fmla="*/ 17 w 128"/>
                <a:gd name="T11" fmla="*/ 62 h 128"/>
                <a:gd name="T12" fmla="*/ 0 w 128"/>
                <a:gd name="T13" fmla="*/ 64 h 128"/>
                <a:gd name="T14" fmla="*/ 17 w 128"/>
                <a:gd name="T15" fmla="*/ 66 h 128"/>
                <a:gd name="T16" fmla="*/ 60 w 128"/>
                <a:gd name="T17" fmla="*/ 111 h 128"/>
                <a:gd name="T18" fmla="*/ 62 w 128"/>
                <a:gd name="T19" fmla="*/ 126 h 128"/>
                <a:gd name="T20" fmla="*/ 66 w 128"/>
                <a:gd name="T21" fmla="*/ 126 h 128"/>
                <a:gd name="T22" fmla="*/ 68 w 128"/>
                <a:gd name="T23" fmla="*/ 111 h 128"/>
                <a:gd name="T24" fmla="*/ 111 w 128"/>
                <a:gd name="T25" fmla="*/ 66 h 128"/>
                <a:gd name="T26" fmla="*/ 128 w 128"/>
                <a:gd name="T27" fmla="*/ 64 h 128"/>
                <a:gd name="T28" fmla="*/ 62 w 128"/>
                <a:gd name="T29" fmla="*/ 106 h 128"/>
                <a:gd name="T30" fmla="*/ 48 w 128"/>
                <a:gd name="T31" fmla="*/ 103 h 128"/>
                <a:gd name="T32" fmla="*/ 25 w 128"/>
                <a:gd name="T33" fmla="*/ 80 h 128"/>
                <a:gd name="T34" fmla="*/ 22 w 128"/>
                <a:gd name="T35" fmla="*/ 66 h 128"/>
                <a:gd name="T36" fmla="*/ 62 w 128"/>
                <a:gd name="T37" fmla="*/ 106 h 128"/>
                <a:gd name="T38" fmla="*/ 22 w 128"/>
                <a:gd name="T39" fmla="*/ 62 h 128"/>
                <a:gd name="T40" fmla="*/ 25 w 128"/>
                <a:gd name="T41" fmla="*/ 48 h 128"/>
                <a:gd name="T42" fmla="*/ 48 w 128"/>
                <a:gd name="T43" fmla="*/ 25 h 128"/>
                <a:gd name="T44" fmla="*/ 62 w 128"/>
                <a:gd name="T45" fmla="*/ 22 h 128"/>
                <a:gd name="T46" fmla="*/ 106 w 128"/>
                <a:gd name="T47" fmla="*/ 68 h 128"/>
                <a:gd name="T48" fmla="*/ 94 w 128"/>
                <a:gd name="T49" fmla="*/ 94 h 128"/>
                <a:gd name="T50" fmla="*/ 68 w 128"/>
                <a:gd name="T51" fmla="*/ 106 h 128"/>
                <a:gd name="T52" fmla="*/ 66 w 128"/>
                <a:gd name="T53" fmla="*/ 66 h 128"/>
                <a:gd name="T54" fmla="*/ 106 w 128"/>
                <a:gd name="T55" fmla="*/ 68 h 128"/>
                <a:gd name="T56" fmla="*/ 66 w 128"/>
                <a:gd name="T57" fmla="*/ 22 h 128"/>
                <a:gd name="T58" fmla="*/ 80 w 128"/>
                <a:gd name="T59" fmla="*/ 25 h 128"/>
                <a:gd name="T60" fmla="*/ 103 w 128"/>
                <a:gd name="T61" fmla="*/ 48 h 128"/>
                <a:gd name="T62" fmla="*/ 106 w 128"/>
                <a:gd name="T63" fmla="*/ 6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8" h="128">
                  <a:moveTo>
                    <a:pt x="126" y="62"/>
                  </a:moveTo>
                  <a:cubicBezTo>
                    <a:pt x="111" y="62"/>
                    <a:pt x="111" y="62"/>
                    <a:pt x="111" y="62"/>
                  </a:cubicBezTo>
                  <a:cubicBezTo>
                    <a:pt x="111" y="60"/>
                    <a:pt x="111" y="60"/>
                    <a:pt x="111" y="60"/>
                  </a:cubicBezTo>
                  <a:cubicBezTo>
                    <a:pt x="109" y="38"/>
                    <a:pt x="90" y="19"/>
                    <a:pt x="68" y="17"/>
                  </a:cubicBezTo>
                  <a:cubicBezTo>
                    <a:pt x="66" y="17"/>
                    <a:pt x="66" y="17"/>
                    <a:pt x="66" y="17"/>
                  </a:cubicBezTo>
                  <a:cubicBezTo>
                    <a:pt x="66" y="2"/>
                    <a:pt x="66" y="2"/>
                    <a:pt x="66" y="2"/>
                  </a:cubicBezTo>
                  <a:cubicBezTo>
                    <a:pt x="66" y="1"/>
                    <a:pt x="65" y="0"/>
                    <a:pt x="64" y="0"/>
                  </a:cubicBezTo>
                  <a:cubicBezTo>
                    <a:pt x="63" y="0"/>
                    <a:pt x="62" y="1"/>
                    <a:pt x="62" y="2"/>
                  </a:cubicBezTo>
                  <a:cubicBezTo>
                    <a:pt x="62" y="17"/>
                    <a:pt x="62" y="17"/>
                    <a:pt x="62" y="17"/>
                  </a:cubicBezTo>
                  <a:cubicBezTo>
                    <a:pt x="60" y="17"/>
                    <a:pt x="60" y="17"/>
                    <a:pt x="60" y="17"/>
                  </a:cubicBezTo>
                  <a:cubicBezTo>
                    <a:pt x="38" y="19"/>
                    <a:pt x="19" y="38"/>
                    <a:pt x="17" y="60"/>
                  </a:cubicBezTo>
                  <a:cubicBezTo>
                    <a:pt x="17" y="62"/>
                    <a:pt x="17" y="62"/>
                    <a:pt x="17" y="62"/>
                  </a:cubicBezTo>
                  <a:cubicBezTo>
                    <a:pt x="2" y="62"/>
                    <a:pt x="2" y="62"/>
                    <a:pt x="2" y="62"/>
                  </a:cubicBezTo>
                  <a:cubicBezTo>
                    <a:pt x="1" y="62"/>
                    <a:pt x="0" y="63"/>
                    <a:pt x="0" y="64"/>
                  </a:cubicBezTo>
                  <a:cubicBezTo>
                    <a:pt x="0" y="65"/>
                    <a:pt x="1" y="66"/>
                    <a:pt x="2" y="66"/>
                  </a:cubicBezTo>
                  <a:cubicBezTo>
                    <a:pt x="17" y="66"/>
                    <a:pt x="17" y="66"/>
                    <a:pt x="17" y="66"/>
                  </a:cubicBezTo>
                  <a:cubicBezTo>
                    <a:pt x="17" y="68"/>
                    <a:pt x="17" y="68"/>
                    <a:pt x="17" y="68"/>
                  </a:cubicBezTo>
                  <a:cubicBezTo>
                    <a:pt x="19" y="90"/>
                    <a:pt x="38" y="109"/>
                    <a:pt x="60" y="111"/>
                  </a:cubicBezTo>
                  <a:cubicBezTo>
                    <a:pt x="62" y="111"/>
                    <a:pt x="62" y="111"/>
                    <a:pt x="62" y="111"/>
                  </a:cubicBezTo>
                  <a:cubicBezTo>
                    <a:pt x="62" y="126"/>
                    <a:pt x="62" y="126"/>
                    <a:pt x="62" y="126"/>
                  </a:cubicBezTo>
                  <a:cubicBezTo>
                    <a:pt x="62" y="127"/>
                    <a:pt x="63" y="128"/>
                    <a:pt x="64" y="128"/>
                  </a:cubicBezTo>
                  <a:cubicBezTo>
                    <a:pt x="65" y="128"/>
                    <a:pt x="66" y="127"/>
                    <a:pt x="66" y="126"/>
                  </a:cubicBezTo>
                  <a:cubicBezTo>
                    <a:pt x="66" y="111"/>
                    <a:pt x="66" y="111"/>
                    <a:pt x="66" y="111"/>
                  </a:cubicBezTo>
                  <a:cubicBezTo>
                    <a:pt x="68" y="111"/>
                    <a:pt x="68" y="111"/>
                    <a:pt x="68" y="111"/>
                  </a:cubicBezTo>
                  <a:cubicBezTo>
                    <a:pt x="90" y="109"/>
                    <a:pt x="109" y="90"/>
                    <a:pt x="111" y="68"/>
                  </a:cubicBezTo>
                  <a:cubicBezTo>
                    <a:pt x="111" y="66"/>
                    <a:pt x="111" y="66"/>
                    <a:pt x="111" y="66"/>
                  </a:cubicBezTo>
                  <a:cubicBezTo>
                    <a:pt x="126" y="66"/>
                    <a:pt x="126" y="66"/>
                    <a:pt x="126" y="66"/>
                  </a:cubicBezTo>
                  <a:cubicBezTo>
                    <a:pt x="127" y="66"/>
                    <a:pt x="128" y="65"/>
                    <a:pt x="128" y="64"/>
                  </a:cubicBezTo>
                  <a:cubicBezTo>
                    <a:pt x="128" y="63"/>
                    <a:pt x="127" y="62"/>
                    <a:pt x="126" y="62"/>
                  </a:cubicBezTo>
                  <a:close/>
                  <a:moveTo>
                    <a:pt x="62" y="106"/>
                  </a:moveTo>
                  <a:cubicBezTo>
                    <a:pt x="60" y="106"/>
                    <a:pt x="60" y="106"/>
                    <a:pt x="60" y="106"/>
                  </a:cubicBezTo>
                  <a:cubicBezTo>
                    <a:pt x="56" y="106"/>
                    <a:pt x="52" y="105"/>
                    <a:pt x="48" y="103"/>
                  </a:cubicBezTo>
                  <a:cubicBezTo>
                    <a:pt x="43" y="101"/>
                    <a:pt x="38" y="98"/>
                    <a:pt x="34" y="94"/>
                  </a:cubicBezTo>
                  <a:cubicBezTo>
                    <a:pt x="30" y="90"/>
                    <a:pt x="27" y="85"/>
                    <a:pt x="25" y="80"/>
                  </a:cubicBezTo>
                  <a:cubicBezTo>
                    <a:pt x="23" y="76"/>
                    <a:pt x="22" y="72"/>
                    <a:pt x="22" y="68"/>
                  </a:cubicBezTo>
                  <a:cubicBezTo>
                    <a:pt x="22" y="66"/>
                    <a:pt x="22" y="66"/>
                    <a:pt x="22" y="66"/>
                  </a:cubicBezTo>
                  <a:cubicBezTo>
                    <a:pt x="62" y="66"/>
                    <a:pt x="62" y="66"/>
                    <a:pt x="62" y="66"/>
                  </a:cubicBezTo>
                  <a:lnTo>
                    <a:pt x="62" y="106"/>
                  </a:lnTo>
                  <a:close/>
                  <a:moveTo>
                    <a:pt x="62" y="62"/>
                  </a:moveTo>
                  <a:cubicBezTo>
                    <a:pt x="22" y="62"/>
                    <a:pt x="22" y="62"/>
                    <a:pt x="22" y="62"/>
                  </a:cubicBezTo>
                  <a:cubicBezTo>
                    <a:pt x="22" y="60"/>
                    <a:pt x="22" y="60"/>
                    <a:pt x="22" y="60"/>
                  </a:cubicBezTo>
                  <a:cubicBezTo>
                    <a:pt x="22" y="56"/>
                    <a:pt x="23" y="52"/>
                    <a:pt x="25" y="48"/>
                  </a:cubicBezTo>
                  <a:cubicBezTo>
                    <a:pt x="27" y="43"/>
                    <a:pt x="30" y="38"/>
                    <a:pt x="34" y="34"/>
                  </a:cubicBezTo>
                  <a:cubicBezTo>
                    <a:pt x="38" y="30"/>
                    <a:pt x="43" y="27"/>
                    <a:pt x="48" y="25"/>
                  </a:cubicBezTo>
                  <a:cubicBezTo>
                    <a:pt x="52" y="23"/>
                    <a:pt x="56" y="22"/>
                    <a:pt x="60" y="22"/>
                  </a:cubicBezTo>
                  <a:cubicBezTo>
                    <a:pt x="62" y="22"/>
                    <a:pt x="62" y="22"/>
                    <a:pt x="62" y="22"/>
                  </a:cubicBezTo>
                  <a:lnTo>
                    <a:pt x="62" y="62"/>
                  </a:lnTo>
                  <a:close/>
                  <a:moveTo>
                    <a:pt x="106" y="68"/>
                  </a:moveTo>
                  <a:cubicBezTo>
                    <a:pt x="106" y="72"/>
                    <a:pt x="105" y="76"/>
                    <a:pt x="103" y="80"/>
                  </a:cubicBezTo>
                  <a:cubicBezTo>
                    <a:pt x="101" y="85"/>
                    <a:pt x="98" y="90"/>
                    <a:pt x="94" y="94"/>
                  </a:cubicBezTo>
                  <a:cubicBezTo>
                    <a:pt x="90" y="98"/>
                    <a:pt x="85" y="101"/>
                    <a:pt x="80" y="103"/>
                  </a:cubicBezTo>
                  <a:cubicBezTo>
                    <a:pt x="76" y="105"/>
                    <a:pt x="72" y="106"/>
                    <a:pt x="68" y="106"/>
                  </a:cubicBezTo>
                  <a:cubicBezTo>
                    <a:pt x="66" y="106"/>
                    <a:pt x="66" y="106"/>
                    <a:pt x="66" y="106"/>
                  </a:cubicBezTo>
                  <a:cubicBezTo>
                    <a:pt x="66" y="66"/>
                    <a:pt x="66" y="66"/>
                    <a:pt x="66" y="66"/>
                  </a:cubicBezTo>
                  <a:cubicBezTo>
                    <a:pt x="106" y="66"/>
                    <a:pt x="106" y="66"/>
                    <a:pt x="106" y="66"/>
                  </a:cubicBezTo>
                  <a:lnTo>
                    <a:pt x="106" y="68"/>
                  </a:lnTo>
                  <a:close/>
                  <a:moveTo>
                    <a:pt x="66" y="62"/>
                  </a:moveTo>
                  <a:cubicBezTo>
                    <a:pt x="66" y="22"/>
                    <a:pt x="66" y="22"/>
                    <a:pt x="66" y="22"/>
                  </a:cubicBezTo>
                  <a:cubicBezTo>
                    <a:pt x="68" y="22"/>
                    <a:pt x="68" y="22"/>
                    <a:pt x="68" y="22"/>
                  </a:cubicBezTo>
                  <a:cubicBezTo>
                    <a:pt x="72" y="22"/>
                    <a:pt x="76" y="23"/>
                    <a:pt x="80" y="25"/>
                  </a:cubicBezTo>
                  <a:cubicBezTo>
                    <a:pt x="85" y="27"/>
                    <a:pt x="90" y="30"/>
                    <a:pt x="94" y="34"/>
                  </a:cubicBezTo>
                  <a:cubicBezTo>
                    <a:pt x="98" y="38"/>
                    <a:pt x="101" y="43"/>
                    <a:pt x="103" y="48"/>
                  </a:cubicBezTo>
                  <a:cubicBezTo>
                    <a:pt x="105" y="52"/>
                    <a:pt x="106" y="56"/>
                    <a:pt x="106" y="60"/>
                  </a:cubicBezTo>
                  <a:cubicBezTo>
                    <a:pt x="106" y="62"/>
                    <a:pt x="106" y="62"/>
                    <a:pt x="106" y="62"/>
                  </a:cubicBezTo>
                  <a:lnTo>
                    <a:pt x="66" y="62"/>
                  </a:lnTo>
                  <a:close/>
                </a:path>
              </a:pathLst>
            </a:custGeom>
            <a:solidFill>
              <a:srgbClr val="FFFFFF"/>
            </a:solid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grpSp>
        <p:nvGrpSpPr>
          <p:cNvPr id="122" name="组合 121">
            <a:extLst>
              <a:ext uri="{FF2B5EF4-FFF2-40B4-BE49-F238E27FC236}">
                <a16:creationId xmlns:a16="http://schemas.microsoft.com/office/drawing/2014/main" id="{EE6B33FE-4EC3-4126-BA97-2B24462714C6}"/>
              </a:ext>
            </a:extLst>
          </p:cNvPr>
          <p:cNvGrpSpPr/>
          <p:nvPr/>
        </p:nvGrpSpPr>
        <p:grpSpPr>
          <a:xfrm>
            <a:off x="5848595" y="5941103"/>
            <a:ext cx="504000" cy="504000"/>
            <a:chOff x="4613213" y="4247997"/>
            <a:chExt cx="504000" cy="504000"/>
          </a:xfrm>
        </p:grpSpPr>
        <p:sp>
          <p:nvSpPr>
            <p:cNvPr id="123" name="椭圆 122">
              <a:extLst>
                <a:ext uri="{FF2B5EF4-FFF2-40B4-BE49-F238E27FC236}">
                  <a16:creationId xmlns:a16="http://schemas.microsoft.com/office/drawing/2014/main" id="{6708C40B-CC3E-4551-99AE-A860C02B10CA}"/>
                </a:ext>
              </a:extLst>
            </p:cNvPr>
            <p:cNvSpPr/>
            <p:nvPr/>
          </p:nvSpPr>
          <p:spPr>
            <a:xfrm>
              <a:off x="4613213" y="4247997"/>
              <a:ext cx="504000" cy="504000"/>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24" name="Freeform 70">
              <a:extLst>
                <a:ext uri="{FF2B5EF4-FFF2-40B4-BE49-F238E27FC236}">
                  <a16:creationId xmlns:a16="http://schemas.microsoft.com/office/drawing/2014/main" id="{06F90F09-7CCE-4722-ADC1-6C4ADA6E7A9E}"/>
                </a:ext>
              </a:extLst>
            </p:cNvPr>
            <p:cNvSpPr>
              <a:spLocks noChangeAspect="1" noEditPoints="1"/>
            </p:cNvSpPr>
            <p:nvPr/>
          </p:nvSpPr>
          <p:spPr bwMode="auto">
            <a:xfrm>
              <a:off x="4703213" y="4337463"/>
              <a:ext cx="324000" cy="325068"/>
            </a:xfrm>
            <a:custGeom>
              <a:avLst/>
              <a:gdLst>
                <a:gd name="T0" fmla="*/ 111 w 128"/>
                <a:gd name="T1" fmla="*/ 62 h 128"/>
                <a:gd name="T2" fmla="*/ 68 w 128"/>
                <a:gd name="T3" fmla="*/ 17 h 128"/>
                <a:gd name="T4" fmla="*/ 66 w 128"/>
                <a:gd name="T5" fmla="*/ 2 h 128"/>
                <a:gd name="T6" fmla="*/ 62 w 128"/>
                <a:gd name="T7" fmla="*/ 2 h 128"/>
                <a:gd name="T8" fmla="*/ 60 w 128"/>
                <a:gd name="T9" fmla="*/ 17 h 128"/>
                <a:gd name="T10" fmla="*/ 17 w 128"/>
                <a:gd name="T11" fmla="*/ 62 h 128"/>
                <a:gd name="T12" fmla="*/ 0 w 128"/>
                <a:gd name="T13" fmla="*/ 64 h 128"/>
                <a:gd name="T14" fmla="*/ 17 w 128"/>
                <a:gd name="T15" fmla="*/ 66 h 128"/>
                <a:gd name="T16" fmla="*/ 60 w 128"/>
                <a:gd name="T17" fmla="*/ 111 h 128"/>
                <a:gd name="T18" fmla="*/ 62 w 128"/>
                <a:gd name="T19" fmla="*/ 126 h 128"/>
                <a:gd name="T20" fmla="*/ 66 w 128"/>
                <a:gd name="T21" fmla="*/ 126 h 128"/>
                <a:gd name="T22" fmla="*/ 68 w 128"/>
                <a:gd name="T23" fmla="*/ 111 h 128"/>
                <a:gd name="T24" fmla="*/ 111 w 128"/>
                <a:gd name="T25" fmla="*/ 66 h 128"/>
                <a:gd name="T26" fmla="*/ 128 w 128"/>
                <a:gd name="T27" fmla="*/ 64 h 128"/>
                <a:gd name="T28" fmla="*/ 62 w 128"/>
                <a:gd name="T29" fmla="*/ 106 h 128"/>
                <a:gd name="T30" fmla="*/ 48 w 128"/>
                <a:gd name="T31" fmla="*/ 103 h 128"/>
                <a:gd name="T32" fmla="*/ 25 w 128"/>
                <a:gd name="T33" fmla="*/ 80 h 128"/>
                <a:gd name="T34" fmla="*/ 22 w 128"/>
                <a:gd name="T35" fmla="*/ 66 h 128"/>
                <a:gd name="T36" fmla="*/ 62 w 128"/>
                <a:gd name="T37" fmla="*/ 106 h 128"/>
                <a:gd name="T38" fmla="*/ 22 w 128"/>
                <a:gd name="T39" fmla="*/ 62 h 128"/>
                <a:gd name="T40" fmla="*/ 25 w 128"/>
                <a:gd name="T41" fmla="*/ 48 h 128"/>
                <a:gd name="T42" fmla="*/ 48 w 128"/>
                <a:gd name="T43" fmla="*/ 25 h 128"/>
                <a:gd name="T44" fmla="*/ 62 w 128"/>
                <a:gd name="T45" fmla="*/ 22 h 128"/>
                <a:gd name="T46" fmla="*/ 106 w 128"/>
                <a:gd name="T47" fmla="*/ 68 h 128"/>
                <a:gd name="T48" fmla="*/ 94 w 128"/>
                <a:gd name="T49" fmla="*/ 94 h 128"/>
                <a:gd name="T50" fmla="*/ 68 w 128"/>
                <a:gd name="T51" fmla="*/ 106 h 128"/>
                <a:gd name="T52" fmla="*/ 66 w 128"/>
                <a:gd name="T53" fmla="*/ 66 h 128"/>
                <a:gd name="T54" fmla="*/ 106 w 128"/>
                <a:gd name="T55" fmla="*/ 68 h 128"/>
                <a:gd name="T56" fmla="*/ 66 w 128"/>
                <a:gd name="T57" fmla="*/ 22 h 128"/>
                <a:gd name="T58" fmla="*/ 80 w 128"/>
                <a:gd name="T59" fmla="*/ 25 h 128"/>
                <a:gd name="T60" fmla="*/ 103 w 128"/>
                <a:gd name="T61" fmla="*/ 48 h 128"/>
                <a:gd name="T62" fmla="*/ 106 w 128"/>
                <a:gd name="T63" fmla="*/ 6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8" h="128">
                  <a:moveTo>
                    <a:pt x="126" y="62"/>
                  </a:moveTo>
                  <a:cubicBezTo>
                    <a:pt x="111" y="62"/>
                    <a:pt x="111" y="62"/>
                    <a:pt x="111" y="62"/>
                  </a:cubicBezTo>
                  <a:cubicBezTo>
                    <a:pt x="111" y="60"/>
                    <a:pt x="111" y="60"/>
                    <a:pt x="111" y="60"/>
                  </a:cubicBezTo>
                  <a:cubicBezTo>
                    <a:pt x="109" y="38"/>
                    <a:pt x="90" y="19"/>
                    <a:pt x="68" y="17"/>
                  </a:cubicBezTo>
                  <a:cubicBezTo>
                    <a:pt x="66" y="17"/>
                    <a:pt x="66" y="17"/>
                    <a:pt x="66" y="17"/>
                  </a:cubicBezTo>
                  <a:cubicBezTo>
                    <a:pt x="66" y="2"/>
                    <a:pt x="66" y="2"/>
                    <a:pt x="66" y="2"/>
                  </a:cubicBezTo>
                  <a:cubicBezTo>
                    <a:pt x="66" y="1"/>
                    <a:pt x="65" y="0"/>
                    <a:pt x="64" y="0"/>
                  </a:cubicBezTo>
                  <a:cubicBezTo>
                    <a:pt x="63" y="0"/>
                    <a:pt x="62" y="1"/>
                    <a:pt x="62" y="2"/>
                  </a:cubicBezTo>
                  <a:cubicBezTo>
                    <a:pt x="62" y="17"/>
                    <a:pt x="62" y="17"/>
                    <a:pt x="62" y="17"/>
                  </a:cubicBezTo>
                  <a:cubicBezTo>
                    <a:pt x="60" y="17"/>
                    <a:pt x="60" y="17"/>
                    <a:pt x="60" y="17"/>
                  </a:cubicBezTo>
                  <a:cubicBezTo>
                    <a:pt x="38" y="19"/>
                    <a:pt x="19" y="38"/>
                    <a:pt x="17" y="60"/>
                  </a:cubicBezTo>
                  <a:cubicBezTo>
                    <a:pt x="17" y="62"/>
                    <a:pt x="17" y="62"/>
                    <a:pt x="17" y="62"/>
                  </a:cubicBezTo>
                  <a:cubicBezTo>
                    <a:pt x="2" y="62"/>
                    <a:pt x="2" y="62"/>
                    <a:pt x="2" y="62"/>
                  </a:cubicBezTo>
                  <a:cubicBezTo>
                    <a:pt x="1" y="62"/>
                    <a:pt x="0" y="63"/>
                    <a:pt x="0" y="64"/>
                  </a:cubicBezTo>
                  <a:cubicBezTo>
                    <a:pt x="0" y="65"/>
                    <a:pt x="1" y="66"/>
                    <a:pt x="2" y="66"/>
                  </a:cubicBezTo>
                  <a:cubicBezTo>
                    <a:pt x="17" y="66"/>
                    <a:pt x="17" y="66"/>
                    <a:pt x="17" y="66"/>
                  </a:cubicBezTo>
                  <a:cubicBezTo>
                    <a:pt x="17" y="68"/>
                    <a:pt x="17" y="68"/>
                    <a:pt x="17" y="68"/>
                  </a:cubicBezTo>
                  <a:cubicBezTo>
                    <a:pt x="19" y="90"/>
                    <a:pt x="38" y="109"/>
                    <a:pt x="60" y="111"/>
                  </a:cubicBezTo>
                  <a:cubicBezTo>
                    <a:pt x="62" y="111"/>
                    <a:pt x="62" y="111"/>
                    <a:pt x="62" y="111"/>
                  </a:cubicBezTo>
                  <a:cubicBezTo>
                    <a:pt x="62" y="126"/>
                    <a:pt x="62" y="126"/>
                    <a:pt x="62" y="126"/>
                  </a:cubicBezTo>
                  <a:cubicBezTo>
                    <a:pt x="62" y="127"/>
                    <a:pt x="63" y="128"/>
                    <a:pt x="64" y="128"/>
                  </a:cubicBezTo>
                  <a:cubicBezTo>
                    <a:pt x="65" y="128"/>
                    <a:pt x="66" y="127"/>
                    <a:pt x="66" y="126"/>
                  </a:cubicBezTo>
                  <a:cubicBezTo>
                    <a:pt x="66" y="111"/>
                    <a:pt x="66" y="111"/>
                    <a:pt x="66" y="111"/>
                  </a:cubicBezTo>
                  <a:cubicBezTo>
                    <a:pt x="68" y="111"/>
                    <a:pt x="68" y="111"/>
                    <a:pt x="68" y="111"/>
                  </a:cubicBezTo>
                  <a:cubicBezTo>
                    <a:pt x="90" y="109"/>
                    <a:pt x="109" y="90"/>
                    <a:pt x="111" y="68"/>
                  </a:cubicBezTo>
                  <a:cubicBezTo>
                    <a:pt x="111" y="66"/>
                    <a:pt x="111" y="66"/>
                    <a:pt x="111" y="66"/>
                  </a:cubicBezTo>
                  <a:cubicBezTo>
                    <a:pt x="126" y="66"/>
                    <a:pt x="126" y="66"/>
                    <a:pt x="126" y="66"/>
                  </a:cubicBezTo>
                  <a:cubicBezTo>
                    <a:pt x="127" y="66"/>
                    <a:pt x="128" y="65"/>
                    <a:pt x="128" y="64"/>
                  </a:cubicBezTo>
                  <a:cubicBezTo>
                    <a:pt x="128" y="63"/>
                    <a:pt x="127" y="62"/>
                    <a:pt x="126" y="62"/>
                  </a:cubicBezTo>
                  <a:close/>
                  <a:moveTo>
                    <a:pt x="62" y="106"/>
                  </a:moveTo>
                  <a:cubicBezTo>
                    <a:pt x="60" y="106"/>
                    <a:pt x="60" y="106"/>
                    <a:pt x="60" y="106"/>
                  </a:cubicBezTo>
                  <a:cubicBezTo>
                    <a:pt x="56" y="106"/>
                    <a:pt x="52" y="105"/>
                    <a:pt x="48" y="103"/>
                  </a:cubicBezTo>
                  <a:cubicBezTo>
                    <a:pt x="43" y="101"/>
                    <a:pt x="38" y="98"/>
                    <a:pt x="34" y="94"/>
                  </a:cubicBezTo>
                  <a:cubicBezTo>
                    <a:pt x="30" y="90"/>
                    <a:pt x="27" y="85"/>
                    <a:pt x="25" y="80"/>
                  </a:cubicBezTo>
                  <a:cubicBezTo>
                    <a:pt x="23" y="76"/>
                    <a:pt x="22" y="72"/>
                    <a:pt x="22" y="68"/>
                  </a:cubicBezTo>
                  <a:cubicBezTo>
                    <a:pt x="22" y="66"/>
                    <a:pt x="22" y="66"/>
                    <a:pt x="22" y="66"/>
                  </a:cubicBezTo>
                  <a:cubicBezTo>
                    <a:pt x="62" y="66"/>
                    <a:pt x="62" y="66"/>
                    <a:pt x="62" y="66"/>
                  </a:cubicBezTo>
                  <a:lnTo>
                    <a:pt x="62" y="106"/>
                  </a:lnTo>
                  <a:close/>
                  <a:moveTo>
                    <a:pt x="62" y="62"/>
                  </a:moveTo>
                  <a:cubicBezTo>
                    <a:pt x="22" y="62"/>
                    <a:pt x="22" y="62"/>
                    <a:pt x="22" y="62"/>
                  </a:cubicBezTo>
                  <a:cubicBezTo>
                    <a:pt x="22" y="60"/>
                    <a:pt x="22" y="60"/>
                    <a:pt x="22" y="60"/>
                  </a:cubicBezTo>
                  <a:cubicBezTo>
                    <a:pt x="22" y="56"/>
                    <a:pt x="23" y="52"/>
                    <a:pt x="25" y="48"/>
                  </a:cubicBezTo>
                  <a:cubicBezTo>
                    <a:pt x="27" y="43"/>
                    <a:pt x="30" y="38"/>
                    <a:pt x="34" y="34"/>
                  </a:cubicBezTo>
                  <a:cubicBezTo>
                    <a:pt x="38" y="30"/>
                    <a:pt x="43" y="27"/>
                    <a:pt x="48" y="25"/>
                  </a:cubicBezTo>
                  <a:cubicBezTo>
                    <a:pt x="52" y="23"/>
                    <a:pt x="56" y="22"/>
                    <a:pt x="60" y="22"/>
                  </a:cubicBezTo>
                  <a:cubicBezTo>
                    <a:pt x="62" y="22"/>
                    <a:pt x="62" y="22"/>
                    <a:pt x="62" y="22"/>
                  </a:cubicBezTo>
                  <a:lnTo>
                    <a:pt x="62" y="62"/>
                  </a:lnTo>
                  <a:close/>
                  <a:moveTo>
                    <a:pt x="106" y="68"/>
                  </a:moveTo>
                  <a:cubicBezTo>
                    <a:pt x="106" y="72"/>
                    <a:pt x="105" y="76"/>
                    <a:pt x="103" y="80"/>
                  </a:cubicBezTo>
                  <a:cubicBezTo>
                    <a:pt x="101" y="85"/>
                    <a:pt x="98" y="90"/>
                    <a:pt x="94" y="94"/>
                  </a:cubicBezTo>
                  <a:cubicBezTo>
                    <a:pt x="90" y="98"/>
                    <a:pt x="85" y="101"/>
                    <a:pt x="80" y="103"/>
                  </a:cubicBezTo>
                  <a:cubicBezTo>
                    <a:pt x="76" y="105"/>
                    <a:pt x="72" y="106"/>
                    <a:pt x="68" y="106"/>
                  </a:cubicBezTo>
                  <a:cubicBezTo>
                    <a:pt x="66" y="106"/>
                    <a:pt x="66" y="106"/>
                    <a:pt x="66" y="106"/>
                  </a:cubicBezTo>
                  <a:cubicBezTo>
                    <a:pt x="66" y="66"/>
                    <a:pt x="66" y="66"/>
                    <a:pt x="66" y="66"/>
                  </a:cubicBezTo>
                  <a:cubicBezTo>
                    <a:pt x="106" y="66"/>
                    <a:pt x="106" y="66"/>
                    <a:pt x="106" y="66"/>
                  </a:cubicBezTo>
                  <a:lnTo>
                    <a:pt x="106" y="68"/>
                  </a:lnTo>
                  <a:close/>
                  <a:moveTo>
                    <a:pt x="66" y="62"/>
                  </a:moveTo>
                  <a:cubicBezTo>
                    <a:pt x="66" y="22"/>
                    <a:pt x="66" y="22"/>
                    <a:pt x="66" y="22"/>
                  </a:cubicBezTo>
                  <a:cubicBezTo>
                    <a:pt x="68" y="22"/>
                    <a:pt x="68" y="22"/>
                    <a:pt x="68" y="22"/>
                  </a:cubicBezTo>
                  <a:cubicBezTo>
                    <a:pt x="72" y="22"/>
                    <a:pt x="76" y="23"/>
                    <a:pt x="80" y="25"/>
                  </a:cubicBezTo>
                  <a:cubicBezTo>
                    <a:pt x="85" y="27"/>
                    <a:pt x="90" y="30"/>
                    <a:pt x="94" y="34"/>
                  </a:cubicBezTo>
                  <a:cubicBezTo>
                    <a:pt x="98" y="38"/>
                    <a:pt x="101" y="43"/>
                    <a:pt x="103" y="48"/>
                  </a:cubicBezTo>
                  <a:cubicBezTo>
                    <a:pt x="105" y="52"/>
                    <a:pt x="106" y="56"/>
                    <a:pt x="106" y="60"/>
                  </a:cubicBezTo>
                  <a:cubicBezTo>
                    <a:pt x="106" y="62"/>
                    <a:pt x="106" y="62"/>
                    <a:pt x="106" y="62"/>
                  </a:cubicBezTo>
                  <a:lnTo>
                    <a:pt x="66" y="62"/>
                  </a:lnTo>
                  <a:close/>
                </a:path>
              </a:pathLst>
            </a:custGeom>
            <a:solidFill>
              <a:srgbClr val="FFFFFF"/>
            </a:solid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grpSp>
        <p:nvGrpSpPr>
          <p:cNvPr id="125" name="组合 124">
            <a:extLst>
              <a:ext uri="{FF2B5EF4-FFF2-40B4-BE49-F238E27FC236}">
                <a16:creationId xmlns:a16="http://schemas.microsoft.com/office/drawing/2014/main" id="{43884AFB-C162-4D8C-93DD-217881DD20A4}"/>
              </a:ext>
            </a:extLst>
          </p:cNvPr>
          <p:cNvGrpSpPr/>
          <p:nvPr/>
        </p:nvGrpSpPr>
        <p:grpSpPr>
          <a:xfrm>
            <a:off x="5800917" y="4654421"/>
            <a:ext cx="504000" cy="504000"/>
            <a:chOff x="4613213" y="4247997"/>
            <a:chExt cx="504000" cy="504000"/>
          </a:xfrm>
        </p:grpSpPr>
        <p:sp>
          <p:nvSpPr>
            <p:cNvPr id="126" name="椭圆 125">
              <a:extLst>
                <a:ext uri="{FF2B5EF4-FFF2-40B4-BE49-F238E27FC236}">
                  <a16:creationId xmlns:a16="http://schemas.microsoft.com/office/drawing/2014/main" id="{6A268CFE-5EDC-4185-869E-477711B3C34A}"/>
                </a:ext>
              </a:extLst>
            </p:cNvPr>
            <p:cNvSpPr/>
            <p:nvPr/>
          </p:nvSpPr>
          <p:spPr>
            <a:xfrm>
              <a:off x="4613213" y="4247997"/>
              <a:ext cx="504000" cy="504000"/>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27" name="Freeform 70">
              <a:extLst>
                <a:ext uri="{FF2B5EF4-FFF2-40B4-BE49-F238E27FC236}">
                  <a16:creationId xmlns:a16="http://schemas.microsoft.com/office/drawing/2014/main" id="{C562003F-A6AD-4A7A-BC52-A619A436A384}"/>
                </a:ext>
              </a:extLst>
            </p:cNvPr>
            <p:cNvSpPr>
              <a:spLocks noChangeAspect="1" noEditPoints="1"/>
            </p:cNvSpPr>
            <p:nvPr/>
          </p:nvSpPr>
          <p:spPr bwMode="auto">
            <a:xfrm>
              <a:off x="4703213" y="4337463"/>
              <a:ext cx="324000" cy="325068"/>
            </a:xfrm>
            <a:custGeom>
              <a:avLst/>
              <a:gdLst>
                <a:gd name="T0" fmla="*/ 111 w 128"/>
                <a:gd name="T1" fmla="*/ 62 h 128"/>
                <a:gd name="T2" fmla="*/ 68 w 128"/>
                <a:gd name="T3" fmla="*/ 17 h 128"/>
                <a:gd name="T4" fmla="*/ 66 w 128"/>
                <a:gd name="T5" fmla="*/ 2 h 128"/>
                <a:gd name="T6" fmla="*/ 62 w 128"/>
                <a:gd name="T7" fmla="*/ 2 h 128"/>
                <a:gd name="T8" fmla="*/ 60 w 128"/>
                <a:gd name="T9" fmla="*/ 17 h 128"/>
                <a:gd name="T10" fmla="*/ 17 w 128"/>
                <a:gd name="T11" fmla="*/ 62 h 128"/>
                <a:gd name="T12" fmla="*/ 0 w 128"/>
                <a:gd name="T13" fmla="*/ 64 h 128"/>
                <a:gd name="T14" fmla="*/ 17 w 128"/>
                <a:gd name="T15" fmla="*/ 66 h 128"/>
                <a:gd name="T16" fmla="*/ 60 w 128"/>
                <a:gd name="T17" fmla="*/ 111 h 128"/>
                <a:gd name="T18" fmla="*/ 62 w 128"/>
                <a:gd name="T19" fmla="*/ 126 h 128"/>
                <a:gd name="T20" fmla="*/ 66 w 128"/>
                <a:gd name="T21" fmla="*/ 126 h 128"/>
                <a:gd name="T22" fmla="*/ 68 w 128"/>
                <a:gd name="T23" fmla="*/ 111 h 128"/>
                <a:gd name="T24" fmla="*/ 111 w 128"/>
                <a:gd name="T25" fmla="*/ 66 h 128"/>
                <a:gd name="T26" fmla="*/ 128 w 128"/>
                <a:gd name="T27" fmla="*/ 64 h 128"/>
                <a:gd name="T28" fmla="*/ 62 w 128"/>
                <a:gd name="T29" fmla="*/ 106 h 128"/>
                <a:gd name="T30" fmla="*/ 48 w 128"/>
                <a:gd name="T31" fmla="*/ 103 h 128"/>
                <a:gd name="T32" fmla="*/ 25 w 128"/>
                <a:gd name="T33" fmla="*/ 80 h 128"/>
                <a:gd name="T34" fmla="*/ 22 w 128"/>
                <a:gd name="T35" fmla="*/ 66 h 128"/>
                <a:gd name="T36" fmla="*/ 62 w 128"/>
                <a:gd name="T37" fmla="*/ 106 h 128"/>
                <a:gd name="T38" fmla="*/ 22 w 128"/>
                <a:gd name="T39" fmla="*/ 62 h 128"/>
                <a:gd name="T40" fmla="*/ 25 w 128"/>
                <a:gd name="T41" fmla="*/ 48 h 128"/>
                <a:gd name="T42" fmla="*/ 48 w 128"/>
                <a:gd name="T43" fmla="*/ 25 h 128"/>
                <a:gd name="T44" fmla="*/ 62 w 128"/>
                <a:gd name="T45" fmla="*/ 22 h 128"/>
                <a:gd name="T46" fmla="*/ 106 w 128"/>
                <a:gd name="T47" fmla="*/ 68 h 128"/>
                <a:gd name="T48" fmla="*/ 94 w 128"/>
                <a:gd name="T49" fmla="*/ 94 h 128"/>
                <a:gd name="T50" fmla="*/ 68 w 128"/>
                <a:gd name="T51" fmla="*/ 106 h 128"/>
                <a:gd name="T52" fmla="*/ 66 w 128"/>
                <a:gd name="T53" fmla="*/ 66 h 128"/>
                <a:gd name="T54" fmla="*/ 106 w 128"/>
                <a:gd name="T55" fmla="*/ 68 h 128"/>
                <a:gd name="T56" fmla="*/ 66 w 128"/>
                <a:gd name="T57" fmla="*/ 22 h 128"/>
                <a:gd name="T58" fmla="*/ 80 w 128"/>
                <a:gd name="T59" fmla="*/ 25 h 128"/>
                <a:gd name="T60" fmla="*/ 103 w 128"/>
                <a:gd name="T61" fmla="*/ 48 h 128"/>
                <a:gd name="T62" fmla="*/ 106 w 128"/>
                <a:gd name="T63" fmla="*/ 6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8" h="128">
                  <a:moveTo>
                    <a:pt x="126" y="62"/>
                  </a:moveTo>
                  <a:cubicBezTo>
                    <a:pt x="111" y="62"/>
                    <a:pt x="111" y="62"/>
                    <a:pt x="111" y="62"/>
                  </a:cubicBezTo>
                  <a:cubicBezTo>
                    <a:pt x="111" y="60"/>
                    <a:pt x="111" y="60"/>
                    <a:pt x="111" y="60"/>
                  </a:cubicBezTo>
                  <a:cubicBezTo>
                    <a:pt x="109" y="38"/>
                    <a:pt x="90" y="19"/>
                    <a:pt x="68" y="17"/>
                  </a:cubicBezTo>
                  <a:cubicBezTo>
                    <a:pt x="66" y="17"/>
                    <a:pt x="66" y="17"/>
                    <a:pt x="66" y="17"/>
                  </a:cubicBezTo>
                  <a:cubicBezTo>
                    <a:pt x="66" y="2"/>
                    <a:pt x="66" y="2"/>
                    <a:pt x="66" y="2"/>
                  </a:cubicBezTo>
                  <a:cubicBezTo>
                    <a:pt x="66" y="1"/>
                    <a:pt x="65" y="0"/>
                    <a:pt x="64" y="0"/>
                  </a:cubicBezTo>
                  <a:cubicBezTo>
                    <a:pt x="63" y="0"/>
                    <a:pt x="62" y="1"/>
                    <a:pt x="62" y="2"/>
                  </a:cubicBezTo>
                  <a:cubicBezTo>
                    <a:pt x="62" y="17"/>
                    <a:pt x="62" y="17"/>
                    <a:pt x="62" y="17"/>
                  </a:cubicBezTo>
                  <a:cubicBezTo>
                    <a:pt x="60" y="17"/>
                    <a:pt x="60" y="17"/>
                    <a:pt x="60" y="17"/>
                  </a:cubicBezTo>
                  <a:cubicBezTo>
                    <a:pt x="38" y="19"/>
                    <a:pt x="19" y="38"/>
                    <a:pt x="17" y="60"/>
                  </a:cubicBezTo>
                  <a:cubicBezTo>
                    <a:pt x="17" y="62"/>
                    <a:pt x="17" y="62"/>
                    <a:pt x="17" y="62"/>
                  </a:cubicBezTo>
                  <a:cubicBezTo>
                    <a:pt x="2" y="62"/>
                    <a:pt x="2" y="62"/>
                    <a:pt x="2" y="62"/>
                  </a:cubicBezTo>
                  <a:cubicBezTo>
                    <a:pt x="1" y="62"/>
                    <a:pt x="0" y="63"/>
                    <a:pt x="0" y="64"/>
                  </a:cubicBezTo>
                  <a:cubicBezTo>
                    <a:pt x="0" y="65"/>
                    <a:pt x="1" y="66"/>
                    <a:pt x="2" y="66"/>
                  </a:cubicBezTo>
                  <a:cubicBezTo>
                    <a:pt x="17" y="66"/>
                    <a:pt x="17" y="66"/>
                    <a:pt x="17" y="66"/>
                  </a:cubicBezTo>
                  <a:cubicBezTo>
                    <a:pt x="17" y="68"/>
                    <a:pt x="17" y="68"/>
                    <a:pt x="17" y="68"/>
                  </a:cubicBezTo>
                  <a:cubicBezTo>
                    <a:pt x="19" y="90"/>
                    <a:pt x="38" y="109"/>
                    <a:pt x="60" y="111"/>
                  </a:cubicBezTo>
                  <a:cubicBezTo>
                    <a:pt x="62" y="111"/>
                    <a:pt x="62" y="111"/>
                    <a:pt x="62" y="111"/>
                  </a:cubicBezTo>
                  <a:cubicBezTo>
                    <a:pt x="62" y="126"/>
                    <a:pt x="62" y="126"/>
                    <a:pt x="62" y="126"/>
                  </a:cubicBezTo>
                  <a:cubicBezTo>
                    <a:pt x="62" y="127"/>
                    <a:pt x="63" y="128"/>
                    <a:pt x="64" y="128"/>
                  </a:cubicBezTo>
                  <a:cubicBezTo>
                    <a:pt x="65" y="128"/>
                    <a:pt x="66" y="127"/>
                    <a:pt x="66" y="126"/>
                  </a:cubicBezTo>
                  <a:cubicBezTo>
                    <a:pt x="66" y="111"/>
                    <a:pt x="66" y="111"/>
                    <a:pt x="66" y="111"/>
                  </a:cubicBezTo>
                  <a:cubicBezTo>
                    <a:pt x="68" y="111"/>
                    <a:pt x="68" y="111"/>
                    <a:pt x="68" y="111"/>
                  </a:cubicBezTo>
                  <a:cubicBezTo>
                    <a:pt x="90" y="109"/>
                    <a:pt x="109" y="90"/>
                    <a:pt x="111" y="68"/>
                  </a:cubicBezTo>
                  <a:cubicBezTo>
                    <a:pt x="111" y="66"/>
                    <a:pt x="111" y="66"/>
                    <a:pt x="111" y="66"/>
                  </a:cubicBezTo>
                  <a:cubicBezTo>
                    <a:pt x="126" y="66"/>
                    <a:pt x="126" y="66"/>
                    <a:pt x="126" y="66"/>
                  </a:cubicBezTo>
                  <a:cubicBezTo>
                    <a:pt x="127" y="66"/>
                    <a:pt x="128" y="65"/>
                    <a:pt x="128" y="64"/>
                  </a:cubicBezTo>
                  <a:cubicBezTo>
                    <a:pt x="128" y="63"/>
                    <a:pt x="127" y="62"/>
                    <a:pt x="126" y="62"/>
                  </a:cubicBezTo>
                  <a:close/>
                  <a:moveTo>
                    <a:pt x="62" y="106"/>
                  </a:moveTo>
                  <a:cubicBezTo>
                    <a:pt x="60" y="106"/>
                    <a:pt x="60" y="106"/>
                    <a:pt x="60" y="106"/>
                  </a:cubicBezTo>
                  <a:cubicBezTo>
                    <a:pt x="56" y="106"/>
                    <a:pt x="52" y="105"/>
                    <a:pt x="48" y="103"/>
                  </a:cubicBezTo>
                  <a:cubicBezTo>
                    <a:pt x="43" y="101"/>
                    <a:pt x="38" y="98"/>
                    <a:pt x="34" y="94"/>
                  </a:cubicBezTo>
                  <a:cubicBezTo>
                    <a:pt x="30" y="90"/>
                    <a:pt x="27" y="85"/>
                    <a:pt x="25" y="80"/>
                  </a:cubicBezTo>
                  <a:cubicBezTo>
                    <a:pt x="23" y="76"/>
                    <a:pt x="22" y="72"/>
                    <a:pt x="22" y="68"/>
                  </a:cubicBezTo>
                  <a:cubicBezTo>
                    <a:pt x="22" y="66"/>
                    <a:pt x="22" y="66"/>
                    <a:pt x="22" y="66"/>
                  </a:cubicBezTo>
                  <a:cubicBezTo>
                    <a:pt x="62" y="66"/>
                    <a:pt x="62" y="66"/>
                    <a:pt x="62" y="66"/>
                  </a:cubicBezTo>
                  <a:lnTo>
                    <a:pt x="62" y="106"/>
                  </a:lnTo>
                  <a:close/>
                  <a:moveTo>
                    <a:pt x="62" y="62"/>
                  </a:moveTo>
                  <a:cubicBezTo>
                    <a:pt x="22" y="62"/>
                    <a:pt x="22" y="62"/>
                    <a:pt x="22" y="62"/>
                  </a:cubicBezTo>
                  <a:cubicBezTo>
                    <a:pt x="22" y="60"/>
                    <a:pt x="22" y="60"/>
                    <a:pt x="22" y="60"/>
                  </a:cubicBezTo>
                  <a:cubicBezTo>
                    <a:pt x="22" y="56"/>
                    <a:pt x="23" y="52"/>
                    <a:pt x="25" y="48"/>
                  </a:cubicBezTo>
                  <a:cubicBezTo>
                    <a:pt x="27" y="43"/>
                    <a:pt x="30" y="38"/>
                    <a:pt x="34" y="34"/>
                  </a:cubicBezTo>
                  <a:cubicBezTo>
                    <a:pt x="38" y="30"/>
                    <a:pt x="43" y="27"/>
                    <a:pt x="48" y="25"/>
                  </a:cubicBezTo>
                  <a:cubicBezTo>
                    <a:pt x="52" y="23"/>
                    <a:pt x="56" y="22"/>
                    <a:pt x="60" y="22"/>
                  </a:cubicBezTo>
                  <a:cubicBezTo>
                    <a:pt x="62" y="22"/>
                    <a:pt x="62" y="22"/>
                    <a:pt x="62" y="22"/>
                  </a:cubicBezTo>
                  <a:lnTo>
                    <a:pt x="62" y="62"/>
                  </a:lnTo>
                  <a:close/>
                  <a:moveTo>
                    <a:pt x="106" y="68"/>
                  </a:moveTo>
                  <a:cubicBezTo>
                    <a:pt x="106" y="72"/>
                    <a:pt x="105" y="76"/>
                    <a:pt x="103" y="80"/>
                  </a:cubicBezTo>
                  <a:cubicBezTo>
                    <a:pt x="101" y="85"/>
                    <a:pt x="98" y="90"/>
                    <a:pt x="94" y="94"/>
                  </a:cubicBezTo>
                  <a:cubicBezTo>
                    <a:pt x="90" y="98"/>
                    <a:pt x="85" y="101"/>
                    <a:pt x="80" y="103"/>
                  </a:cubicBezTo>
                  <a:cubicBezTo>
                    <a:pt x="76" y="105"/>
                    <a:pt x="72" y="106"/>
                    <a:pt x="68" y="106"/>
                  </a:cubicBezTo>
                  <a:cubicBezTo>
                    <a:pt x="66" y="106"/>
                    <a:pt x="66" y="106"/>
                    <a:pt x="66" y="106"/>
                  </a:cubicBezTo>
                  <a:cubicBezTo>
                    <a:pt x="66" y="66"/>
                    <a:pt x="66" y="66"/>
                    <a:pt x="66" y="66"/>
                  </a:cubicBezTo>
                  <a:cubicBezTo>
                    <a:pt x="106" y="66"/>
                    <a:pt x="106" y="66"/>
                    <a:pt x="106" y="66"/>
                  </a:cubicBezTo>
                  <a:lnTo>
                    <a:pt x="106" y="68"/>
                  </a:lnTo>
                  <a:close/>
                  <a:moveTo>
                    <a:pt x="66" y="62"/>
                  </a:moveTo>
                  <a:cubicBezTo>
                    <a:pt x="66" y="22"/>
                    <a:pt x="66" y="22"/>
                    <a:pt x="66" y="22"/>
                  </a:cubicBezTo>
                  <a:cubicBezTo>
                    <a:pt x="68" y="22"/>
                    <a:pt x="68" y="22"/>
                    <a:pt x="68" y="22"/>
                  </a:cubicBezTo>
                  <a:cubicBezTo>
                    <a:pt x="72" y="22"/>
                    <a:pt x="76" y="23"/>
                    <a:pt x="80" y="25"/>
                  </a:cubicBezTo>
                  <a:cubicBezTo>
                    <a:pt x="85" y="27"/>
                    <a:pt x="90" y="30"/>
                    <a:pt x="94" y="34"/>
                  </a:cubicBezTo>
                  <a:cubicBezTo>
                    <a:pt x="98" y="38"/>
                    <a:pt x="101" y="43"/>
                    <a:pt x="103" y="48"/>
                  </a:cubicBezTo>
                  <a:cubicBezTo>
                    <a:pt x="105" y="52"/>
                    <a:pt x="106" y="56"/>
                    <a:pt x="106" y="60"/>
                  </a:cubicBezTo>
                  <a:cubicBezTo>
                    <a:pt x="106" y="62"/>
                    <a:pt x="106" y="62"/>
                    <a:pt x="106" y="62"/>
                  </a:cubicBezTo>
                  <a:lnTo>
                    <a:pt x="66" y="62"/>
                  </a:lnTo>
                  <a:close/>
                </a:path>
              </a:pathLst>
            </a:custGeom>
            <a:solidFill>
              <a:srgbClr val="FFFFFF"/>
            </a:solid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pic>
        <p:nvPicPr>
          <p:cNvPr id="128" name="图片 127">
            <a:extLst>
              <a:ext uri="{FF2B5EF4-FFF2-40B4-BE49-F238E27FC236}">
                <a16:creationId xmlns:a16="http://schemas.microsoft.com/office/drawing/2014/main" id="{868F9DCE-A65C-416C-9EC3-6003E39E7A2A}"/>
              </a:ext>
            </a:extLst>
          </p:cNvPr>
          <p:cNvPicPr>
            <a:picLocks noChangeAspect="1"/>
          </p:cNvPicPr>
          <p:nvPr/>
        </p:nvPicPr>
        <p:blipFill>
          <a:blip r:embed="rId3"/>
          <a:stretch>
            <a:fillRect/>
          </a:stretch>
        </p:blipFill>
        <p:spPr>
          <a:xfrm>
            <a:off x="224810" y="2767450"/>
            <a:ext cx="4284304" cy="2897505"/>
          </a:xfrm>
          <a:prstGeom prst="rect">
            <a:avLst/>
          </a:prstGeom>
        </p:spPr>
      </p:pic>
      <p:sp>
        <p:nvSpPr>
          <p:cNvPr id="131" name="文本框 130">
            <a:extLst>
              <a:ext uri="{FF2B5EF4-FFF2-40B4-BE49-F238E27FC236}">
                <a16:creationId xmlns:a16="http://schemas.microsoft.com/office/drawing/2014/main" id="{69EC3EA0-5BAD-4CBD-A210-C6B8FD9CA878}"/>
              </a:ext>
            </a:extLst>
          </p:cNvPr>
          <p:cNvSpPr txBox="1"/>
          <p:nvPr/>
        </p:nvSpPr>
        <p:spPr>
          <a:xfrm>
            <a:off x="224810" y="1574095"/>
            <a:ext cx="4622800" cy="1005788"/>
          </a:xfrm>
          <a:prstGeom prst="rect">
            <a:avLst/>
          </a:prstGeom>
          <a:noFill/>
        </p:spPr>
        <p:txBody>
          <a:bodyPr wrap="square">
            <a:spAutoFit/>
          </a:bodyPr>
          <a:lstStyle/>
          <a:p>
            <a:pPr marR="0" indent="0" algn="ctr" defTabSz="914400" fontAlgn="auto">
              <a:lnSpc>
                <a:spcPct val="130000"/>
              </a:lnSpc>
              <a:spcBef>
                <a:spcPts val="0"/>
              </a:spcBef>
              <a:spcAft>
                <a:spcPts val="0"/>
              </a:spcAft>
              <a:buClrTx/>
              <a:buSzTx/>
              <a:buFontTx/>
              <a:buNone/>
              <a:defRPr/>
            </a:pPr>
            <a:r>
              <a:rPr kumimoji="0" lang="zh-CN" altLang="en-US" sz="2400" b="1" i="0" kern="0" cap="none" spc="300" normalizeH="0" baseline="0" noProof="0" dirty="0">
                <a:latin typeface="微软雅黑" panose="020B0503020204020204" pitchFamily="34" charset="-122"/>
                <a:ea typeface="微软雅黑" panose="020B0503020204020204" pitchFamily="34" charset="-122"/>
              </a:rPr>
              <a:t>基于</a:t>
            </a:r>
            <a:r>
              <a:rPr kumimoji="0" lang="en-US" altLang="zh-CN" sz="2400" b="1" i="0" kern="0" cap="none" spc="300" normalizeH="0" baseline="0" noProof="0" dirty="0">
                <a:solidFill>
                  <a:srgbClr val="FF0000"/>
                </a:solidFill>
                <a:latin typeface="微软雅黑" panose="020B0503020204020204" pitchFamily="34" charset="-122"/>
                <a:ea typeface="微软雅黑" panose="020B0503020204020204" pitchFamily="34" charset="-122"/>
              </a:rPr>
              <a:t>QT</a:t>
            </a:r>
            <a:r>
              <a:rPr kumimoji="0" lang="zh-CN" altLang="en-US" sz="2400" b="1" i="0" kern="0" cap="none" spc="300" normalizeH="0" baseline="0" noProof="0" dirty="0">
                <a:latin typeface="微软雅黑" panose="020B0503020204020204" pitchFamily="34" charset="-122"/>
                <a:ea typeface="微软雅黑" panose="020B0503020204020204" pitchFamily="34" charset="-122"/>
              </a:rPr>
              <a:t>平台采用</a:t>
            </a:r>
            <a:r>
              <a:rPr kumimoji="0" lang="zh-CN" altLang="en-US" sz="2400" b="1" i="0" kern="0" cap="none" spc="300" normalizeH="0" baseline="0" noProof="0" dirty="0">
                <a:solidFill>
                  <a:srgbClr val="FF0000"/>
                </a:solidFill>
                <a:latin typeface="微软雅黑" panose="020B0503020204020204" pitchFamily="34" charset="-122"/>
                <a:ea typeface="微软雅黑" panose="020B0503020204020204" pitchFamily="34" charset="-122"/>
              </a:rPr>
              <a:t>C++</a:t>
            </a:r>
            <a:r>
              <a:rPr kumimoji="0" lang="zh-CN" altLang="en-US" sz="2400" b="1" i="0" kern="0" cap="none" spc="300" normalizeH="0" baseline="0" noProof="0" dirty="0">
                <a:latin typeface="微软雅黑" panose="020B0503020204020204" pitchFamily="34" charset="-122"/>
                <a:ea typeface="微软雅黑" panose="020B0503020204020204" pitchFamily="34" charset="-122"/>
              </a:rPr>
              <a:t>语言的上位机监控平台开发</a:t>
            </a:r>
          </a:p>
        </p:txBody>
      </p:sp>
    </p:spTree>
    <p:extLst>
      <p:ext uri="{BB962C8B-B14F-4D97-AF65-F5344CB8AC3E}">
        <p14:creationId xmlns:p14="http://schemas.microsoft.com/office/powerpoint/2010/main" val="1907716768"/>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00BF4D4A-8C38-4B6F-97B7-6275CE1792BE}"/>
              </a:ext>
            </a:extLst>
          </p:cNvPr>
          <p:cNvSpPr>
            <a:spLocks noChangeArrowheads="1"/>
          </p:cNvSpPr>
          <p:nvPr/>
        </p:nvSpPr>
        <p:spPr bwMode="auto">
          <a:xfrm>
            <a:off x="2366962" y="85601"/>
            <a:ext cx="5634038" cy="800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152352" bIns="152352"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Arial" panose="020B0604020202020204" pitchFamily="34" charset="0"/>
              <a:buNone/>
            </a:pPr>
            <a:r>
              <a:rPr lang="zh-CN" altLang="en-US" sz="3200" dirty="0">
                <a:solidFill>
                  <a:srgbClr val="FF0000"/>
                </a:solidFill>
                <a:latin typeface="黑体" panose="02010609060101010101" pitchFamily="49" charset="-122"/>
                <a:ea typeface="黑体" panose="02010609060101010101" pitchFamily="49" charset="-122"/>
              </a:rPr>
              <a:t>五</a:t>
            </a:r>
            <a:r>
              <a:rPr lang="zh-CN" altLang="en-US" sz="3200" b="1" dirty="0">
                <a:solidFill>
                  <a:srgbClr val="FF0000"/>
                </a:solidFill>
                <a:latin typeface="黑体" panose="02010609060101010101" pitchFamily="49" charset="-122"/>
                <a:ea typeface="黑体" panose="02010609060101010101" pitchFamily="49" charset="-122"/>
              </a:rPr>
              <a:t>、监控平台</a:t>
            </a:r>
            <a:r>
              <a:rPr lang="en-US" altLang="zh-CN" sz="3200" b="1" dirty="0">
                <a:solidFill>
                  <a:srgbClr val="FF0000"/>
                </a:solidFill>
                <a:latin typeface="黑体" panose="02010609060101010101" pitchFamily="49" charset="-122"/>
                <a:ea typeface="黑体" panose="02010609060101010101" pitchFamily="49" charset="-122"/>
              </a:rPr>
              <a:t>——</a:t>
            </a:r>
            <a:r>
              <a:rPr lang="zh-CN" altLang="en-US" sz="3200" b="1" dirty="0">
                <a:solidFill>
                  <a:srgbClr val="FF0000"/>
                </a:solidFill>
                <a:latin typeface="黑体" panose="02010609060101010101" pitchFamily="49" charset="-122"/>
                <a:ea typeface="黑体" panose="02010609060101010101" pitchFamily="49" charset="-122"/>
              </a:rPr>
              <a:t>运行效果</a:t>
            </a:r>
            <a:endParaRPr lang="en-US" altLang="zh-CN" sz="3200" b="1" dirty="0">
              <a:solidFill>
                <a:srgbClr val="FF0000"/>
              </a:solidFill>
              <a:latin typeface="黑体" panose="02010609060101010101" pitchFamily="49" charset="-122"/>
              <a:ea typeface="黑体" panose="02010609060101010101" pitchFamily="49" charset="-122"/>
            </a:endParaRPr>
          </a:p>
        </p:txBody>
      </p:sp>
      <p:sp>
        <p:nvSpPr>
          <p:cNvPr id="5124" name="灯片编号占位符 1">
            <a:extLst>
              <a:ext uri="{FF2B5EF4-FFF2-40B4-BE49-F238E27FC236}">
                <a16:creationId xmlns:a16="http://schemas.microsoft.com/office/drawing/2014/main" id="{BB56ADB0-04AF-4CE3-9017-F6E15E580F29}"/>
              </a:ext>
            </a:extLst>
          </p:cNvPr>
          <p:cNvSpPr txBox="1">
            <a:spLocks noGrp="1" noChangeArrowheads="1"/>
          </p:cNvSpPr>
          <p:nvPr/>
        </p:nvSpPr>
        <p:spPr bwMode="auto">
          <a:xfrm>
            <a:off x="6934200" y="64579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fld id="{7C452FCC-F500-4704-91E2-2F390F4FF943}" type="slidenum">
              <a:rPr lang="en-US" altLang="zh-CN" sz="1400"/>
              <a:pPr algn="r" eaLnBrk="1" hangingPunct="1">
                <a:buFont typeface="Arial" panose="020B0604020202020204" pitchFamily="34" charset="0"/>
                <a:buNone/>
              </a:pPr>
              <a:t>17</a:t>
            </a:fld>
            <a:endParaRPr lang="en-US" altLang="zh-CN" sz="1400"/>
          </a:p>
        </p:txBody>
      </p:sp>
      <p:cxnSp>
        <p:nvCxnSpPr>
          <p:cNvPr id="5" name="直接连接符 4">
            <a:extLst>
              <a:ext uri="{FF2B5EF4-FFF2-40B4-BE49-F238E27FC236}">
                <a16:creationId xmlns:a16="http://schemas.microsoft.com/office/drawing/2014/main" id="{58CF87F1-3AD9-4206-9BE0-16FF13E7AEFE}"/>
              </a:ext>
            </a:extLst>
          </p:cNvPr>
          <p:cNvCxnSpPr>
            <a:cxnSpLocks/>
          </p:cNvCxnSpPr>
          <p:nvPr/>
        </p:nvCxnSpPr>
        <p:spPr>
          <a:xfrm>
            <a:off x="0" y="990600"/>
            <a:ext cx="9144000" cy="0"/>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pic>
        <p:nvPicPr>
          <p:cNvPr id="6" name="图片 5">
            <a:extLst>
              <a:ext uri="{FF2B5EF4-FFF2-40B4-BE49-F238E27FC236}">
                <a16:creationId xmlns:a16="http://schemas.microsoft.com/office/drawing/2014/main" id="{05A39EF2-C128-4002-8834-888366A5B9C4}"/>
              </a:ext>
            </a:extLst>
          </p:cNvPr>
          <p:cNvPicPr>
            <a:picLocks noChangeAspect="1"/>
          </p:cNvPicPr>
          <p:nvPr/>
        </p:nvPicPr>
        <p:blipFill rotWithShape="1">
          <a:blip r:embed="rId2">
            <a:extLst>
              <a:ext uri="{28A0092B-C50C-407E-A947-70E740481C1C}">
                <a14:useLocalDpi xmlns:a14="http://schemas.microsoft.com/office/drawing/2010/main" val="0"/>
              </a:ext>
            </a:extLst>
          </a:blip>
          <a:srcRect l="5365" t="9391" r="5363" b="16667"/>
          <a:stretch/>
        </p:blipFill>
        <p:spPr>
          <a:xfrm>
            <a:off x="-19050" y="162718"/>
            <a:ext cx="1981200" cy="693738"/>
          </a:xfrm>
          <a:prstGeom prst="rect">
            <a:avLst/>
          </a:prstGeom>
        </p:spPr>
      </p:pic>
      <p:pic>
        <p:nvPicPr>
          <p:cNvPr id="3" name="图片 2">
            <a:extLst>
              <a:ext uri="{FF2B5EF4-FFF2-40B4-BE49-F238E27FC236}">
                <a16:creationId xmlns:a16="http://schemas.microsoft.com/office/drawing/2014/main" id="{BDECC605-A4AB-46B1-BB1E-C422D39F51BE}"/>
              </a:ext>
            </a:extLst>
          </p:cNvPr>
          <p:cNvPicPr>
            <a:picLocks noChangeAspect="1"/>
          </p:cNvPicPr>
          <p:nvPr/>
        </p:nvPicPr>
        <p:blipFill>
          <a:blip r:embed="rId3"/>
          <a:stretch>
            <a:fillRect/>
          </a:stretch>
        </p:blipFill>
        <p:spPr>
          <a:xfrm>
            <a:off x="1161144" y="3978070"/>
            <a:ext cx="2964543" cy="2663575"/>
          </a:xfrm>
          <a:prstGeom prst="rect">
            <a:avLst/>
          </a:prstGeom>
        </p:spPr>
      </p:pic>
      <p:pic>
        <p:nvPicPr>
          <p:cNvPr id="59" name="图片 58">
            <a:extLst>
              <a:ext uri="{FF2B5EF4-FFF2-40B4-BE49-F238E27FC236}">
                <a16:creationId xmlns:a16="http://schemas.microsoft.com/office/drawing/2014/main" id="{C0A10C87-D9F1-4859-9C1A-ACF76E89EBE5}"/>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08286" y="1069170"/>
            <a:ext cx="2964544" cy="2663568"/>
          </a:xfrm>
          <a:prstGeom prst="rect">
            <a:avLst/>
          </a:prstGeom>
          <a:noFill/>
          <a:ln>
            <a:noFill/>
          </a:ln>
        </p:spPr>
      </p:pic>
      <p:pic>
        <p:nvPicPr>
          <p:cNvPr id="60" name="图片 59">
            <a:extLst>
              <a:ext uri="{FF2B5EF4-FFF2-40B4-BE49-F238E27FC236}">
                <a16:creationId xmlns:a16="http://schemas.microsoft.com/office/drawing/2014/main" id="{3CFAC828-10B3-4C67-A704-7CF228D451A6}"/>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613729" y="4003470"/>
            <a:ext cx="2964543" cy="2663576"/>
          </a:xfrm>
          <a:prstGeom prst="rect">
            <a:avLst/>
          </a:prstGeom>
          <a:noFill/>
          <a:ln>
            <a:noFill/>
          </a:ln>
        </p:spPr>
      </p:pic>
      <p:pic>
        <p:nvPicPr>
          <p:cNvPr id="61" name="图片 60">
            <a:extLst>
              <a:ext uri="{FF2B5EF4-FFF2-40B4-BE49-F238E27FC236}">
                <a16:creationId xmlns:a16="http://schemas.microsoft.com/office/drawing/2014/main" id="{84198F21-6F59-45DD-BC85-22D0F8C7270A}"/>
              </a:ext>
            </a:extLst>
          </p:cNvPr>
          <p:cNvPicPr/>
          <p:nvPr/>
        </p:nvPicPr>
        <p:blipFill rotWithShape="1">
          <a:blip r:embed="rId6" cstate="print">
            <a:extLst>
              <a:ext uri="{28A0092B-C50C-407E-A947-70E740481C1C}">
                <a14:useLocalDpi xmlns:a14="http://schemas.microsoft.com/office/drawing/2010/main" val="0"/>
              </a:ext>
            </a:extLst>
          </a:blip>
          <a:srcRect b="20216"/>
          <a:stretch/>
        </p:blipFill>
        <p:spPr bwMode="auto">
          <a:xfrm>
            <a:off x="1161144" y="1060698"/>
            <a:ext cx="2964544" cy="2663577"/>
          </a:xfrm>
          <a:prstGeom prst="rect">
            <a:avLst/>
          </a:prstGeom>
          <a:noFill/>
          <a:ln>
            <a:noFill/>
          </a:ln>
          <a:extLst>
            <a:ext uri="{53640926-AAD7-44D8-BBD7-CCE9431645EC}">
              <a14:shadowObscured xmlns:a14="http://schemas.microsoft.com/office/drawing/2010/main"/>
            </a:ext>
          </a:extLst>
        </p:spPr>
      </p:pic>
      <p:sp>
        <p:nvSpPr>
          <p:cNvPr id="63" name="矩形 62">
            <a:extLst>
              <a:ext uri="{FF2B5EF4-FFF2-40B4-BE49-F238E27FC236}">
                <a16:creationId xmlns:a16="http://schemas.microsoft.com/office/drawing/2014/main" id="{9A234896-0F7B-42D0-8BD4-E2F70F1538AB}"/>
              </a:ext>
            </a:extLst>
          </p:cNvPr>
          <p:cNvSpPr/>
          <p:nvPr/>
        </p:nvSpPr>
        <p:spPr>
          <a:xfrm flipH="1">
            <a:off x="430049" y="1158207"/>
            <a:ext cx="343464" cy="2677656"/>
          </a:xfrm>
          <a:prstGeom prst="rect">
            <a:avLst/>
          </a:prstGeom>
          <a:noFill/>
        </p:spPr>
        <p:txBody>
          <a:bodyPr wrap="square" lIns="91440" tIns="45720" rIns="91440" bIns="45720">
            <a:spAutoFit/>
          </a:bodyPr>
          <a:lstStyle/>
          <a:p>
            <a:pPr algn="ctr"/>
            <a:r>
              <a:rPr lang="zh-CN" altLang="en-US" b="0" cap="none" spc="0" dirty="0">
                <a:ln w="0"/>
                <a:solidFill>
                  <a:schemeClr val="tx1"/>
                </a:solidFill>
                <a:effectLst>
                  <a:outerShdw blurRad="38100" dist="19050" dir="2700000" algn="tl" rotWithShape="0">
                    <a:schemeClr val="dk1">
                      <a:alpha val="40000"/>
                    </a:schemeClr>
                  </a:outerShdw>
                </a:effectLst>
                <a:latin typeface="+mn-ea"/>
                <a:ea typeface="+mn-ea"/>
              </a:rPr>
              <a:t>配置串口及调试</a:t>
            </a:r>
          </a:p>
        </p:txBody>
      </p:sp>
      <p:sp>
        <p:nvSpPr>
          <p:cNvPr id="64" name="矩形 63">
            <a:extLst>
              <a:ext uri="{FF2B5EF4-FFF2-40B4-BE49-F238E27FC236}">
                <a16:creationId xmlns:a16="http://schemas.microsoft.com/office/drawing/2014/main" id="{56D30F3C-C0E6-416B-9F5E-6007A1E61565}"/>
              </a:ext>
            </a:extLst>
          </p:cNvPr>
          <p:cNvSpPr/>
          <p:nvPr/>
        </p:nvSpPr>
        <p:spPr>
          <a:xfrm flipH="1">
            <a:off x="496866" y="4229414"/>
            <a:ext cx="343464" cy="2308324"/>
          </a:xfrm>
          <a:prstGeom prst="rect">
            <a:avLst/>
          </a:prstGeom>
          <a:noFill/>
        </p:spPr>
        <p:txBody>
          <a:bodyPr wrap="square" lIns="91440" tIns="45720" rIns="91440" bIns="45720">
            <a:spAutoFit/>
          </a:bodyPr>
          <a:lstStyle/>
          <a:p>
            <a:pPr algn="ctr"/>
            <a:r>
              <a:rPr lang="zh-CN" altLang="en-US" b="0" cap="none" spc="0" dirty="0">
                <a:ln w="0"/>
                <a:solidFill>
                  <a:schemeClr val="tx1"/>
                </a:solidFill>
                <a:effectLst>
                  <a:outerShdw blurRad="38100" dist="19050" dir="2700000" algn="tl" rotWithShape="0">
                    <a:schemeClr val="dk1">
                      <a:alpha val="40000"/>
                    </a:schemeClr>
                  </a:outerShdw>
                </a:effectLst>
                <a:latin typeface="+mn-ea"/>
                <a:ea typeface="+mn-ea"/>
              </a:rPr>
              <a:t>固定节点信息</a:t>
            </a:r>
          </a:p>
        </p:txBody>
      </p:sp>
      <p:sp>
        <p:nvSpPr>
          <p:cNvPr id="65" name="矩形 64">
            <a:extLst>
              <a:ext uri="{FF2B5EF4-FFF2-40B4-BE49-F238E27FC236}">
                <a16:creationId xmlns:a16="http://schemas.microsoft.com/office/drawing/2014/main" id="{56CE0467-BD42-4BD7-AD47-5E06A14458BE}"/>
              </a:ext>
            </a:extLst>
          </p:cNvPr>
          <p:cNvSpPr/>
          <p:nvPr/>
        </p:nvSpPr>
        <p:spPr>
          <a:xfrm flipH="1">
            <a:off x="7829268" y="4414080"/>
            <a:ext cx="343464" cy="1938992"/>
          </a:xfrm>
          <a:prstGeom prst="rect">
            <a:avLst/>
          </a:prstGeom>
          <a:noFill/>
        </p:spPr>
        <p:txBody>
          <a:bodyPr wrap="square" lIns="91440" tIns="45720" rIns="91440" bIns="45720">
            <a:spAutoFit/>
          </a:bodyPr>
          <a:lstStyle/>
          <a:p>
            <a:pPr algn="ctr"/>
            <a:r>
              <a:rPr lang="zh-CN" altLang="en-US" b="0" cap="none" spc="0" dirty="0">
                <a:ln w="0"/>
                <a:solidFill>
                  <a:schemeClr val="tx1"/>
                </a:solidFill>
                <a:effectLst>
                  <a:outerShdw blurRad="38100" dist="19050" dir="2700000" algn="tl" rotWithShape="0">
                    <a:schemeClr val="dk1">
                      <a:alpha val="40000"/>
                    </a:schemeClr>
                  </a:outerShdw>
                </a:effectLst>
                <a:latin typeface="+mn-ea"/>
                <a:ea typeface="+mn-ea"/>
              </a:rPr>
              <a:t>数据库访问</a:t>
            </a:r>
          </a:p>
        </p:txBody>
      </p:sp>
      <p:sp>
        <p:nvSpPr>
          <p:cNvPr id="66" name="矩形 65">
            <a:extLst>
              <a:ext uri="{FF2B5EF4-FFF2-40B4-BE49-F238E27FC236}">
                <a16:creationId xmlns:a16="http://schemas.microsoft.com/office/drawing/2014/main" id="{F753AD65-6E32-4D44-9079-CC2D1EB391F9}"/>
              </a:ext>
            </a:extLst>
          </p:cNvPr>
          <p:cNvSpPr/>
          <p:nvPr/>
        </p:nvSpPr>
        <p:spPr>
          <a:xfrm flipH="1">
            <a:off x="7829268" y="1190864"/>
            <a:ext cx="343464" cy="2308324"/>
          </a:xfrm>
          <a:prstGeom prst="rect">
            <a:avLst/>
          </a:prstGeom>
          <a:noFill/>
        </p:spPr>
        <p:txBody>
          <a:bodyPr wrap="square" lIns="91440" tIns="45720" rIns="91440" bIns="45720">
            <a:spAutoFit/>
          </a:bodyPr>
          <a:lstStyle/>
          <a:p>
            <a:pPr algn="ctr"/>
            <a:r>
              <a:rPr lang="zh-CN" altLang="en-US" b="0" cap="none" spc="0" dirty="0">
                <a:ln w="0"/>
                <a:solidFill>
                  <a:schemeClr val="tx1"/>
                </a:solidFill>
                <a:effectLst>
                  <a:outerShdw blurRad="38100" dist="19050" dir="2700000" algn="tl" rotWithShape="0">
                    <a:schemeClr val="dk1">
                      <a:alpha val="40000"/>
                    </a:schemeClr>
                  </a:outerShdw>
                </a:effectLst>
                <a:latin typeface="+mn-ea"/>
                <a:ea typeface="+mn-ea"/>
              </a:rPr>
              <a:t>遥测节点信息</a:t>
            </a:r>
          </a:p>
        </p:txBody>
      </p:sp>
    </p:spTree>
    <p:extLst>
      <p:ext uri="{BB962C8B-B14F-4D97-AF65-F5344CB8AC3E}">
        <p14:creationId xmlns:p14="http://schemas.microsoft.com/office/powerpoint/2010/main" val="3249014064"/>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00BF4D4A-8C38-4B6F-97B7-6275CE1792BE}"/>
              </a:ext>
            </a:extLst>
          </p:cNvPr>
          <p:cNvSpPr>
            <a:spLocks noChangeArrowheads="1"/>
          </p:cNvSpPr>
          <p:nvPr/>
        </p:nvSpPr>
        <p:spPr bwMode="auto">
          <a:xfrm>
            <a:off x="2366963" y="192088"/>
            <a:ext cx="4597400"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52352" bIns="152352"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50000"/>
              </a:lnSpc>
              <a:buFont typeface="Arial" panose="020B0604020202020204" pitchFamily="34" charset="0"/>
              <a:buNone/>
            </a:pPr>
            <a:r>
              <a:rPr lang="zh-CN" altLang="en-US" sz="5400" b="1">
                <a:solidFill>
                  <a:srgbClr val="CC0000"/>
                </a:solidFill>
                <a:latin typeface="华文新魏" panose="02010800040101010101" pitchFamily="2" charset="-122"/>
                <a:ea typeface="华文新魏" panose="02010800040101010101" pitchFamily="2" charset="-122"/>
              </a:rPr>
              <a:t>汇  报  提  纲</a:t>
            </a:r>
          </a:p>
        </p:txBody>
      </p:sp>
      <p:sp>
        <p:nvSpPr>
          <p:cNvPr id="5123" name="Text Box 2">
            <a:extLst>
              <a:ext uri="{FF2B5EF4-FFF2-40B4-BE49-F238E27FC236}">
                <a16:creationId xmlns:a16="http://schemas.microsoft.com/office/drawing/2014/main" id="{03FD2BE7-39E2-49F6-9A71-7C99BB53A0DB}"/>
              </a:ext>
            </a:extLst>
          </p:cNvPr>
          <p:cNvSpPr txBox="1">
            <a:spLocks noChangeArrowheads="1"/>
          </p:cNvSpPr>
          <p:nvPr/>
        </p:nvSpPr>
        <p:spPr bwMode="auto">
          <a:xfrm>
            <a:off x="2832894" y="1859348"/>
            <a:ext cx="3665537" cy="3754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dirty="0">
                <a:solidFill>
                  <a:srgbClr val="000066"/>
                </a:solidFill>
                <a:latin typeface="黑体" panose="02010609060101010101" pitchFamily="49" charset="-122"/>
                <a:ea typeface="黑体" panose="02010609060101010101" pitchFamily="49" charset="-122"/>
              </a:rPr>
              <a:t>一、系统目标 </a:t>
            </a:r>
            <a:endParaRPr lang="en-US" altLang="zh-CN" sz="2800" dirty="0">
              <a:solidFill>
                <a:srgbClr val="000066"/>
              </a:solidFill>
              <a:latin typeface="黑体" panose="02010609060101010101" pitchFamily="49" charset="-122"/>
              <a:ea typeface="黑体" panose="02010609060101010101" pitchFamily="49" charset="-122"/>
            </a:endParaRPr>
          </a:p>
          <a:p>
            <a:pPr eaLnBrk="1" hangingPunct="1">
              <a:spcBef>
                <a:spcPct val="50000"/>
              </a:spcBef>
            </a:pPr>
            <a:r>
              <a:rPr lang="zh-CN" altLang="en-US" sz="2800" dirty="0">
                <a:solidFill>
                  <a:srgbClr val="000066"/>
                </a:solidFill>
                <a:latin typeface="黑体" panose="02010609060101010101" pitchFamily="49" charset="-122"/>
                <a:ea typeface="黑体" panose="02010609060101010101" pitchFamily="49" charset="-122"/>
              </a:rPr>
              <a:t>二、技术原理</a:t>
            </a:r>
            <a:endParaRPr lang="en-US" altLang="zh-CN" sz="2800" dirty="0">
              <a:solidFill>
                <a:srgbClr val="000066"/>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buNone/>
            </a:pPr>
            <a:r>
              <a:rPr lang="zh-CN" altLang="en-US" sz="2800" b="1" dirty="0">
                <a:solidFill>
                  <a:srgbClr val="000066"/>
                </a:solidFill>
                <a:latin typeface="黑体" panose="02010609060101010101" pitchFamily="49" charset="-122"/>
                <a:ea typeface="黑体" panose="02010609060101010101" pitchFamily="49" charset="-122"/>
              </a:rPr>
              <a:t>三、硬件选型与设计</a:t>
            </a:r>
            <a:endParaRPr lang="en-US" altLang="zh-CN" sz="2800" b="1" dirty="0">
              <a:solidFill>
                <a:srgbClr val="000066"/>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buNone/>
            </a:pPr>
            <a:r>
              <a:rPr lang="zh-CN" altLang="en-US" sz="2800" dirty="0">
                <a:solidFill>
                  <a:srgbClr val="000066"/>
                </a:solidFill>
                <a:latin typeface="黑体" panose="02010609060101010101" pitchFamily="49" charset="-122"/>
                <a:ea typeface="黑体" panose="02010609060101010101" pitchFamily="49" charset="-122"/>
              </a:rPr>
              <a:t>四</a:t>
            </a:r>
            <a:r>
              <a:rPr lang="zh-CN" altLang="en-US" sz="2800" b="1" dirty="0">
                <a:solidFill>
                  <a:srgbClr val="000066"/>
                </a:solidFill>
                <a:latin typeface="黑体" panose="02010609060101010101" pitchFamily="49" charset="-122"/>
                <a:ea typeface="黑体" panose="02010609060101010101" pitchFamily="49" charset="-122"/>
              </a:rPr>
              <a:t>、硬件平台</a:t>
            </a:r>
            <a:endParaRPr lang="en-US" altLang="zh-CN" sz="2800" b="1" dirty="0">
              <a:solidFill>
                <a:srgbClr val="000066"/>
              </a:solidFill>
              <a:latin typeface="黑体" panose="02010609060101010101" pitchFamily="49" charset="-122"/>
              <a:ea typeface="黑体" panose="02010609060101010101" pitchFamily="49" charset="-122"/>
            </a:endParaRPr>
          </a:p>
          <a:p>
            <a:pPr eaLnBrk="1" hangingPunct="1">
              <a:spcBef>
                <a:spcPct val="50000"/>
              </a:spcBef>
            </a:pPr>
            <a:r>
              <a:rPr lang="zh-CN" altLang="en-US" sz="2800" dirty="0">
                <a:solidFill>
                  <a:srgbClr val="000066"/>
                </a:solidFill>
                <a:latin typeface="黑体" panose="02010609060101010101" pitchFamily="49" charset="-122"/>
                <a:ea typeface="黑体" panose="02010609060101010101" pitchFamily="49" charset="-122"/>
              </a:rPr>
              <a:t>五、监控平台</a:t>
            </a:r>
            <a:endParaRPr lang="en-US" altLang="zh-CN" sz="2800" dirty="0">
              <a:solidFill>
                <a:srgbClr val="000066"/>
              </a:solidFill>
              <a:latin typeface="黑体" panose="02010609060101010101" pitchFamily="49" charset="-122"/>
              <a:ea typeface="黑体" panose="02010609060101010101" pitchFamily="49" charset="-122"/>
            </a:endParaRPr>
          </a:p>
          <a:p>
            <a:pPr eaLnBrk="1" hangingPunct="1">
              <a:spcBef>
                <a:spcPct val="50000"/>
              </a:spcBef>
            </a:pPr>
            <a:r>
              <a:rPr lang="zh-CN" altLang="en-US" sz="2800" b="1" dirty="0">
                <a:solidFill>
                  <a:srgbClr val="FF0000"/>
                </a:solidFill>
                <a:latin typeface="黑体" panose="02010609060101010101" pitchFamily="49" charset="-122"/>
                <a:ea typeface="黑体" panose="02010609060101010101" pitchFamily="49" charset="-122"/>
              </a:rPr>
              <a:t>六、系统后续进展</a:t>
            </a:r>
            <a:endParaRPr lang="en-US" altLang="zh-CN" sz="2800" b="1" dirty="0">
              <a:solidFill>
                <a:srgbClr val="FF0000"/>
              </a:solidFill>
              <a:latin typeface="黑体" panose="02010609060101010101" pitchFamily="49" charset="-122"/>
              <a:ea typeface="黑体" panose="02010609060101010101" pitchFamily="49" charset="-122"/>
            </a:endParaRPr>
          </a:p>
        </p:txBody>
      </p:sp>
      <p:sp>
        <p:nvSpPr>
          <p:cNvPr id="5124" name="灯片编号占位符 1">
            <a:extLst>
              <a:ext uri="{FF2B5EF4-FFF2-40B4-BE49-F238E27FC236}">
                <a16:creationId xmlns:a16="http://schemas.microsoft.com/office/drawing/2014/main" id="{BB56ADB0-04AF-4CE3-9017-F6E15E580F29}"/>
              </a:ext>
            </a:extLst>
          </p:cNvPr>
          <p:cNvSpPr txBox="1">
            <a:spLocks noGrp="1" noChangeArrowheads="1"/>
          </p:cNvSpPr>
          <p:nvPr/>
        </p:nvSpPr>
        <p:spPr bwMode="auto">
          <a:xfrm>
            <a:off x="6934200" y="64579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fld id="{7C452FCC-F500-4704-91E2-2F390F4FF943}" type="slidenum">
              <a:rPr lang="en-US" altLang="zh-CN" sz="1400"/>
              <a:pPr algn="r" eaLnBrk="1" hangingPunct="1">
                <a:buFont typeface="Arial" panose="020B0604020202020204" pitchFamily="34" charset="0"/>
                <a:buNone/>
              </a:pPr>
              <a:t>18</a:t>
            </a:fld>
            <a:endParaRPr lang="en-US" altLang="zh-CN" sz="1400"/>
          </a:p>
        </p:txBody>
      </p:sp>
      <p:cxnSp>
        <p:nvCxnSpPr>
          <p:cNvPr id="5" name="直接连接符 4">
            <a:extLst>
              <a:ext uri="{FF2B5EF4-FFF2-40B4-BE49-F238E27FC236}">
                <a16:creationId xmlns:a16="http://schemas.microsoft.com/office/drawing/2014/main" id="{58CF87F1-3AD9-4206-9BE0-16FF13E7AEFE}"/>
              </a:ext>
            </a:extLst>
          </p:cNvPr>
          <p:cNvCxnSpPr>
            <a:cxnSpLocks/>
          </p:cNvCxnSpPr>
          <p:nvPr/>
        </p:nvCxnSpPr>
        <p:spPr>
          <a:xfrm>
            <a:off x="0" y="990600"/>
            <a:ext cx="9144000" cy="0"/>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pic>
        <p:nvPicPr>
          <p:cNvPr id="6" name="图片 5">
            <a:extLst>
              <a:ext uri="{FF2B5EF4-FFF2-40B4-BE49-F238E27FC236}">
                <a16:creationId xmlns:a16="http://schemas.microsoft.com/office/drawing/2014/main" id="{05A39EF2-C128-4002-8834-888366A5B9C4}"/>
              </a:ext>
            </a:extLst>
          </p:cNvPr>
          <p:cNvPicPr>
            <a:picLocks noChangeAspect="1"/>
          </p:cNvPicPr>
          <p:nvPr/>
        </p:nvPicPr>
        <p:blipFill rotWithShape="1">
          <a:blip r:embed="rId2">
            <a:extLst>
              <a:ext uri="{28A0092B-C50C-407E-A947-70E740481C1C}">
                <a14:useLocalDpi xmlns:a14="http://schemas.microsoft.com/office/drawing/2010/main" val="0"/>
              </a:ext>
            </a:extLst>
          </a:blip>
          <a:srcRect l="5365" t="9391" r="5363" b="16667"/>
          <a:stretch/>
        </p:blipFill>
        <p:spPr>
          <a:xfrm>
            <a:off x="-19050" y="162718"/>
            <a:ext cx="1981200" cy="693738"/>
          </a:xfrm>
          <a:prstGeom prst="rect">
            <a:avLst/>
          </a:prstGeom>
        </p:spPr>
      </p:pic>
    </p:spTree>
    <p:extLst>
      <p:ext uri="{BB962C8B-B14F-4D97-AF65-F5344CB8AC3E}">
        <p14:creationId xmlns:p14="http://schemas.microsoft.com/office/powerpoint/2010/main" val="1479517902"/>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00BF4D4A-8C38-4B6F-97B7-6275CE1792BE}"/>
              </a:ext>
            </a:extLst>
          </p:cNvPr>
          <p:cNvSpPr>
            <a:spLocks noChangeArrowheads="1"/>
          </p:cNvSpPr>
          <p:nvPr/>
        </p:nvSpPr>
        <p:spPr bwMode="auto">
          <a:xfrm>
            <a:off x="2366962" y="85601"/>
            <a:ext cx="5024437" cy="800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152352" bIns="152352"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dirty="0">
                <a:solidFill>
                  <a:srgbClr val="FF0000"/>
                </a:solidFill>
                <a:latin typeface="黑体" panose="02010609060101010101" pitchFamily="49" charset="-122"/>
                <a:ea typeface="黑体" panose="02010609060101010101" pitchFamily="49" charset="-122"/>
              </a:rPr>
              <a:t>六、系统后续进展</a:t>
            </a:r>
            <a:endParaRPr lang="en-US" altLang="zh-CN" sz="3200" b="1" dirty="0">
              <a:solidFill>
                <a:srgbClr val="FF0000"/>
              </a:solidFill>
              <a:latin typeface="黑体" panose="02010609060101010101" pitchFamily="49" charset="-122"/>
              <a:ea typeface="黑体" panose="02010609060101010101" pitchFamily="49" charset="-122"/>
            </a:endParaRPr>
          </a:p>
        </p:txBody>
      </p:sp>
      <p:sp>
        <p:nvSpPr>
          <p:cNvPr id="5124" name="灯片编号占位符 1">
            <a:extLst>
              <a:ext uri="{FF2B5EF4-FFF2-40B4-BE49-F238E27FC236}">
                <a16:creationId xmlns:a16="http://schemas.microsoft.com/office/drawing/2014/main" id="{BB56ADB0-04AF-4CE3-9017-F6E15E580F29}"/>
              </a:ext>
            </a:extLst>
          </p:cNvPr>
          <p:cNvSpPr txBox="1">
            <a:spLocks noGrp="1" noChangeArrowheads="1"/>
          </p:cNvSpPr>
          <p:nvPr/>
        </p:nvSpPr>
        <p:spPr bwMode="auto">
          <a:xfrm>
            <a:off x="6934200" y="64579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fld id="{7C452FCC-F500-4704-91E2-2F390F4FF943}" type="slidenum">
              <a:rPr lang="en-US" altLang="zh-CN" sz="1400"/>
              <a:pPr algn="r" eaLnBrk="1" hangingPunct="1">
                <a:buFont typeface="Arial" panose="020B0604020202020204" pitchFamily="34" charset="0"/>
                <a:buNone/>
              </a:pPr>
              <a:t>19</a:t>
            </a:fld>
            <a:endParaRPr lang="en-US" altLang="zh-CN" sz="1400"/>
          </a:p>
        </p:txBody>
      </p:sp>
      <p:cxnSp>
        <p:nvCxnSpPr>
          <p:cNvPr id="5" name="直接连接符 4">
            <a:extLst>
              <a:ext uri="{FF2B5EF4-FFF2-40B4-BE49-F238E27FC236}">
                <a16:creationId xmlns:a16="http://schemas.microsoft.com/office/drawing/2014/main" id="{58CF87F1-3AD9-4206-9BE0-16FF13E7AEFE}"/>
              </a:ext>
            </a:extLst>
          </p:cNvPr>
          <p:cNvCxnSpPr>
            <a:cxnSpLocks/>
          </p:cNvCxnSpPr>
          <p:nvPr/>
        </p:nvCxnSpPr>
        <p:spPr>
          <a:xfrm>
            <a:off x="0" y="990600"/>
            <a:ext cx="9144000" cy="0"/>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pic>
        <p:nvPicPr>
          <p:cNvPr id="6" name="图片 5">
            <a:extLst>
              <a:ext uri="{FF2B5EF4-FFF2-40B4-BE49-F238E27FC236}">
                <a16:creationId xmlns:a16="http://schemas.microsoft.com/office/drawing/2014/main" id="{05A39EF2-C128-4002-8834-888366A5B9C4}"/>
              </a:ext>
            </a:extLst>
          </p:cNvPr>
          <p:cNvPicPr>
            <a:picLocks noChangeAspect="1"/>
          </p:cNvPicPr>
          <p:nvPr/>
        </p:nvPicPr>
        <p:blipFill rotWithShape="1">
          <a:blip r:embed="rId2">
            <a:extLst>
              <a:ext uri="{28A0092B-C50C-407E-A947-70E740481C1C}">
                <a14:useLocalDpi xmlns:a14="http://schemas.microsoft.com/office/drawing/2010/main" val="0"/>
              </a:ext>
            </a:extLst>
          </a:blip>
          <a:srcRect l="5365" t="9391" r="5363" b="16667"/>
          <a:stretch/>
        </p:blipFill>
        <p:spPr>
          <a:xfrm>
            <a:off x="-19050" y="162718"/>
            <a:ext cx="1981200" cy="693738"/>
          </a:xfrm>
          <a:prstGeom prst="rect">
            <a:avLst/>
          </a:prstGeom>
        </p:spPr>
      </p:pic>
      <p:sp>
        <p:nvSpPr>
          <p:cNvPr id="8" name="文本框 7">
            <a:extLst>
              <a:ext uri="{FF2B5EF4-FFF2-40B4-BE49-F238E27FC236}">
                <a16:creationId xmlns:a16="http://schemas.microsoft.com/office/drawing/2014/main" id="{3C0C58F4-5523-46AC-90EB-FA2982FED01A}"/>
              </a:ext>
            </a:extLst>
          </p:cNvPr>
          <p:cNvSpPr txBox="1"/>
          <p:nvPr/>
        </p:nvSpPr>
        <p:spPr>
          <a:xfrm>
            <a:off x="523875" y="1492895"/>
            <a:ext cx="8096250" cy="4739759"/>
          </a:xfrm>
          <a:prstGeom prst="rect">
            <a:avLst/>
          </a:prstGeom>
          <a:noFill/>
        </p:spPr>
        <p:txBody>
          <a:bodyPr wrap="square">
            <a:spAutoFit/>
          </a:bodyPr>
          <a:lstStyle/>
          <a:p>
            <a:r>
              <a:rPr lang="en-US" altLang="zh-CN" sz="1800" b="0" dirty="0">
                <a:latin typeface="+mn-ea"/>
                <a:ea typeface="+mn-ea"/>
              </a:rPr>
              <a:t>    1</a:t>
            </a:r>
            <a:r>
              <a:rPr lang="zh-CN" altLang="en-US" sz="1800" b="0" dirty="0">
                <a:latin typeface="+mn-ea"/>
                <a:ea typeface="+mn-ea"/>
              </a:rPr>
              <a:t>）采集的数据只限于</a:t>
            </a:r>
            <a:r>
              <a:rPr lang="zh-CN" altLang="en-US" sz="1800" b="0" dirty="0">
                <a:solidFill>
                  <a:srgbClr val="FF0000"/>
                </a:solidFill>
                <a:latin typeface="+mn-ea"/>
                <a:ea typeface="+mn-ea"/>
              </a:rPr>
              <a:t>温度</a:t>
            </a:r>
            <a:r>
              <a:rPr lang="zh-CN" altLang="en-US" sz="1800" b="0" dirty="0">
                <a:latin typeface="+mn-ea"/>
                <a:ea typeface="+mn-ea"/>
              </a:rPr>
              <a:t>、</a:t>
            </a:r>
            <a:r>
              <a:rPr lang="zh-CN" altLang="en-US" sz="1800" b="0" dirty="0">
                <a:solidFill>
                  <a:srgbClr val="FF0000"/>
                </a:solidFill>
                <a:latin typeface="+mn-ea"/>
                <a:ea typeface="+mn-ea"/>
              </a:rPr>
              <a:t>湿度</a:t>
            </a:r>
            <a:r>
              <a:rPr lang="zh-CN" altLang="en-US" sz="1800" b="0" dirty="0">
                <a:latin typeface="+mn-ea"/>
                <a:ea typeface="+mn-ea"/>
              </a:rPr>
              <a:t>和</a:t>
            </a:r>
            <a:r>
              <a:rPr lang="zh-CN" altLang="en-US" sz="1800" b="0" dirty="0">
                <a:solidFill>
                  <a:srgbClr val="FF0000"/>
                </a:solidFill>
                <a:latin typeface="+mn-ea"/>
                <a:ea typeface="+mn-ea"/>
              </a:rPr>
              <a:t>甲烷浓度</a:t>
            </a:r>
            <a:r>
              <a:rPr lang="zh-CN" altLang="en-US" sz="1800" b="0" dirty="0">
                <a:latin typeface="+mn-ea"/>
                <a:ea typeface="+mn-ea"/>
              </a:rPr>
              <a:t>，还需要增加能够采集风力风向、紫外线强度和其他气体浓度等信息的传感器，进一步增加对环境信息的检测。</a:t>
            </a:r>
            <a:endParaRPr lang="en-US" altLang="zh-CN" sz="1800" b="0" dirty="0">
              <a:latin typeface="+mn-ea"/>
              <a:ea typeface="+mn-ea"/>
            </a:endParaRPr>
          </a:p>
          <a:p>
            <a:r>
              <a:rPr lang="en-US" altLang="zh-CN" sz="1800" b="0" dirty="0">
                <a:latin typeface="+mn-ea"/>
                <a:ea typeface="+mn-ea"/>
              </a:rPr>
              <a:t>    2</a:t>
            </a:r>
            <a:r>
              <a:rPr lang="zh-CN" altLang="en-US" sz="1800" b="0" dirty="0">
                <a:latin typeface="+mn-ea"/>
                <a:ea typeface="+mn-ea"/>
              </a:rPr>
              <a:t>）系统中的数据方式为</a:t>
            </a:r>
            <a:r>
              <a:rPr lang="zh-CN" altLang="en-US" sz="1800" b="0" dirty="0">
                <a:solidFill>
                  <a:srgbClr val="FF0000"/>
                </a:solidFill>
                <a:latin typeface="+mn-ea"/>
                <a:ea typeface="+mn-ea"/>
              </a:rPr>
              <a:t>透明传输</a:t>
            </a:r>
            <a:r>
              <a:rPr lang="zh-CN" altLang="en-US" sz="1800" b="0" dirty="0">
                <a:latin typeface="+mn-ea"/>
                <a:ea typeface="+mn-ea"/>
              </a:rPr>
              <a:t>，信息的安全性和可靠性都还有待提升。由于采用的是自拟的传输协议，缺少确立连接和信息校验等功能，一旦出现网络传输出现数据拥塞，极易造成中继器的死机。因此需要采用业界常用的诸如</a:t>
            </a:r>
            <a:r>
              <a:rPr lang="en-US" altLang="zh-CN" sz="1800" b="0" dirty="0">
                <a:solidFill>
                  <a:srgbClr val="FF0000"/>
                </a:solidFill>
                <a:latin typeface="+mn-ea"/>
                <a:ea typeface="+mn-ea"/>
              </a:rPr>
              <a:t>MODBUS</a:t>
            </a:r>
            <a:r>
              <a:rPr lang="zh-CN" altLang="en-US" sz="1800" b="0" dirty="0">
                <a:latin typeface="+mn-ea"/>
                <a:ea typeface="+mn-ea"/>
              </a:rPr>
              <a:t>等通信协议，增强系统组网的鲁棒性</a:t>
            </a:r>
            <a:endParaRPr lang="en-US" altLang="zh-CN" sz="1800" b="0" dirty="0">
              <a:latin typeface="+mn-ea"/>
              <a:ea typeface="+mn-ea"/>
            </a:endParaRPr>
          </a:p>
          <a:p>
            <a:r>
              <a:rPr lang="en-US" altLang="zh-CN" sz="1800" b="0" dirty="0">
                <a:latin typeface="+mn-ea"/>
                <a:ea typeface="+mn-ea"/>
              </a:rPr>
              <a:t>    3</a:t>
            </a:r>
            <a:r>
              <a:rPr lang="zh-CN" altLang="en-US" sz="1800" b="0" dirty="0">
                <a:latin typeface="+mn-ea"/>
                <a:ea typeface="+mn-ea"/>
              </a:rPr>
              <a:t>）系统中的遥测节点数量有限，同时缺少对云台的控制，实现精确定位的能力有待提高。需要进一步的完善定位算法，通过激光阵列、控制云台转速和提高六轴传感器采集频率等方式，提升系统的定位能力。</a:t>
            </a:r>
            <a:endParaRPr lang="en-US" altLang="zh-CN" sz="1800" b="0" dirty="0">
              <a:latin typeface="+mn-ea"/>
              <a:ea typeface="+mn-ea"/>
            </a:endParaRPr>
          </a:p>
          <a:p>
            <a:r>
              <a:rPr lang="en-US" altLang="zh-CN" sz="1800" b="0" dirty="0">
                <a:latin typeface="+mn-ea"/>
                <a:ea typeface="+mn-ea"/>
              </a:rPr>
              <a:t>    4</a:t>
            </a:r>
            <a:r>
              <a:rPr lang="zh-CN" altLang="en-US" sz="1800" b="0" dirty="0">
                <a:latin typeface="+mn-ea"/>
                <a:ea typeface="+mn-ea"/>
              </a:rPr>
              <a:t>）在定位功能提升的情况下，可以增加</a:t>
            </a:r>
            <a:r>
              <a:rPr lang="zh-CN" altLang="en-US" sz="1800" b="0" dirty="0">
                <a:solidFill>
                  <a:srgbClr val="FF0000"/>
                </a:solidFill>
                <a:latin typeface="+mn-ea"/>
                <a:ea typeface="+mn-ea"/>
              </a:rPr>
              <a:t>机器人或无人机</a:t>
            </a:r>
            <a:r>
              <a:rPr lang="zh-CN" altLang="en-US" sz="1800" b="0" dirty="0">
                <a:latin typeface="+mn-ea"/>
                <a:ea typeface="+mn-ea"/>
              </a:rPr>
              <a:t>等设备，增加系统的检测范围，实现大范围的泄漏检测。</a:t>
            </a:r>
            <a:endParaRPr lang="en-US" altLang="zh-CN" sz="1800" b="0" dirty="0">
              <a:latin typeface="+mn-ea"/>
              <a:ea typeface="+mn-ea"/>
            </a:endParaRPr>
          </a:p>
          <a:p>
            <a:r>
              <a:rPr lang="en-US" altLang="zh-CN" sz="1800" b="0" dirty="0">
                <a:latin typeface="+mn-ea"/>
                <a:ea typeface="+mn-ea"/>
              </a:rPr>
              <a:t>    5</a:t>
            </a:r>
            <a:r>
              <a:rPr lang="zh-CN" altLang="en-US" sz="1800" b="0" dirty="0">
                <a:latin typeface="+mn-ea"/>
                <a:ea typeface="+mn-ea"/>
              </a:rPr>
              <a:t>）监控平台采用的是</a:t>
            </a:r>
            <a:r>
              <a:rPr lang="en-US" altLang="zh-CN" sz="1800" b="0" dirty="0">
                <a:solidFill>
                  <a:srgbClr val="FF0000"/>
                </a:solidFill>
                <a:latin typeface="+mn-ea"/>
                <a:ea typeface="+mn-ea"/>
              </a:rPr>
              <a:t>C/S</a:t>
            </a:r>
            <a:r>
              <a:rPr lang="zh-CN" altLang="en-US" sz="1800" b="0" dirty="0">
                <a:solidFill>
                  <a:srgbClr val="FF0000"/>
                </a:solidFill>
                <a:latin typeface="+mn-ea"/>
                <a:ea typeface="+mn-ea"/>
              </a:rPr>
              <a:t>（客户机</a:t>
            </a:r>
            <a:r>
              <a:rPr lang="en-US" altLang="zh-CN" sz="1800" b="0" dirty="0">
                <a:solidFill>
                  <a:srgbClr val="FF0000"/>
                </a:solidFill>
                <a:latin typeface="+mn-ea"/>
                <a:ea typeface="+mn-ea"/>
              </a:rPr>
              <a:t>/</a:t>
            </a:r>
            <a:r>
              <a:rPr lang="zh-CN" altLang="en-US" sz="1800" b="0" dirty="0">
                <a:solidFill>
                  <a:srgbClr val="FF0000"/>
                </a:solidFill>
                <a:latin typeface="+mn-ea"/>
                <a:ea typeface="+mn-ea"/>
              </a:rPr>
              <a:t>服务器）</a:t>
            </a:r>
            <a:r>
              <a:rPr lang="zh-CN" altLang="en-US" sz="1800" b="0" dirty="0">
                <a:latin typeface="+mn-ea"/>
                <a:ea typeface="+mn-ea"/>
              </a:rPr>
              <a:t>方式，只有在当前设备中才能进行对系统的访问。后续可以将数据上传至云端，实现在智能设备快速查询系统运行状态。</a:t>
            </a:r>
            <a:endParaRPr lang="en-US" altLang="zh-CN" sz="1800" b="0" dirty="0">
              <a:latin typeface="+mn-ea"/>
              <a:ea typeface="+mn-ea"/>
            </a:endParaRPr>
          </a:p>
          <a:p>
            <a:endParaRPr lang="en-US" altLang="zh-CN" sz="1600" b="0" dirty="0">
              <a:latin typeface="+mn-ea"/>
              <a:ea typeface="+mn-ea"/>
            </a:endParaRPr>
          </a:p>
          <a:p>
            <a:endParaRPr lang="zh-CN" altLang="en-US" sz="1600" b="0" dirty="0">
              <a:latin typeface="+mn-ea"/>
              <a:ea typeface="+mn-ea"/>
            </a:endParaRPr>
          </a:p>
        </p:txBody>
      </p:sp>
    </p:spTree>
    <p:extLst>
      <p:ext uri="{BB962C8B-B14F-4D97-AF65-F5344CB8AC3E}">
        <p14:creationId xmlns:p14="http://schemas.microsoft.com/office/powerpoint/2010/main" val="4092590853"/>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82946" name="Group 2"/>
          <p:cNvGrpSpPr>
            <a:grpSpLocks/>
          </p:cNvGrpSpPr>
          <p:nvPr/>
        </p:nvGrpSpPr>
        <p:grpSpPr bwMode="auto">
          <a:xfrm>
            <a:off x="755650" y="1341438"/>
            <a:ext cx="7473950" cy="5084762"/>
            <a:chOff x="3243" y="0"/>
            <a:chExt cx="2304" cy="1485"/>
          </a:xfrm>
        </p:grpSpPr>
        <p:sp>
          <p:nvSpPr>
            <p:cNvPr id="82949" name="Freeform 3"/>
            <p:cNvSpPr>
              <a:spLocks/>
            </p:cNvSpPr>
            <p:nvPr/>
          </p:nvSpPr>
          <p:spPr bwMode="auto">
            <a:xfrm>
              <a:off x="3268" y="151"/>
              <a:ext cx="819" cy="1334"/>
            </a:xfrm>
            <a:custGeom>
              <a:avLst/>
              <a:gdLst>
                <a:gd name="T0" fmla="*/ 451 w 819"/>
                <a:gd name="T1" fmla="*/ 700 h 1334"/>
                <a:gd name="T2" fmla="*/ 375 w 819"/>
                <a:gd name="T3" fmla="*/ 642 h 1334"/>
                <a:gd name="T4" fmla="*/ 292 w 819"/>
                <a:gd name="T5" fmla="*/ 577 h 1334"/>
                <a:gd name="T6" fmla="*/ 261 w 819"/>
                <a:gd name="T7" fmla="*/ 527 h 1334"/>
                <a:gd name="T8" fmla="*/ 216 w 819"/>
                <a:gd name="T9" fmla="*/ 411 h 1334"/>
                <a:gd name="T10" fmla="*/ 223 w 819"/>
                <a:gd name="T11" fmla="*/ 296 h 1334"/>
                <a:gd name="T12" fmla="*/ 153 w 819"/>
                <a:gd name="T13" fmla="*/ 188 h 1334"/>
                <a:gd name="T14" fmla="*/ 64 w 819"/>
                <a:gd name="T15" fmla="*/ 195 h 1334"/>
                <a:gd name="T16" fmla="*/ 13 w 819"/>
                <a:gd name="T17" fmla="*/ 202 h 1334"/>
                <a:gd name="T18" fmla="*/ 13 w 819"/>
                <a:gd name="T19" fmla="*/ 145 h 1334"/>
                <a:gd name="T20" fmla="*/ 0 w 819"/>
                <a:gd name="T21" fmla="*/ 116 h 1334"/>
                <a:gd name="T22" fmla="*/ 26 w 819"/>
                <a:gd name="T23" fmla="*/ 80 h 1334"/>
                <a:gd name="T24" fmla="*/ 337 w 819"/>
                <a:gd name="T25" fmla="*/ 72 h 1334"/>
                <a:gd name="T26" fmla="*/ 413 w 819"/>
                <a:gd name="T27" fmla="*/ 87 h 1334"/>
                <a:gd name="T28" fmla="*/ 451 w 819"/>
                <a:gd name="T29" fmla="*/ 58 h 1334"/>
                <a:gd name="T30" fmla="*/ 470 w 819"/>
                <a:gd name="T31" fmla="*/ 80 h 1334"/>
                <a:gd name="T32" fmla="*/ 508 w 819"/>
                <a:gd name="T33" fmla="*/ 0 h 1334"/>
                <a:gd name="T34" fmla="*/ 483 w 819"/>
                <a:gd name="T35" fmla="*/ 29 h 1334"/>
                <a:gd name="T36" fmla="*/ 508 w 819"/>
                <a:gd name="T37" fmla="*/ 94 h 1334"/>
                <a:gd name="T38" fmla="*/ 515 w 819"/>
                <a:gd name="T39" fmla="*/ 101 h 1334"/>
                <a:gd name="T40" fmla="*/ 445 w 819"/>
                <a:gd name="T41" fmla="*/ 209 h 1334"/>
                <a:gd name="T42" fmla="*/ 534 w 819"/>
                <a:gd name="T43" fmla="*/ 282 h 1334"/>
                <a:gd name="T44" fmla="*/ 559 w 819"/>
                <a:gd name="T45" fmla="*/ 145 h 1334"/>
                <a:gd name="T46" fmla="*/ 616 w 819"/>
                <a:gd name="T47" fmla="*/ 202 h 1334"/>
                <a:gd name="T48" fmla="*/ 654 w 819"/>
                <a:gd name="T49" fmla="*/ 224 h 1334"/>
                <a:gd name="T50" fmla="*/ 699 w 819"/>
                <a:gd name="T51" fmla="*/ 303 h 1334"/>
                <a:gd name="T52" fmla="*/ 673 w 819"/>
                <a:gd name="T53" fmla="*/ 289 h 1334"/>
                <a:gd name="T54" fmla="*/ 597 w 819"/>
                <a:gd name="T55" fmla="*/ 318 h 1334"/>
                <a:gd name="T56" fmla="*/ 654 w 819"/>
                <a:gd name="T57" fmla="*/ 346 h 1334"/>
                <a:gd name="T58" fmla="*/ 578 w 819"/>
                <a:gd name="T59" fmla="*/ 375 h 1334"/>
                <a:gd name="T60" fmla="*/ 584 w 819"/>
                <a:gd name="T61" fmla="*/ 390 h 1334"/>
                <a:gd name="T62" fmla="*/ 534 w 819"/>
                <a:gd name="T63" fmla="*/ 440 h 1334"/>
                <a:gd name="T64" fmla="*/ 502 w 819"/>
                <a:gd name="T65" fmla="*/ 548 h 1334"/>
                <a:gd name="T66" fmla="*/ 432 w 819"/>
                <a:gd name="T67" fmla="*/ 505 h 1334"/>
                <a:gd name="T68" fmla="*/ 375 w 819"/>
                <a:gd name="T69" fmla="*/ 577 h 1334"/>
                <a:gd name="T70" fmla="*/ 457 w 819"/>
                <a:gd name="T71" fmla="*/ 599 h 1334"/>
                <a:gd name="T72" fmla="*/ 489 w 819"/>
                <a:gd name="T73" fmla="*/ 700 h 1334"/>
                <a:gd name="T74" fmla="*/ 559 w 819"/>
                <a:gd name="T75" fmla="*/ 671 h 1334"/>
                <a:gd name="T76" fmla="*/ 699 w 819"/>
                <a:gd name="T77" fmla="*/ 793 h 1334"/>
                <a:gd name="T78" fmla="*/ 787 w 819"/>
                <a:gd name="T79" fmla="*/ 909 h 1334"/>
                <a:gd name="T80" fmla="*/ 718 w 819"/>
                <a:gd name="T81" fmla="*/ 1031 h 1334"/>
                <a:gd name="T82" fmla="*/ 673 w 819"/>
                <a:gd name="T83" fmla="*/ 1125 h 1334"/>
                <a:gd name="T84" fmla="*/ 622 w 819"/>
                <a:gd name="T85" fmla="*/ 1183 h 1334"/>
                <a:gd name="T86" fmla="*/ 622 w 819"/>
                <a:gd name="T87" fmla="*/ 1247 h 1334"/>
                <a:gd name="T88" fmla="*/ 641 w 819"/>
                <a:gd name="T89" fmla="*/ 1327 h 1334"/>
                <a:gd name="T90" fmla="*/ 572 w 819"/>
                <a:gd name="T91" fmla="*/ 1298 h 1334"/>
                <a:gd name="T92" fmla="*/ 565 w 819"/>
                <a:gd name="T93" fmla="*/ 1183 h 1334"/>
                <a:gd name="T94" fmla="*/ 527 w 819"/>
                <a:gd name="T95" fmla="*/ 923 h 1334"/>
                <a:gd name="T96" fmla="*/ 489 w 819"/>
                <a:gd name="T97" fmla="*/ 822 h 1334"/>
                <a:gd name="T98" fmla="*/ 502 w 819"/>
                <a:gd name="T99" fmla="*/ 707 h 133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819"/>
                <a:gd name="T151" fmla="*/ 0 h 1334"/>
                <a:gd name="T152" fmla="*/ 819 w 819"/>
                <a:gd name="T153" fmla="*/ 1334 h 1334"/>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819" h="1334">
                  <a:moveTo>
                    <a:pt x="502" y="707"/>
                  </a:moveTo>
                  <a:lnTo>
                    <a:pt x="489" y="721"/>
                  </a:lnTo>
                  <a:lnTo>
                    <a:pt x="470" y="707"/>
                  </a:lnTo>
                  <a:lnTo>
                    <a:pt x="451" y="700"/>
                  </a:lnTo>
                  <a:lnTo>
                    <a:pt x="445" y="671"/>
                  </a:lnTo>
                  <a:lnTo>
                    <a:pt x="413" y="656"/>
                  </a:lnTo>
                  <a:lnTo>
                    <a:pt x="400" y="642"/>
                  </a:lnTo>
                  <a:lnTo>
                    <a:pt x="375" y="642"/>
                  </a:lnTo>
                  <a:lnTo>
                    <a:pt x="318" y="606"/>
                  </a:lnTo>
                  <a:lnTo>
                    <a:pt x="311" y="570"/>
                  </a:lnTo>
                  <a:lnTo>
                    <a:pt x="267" y="491"/>
                  </a:lnTo>
                  <a:lnTo>
                    <a:pt x="292" y="577"/>
                  </a:lnTo>
                  <a:lnTo>
                    <a:pt x="280" y="563"/>
                  </a:lnTo>
                  <a:lnTo>
                    <a:pt x="280" y="548"/>
                  </a:lnTo>
                  <a:lnTo>
                    <a:pt x="261" y="527"/>
                  </a:lnTo>
                  <a:lnTo>
                    <a:pt x="267" y="527"/>
                  </a:lnTo>
                  <a:lnTo>
                    <a:pt x="248" y="483"/>
                  </a:lnTo>
                  <a:lnTo>
                    <a:pt x="235" y="469"/>
                  </a:lnTo>
                  <a:lnTo>
                    <a:pt x="216" y="411"/>
                  </a:lnTo>
                  <a:lnTo>
                    <a:pt x="229" y="325"/>
                  </a:lnTo>
                  <a:lnTo>
                    <a:pt x="242" y="332"/>
                  </a:lnTo>
                  <a:lnTo>
                    <a:pt x="242" y="318"/>
                  </a:lnTo>
                  <a:lnTo>
                    <a:pt x="223" y="296"/>
                  </a:lnTo>
                  <a:lnTo>
                    <a:pt x="216" y="260"/>
                  </a:lnTo>
                  <a:lnTo>
                    <a:pt x="210" y="260"/>
                  </a:lnTo>
                  <a:lnTo>
                    <a:pt x="197" y="238"/>
                  </a:lnTo>
                  <a:lnTo>
                    <a:pt x="153" y="188"/>
                  </a:lnTo>
                  <a:lnTo>
                    <a:pt x="108" y="173"/>
                  </a:lnTo>
                  <a:lnTo>
                    <a:pt x="83" y="195"/>
                  </a:lnTo>
                  <a:lnTo>
                    <a:pt x="96" y="166"/>
                  </a:lnTo>
                  <a:lnTo>
                    <a:pt x="64" y="195"/>
                  </a:lnTo>
                  <a:lnTo>
                    <a:pt x="64" y="202"/>
                  </a:lnTo>
                  <a:lnTo>
                    <a:pt x="13" y="238"/>
                  </a:lnTo>
                  <a:lnTo>
                    <a:pt x="32" y="209"/>
                  </a:lnTo>
                  <a:lnTo>
                    <a:pt x="13" y="202"/>
                  </a:lnTo>
                  <a:lnTo>
                    <a:pt x="19" y="188"/>
                  </a:lnTo>
                  <a:lnTo>
                    <a:pt x="0" y="181"/>
                  </a:lnTo>
                  <a:lnTo>
                    <a:pt x="0" y="159"/>
                  </a:lnTo>
                  <a:lnTo>
                    <a:pt x="13" y="145"/>
                  </a:lnTo>
                  <a:lnTo>
                    <a:pt x="32" y="145"/>
                  </a:lnTo>
                  <a:lnTo>
                    <a:pt x="38" y="130"/>
                  </a:lnTo>
                  <a:lnTo>
                    <a:pt x="13" y="130"/>
                  </a:lnTo>
                  <a:lnTo>
                    <a:pt x="0" y="116"/>
                  </a:lnTo>
                  <a:lnTo>
                    <a:pt x="26" y="101"/>
                  </a:lnTo>
                  <a:lnTo>
                    <a:pt x="51" y="101"/>
                  </a:lnTo>
                  <a:lnTo>
                    <a:pt x="32" y="101"/>
                  </a:lnTo>
                  <a:lnTo>
                    <a:pt x="26" y="80"/>
                  </a:lnTo>
                  <a:lnTo>
                    <a:pt x="102" y="44"/>
                  </a:lnTo>
                  <a:lnTo>
                    <a:pt x="216" y="72"/>
                  </a:lnTo>
                  <a:lnTo>
                    <a:pt x="267" y="51"/>
                  </a:lnTo>
                  <a:lnTo>
                    <a:pt x="337" y="72"/>
                  </a:lnTo>
                  <a:lnTo>
                    <a:pt x="337" y="80"/>
                  </a:lnTo>
                  <a:lnTo>
                    <a:pt x="381" y="94"/>
                  </a:lnTo>
                  <a:lnTo>
                    <a:pt x="394" y="72"/>
                  </a:lnTo>
                  <a:lnTo>
                    <a:pt x="413" y="87"/>
                  </a:lnTo>
                  <a:lnTo>
                    <a:pt x="445" y="87"/>
                  </a:lnTo>
                  <a:lnTo>
                    <a:pt x="445" y="80"/>
                  </a:lnTo>
                  <a:lnTo>
                    <a:pt x="438" y="72"/>
                  </a:lnTo>
                  <a:lnTo>
                    <a:pt x="451" y="58"/>
                  </a:lnTo>
                  <a:lnTo>
                    <a:pt x="457" y="72"/>
                  </a:lnTo>
                  <a:lnTo>
                    <a:pt x="451" y="80"/>
                  </a:lnTo>
                  <a:lnTo>
                    <a:pt x="457" y="94"/>
                  </a:lnTo>
                  <a:lnTo>
                    <a:pt x="470" y="80"/>
                  </a:lnTo>
                  <a:lnTo>
                    <a:pt x="464" y="51"/>
                  </a:lnTo>
                  <a:lnTo>
                    <a:pt x="470" y="29"/>
                  </a:lnTo>
                  <a:lnTo>
                    <a:pt x="476" y="0"/>
                  </a:lnTo>
                  <a:lnTo>
                    <a:pt x="508" y="0"/>
                  </a:lnTo>
                  <a:lnTo>
                    <a:pt x="495" y="15"/>
                  </a:lnTo>
                  <a:lnTo>
                    <a:pt x="483" y="15"/>
                  </a:lnTo>
                  <a:lnTo>
                    <a:pt x="483" y="22"/>
                  </a:lnTo>
                  <a:lnTo>
                    <a:pt x="483" y="29"/>
                  </a:lnTo>
                  <a:lnTo>
                    <a:pt x="483" y="58"/>
                  </a:lnTo>
                  <a:lnTo>
                    <a:pt x="495" y="80"/>
                  </a:lnTo>
                  <a:lnTo>
                    <a:pt x="502" y="65"/>
                  </a:lnTo>
                  <a:lnTo>
                    <a:pt x="508" y="94"/>
                  </a:lnTo>
                  <a:lnTo>
                    <a:pt x="527" y="58"/>
                  </a:lnTo>
                  <a:lnTo>
                    <a:pt x="553" y="72"/>
                  </a:lnTo>
                  <a:lnTo>
                    <a:pt x="540" y="94"/>
                  </a:lnTo>
                  <a:lnTo>
                    <a:pt x="515" y="101"/>
                  </a:lnTo>
                  <a:lnTo>
                    <a:pt x="495" y="123"/>
                  </a:lnTo>
                  <a:lnTo>
                    <a:pt x="476" y="130"/>
                  </a:lnTo>
                  <a:lnTo>
                    <a:pt x="451" y="166"/>
                  </a:lnTo>
                  <a:lnTo>
                    <a:pt x="445" y="209"/>
                  </a:lnTo>
                  <a:lnTo>
                    <a:pt x="508" y="238"/>
                  </a:lnTo>
                  <a:lnTo>
                    <a:pt x="515" y="238"/>
                  </a:lnTo>
                  <a:lnTo>
                    <a:pt x="515" y="267"/>
                  </a:lnTo>
                  <a:lnTo>
                    <a:pt x="534" y="282"/>
                  </a:lnTo>
                  <a:lnTo>
                    <a:pt x="534" y="245"/>
                  </a:lnTo>
                  <a:lnTo>
                    <a:pt x="559" y="209"/>
                  </a:lnTo>
                  <a:lnTo>
                    <a:pt x="546" y="195"/>
                  </a:lnTo>
                  <a:lnTo>
                    <a:pt x="559" y="145"/>
                  </a:lnTo>
                  <a:lnTo>
                    <a:pt x="584" y="145"/>
                  </a:lnTo>
                  <a:lnTo>
                    <a:pt x="610" y="166"/>
                  </a:lnTo>
                  <a:lnTo>
                    <a:pt x="603" y="195"/>
                  </a:lnTo>
                  <a:lnTo>
                    <a:pt x="616" y="202"/>
                  </a:lnTo>
                  <a:lnTo>
                    <a:pt x="635" y="195"/>
                  </a:lnTo>
                  <a:lnTo>
                    <a:pt x="635" y="173"/>
                  </a:lnTo>
                  <a:lnTo>
                    <a:pt x="654" y="209"/>
                  </a:lnTo>
                  <a:lnTo>
                    <a:pt x="654" y="224"/>
                  </a:lnTo>
                  <a:lnTo>
                    <a:pt x="686" y="245"/>
                  </a:lnTo>
                  <a:lnTo>
                    <a:pt x="686" y="267"/>
                  </a:lnTo>
                  <a:lnTo>
                    <a:pt x="680" y="296"/>
                  </a:lnTo>
                  <a:lnTo>
                    <a:pt x="699" y="303"/>
                  </a:lnTo>
                  <a:lnTo>
                    <a:pt x="699" y="332"/>
                  </a:lnTo>
                  <a:lnTo>
                    <a:pt x="686" y="332"/>
                  </a:lnTo>
                  <a:lnTo>
                    <a:pt x="660" y="325"/>
                  </a:lnTo>
                  <a:lnTo>
                    <a:pt x="673" y="289"/>
                  </a:lnTo>
                  <a:lnTo>
                    <a:pt x="654" y="296"/>
                  </a:lnTo>
                  <a:lnTo>
                    <a:pt x="629" y="289"/>
                  </a:lnTo>
                  <a:lnTo>
                    <a:pt x="603" y="296"/>
                  </a:lnTo>
                  <a:lnTo>
                    <a:pt x="597" y="318"/>
                  </a:lnTo>
                  <a:lnTo>
                    <a:pt x="635" y="310"/>
                  </a:lnTo>
                  <a:lnTo>
                    <a:pt x="622" y="339"/>
                  </a:lnTo>
                  <a:lnTo>
                    <a:pt x="654" y="332"/>
                  </a:lnTo>
                  <a:lnTo>
                    <a:pt x="654" y="346"/>
                  </a:lnTo>
                  <a:lnTo>
                    <a:pt x="616" y="368"/>
                  </a:lnTo>
                  <a:lnTo>
                    <a:pt x="629" y="354"/>
                  </a:lnTo>
                  <a:lnTo>
                    <a:pt x="616" y="354"/>
                  </a:lnTo>
                  <a:lnTo>
                    <a:pt x="578" y="375"/>
                  </a:lnTo>
                  <a:lnTo>
                    <a:pt x="572" y="390"/>
                  </a:lnTo>
                  <a:lnTo>
                    <a:pt x="584" y="390"/>
                  </a:lnTo>
                  <a:lnTo>
                    <a:pt x="584" y="382"/>
                  </a:lnTo>
                  <a:lnTo>
                    <a:pt x="584" y="390"/>
                  </a:lnTo>
                  <a:lnTo>
                    <a:pt x="584" y="397"/>
                  </a:lnTo>
                  <a:lnTo>
                    <a:pt x="572" y="397"/>
                  </a:lnTo>
                  <a:lnTo>
                    <a:pt x="553" y="404"/>
                  </a:lnTo>
                  <a:lnTo>
                    <a:pt x="534" y="440"/>
                  </a:lnTo>
                  <a:lnTo>
                    <a:pt x="540" y="455"/>
                  </a:lnTo>
                  <a:lnTo>
                    <a:pt x="521" y="476"/>
                  </a:lnTo>
                  <a:lnTo>
                    <a:pt x="495" y="505"/>
                  </a:lnTo>
                  <a:lnTo>
                    <a:pt x="502" y="548"/>
                  </a:lnTo>
                  <a:lnTo>
                    <a:pt x="495" y="563"/>
                  </a:lnTo>
                  <a:lnTo>
                    <a:pt x="483" y="534"/>
                  </a:lnTo>
                  <a:lnTo>
                    <a:pt x="476" y="512"/>
                  </a:lnTo>
                  <a:lnTo>
                    <a:pt x="432" y="505"/>
                  </a:lnTo>
                  <a:lnTo>
                    <a:pt x="438" y="519"/>
                  </a:lnTo>
                  <a:lnTo>
                    <a:pt x="400" y="519"/>
                  </a:lnTo>
                  <a:lnTo>
                    <a:pt x="381" y="534"/>
                  </a:lnTo>
                  <a:lnTo>
                    <a:pt x="375" y="577"/>
                  </a:lnTo>
                  <a:lnTo>
                    <a:pt x="381" y="606"/>
                  </a:lnTo>
                  <a:lnTo>
                    <a:pt x="419" y="613"/>
                  </a:lnTo>
                  <a:lnTo>
                    <a:pt x="426" y="599"/>
                  </a:lnTo>
                  <a:lnTo>
                    <a:pt x="457" y="599"/>
                  </a:lnTo>
                  <a:lnTo>
                    <a:pt x="438" y="642"/>
                  </a:lnTo>
                  <a:lnTo>
                    <a:pt x="470" y="642"/>
                  </a:lnTo>
                  <a:lnTo>
                    <a:pt x="470" y="678"/>
                  </a:lnTo>
                  <a:lnTo>
                    <a:pt x="489" y="700"/>
                  </a:lnTo>
                  <a:lnTo>
                    <a:pt x="502" y="700"/>
                  </a:lnTo>
                  <a:lnTo>
                    <a:pt x="515" y="707"/>
                  </a:lnTo>
                  <a:lnTo>
                    <a:pt x="527" y="685"/>
                  </a:lnTo>
                  <a:lnTo>
                    <a:pt x="559" y="671"/>
                  </a:lnTo>
                  <a:lnTo>
                    <a:pt x="616" y="685"/>
                  </a:lnTo>
                  <a:lnTo>
                    <a:pt x="686" y="736"/>
                  </a:lnTo>
                  <a:lnTo>
                    <a:pt x="705" y="772"/>
                  </a:lnTo>
                  <a:lnTo>
                    <a:pt x="699" y="793"/>
                  </a:lnTo>
                  <a:lnTo>
                    <a:pt x="711" y="786"/>
                  </a:lnTo>
                  <a:lnTo>
                    <a:pt x="806" y="829"/>
                  </a:lnTo>
                  <a:lnTo>
                    <a:pt x="819" y="858"/>
                  </a:lnTo>
                  <a:lnTo>
                    <a:pt x="787" y="909"/>
                  </a:lnTo>
                  <a:lnTo>
                    <a:pt x="781" y="974"/>
                  </a:lnTo>
                  <a:lnTo>
                    <a:pt x="762" y="1002"/>
                  </a:lnTo>
                  <a:lnTo>
                    <a:pt x="749" y="1002"/>
                  </a:lnTo>
                  <a:lnTo>
                    <a:pt x="718" y="1031"/>
                  </a:lnTo>
                  <a:lnTo>
                    <a:pt x="718" y="1053"/>
                  </a:lnTo>
                  <a:lnTo>
                    <a:pt x="686" y="1118"/>
                  </a:lnTo>
                  <a:lnTo>
                    <a:pt x="660" y="1103"/>
                  </a:lnTo>
                  <a:lnTo>
                    <a:pt x="673" y="1125"/>
                  </a:lnTo>
                  <a:lnTo>
                    <a:pt x="660" y="1154"/>
                  </a:lnTo>
                  <a:lnTo>
                    <a:pt x="641" y="1154"/>
                  </a:lnTo>
                  <a:lnTo>
                    <a:pt x="635" y="1168"/>
                  </a:lnTo>
                  <a:lnTo>
                    <a:pt x="622" y="1183"/>
                  </a:lnTo>
                  <a:lnTo>
                    <a:pt x="629" y="1190"/>
                  </a:lnTo>
                  <a:lnTo>
                    <a:pt x="622" y="1211"/>
                  </a:lnTo>
                  <a:lnTo>
                    <a:pt x="610" y="1219"/>
                  </a:lnTo>
                  <a:lnTo>
                    <a:pt x="622" y="1247"/>
                  </a:lnTo>
                  <a:lnTo>
                    <a:pt x="603" y="1284"/>
                  </a:lnTo>
                  <a:lnTo>
                    <a:pt x="622" y="1320"/>
                  </a:lnTo>
                  <a:lnTo>
                    <a:pt x="629" y="1327"/>
                  </a:lnTo>
                  <a:lnTo>
                    <a:pt x="641" y="1327"/>
                  </a:lnTo>
                  <a:lnTo>
                    <a:pt x="622" y="1334"/>
                  </a:lnTo>
                  <a:lnTo>
                    <a:pt x="603" y="1334"/>
                  </a:lnTo>
                  <a:lnTo>
                    <a:pt x="584" y="1320"/>
                  </a:lnTo>
                  <a:lnTo>
                    <a:pt x="572" y="1298"/>
                  </a:lnTo>
                  <a:lnTo>
                    <a:pt x="559" y="1233"/>
                  </a:lnTo>
                  <a:lnTo>
                    <a:pt x="565" y="1226"/>
                  </a:lnTo>
                  <a:lnTo>
                    <a:pt x="572" y="1190"/>
                  </a:lnTo>
                  <a:lnTo>
                    <a:pt x="565" y="1183"/>
                  </a:lnTo>
                  <a:lnTo>
                    <a:pt x="559" y="1139"/>
                  </a:lnTo>
                  <a:lnTo>
                    <a:pt x="572" y="1118"/>
                  </a:lnTo>
                  <a:lnTo>
                    <a:pt x="565" y="959"/>
                  </a:lnTo>
                  <a:lnTo>
                    <a:pt x="527" y="923"/>
                  </a:lnTo>
                  <a:lnTo>
                    <a:pt x="521" y="901"/>
                  </a:lnTo>
                  <a:lnTo>
                    <a:pt x="489" y="858"/>
                  </a:lnTo>
                  <a:lnTo>
                    <a:pt x="483" y="829"/>
                  </a:lnTo>
                  <a:lnTo>
                    <a:pt x="489" y="822"/>
                  </a:lnTo>
                  <a:lnTo>
                    <a:pt x="489" y="793"/>
                  </a:lnTo>
                  <a:lnTo>
                    <a:pt x="508" y="757"/>
                  </a:lnTo>
                  <a:lnTo>
                    <a:pt x="508" y="721"/>
                  </a:lnTo>
                  <a:lnTo>
                    <a:pt x="502" y="707"/>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50" name="Freeform 4"/>
            <p:cNvSpPr>
              <a:spLocks/>
            </p:cNvSpPr>
            <p:nvPr/>
          </p:nvSpPr>
          <p:spPr bwMode="auto">
            <a:xfrm>
              <a:off x="3268" y="151"/>
              <a:ext cx="819" cy="1334"/>
            </a:xfrm>
            <a:custGeom>
              <a:avLst/>
              <a:gdLst>
                <a:gd name="T0" fmla="*/ 451 w 819"/>
                <a:gd name="T1" fmla="*/ 700 h 1334"/>
                <a:gd name="T2" fmla="*/ 375 w 819"/>
                <a:gd name="T3" fmla="*/ 642 h 1334"/>
                <a:gd name="T4" fmla="*/ 292 w 819"/>
                <a:gd name="T5" fmla="*/ 577 h 1334"/>
                <a:gd name="T6" fmla="*/ 267 w 819"/>
                <a:gd name="T7" fmla="*/ 527 h 1334"/>
                <a:gd name="T8" fmla="*/ 229 w 819"/>
                <a:gd name="T9" fmla="*/ 325 h 1334"/>
                <a:gd name="T10" fmla="*/ 216 w 819"/>
                <a:gd name="T11" fmla="*/ 260 h 1334"/>
                <a:gd name="T12" fmla="*/ 108 w 819"/>
                <a:gd name="T13" fmla="*/ 173 h 1334"/>
                <a:gd name="T14" fmla="*/ 64 w 819"/>
                <a:gd name="T15" fmla="*/ 202 h 1334"/>
                <a:gd name="T16" fmla="*/ 19 w 819"/>
                <a:gd name="T17" fmla="*/ 188 h 1334"/>
                <a:gd name="T18" fmla="*/ 32 w 819"/>
                <a:gd name="T19" fmla="*/ 145 h 1334"/>
                <a:gd name="T20" fmla="*/ 26 w 819"/>
                <a:gd name="T21" fmla="*/ 101 h 1334"/>
                <a:gd name="T22" fmla="*/ 102 w 819"/>
                <a:gd name="T23" fmla="*/ 44 h 1334"/>
                <a:gd name="T24" fmla="*/ 337 w 819"/>
                <a:gd name="T25" fmla="*/ 80 h 1334"/>
                <a:gd name="T26" fmla="*/ 445 w 819"/>
                <a:gd name="T27" fmla="*/ 87 h 1334"/>
                <a:gd name="T28" fmla="*/ 457 w 819"/>
                <a:gd name="T29" fmla="*/ 72 h 1334"/>
                <a:gd name="T30" fmla="*/ 464 w 819"/>
                <a:gd name="T31" fmla="*/ 51 h 1334"/>
                <a:gd name="T32" fmla="*/ 495 w 819"/>
                <a:gd name="T33" fmla="*/ 15 h 1334"/>
                <a:gd name="T34" fmla="*/ 483 w 819"/>
                <a:gd name="T35" fmla="*/ 58 h 1334"/>
                <a:gd name="T36" fmla="*/ 527 w 819"/>
                <a:gd name="T37" fmla="*/ 58 h 1334"/>
                <a:gd name="T38" fmla="*/ 495 w 819"/>
                <a:gd name="T39" fmla="*/ 123 h 1334"/>
                <a:gd name="T40" fmla="*/ 508 w 819"/>
                <a:gd name="T41" fmla="*/ 238 h 1334"/>
                <a:gd name="T42" fmla="*/ 534 w 819"/>
                <a:gd name="T43" fmla="*/ 245 h 1334"/>
                <a:gd name="T44" fmla="*/ 584 w 819"/>
                <a:gd name="T45" fmla="*/ 145 h 1334"/>
                <a:gd name="T46" fmla="*/ 635 w 819"/>
                <a:gd name="T47" fmla="*/ 195 h 1334"/>
                <a:gd name="T48" fmla="*/ 686 w 819"/>
                <a:gd name="T49" fmla="*/ 245 h 1334"/>
                <a:gd name="T50" fmla="*/ 699 w 819"/>
                <a:gd name="T51" fmla="*/ 332 h 1334"/>
                <a:gd name="T52" fmla="*/ 654 w 819"/>
                <a:gd name="T53" fmla="*/ 296 h 1334"/>
                <a:gd name="T54" fmla="*/ 635 w 819"/>
                <a:gd name="T55" fmla="*/ 310 h 1334"/>
                <a:gd name="T56" fmla="*/ 616 w 819"/>
                <a:gd name="T57" fmla="*/ 368 h 1334"/>
                <a:gd name="T58" fmla="*/ 572 w 819"/>
                <a:gd name="T59" fmla="*/ 390 h 1334"/>
                <a:gd name="T60" fmla="*/ 584 w 819"/>
                <a:gd name="T61" fmla="*/ 397 h 1334"/>
                <a:gd name="T62" fmla="*/ 540 w 819"/>
                <a:gd name="T63" fmla="*/ 455 h 1334"/>
                <a:gd name="T64" fmla="*/ 495 w 819"/>
                <a:gd name="T65" fmla="*/ 563 h 1334"/>
                <a:gd name="T66" fmla="*/ 438 w 819"/>
                <a:gd name="T67" fmla="*/ 519 h 1334"/>
                <a:gd name="T68" fmla="*/ 381 w 819"/>
                <a:gd name="T69" fmla="*/ 606 h 1334"/>
                <a:gd name="T70" fmla="*/ 438 w 819"/>
                <a:gd name="T71" fmla="*/ 642 h 1334"/>
                <a:gd name="T72" fmla="*/ 502 w 819"/>
                <a:gd name="T73" fmla="*/ 700 h 1334"/>
                <a:gd name="T74" fmla="*/ 616 w 819"/>
                <a:gd name="T75" fmla="*/ 685 h 1334"/>
                <a:gd name="T76" fmla="*/ 711 w 819"/>
                <a:gd name="T77" fmla="*/ 786 h 1334"/>
                <a:gd name="T78" fmla="*/ 781 w 819"/>
                <a:gd name="T79" fmla="*/ 974 h 1334"/>
                <a:gd name="T80" fmla="*/ 718 w 819"/>
                <a:gd name="T81" fmla="*/ 1053 h 1334"/>
                <a:gd name="T82" fmla="*/ 660 w 819"/>
                <a:gd name="T83" fmla="*/ 1154 h 1334"/>
                <a:gd name="T84" fmla="*/ 629 w 819"/>
                <a:gd name="T85" fmla="*/ 1190 h 1334"/>
                <a:gd name="T86" fmla="*/ 603 w 819"/>
                <a:gd name="T87" fmla="*/ 1284 h 1334"/>
                <a:gd name="T88" fmla="*/ 622 w 819"/>
                <a:gd name="T89" fmla="*/ 1334 h 1334"/>
                <a:gd name="T90" fmla="*/ 559 w 819"/>
                <a:gd name="T91" fmla="*/ 1233 h 1334"/>
                <a:gd name="T92" fmla="*/ 559 w 819"/>
                <a:gd name="T93" fmla="*/ 1139 h 1334"/>
                <a:gd name="T94" fmla="*/ 521 w 819"/>
                <a:gd name="T95" fmla="*/ 901 h 1334"/>
                <a:gd name="T96" fmla="*/ 489 w 819"/>
                <a:gd name="T97" fmla="*/ 793 h 133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819"/>
                <a:gd name="T148" fmla="*/ 0 h 1334"/>
                <a:gd name="T149" fmla="*/ 819 w 819"/>
                <a:gd name="T150" fmla="*/ 1334 h 1334"/>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819" h="1334">
                  <a:moveTo>
                    <a:pt x="502" y="707"/>
                  </a:moveTo>
                  <a:lnTo>
                    <a:pt x="489" y="721"/>
                  </a:lnTo>
                  <a:lnTo>
                    <a:pt x="470" y="707"/>
                  </a:lnTo>
                  <a:lnTo>
                    <a:pt x="451" y="700"/>
                  </a:lnTo>
                  <a:lnTo>
                    <a:pt x="445" y="671"/>
                  </a:lnTo>
                  <a:lnTo>
                    <a:pt x="413" y="656"/>
                  </a:lnTo>
                  <a:lnTo>
                    <a:pt x="400" y="642"/>
                  </a:lnTo>
                  <a:lnTo>
                    <a:pt x="375" y="642"/>
                  </a:lnTo>
                  <a:lnTo>
                    <a:pt x="318" y="606"/>
                  </a:lnTo>
                  <a:lnTo>
                    <a:pt x="311" y="570"/>
                  </a:lnTo>
                  <a:lnTo>
                    <a:pt x="267" y="491"/>
                  </a:lnTo>
                  <a:lnTo>
                    <a:pt x="292" y="577"/>
                  </a:lnTo>
                  <a:lnTo>
                    <a:pt x="280" y="563"/>
                  </a:lnTo>
                  <a:lnTo>
                    <a:pt x="280" y="548"/>
                  </a:lnTo>
                  <a:lnTo>
                    <a:pt x="261" y="527"/>
                  </a:lnTo>
                  <a:lnTo>
                    <a:pt x="267" y="527"/>
                  </a:lnTo>
                  <a:lnTo>
                    <a:pt x="248" y="483"/>
                  </a:lnTo>
                  <a:lnTo>
                    <a:pt x="235" y="469"/>
                  </a:lnTo>
                  <a:lnTo>
                    <a:pt x="216" y="411"/>
                  </a:lnTo>
                  <a:lnTo>
                    <a:pt x="229" y="325"/>
                  </a:lnTo>
                  <a:lnTo>
                    <a:pt x="242" y="332"/>
                  </a:lnTo>
                  <a:lnTo>
                    <a:pt x="242" y="318"/>
                  </a:lnTo>
                  <a:lnTo>
                    <a:pt x="223" y="296"/>
                  </a:lnTo>
                  <a:lnTo>
                    <a:pt x="216" y="260"/>
                  </a:lnTo>
                  <a:lnTo>
                    <a:pt x="210" y="260"/>
                  </a:lnTo>
                  <a:lnTo>
                    <a:pt x="197" y="238"/>
                  </a:lnTo>
                  <a:lnTo>
                    <a:pt x="153" y="188"/>
                  </a:lnTo>
                  <a:lnTo>
                    <a:pt x="108" y="173"/>
                  </a:lnTo>
                  <a:lnTo>
                    <a:pt x="83" y="195"/>
                  </a:lnTo>
                  <a:lnTo>
                    <a:pt x="96" y="166"/>
                  </a:lnTo>
                  <a:lnTo>
                    <a:pt x="64" y="195"/>
                  </a:lnTo>
                  <a:lnTo>
                    <a:pt x="64" y="202"/>
                  </a:lnTo>
                  <a:lnTo>
                    <a:pt x="13" y="238"/>
                  </a:lnTo>
                  <a:lnTo>
                    <a:pt x="32" y="209"/>
                  </a:lnTo>
                  <a:lnTo>
                    <a:pt x="13" y="202"/>
                  </a:lnTo>
                  <a:lnTo>
                    <a:pt x="19" y="188"/>
                  </a:lnTo>
                  <a:lnTo>
                    <a:pt x="0" y="181"/>
                  </a:lnTo>
                  <a:lnTo>
                    <a:pt x="0" y="159"/>
                  </a:lnTo>
                  <a:lnTo>
                    <a:pt x="13" y="145"/>
                  </a:lnTo>
                  <a:lnTo>
                    <a:pt x="32" y="145"/>
                  </a:lnTo>
                  <a:lnTo>
                    <a:pt x="38" y="130"/>
                  </a:lnTo>
                  <a:lnTo>
                    <a:pt x="13" y="130"/>
                  </a:lnTo>
                  <a:lnTo>
                    <a:pt x="0" y="116"/>
                  </a:lnTo>
                  <a:lnTo>
                    <a:pt x="26" y="101"/>
                  </a:lnTo>
                  <a:lnTo>
                    <a:pt x="51" y="101"/>
                  </a:lnTo>
                  <a:lnTo>
                    <a:pt x="32" y="101"/>
                  </a:lnTo>
                  <a:lnTo>
                    <a:pt x="26" y="80"/>
                  </a:lnTo>
                  <a:lnTo>
                    <a:pt x="102" y="44"/>
                  </a:lnTo>
                  <a:lnTo>
                    <a:pt x="216" y="72"/>
                  </a:lnTo>
                  <a:lnTo>
                    <a:pt x="267" y="51"/>
                  </a:lnTo>
                  <a:lnTo>
                    <a:pt x="337" y="72"/>
                  </a:lnTo>
                  <a:lnTo>
                    <a:pt x="337" y="80"/>
                  </a:lnTo>
                  <a:lnTo>
                    <a:pt x="381" y="94"/>
                  </a:lnTo>
                  <a:lnTo>
                    <a:pt x="394" y="72"/>
                  </a:lnTo>
                  <a:lnTo>
                    <a:pt x="413" y="87"/>
                  </a:lnTo>
                  <a:lnTo>
                    <a:pt x="445" y="87"/>
                  </a:lnTo>
                  <a:lnTo>
                    <a:pt x="445" y="80"/>
                  </a:lnTo>
                  <a:lnTo>
                    <a:pt x="438" y="72"/>
                  </a:lnTo>
                  <a:lnTo>
                    <a:pt x="451" y="58"/>
                  </a:lnTo>
                  <a:lnTo>
                    <a:pt x="457" y="72"/>
                  </a:lnTo>
                  <a:lnTo>
                    <a:pt x="451" y="80"/>
                  </a:lnTo>
                  <a:lnTo>
                    <a:pt x="457" y="94"/>
                  </a:lnTo>
                  <a:lnTo>
                    <a:pt x="470" y="80"/>
                  </a:lnTo>
                  <a:lnTo>
                    <a:pt x="464" y="51"/>
                  </a:lnTo>
                  <a:lnTo>
                    <a:pt x="470" y="29"/>
                  </a:lnTo>
                  <a:lnTo>
                    <a:pt x="476" y="0"/>
                  </a:lnTo>
                  <a:lnTo>
                    <a:pt x="508" y="0"/>
                  </a:lnTo>
                  <a:lnTo>
                    <a:pt x="495" y="15"/>
                  </a:lnTo>
                  <a:lnTo>
                    <a:pt x="483" y="15"/>
                  </a:lnTo>
                  <a:lnTo>
                    <a:pt x="483" y="22"/>
                  </a:lnTo>
                  <a:lnTo>
                    <a:pt x="483" y="29"/>
                  </a:lnTo>
                  <a:lnTo>
                    <a:pt x="483" y="58"/>
                  </a:lnTo>
                  <a:lnTo>
                    <a:pt x="495" y="80"/>
                  </a:lnTo>
                  <a:lnTo>
                    <a:pt x="502" y="65"/>
                  </a:lnTo>
                  <a:lnTo>
                    <a:pt x="508" y="94"/>
                  </a:lnTo>
                  <a:lnTo>
                    <a:pt x="527" y="58"/>
                  </a:lnTo>
                  <a:lnTo>
                    <a:pt x="553" y="72"/>
                  </a:lnTo>
                  <a:lnTo>
                    <a:pt x="540" y="94"/>
                  </a:lnTo>
                  <a:lnTo>
                    <a:pt x="515" y="101"/>
                  </a:lnTo>
                  <a:lnTo>
                    <a:pt x="495" y="123"/>
                  </a:lnTo>
                  <a:lnTo>
                    <a:pt x="476" y="130"/>
                  </a:lnTo>
                  <a:lnTo>
                    <a:pt x="451" y="166"/>
                  </a:lnTo>
                  <a:lnTo>
                    <a:pt x="445" y="209"/>
                  </a:lnTo>
                  <a:lnTo>
                    <a:pt x="508" y="238"/>
                  </a:lnTo>
                  <a:lnTo>
                    <a:pt x="515" y="238"/>
                  </a:lnTo>
                  <a:lnTo>
                    <a:pt x="515" y="267"/>
                  </a:lnTo>
                  <a:lnTo>
                    <a:pt x="534" y="282"/>
                  </a:lnTo>
                  <a:lnTo>
                    <a:pt x="534" y="245"/>
                  </a:lnTo>
                  <a:lnTo>
                    <a:pt x="559" y="209"/>
                  </a:lnTo>
                  <a:lnTo>
                    <a:pt x="546" y="195"/>
                  </a:lnTo>
                  <a:lnTo>
                    <a:pt x="559" y="145"/>
                  </a:lnTo>
                  <a:lnTo>
                    <a:pt x="584" y="145"/>
                  </a:lnTo>
                  <a:lnTo>
                    <a:pt x="610" y="166"/>
                  </a:lnTo>
                  <a:lnTo>
                    <a:pt x="603" y="195"/>
                  </a:lnTo>
                  <a:lnTo>
                    <a:pt x="616" y="202"/>
                  </a:lnTo>
                  <a:lnTo>
                    <a:pt x="635" y="195"/>
                  </a:lnTo>
                  <a:lnTo>
                    <a:pt x="635" y="173"/>
                  </a:lnTo>
                  <a:lnTo>
                    <a:pt x="654" y="209"/>
                  </a:lnTo>
                  <a:lnTo>
                    <a:pt x="654" y="224"/>
                  </a:lnTo>
                  <a:lnTo>
                    <a:pt x="686" y="245"/>
                  </a:lnTo>
                  <a:lnTo>
                    <a:pt x="686" y="267"/>
                  </a:lnTo>
                  <a:lnTo>
                    <a:pt x="680" y="296"/>
                  </a:lnTo>
                  <a:lnTo>
                    <a:pt x="699" y="303"/>
                  </a:lnTo>
                  <a:lnTo>
                    <a:pt x="699" y="332"/>
                  </a:lnTo>
                  <a:lnTo>
                    <a:pt x="686" y="332"/>
                  </a:lnTo>
                  <a:lnTo>
                    <a:pt x="660" y="325"/>
                  </a:lnTo>
                  <a:lnTo>
                    <a:pt x="673" y="289"/>
                  </a:lnTo>
                  <a:lnTo>
                    <a:pt x="654" y="296"/>
                  </a:lnTo>
                  <a:lnTo>
                    <a:pt x="629" y="289"/>
                  </a:lnTo>
                  <a:lnTo>
                    <a:pt x="603" y="296"/>
                  </a:lnTo>
                  <a:lnTo>
                    <a:pt x="597" y="318"/>
                  </a:lnTo>
                  <a:lnTo>
                    <a:pt x="635" y="310"/>
                  </a:lnTo>
                  <a:lnTo>
                    <a:pt x="622" y="339"/>
                  </a:lnTo>
                  <a:lnTo>
                    <a:pt x="654" y="332"/>
                  </a:lnTo>
                  <a:lnTo>
                    <a:pt x="654" y="346"/>
                  </a:lnTo>
                  <a:lnTo>
                    <a:pt x="616" y="368"/>
                  </a:lnTo>
                  <a:lnTo>
                    <a:pt x="629" y="354"/>
                  </a:lnTo>
                  <a:lnTo>
                    <a:pt x="616" y="354"/>
                  </a:lnTo>
                  <a:lnTo>
                    <a:pt x="578" y="375"/>
                  </a:lnTo>
                  <a:lnTo>
                    <a:pt x="572" y="390"/>
                  </a:lnTo>
                  <a:lnTo>
                    <a:pt x="584" y="390"/>
                  </a:lnTo>
                  <a:lnTo>
                    <a:pt x="584" y="382"/>
                  </a:lnTo>
                  <a:lnTo>
                    <a:pt x="584" y="390"/>
                  </a:lnTo>
                  <a:lnTo>
                    <a:pt x="584" y="397"/>
                  </a:lnTo>
                  <a:lnTo>
                    <a:pt x="572" y="397"/>
                  </a:lnTo>
                  <a:lnTo>
                    <a:pt x="553" y="404"/>
                  </a:lnTo>
                  <a:lnTo>
                    <a:pt x="534" y="440"/>
                  </a:lnTo>
                  <a:lnTo>
                    <a:pt x="540" y="455"/>
                  </a:lnTo>
                  <a:lnTo>
                    <a:pt x="521" y="476"/>
                  </a:lnTo>
                  <a:lnTo>
                    <a:pt x="495" y="505"/>
                  </a:lnTo>
                  <a:lnTo>
                    <a:pt x="502" y="548"/>
                  </a:lnTo>
                  <a:lnTo>
                    <a:pt x="495" y="563"/>
                  </a:lnTo>
                  <a:lnTo>
                    <a:pt x="483" y="534"/>
                  </a:lnTo>
                  <a:lnTo>
                    <a:pt x="476" y="512"/>
                  </a:lnTo>
                  <a:lnTo>
                    <a:pt x="432" y="505"/>
                  </a:lnTo>
                  <a:lnTo>
                    <a:pt x="438" y="519"/>
                  </a:lnTo>
                  <a:lnTo>
                    <a:pt x="400" y="519"/>
                  </a:lnTo>
                  <a:lnTo>
                    <a:pt x="381" y="534"/>
                  </a:lnTo>
                  <a:lnTo>
                    <a:pt x="375" y="577"/>
                  </a:lnTo>
                  <a:lnTo>
                    <a:pt x="381" y="606"/>
                  </a:lnTo>
                  <a:lnTo>
                    <a:pt x="419" y="613"/>
                  </a:lnTo>
                  <a:lnTo>
                    <a:pt x="426" y="599"/>
                  </a:lnTo>
                  <a:lnTo>
                    <a:pt x="457" y="599"/>
                  </a:lnTo>
                  <a:lnTo>
                    <a:pt x="438" y="642"/>
                  </a:lnTo>
                  <a:lnTo>
                    <a:pt x="470" y="642"/>
                  </a:lnTo>
                  <a:lnTo>
                    <a:pt x="470" y="678"/>
                  </a:lnTo>
                  <a:lnTo>
                    <a:pt x="489" y="700"/>
                  </a:lnTo>
                  <a:lnTo>
                    <a:pt x="502" y="700"/>
                  </a:lnTo>
                  <a:lnTo>
                    <a:pt x="515" y="707"/>
                  </a:lnTo>
                  <a:lnTo>
                    <a:pt x="527" y="685"/>
                  </a:lnTo>
                  <a:lnTo>
                    <a:pt x="559" y="671"/>
                  </a:lnTo>
                  <a:lnTo>
                    <a:pt x="616" y="685"/>
                  </a:lnTo>
                  <a:lnTo>
                    <a:pt x="686" y="736"/>
                  </a:lnTo>
                  <a:lnTo>
                    <a:pt x="705" y="772"/>
                  </a:lnTo>
                  <a:lnTo>
                    <a:pt x="699" y="793"/>
                  </a:lnTo>
                  <a:lnTo>
                    <a:pt x="711" y="786"/>
                  </a:lnTo>
                  <a:lnTo>
                    <a:pt x="806" y="829"/>
                  </a:lnTo>
                  <a:lnTo>
                    <a:pt x="819" y="858"/>
                  </a:lnTo>
                  <a:lnTo>
                    <a:pt x="787" y="909"/>
                  </a:lnTo>
                  <a:lnTo>
                    <a:pt x="781" y="974"/>
                  </a:lnTo>
                  <a:lnTo>
                    <a:pt x="762" y="1002"/>
                  </a:lnTo>
                  <a:lnTo>
                    <a:pt x="749" y="1002"/>
                  </a:lnTo>
                  <a:lnTo>
                    <a:pt x="718" y="1031"/>
                  </a:lnTo>
                  <a:lnTo>
                    <a:pt x="718" y="1053"/>
                  </a:lnTo>
                  <a:lnTo>
                    <a:pt x="686" y="1118"/>
                  </a:lnTo>
                  <a:lnTo>
                    <a:pt x="660" y="1103"/>
                  </a:lnTo>
                  <a:lnTo>
                    <a:pt x="673" y="1125"/>
                  </a:lnTo>
                  <a:lnTo>
                    <a:pt x="660" y="1154"/>
                  </a:lnTo>
                  <a:lnTo>
                    <a:pt x="641" y="1154"/>
                  </a:lnTo>
                  <a:lnTo>
                    <a:pt x="635" y="1168"/>
                  </a:lnTo>
                  <a:lnTo>
                    <a:pt x="622" y="1183"/>
                  </a:lnTo>
                  <a:lnTo>
                    <a:pt x="629" y="1190"/>
                  </a:lnTo>
                  <a:lnTo>
                    <a:pt x="622" y="1211"/>
                  </a:lnTo>
                  <a:lnTo>
                    <a:pt x="610" y="1219"/>
                  </a:lnTo>
                  <a:lnTo>
                    <a:pt x="622" y="1247"/>
                  </a:lnTo>
                  <a:lnTo>
                    <a:pt x="603" y="1284"/>
                  </a:lnTo>
                  <a:lnTo>
                    <a:pt x="622" y="1320"/>
                  </a:lnTo>
                  <a:lnTo>
                    <a:pt x="629" y="1327"/>
                  </a:lnTo>
                  <a:lnTo>
                    <a:pt x="641" y="1327"/>
                  </a:lnTo>
                  <a:lnTo>
                    <a:pt x="622" y="1334"/>
                  </a:lnTo>
                  <a:lnTo>
                    <a:pt x="603" y="1334"/>
                  </a:lnTo>
                  <a:lnTo>
                    <a:pt x="584" y="1320"/>
                  </a:lnTo>
                  <a:lnTo>
                    <a:pt x="572" y="1298"/>
                  </a:lnTo>
                  <a:lnTo>
                    <a:pt x="559" y="1233"/>
                  </a:lnTo>
                  <a:lnTo>
                    <a:pt x="565" y="1226"/>
                  </a:lnTo>
                  <a:lnTo>
                    <a:pt x="572" y="1190"/>
                  </a:lnTo>
                  <a:lnTo>
                    <a:pt x="565" y="1183"/>
                  </a:lnTo>
                  <a:lnTo>
                    <a:pt x="559" y="1139"/>
                  </a:lnTo>
                  <a:lnTo>
                    <a:pt x="572" y="1118"/>
                  </a:lnTo>
                  <a:lnTo>
                    <a:pt x="565" y="959"/>
                  </a:lnTo>
                  <a:lnTo>
                    <a:pt x="527" y="923"/>
                  </a:lnTo>
                  <a:lnTo>
                    <a:pt x="521" y="901"/>
                  </a:lnTo>
                  <a:lnTo>
                    <a:pt x="489" y="858"/>
                  </a:lnTo>
                  <a:lnTo>
                    <a:pt x="483" y="829"/>
                  </a:lnTo>
                  <a:lnTo>
                    <a:pt x="489" y="822"/>
                  </a:lnTo>
                  <a:lnTo>
                    <a:pt x="489" y="793"/>
                  </a:lnTo>
                  <a:lnTo>
                    <a:pt x="508" y="757"/>
                  </a:lnTo>
                  <a:lnTo>
                    <a:pt x="508" y="721"/>
                  </a:lnTo>
                  <a:lnTo>
                    <a:pt x="502" y="707"/>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51" name="Freeform 5"/>
            <p:cNvSpPr>
              <a:spLocks/>
            </p:cNvSpPr>
            <p:nvPr/>
          </p:nvSpPr>
          <p:spPr bwMode="auto">
            <a:xfrm>
              <a:off x="3763" y="512"/>
              <a:ext cx="51" cy="29"/>
            </a:xfrm>
            <a:custGeom>
              <a:avLst/>
              <a:gdLst>
                <a:gd name="T0" fmla="*/ 0 w 51"/>
                <a:gd name="T1" fmla="*/ 29 h 29"/>
                <a:gd name="T2" fmla="*/ 0 w 51"/>
                <a:gd name="T3" fmla="*/ 21 h 29"/>
                <a:gd name="T4" fmla="*/ 20 w 51"/>
                <a:gd name="T5" fmla="*/ 14 h 29"/>
                <a:gd name="T6" fmla="*/ 26 w 51"/>
                <a:gd name="T7" fmla="*/ 14 h 29"/>
                <a:gd name="T8" fmla="*/ 26 w 51"/>
                <a:gd name="T9" fmla="*/ 14 h 29"/>
                <a:gd name="T10" fmla="*/ 26 w 51"/>
                <a:gd name="T11" fmla="*/ 7 h 29"/>
                <a:gd name="T12" fmla="*/ 32 w 51"/>
                <a:gd name="T13" fmla="*/ 7 h 29"/>
                <a:gd name="T14" fmla="*/ 45 w 51"/>
                <a:gd name="T15" fmla="*/ 0 h 29"/>
                <a:gd name="T16" fmla="*/ 51 w 51"/>
                <a:gd name="T17" fmla="*/ 0 h 29"/>
                <a:gd name="T18" fmla="*/ 51 w 51"/>
                <a:gd name="T19" fmla="*/ 7 h 29"/>
                <a:gd name="T20" fmla="*/ 45 w 51"/>
                <a:gd name="T21" fmla="*/ 14 h 29"/>
                <a:gd name="T22" fmla="*/ 26 w 51"/>
                <a:gd name="T23" fmla="*/ 14 h 29"/>
                <a:gd name="T24" fmla="*/ 26 w 51"/>
                <a:gd name="T25" fmla="*/ 14 h 29"/>
                <a:gd name="T26" fmla="*/ 20 w 51"/>
                <a:gd name="T27" fmla="*/ 29 h 29"/>
                <a:gd name="T28" fmla="*/ 0 w 51"/>
                <a:gd name="T29" fmla="*/ 29 h 29"/>
                <a:gd name="T30" fmla="*/ 0 w 51"/>
                <a:gd name="T31" fmla="*/ 29 h 29"/>
                <a:gd name="T32" fmla="*/ 0 w 51"/>
                <a:gd name="T33" fmla="*/ 29 h 2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1"/>
                <a:gd name="T52" fmla="*/ 0 h 29"/>
                <a:gd name="T53" fmla="*/ 51 w 51"/>
                <a:gd name="T54" fmla="*/ 29 h 2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1" h="29">
                  <a:moveTo>
                    <a:pt x="0" y="29"/>
                  </a:moveTo>
                  <a:lnTo>
                    <a:pt x="0" y="21"/>
                  </a:lnTo>
                  <a:lnTo>
                    <a:pt x="20" y="14"/>
                  </a:lnTo>
                  <a:lnTo>
                    <a:pt x="26" y="14"/>
                  </a:lnTo>
                  <a:lnTo>
                    <a:pt x="26" y="7"/>
                  </a:lnTo>
                  <a:lnTo>
                    <a:pt x="32" y="7"/>
                  </a:lnTo>
                  <a:lnTo>
                    <a:pt x="45" y="0"/>
                  </a:lnTo>
                  <a:lnTo>
                    <a:pt x="51" y="0"/>
                  </a:lnTo>
                  <a:lnTo>
                    <a:pt x="51" y="7"/>
                  </a:lnTo>
                  <a:lnTo>
                    <a:pt x="45" y="14"/>
                  </a:lnTo>
                  <a:lnTo>
                    <a:pt x="26" y="14"/>
                  </a:lnTo>
                  <a:lnTo>
                    <a:pt x="20" y="29"/>
                  </a:lnTo>
                  <a:lnTo>
                    <a:pt x="0" y="29"/>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52" name="Freeform 6"/>
            <p:cNvSpPr>
              <a:spLocks/>
            </p:cNvSpPr>
            <p:nvPr/>
          </p:nvSpPr>
          <p:spPr bwMode="auto">
            <a:xfrm>
              <a:off x="3763" y="512"/>
              <a:ext cx="51" cy="29"/>
            </a:xfrm>
            <a:custGeom>
              <a:avLst/>
              <a:gdLst>
                <a:gd name="T0" fmla="*/ 0 w 51"/>
                <a:gd name="T1" fmla="*/ 29 h 29"/>
                <a:gd name="T2" fmla="*/ 0 w 51"/>
                <a:gd name="T3" fmla="*/ 21 h 29"/>
                <a:gd name="T4" fmla="*/ 20 w 51"/>
                <a:gd name="T5" fmla="*/ 14 h 29"/>
                <a:gd name="T6" fmla="*/ 26 w 51"/>
                <a:gd name="T7" fmla="*/ 14 h 29"/>
                <a:gd name="T8" fmla="*/ 26 w 51"/>
                <a:gd name="T9" fmla="*/ 7 h 29"/>
                <a:gd name="T10" fmla="*/ 32 w 51"/>
                <a:gd name="T11" fmla="*/ 7 h 29"/>
                <a:gd name="T12" fmla="*/ 45 w 51"/>
                <a:gd name="T13" fmla="*/ 0 h 29"/>
                <a:gd name="T14" fmla="*/ 51 w 51"/>
                <a:gd name="T15" fmla="*/ 0 h 29"/>
                <a:gd name="T16" fmla="*/ 51 w 51"/>
                <a:gd name="T17" fmla="*/ 7 h 29"/>
                <a:gd name="T18" fmla="*/ 45 w 51"/>
                <a:gd name="T19" fmla="*/ 14 h 29"/>
                <a:gd name="T20" fmla="*/ 26 w 51"/>
                <a:gd name="T21" fmla="*/ 14 h 29"/>
                <a:gd name="T22" fmla="*/ 20 w 51"/>
                <a:gd name="T23" fmla="*/ 29 h 29"/>
                <a:gd name="T24" fmla="*/ 0 w 51"/>
                <a:gd name="T25" fmla="*/ 29 h 2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1"/>
                <a:gd name="T40" fmla="*/ 0 h 29"/>
                <a:gd name="T41" fmla="*/ 51 w 51"/>
                <a:gd name="T42" fmla="*/ 29 h 2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1" h="29">
                  <a:moveTo>
                    <a:pt x="0" y="29"/>
                  </a:moveTo>
                  <a:lnTo>
                    <a:pt x="0" y="21"/>
                  </a:lnTo>
                  <a:lnTo>
                    <a:pt x="20" y="14"/>
                  </a:lnTo>
                  <a:lnTo>
                    <a:pt x="26" y="14"/>
                  </a:lnTo>
                  <a:lnTo>
                    <a:pt x="26" y="7"/>
                  </a:lnTo>
                  <a:lnTo>
                    <a:pt x="32" y="7"/>
                  </a:lnTo>
                  <a:lnTo>
                    <a:pt x="45" y="0"/>
                  </a:lnTo>
                  <a:lnTo>
                    <a:pt x="51" y="0"/>
                  </a:lnTo>
                  <a:lnTo>
                    <a:pt x="51" y="7"/>
                  </a:lnTo>
                  <a:lnTo>
                    <a:pt x="45" y="14"/>
                  </a:lnTo>
                  <a:lnTo>
                    <a:pt x="26" y="14"/>
                  </a:lnTo>
                  <a:lnTo>
                    <a:pt x="20" y="29"/>
                  </a:lnTo>
                  <a:lnTo>
                    <a:pt x="0" y="29"/>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53" name="Freeform 7"/>
            <p:cNvSpPr>
              <a:spLocks/>
            </p:cNvSpPr>
            <p:nvPr/>
          </p:nvSpPr>
          <p:spPr bwMode="auto">
            <a:xfrm>
              <a:off x="3732" y="483"/>
              <a:ext cx="57" cy="58"/>
            </a:xfrm>
            <a:custGeom>
              <a:avLst/>
              <a:gdLst>
                <a:gd name="T0" fmla="*/ 0 w 57"/>
                <a:gd name="T1" fmla="*/ 29 h 58"/>
                <a:gd name="T2" fmla="*/ 6 w 57"/>
                <a:gd name="T3" fmla="*/ 14 h 58"/>
                <a:gd name="T4" fmla="*/ 12 w 57"/>
                <a:gd name="T5" fmla="*/ 7 h 58"/>
                <a:gd name="T6" fmla="*/ 25 w 57"/>
                <a:gd name="T7" fmla="*/ 7 h 58"/>
                <a:gd name="T8" fmla="*/ 25 w 57"/>
                <a:gd name="T9" fmla="*/ 0 h 58"/>
                <a:gd name="T10" fmla="*/ 31 w 57"/>
                <a:gd name="T11" fmla="*/ 7 h 58"/>
                <a:gd name="T12" fmla="*/ 38 w 57"/>
                <a:gd name="T13" fmla="*/ 7 h 58"/>
                <a:gd name="T14" fmla="*/ 57 w 57"/>
                <a:gd name="T15" fmla="*/ 14 h 58"/>
                <a:gd name="T16" fmla="*/ 57 w 57"/>
                <a:gd name="T17" fmla="*/ 22 h 58"/>
                <a:gd name="T18" fmla="*/ 57 w 57"/>
                <a:gd name="T19" fmla="*/ 29 h 58"/>
                <a:gd name="T20" fmla="*/ 44 w 57"/>
                <a:gd name="T21" fmla="*/ 22 h 58"/>
                <a:gd name="T22" fmla="*/ 44 w 57"/>
                <a:gd name="T23" fmla="*/ 29 h 58"/>
                <a:gd name="T24" fmla="*/ 38 w 57"/>
                <a:gd name="T25" fmla="*/ 43 h 58"/>
                <a:gd name="T26" fmla="*/ 31 w 57"/>
                <a:gd name="T27" fmla="*/ 43 h 58"/>
                <a:gd name="T28" fmla="*/ 31 w 57"/>
                <a:gd name="T29" fmla="*/ 50 h 58"/>
                <a:gd name="T30" fmla="*/ 31 w 57"/>
                <a:gd name="T31" fmla="*/ 36 h 58"/>
                <a:gd name="T32" fmla="*/ 31 w 57"/>
                <a:gd name="T33" fmla="*/ 36 h 58"/>
                <a:gd name="T34" fmla="*/ 31 w 57"/>
                <a:gd name="T35" fmla="*/ 29 h 58"/>
                <a:gd name="T36" fmla="*/ 25 w 57"/>
                <a:gd name="T37" fmla="*/ 22 h 58"/>
                <a:gd name="T38" fmla="*/ 19 w 57"/>
                <a:gd name="T39" fmla="*/ 14 h 58"/>
                <a:gd name="T40" fmla="*/ 12 w 57"/>
                <a:gd name="T41" fmla="*/ 22 h 58"/>
                <a:gd name="T42" fmla="*/ 6 w 57"/>
                <a:gd name="T43" fmla="*/ 43 h 58"/>
                <a:gd name="T44" fmla="*/ 6 w 57"/>
                <a:gd name="T45" fmla="*/ 50 h 58"/>
                <a:gd name="T46" fmla="*/ 0 w 57"/>
                <a:gd name="T47" fmla="*/ 58 h 58"/>
                <a:gd name="T48" fmla="*/ 0 w 57"/>
                <a:gd name="T49" fmla="*/ 58 h 58"/>
                <a:gd name="T50" fmla="*/ 0 w 57"/>
                <a:gd name="T51" fmla="*/ 43 h 58"/>
                <a:gd name="T52" fmla="*/ 6 w 57"/>
                <a:gd name="T53" fmla="*/ 29 h 58"/>
                <a:gd name="T54" fmla="*/ 6 w 57"/>
                <a:gd name="T55" fmla="*/ 29 h 58"/>
                <a:gd name="T56" fmla="*/ 0 w 57"/>
                <a:gd name="T57" fmla="*/ 29 h 58"/>
                <a:gd name="T58" fmla="*/ 0 w 57"/>
                <a:gd name="T59" fmla="*/ 29 h 5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7"/>
                <a:gd name="T91" fmla="*/ 0 h 58"/>
                <a:gd name="T92" fmla="*/ 57 w 57"/>
                <a:gd name="T93" fmla="*/ 58 h 5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7" h="58">
                  <a:moveTo>
                    <a:pt x="0" y="29"/>
                  </a:moveTo>
                  <a:lnTo>
                    <a:pt x="6" y="14"/>
                  </a:lnTo>
                  <a:lnTo>
                    <a:pt x="12" y="7"/>
                  </a:lnTo>
                  <a:lnTo>
                    <a:pt x="25" y="7"/>
                  </a:lnTo>
                  <a:lnTo>
                    <a:pt x="25" y="0"/>
                  </a:lnTo>
                  <a:lnTo>
                    <a:pt x="31" y="7"/>
                  </a:lnTo>
                  <a:lnTo>
                    <a:pt x="38" y="7"/>
                  </a:lnTo>
                  <a:lnTo>
                    <a:pt x="57" y="14"/>
                  </a:lnTo>
                  <a:lnTo>
                    <a:pt x="57" y="22"/>
                  </a:lnTo>
                  <a:lnTo>
                    <a:pt x="57" y="29"/>
                  </a:lnTo>
                  <a:lnTo>
                    <a:pt x="44" y="22"/>
                  </a:lnTo>
                  <a:lnTo>
                    <a:pt x="44" y="29"/>
                  </a:lnTo>
                  <a:lnTo>
                    <a:pt x="38" y="43"/>
                  </a:lnTo>
                  <a:lnTo>
                    <a:pt x="31" y="43"/>
                  </a:lnTo>
                  <a:lnTo>
                    <a:pt x="31" y="50"/>
                  </a:lnTo>
                  <a:lnTo>
                    <a:pt x="31" y="36"/>
                  </a:lnTo>
                  <a:lnTo>
                    <a:pt x="31" y="29"/>
                  </a:lnTo>
                  <a:lnTo>
                    <a:pt x="25" y="22"/>
                  </a:lnTo>
                  <a:lnTo>
                    <a:pt x="19" y="14"/>
                  </a:lnTo>
                  <a:lnTo>
                    <a:pt x="12" y="22"/>
                  </a:lnTo>
                  <a:lnTo>
                    <a:pt x="6" y="43"/>
                  </a:lnTo>
                  <a:lnTo>
                    <a:pt x="6" y="50"/>
                  </a:lnTo>
                  <a:lnTo>
                    <a:pt x="0" y="58"/>
                  </a:lnTo>
                  <a:lnTo>
                    <a:pt x="0" y="43"/>
                  </a:lnTo>
                  <a:lnTo>
                    <a:pt x="6" y="29"/>
                  </a:lnTo>
                  <a:lnTo>
                    <a:pt x="0" y="29"/>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54" name="Freeform 8"/>
            <p:cNvSpPr>
              <a:spLocks/>
            </p:cNvSpPr>
            <p:nvPr/>
          </p:nvSpPr>
          <p:spPr bwMode="auto">
            <a:xfrm>
              <a:off x="3732" y="483"/>
              <a:ext cx="57" cy="58"/>
            </a:xfrm>
            <a:custGeom>
              <a:avLst/>
              <a:gdLst>
                <a:gd name="T0" fmla="*/ 0 w 57"/>
                <a:gd name="T1" fmla="*/ 29 h 58"/>
                <a:gd name="T2" fmla="*/ 6 w 57"/>
                <a:gd name="T3" fmla="*/ 14 h 58"/>
                <a:gd name="T4" fmla="*/ 12 w 57"/>
                <a:gd name="T5" fmla="*/ 7 h 58"/>
                <a:gd name="T6" fmla="*/ 25 w 57"/>
                <a:gd name="T7" fmla="*/ 7 h 58"/>
                <a:gd name="T8" fmla="*/ 25 w 57"/>
                <a:gd name="T9" fmla="*/ 0 h 58"/>
                <a:gd name="T10" fmla="*/ 31 w 57"/>
                <a:gd name="T11" fmla="*/ 7 h 58"/>
                <a:gd name="T12" fmla="*/ 38 w 57"/>
                <a:gd name="T13" fmla="*/ 7 h 58"/>
                <a:gd name="T14" fmla="*/ 57 w 57"/>
                <a:gd name="T15" fmla="*/ 14 h 58"/>
                <a:gd name="T16" fmla="*/ 57 w 57"/>
                <a:gd name="T17" fmla="*/ 22 h 58"/>
                <a:gd name="T18" fmla="*/ 57 w 57"/>
                <a:gd name="T19" fmla="*/ 29 h 58"/>
                <a:gd name="T20" fmla="*/ 44 w 57"/>
                <a:gd name="T21" fmla="*/ 22 h 58"/>
                <a:gd name="T22" fmla="*/ 44 w 57"/>
                <a:gd name="T23" fmla="*/ 29 h 58"/>
                <a:gd name="T24" fmla="*/ 38 w 57"/>
                <a:gd name="T25" fmla="*/ 43 h 58"/>
                <a:gd name="T26" fmla="*/ 31 w 57"/>
                <a:gd name="T27" fmla="*/ 43 h 58"/>
                <a:gd name="T28" fmla="*/ 31 w 57"/>
                <a:gd name="T29" fmla="*/ 50 h 58"/>
                <a:gd name="T30" fmla="*/ 31 w 57"/>
                <a:gd name="T31" fmla="*/ 36 h 58"/>
                <a:gd name="T32" fmla="*/ 31 w 57"/>
                <a:gd name="T33" fmla="*/ 29 h 58"/>
                <a:gd name="T34" fmla="*/ 25 w 57"/>
                <a:gd name="T35" fmla="*/ 22 h 58"/>
                <a:gd name="T36" fmla="*/ 19 w 57"/>
                <a:gd name="T37" fmla="*/ 14 h 58"/>
                <a:gd name="T38" fmla="*/ 12 w 57"/>
                <a:gd name="T39" fmla="*/ 22 h 58"/>
                <a:gd name="T40" fmla="*/ 6 w 57"/>
                <a:gd name="T41" fmla="*/ 43 h 58"/>
                <a:gd name="T42" fmla="*/ 6 w 57"/>
                <a:gd name="T43" fmla="*/ 50 h 58"/>
                <a:gd name="T44" fmla="*/ 0 w 57"/>
                <a:gd name="T45" fmla="*/ 58 h 58"/>
                <a:gd name="T46" fmla="*/ 0 w 57"/>
                <a:gd name="T47" fmla="*/ 43 h 58"/>
                <a:gd name="T48" fmla="*/ 6 w 57"/>
                <a:gd name="T49" fmla="*/ 29 h 58"/>
                <a:gd name="T50" fmla="*/ 0 w 57"/>
                <a:gd name="T51" fmla="*/ 29 h 5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7"/>
                <a:gd name="T79" fmla="*/ 0 h 58"/>
                <a:gd name="T80" fmla="*/ 57 w 57"/>
                <a:gd name="T81" fmla="*/ 58 h 5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7" h="58">
                  <a:moveTo>
                    <a:pt x="0" y="29"/>
                  </a:moveTo>
                  <a:lnTo>
                    <a:pt x="6" y="14"/>
                  </a:lnTo>
                  <a:lnTo>
                    <a:pt x="12" y="7"/>
                  </a:lnTo>
                  <a:lnTo>
                    <a:pt x="25" y="7"/>
                  </a:lnTo>
                  <a:lnTo>
                    <a:pt x="25" y="0"/>
                  </a:lnTo>
                  <a:lnTo>
                    <a:pt x="31" y="7"/>
                  </a:lnTo>
                  <a:lnTo>
                    <a:pt x="38" y="7"/>
                  </a:lnTo>
                  <a:lnTo>
                    <a:pt x="57" y="14"/>
                  </a:lnTo>
                  <a:lnTo>
                    <a:pt x="57" y="22"/>
                  </a:lnTo>
                  <a:lnTo>
                    <a:pt x="57" y="29"/>
                  </a:lnTo>
                  <a:lnTo>
                    <a:pt x="44" y="22"/>
                  </a:lnTo>
                  <a:lnTo>
                    <a:pt x="44" y="29"/>
                  </a:lnTo>
                  <a:lnTo>
                    <a:pt x="38" y="43"/>
                  </a:lnTo>
                  <a:lnTo>
                    <a:pt x="31" y="43"/>
                  </a:lnTo>
                  <a:lnTo>
                    <a:pt x="31" y="50"/>
                  </a:lnTo>
                  <a:lnTo>
                    <a:pt x="31" y="36"/>
                  </a:lnTo>
                  <a:lnTo>
                    <a:pt x="31" y="29"/>
                  </a:lnTo>
                  <a:lnTo>
                    <a:pt x="25" y="22"/>
                  </a:lnTo>
                  <a:lnTo>
                    <a:pt x="19" y="14"/>
                  </a:lnTo>
                  <a:lnTo>
                    <a:pt x="12" y="22"/>
                  </a:lnTo>
                  <a:lnTo>
                    <a:pt x="6" y="43"/>
                  </a:lnTo>
                  <a:lnTo>
                    <a:pt x="6" y="50"/>
                  </a:lnTo>
                  <a:lnTo>
                    <a:pt x="0" y="58"/>
                  </a:lnTo>
                  <a:lnTo>
                    <a:pt x="0" y="43"/>
                  </a:lnTo>
                  <a:lnTo>
                    <a:pt x="6" y="29"/>
                  </a:lnTo>
                  <a:lnTo>
                    <a:pt x="0" y="29"/>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55" name="Freeform 9"/>
            <p:cNvSpPr>
              <a:spLocks/>
            </p:cNvSpPr>
            <p:nvPr/>
          </p:nvSpPr>
          <p:spPr bwMode="auto">
            <a:xfrm>
              <a:off x="3706" y="461"/>
              <a:ext cx="57" cy="22"/>
            </a:xfrm>
            <a:custGeom>
              <a:avLst/>
              <a:gdLst>
                <a:gd name="T0" fmla="*/ 19 w 57"/>
                <a:gd name="T1" fmla="*/ 15 h 22"/>
                <a:gd name="T2" fmla="*/ 26 w 57"/>
                <a:gd name="T3" fmla="*/ 22 h 22"/>
                <a:gd name="T4" fmla="*/ 45 w 57"/>
                <a:gd name="T5" fmla="*/ 22 h 22"/>
                <a:gd name="T6" fmla="*/ 51 w 57"/>
                <a:gd name="T7" fmla="*/ 22 h 22"/>
                <a:gd name="T8" fmla="*/ 57 w 57"/>
                <a:gd name="T9" fmla="*/ 22 h 22"/>
                <a:gd name="T10" fmla="*/ 51 w 57"/>
                <a:gd name="T11" fmla="*/ 15 h 22"/>
                <a:gd name="T12" fmla="*/ 45 w 57"/>
                <a:gd name="T13" fmla="*/ 8 h 22"/>
                <a:gd name="T14" fmla="*/ 38 w 57"/>
                <a:gd name="T15" fmla="*/ 8 h 22"/>
                <a:gd name="T16" fmla="*/ 32 w 57"/>
                <a:gd name="T17" fmla="*/ 0 h 22"/>
                <a:gd name="T18" fmla="*/ 26 w 57"/>
                <a:gd name="T19" fmla="*/ 0 h 22"/>
                <a:gd name="T20" fmla="*/ 19 w 57"/>
                <a:gd name="T21" fmla="*/ 8 h 22"/>
                <a:gd name="T22" fmla="*/ 13 w 57"/>
                <a:gd name="T23" fmla="*/ 15 h 22"/>
                <a:gd name="T24" fmla="*/ 0 w 57"/>
                <a:gd name="T25" fmla="*/ 22 h 22"/>
                <a:gd name="T26" fmla="*/ 7 w 57"/>
                <a:gd name="T27" fmla="*/ 22 h 22"/>
                <a:gd name="T28" fmla="*/ 13 w 57"/>
                <a:gd name="T29" fmla="*/ 22 h 22"/>
                <a:gd name="T30" fmla="*/ 19 w 57"/>
                <a:gd name="T31" fmla="*/ 15 h 22"/>
                <a:gd name="T32" fmla="*/ 19 w 57"/>
                <a:gd name="T33" fmla="*/ 15 h 22"/>
                <a:gd name="T34" fmla="*/ 19 w 57"/>
                <a:gd name="T35" fmla="*/ 15 h 2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7"/>
                <a:gd name="T55" fmla="*/ 0 h 22"/>
                <a:gd name="T56" fmla="*/ 57 w 57"/>
                <a:gd name="T57" fmla="*/ 22 h 2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7" h="22">
                  <a:moveTo>
                    <a:pt x="19" y="15"/>
                  </a:moveTo>
                  <a:lnTo>
                    <a:pt x="26" y="22"/>
                  </a:lnTo>
                  <a:lnTo>
                    <a:pt x="45" y="22"/>
                  </a:lnTo>
                  <a:lnTo>
                    <a:pt x="51" y="22"/>
                  </a:lnTo>
                  <a:lnTo>
                    <a:pt x="57" y="22"/>
                  </a:lnTo>
                  <a:lnTo>
                    <a:pt x="51" y="15"/>
                  </a:lnTo>
                  <a:lnTo>
                    <a:pt x="45" y="8"/>
                  </a:lnTo>
                  <a:lnTo>
                    <a:pt x="38" y="8"/>
                  </a:lnTo>
                  <a:lnTo>
                    <a:pt x="32" y="0"/>
                  </a:lnTo>
                  <a:lnTo>
                    <a:pt x="26" y="0"/>
                  </a:lnTo>
                  <a:lnTo>
                    <a:pt x="19" y="8"/>
                  </a:lnTo>
                  <a:lnTo>
                    <a:pt x="13" y="15"/>
                  </a:lnTo>
                  <a:lnTo>
                    <a:pt x="0" y="22"/>
                  </a:lnTo>
                  <a:lnTo>
                    <a:pt x="7" y="22"/>
                  </a:lnTo>
                  <a:lnTo>
                    <a:pt x="13" y="22"/>
                  </a:lnTo>
                  <a:lnTo>
                    <a:pt x="19" y="15"/>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56" name="Freeform 10"/>
            <p:cNvSpPr>
              <a:spLocks/>
            </p:cNvSpPr>
            <p:nvPr/>
          </p:nvSpPr>
          <p:spPr bwMode="auto">
            <a:xfrm>
              <a:off x="3706" y="461"/>
              <a:ext cx="57" cy="22"/>
            </a:xfrm>
            <a:custGeom>
              <a:avLst/>
              <a:gdLst>
                <a:gd name="T0" fmla="*/ 19 w 57"/>
                <a:gd name="T1" fmla="*/ 15 h 22"/>
                <a:gd name="T2" fmla="*/ 26 w 57"/>
                <a:gd name="T3" fmla="*/ 22 h 22"/>
                <a:gd name="T4" fmla="*/ 45 w 57"/>
                <a:gd name="T5" fmla="*/ 22 h 22"/>
                <a:gd name="T6" fmla="*/ 51 w 57"/>
                <a:gd name="T7" fmla="*/ 22 h 22"/>
                <a:gd name="T8" fmla="*/ 57 w 57"/>
                <a:gd name="T9" fmla="*/ 22 h 22"/>
                <a:gd name="T10" fmla="*/ 51 w 57"/>
                <a:gd name="T11" fmla="*/ 15 h 22"/>
                <a:gd name="T12" fmla="*/ 45 w 57"/>
                <a:gd name="T13" fmla="*/ 8 h 22"/>
                <a:gd name="T14" fmla="*/ 38 w 57"/>
                <a:gd name="T15" fmla="*/ 8 h 22"/>
                <a:gd name="T16" fmla="*/ 32 w 57"/>
                <a:gd name="T17" fmla="*/ 0 h 22"/>
                <a:gd name="T18" fmla="*/ 26 w 57"/>
                <a:gd name="T19" fmla="*/ 0 h 22"/>
                <a:gd name="T20" fmla="*/ 19 w 57"/>
                <a:gd name="T21" fmla="*/ 8 h 22"/>
                <a:gd name="T22" fmla="*/ 13 w 57"/>
                <a:gd name="T23" fmla="*/ 15 h 22"/>
                <a:gd name="T24" fmla="*/ 0 w 57"/>
                <a:gd name="T25" fmla="*/ 22 h 22"/>
                <a:gd name="T26" fmla="*/ 7 w 57"/>
                <a:gd name="T27" fmla="*/ 22 h 22"/>
                <a:gd name="T28" fmla="*/ 13 w 57"/>
                <a:gd name="T29" fmla="*/ 22 h 22"/>
                <a:gd name="T30" fmla="*/ 19 w 57"/>
                <a:gd name="T31" fmla="*/ 15 h 2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7"/>
                <a:gd name="T49" fmla="*/ 0 h 22"/>
                <a:gd name="T50" fmla="*/ 57 w 57"/>
                <a:gd name="T51" fmla="*/ 22 h 2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7" h="22">
                  <a:moveTo>
                    <a:pt x="19" y="15"/>
                  </a:moveTo>
                  <a:lnTo>
                    <a:pt x="26" y="22"/>
                  </a:lnTo>
                  <a:lnTo>
                    <a:pt x="45" y="22"/>
                  </a:lnTo>
                  <a:lnTo>
                    <a:pt x="51" y="22"/>
                  </a:lnTo>
                  <a:lnTo>
                    <a:pt x="57" y="22"/>
                  </a:lnTo>
                  <a:lnTo>
                    <a:pt x="51" y="15"/>
                  </a:lnTo>
                  <a:lnTo>
                    <a:pt x="45" y="8"/>
                  </a:lnTo>
                  <a:lnTo>
                    <a:pt x="38" y="8"/>
                  </a:lnTo>
                  <a:lnTo>
                    <a:pt x="32" y="0"/>
                  </a:lnTo>
                  <a:lnTo>
                    <a:pt x="26" y="0"/>
                  </a:lnTo>
                  <a:lnTo>
                    <a:pt x="19" y="8"/>
                  </a:lnTo>
                  <a:lnTo>
                    <a:pt x="13" y="15"/>
                  </a:lnTo>
                  <a:lnTo>
                    <a:pt x="0" y="22"/>
                  </a:lnTo>
                  <a:lnTo>
                    <a:pt x="7" y="22"/>
                  </a:lnTo>
                  <a:lnTo>
                    <a:pt x="13" y="22"/>
                  </a:lnTo>
                  <a:lnTo>
                    <a:pt x="19" y="15"/>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57" name="Freeform 11"/>
            <p:cNvSpPr>
              <a:spLocks/>
            </p:cNvSpPr>
            <p:nvPr/>
          </p:nvSpPr>
          <p:spPr bwMode="auto">
            <a:xfrm>
              <a:off x="4214" y="79"/>
              <a:ext cx="1295" cy="1175"/>
            </a:xfrm>
            <a:custGeom>
              <a:avLst/>
              <a:gdLst>
                <a:gd name="T0" fmla="*/ 381 w 1295"/>
                <a:gd name="T1" fmla="*/ 671 h 1175"/>
                <a:gd name="T2" fmla="*/ 406 w 1295"/>
                <a:gd name="T3" fmla="*/ 901 h 1175"/>
                <a:gd name="T4" fmla="*/ 356 w 1295"/>
                <a:gd name="T5" fmla="*/ 1096 h 1175"/>
                <a:gd name="T6" fmla="*/ 210 w 1295"/>
                <a:gd name="T7" fmla="*/ 1002 h 1175"/>
                <a:gd name="T8" fmla="*/ 165 w 1295"/>
                <a:gd name="T9" fmla="*/ 808 h 1175"/>
                <a:gd name="T10" fmla="*/ 0 w 1295"/>
                <a:gd name="T11" fmla="*/ 664 h 1175"/>
                <a:gd name="T12" fmla="*/ 191 w 1295"/>
                <a:gd name="T13" fmla="*/ 534 h 1175"/>
                <a:gd name="T14" fmla="*/ 368 w 1295"/>
                <a:gd name="T15" fmla="*/ 512 h 1175"/>
                <a:gd name="T16" fmla="*/ 400 w 1295"/>
                <a:gd name="T17" fmla="*/ 462 h 1175"/>
                <a:gd name="T18" fmla="*/ 362 w 1295"/>
                <a:gd name="T19" fmla="*/ 411 h 1175"/>
                <a:gd name="T20" fmla="*/ 311 w 1295"/>
                <a:gd name="T21" fmla="*/ 462 h 1175"/>
                <a:gd name="T22" fmla="*/ 248 w 1295"/>
                <a:gd name="T23" fmla="*/ 447 h 1175"/>
                <a:gd name="T24" fmla="*/ 229 w 1295"/>
                <a:gd name="T25" fmla="*/ 469 h 1175"/>
                <a:gd name="T26" fmla="*/ 114 w 1295"/>
                <a:gd name="T27" fmla="*/ 476 h 1175"/>
                <a:gd name="T28" fmla="*/ 64 w 1295"/>
                <a:gd name="T29" fmla="*/ 440 h 1175"/>
                <a:gd name="T30" fmla="*/ 146 w 1295"/>
                <a:gd name="T31" fmla="*/ 346 h 1175"/>
                <a:gd name="T32" fmla="*/ 184 w 1295"/>
                <a:gd name="T33" fmla="*/ 310 h 1175"/>
                <a:gd name="T34" fmla="*/ 305 w 1295"/>
                <a:gd name="T35" fmla="*/ 245 h 1175"/>
                <a:gd name="T36" fmla="*/ 216 w 1295"/>
                <a:gd name="T37" fmla="*/ 296 h 1175"/>
                <a:gd name="T38" fmla="*/ 152 w 1295"/>
                <a:gd name="T39" fmla="*/ 231 h 1175"/>
                <a:gd name="T40" fmla="*/ 356 w 1295"/>
                <a:gd name="T41" fmla="*/ 166 h 1175"/>
                <a:gd name="T42" fmla="*/ 387 w 1295"/>
                <a:gd name="T43" fmla="*/ 137 h 1175"/>
                <a:gd name="T44" fmla="*/ 476 w 1295"/>
                <a:gd name="T45" fmla="*/ 116 h 1175"/>
                <a:gd name="T46" fmla="*/ 552 w 1295"/>
                <a:gd name="T47" fmla="*/ 94 h 1175"/>
                <a:gd name="T48" fmla="*/ 578 w 1295"/>
                <a:gd name="T49" fmla="*/ 137 h 1175"/>
                <a:gd name="T50" fmla="*/ 565 w 1295"/>
                <a:gd name="T51" fmla="*/ 65 h 1175"/>
                <a:gd name="T52" fmla="*/ 787 w 1295"/>
                <a:gd name="T53" fmla="*/ 29 h 1175"/>
                <a:gd name="T54" fmla="*/ 971 w 1295"/>
                <a:gd name="T55" fmla="*/ 87 h 1175"/>
                <a:gd name="T56" fmla="*/ 1187 w 1295"/>
                <a:gd name="T57" fmla="*/ 108 h 1175"/>
                <a:gd name="T58" fmla="*/ 1225 w 1295"/>
                <a:gd name="T59" fmla="*/ 173 h 1175"/>
                <a:gd name="T60" fmla="*/ 1162 w 1295"/>
                <a:gd name="T61" fmla="*/ 238 h 1175"/>
                <a:gd name="T62" fmla="*/ 1149 w 1295"/>
                <a:gd name="T63" fmla="*/ 317 h 1175"/>
                <a:gd name="T64" fmla="*/ 1162 w 1295"/>
                <a:gd name="T65" fmla="*/ 202 h 1175"/>
                <a:gd name="T66" fmla="*/ 1111 w 1295"/>
                <a:gd name="T67" fmla="*/ 217 h 1175"/>
                <a:gd name="T68" fmla="*/ 1060 w 1295"/>
                <a:gd name="T69" fmla="*/ 238 h 1175"/>
                <a:gd name="T70" fmla="*/ 1054 w 1295"/>
                <a:gd name="T71" fmla="*/ 368 h 1175"/>
                <a:gd name="T72" fmla="*/ 997 w 1295"/>
                <a:gd name="T73" fmla="*/ 483 h 1175"/>
                <a:gd name="T74" fmla="*/ 978 w 1295"/>
                <a:gd name="T75" fmla="*/ 490 h 1175"/>
                <a:gd name="T76" fmla="*/ 952 w 1295"/>
                <a:gd name="T77" fmla="*/ 490 h 1175"/>
                <a:gd name="T78" fmla="*/ 895 w 1295"/>
                <a:gd name="T79" fmla="*/ 649 h 1175"/>
                <a:gd name="T80" fmla="*/ 882 w 1295"/>
                <a:gd name="T81" fmla="*/ 700 h 1175"/>
                <a:gd name="T82" fmla="*/ 825 w 1295"/>
                <a:gd name="T83" fmla="*/ 714 h 1175"/>
                <a:gd name="T84" fmla="*/ 838 w 1295"/>
                <a:gd name="T85" fmla="*/ 815 h 1175"/>
                <a:gd name="T86" fmla="*/ 755 w 1295"/>
                <a:gd name="T87" fmla="*/ 635 h 1175"/>
                <a:gd name="T88" fmla="*/ 660 w 1295"/>
                <a:gd name="T89" fmla="*/ 764 h 1175"/>
                <a:gd name="T90" fmla="*/ 603 w 1295"/>
                <a:gd name="T91" fmla="*/ 649 h 1175"/>
                <a:gd name="T92" fmla="*/ 502 w 1295"/>
                <a:gd name="T93" fmla="*/ 599 h 1175"/>
                <a:gd name="T94" fmla="*/ 514 w 1295"/>
                <a:gd name="T95" fmla="*/ 627 h 1175"/>
                <a:gd name="T96" fmla="*/ 432 w 1295"/>
                <a:gd name="T97" fmla="*/ 728 h 1175"/>
                <a:gd name="T98" fmla="*/ 356 w 1295"/>
                <a:gd name="T99" fmla="*/ 591 h 117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295"/>
                <a:gd name="T151" fmla="*/ 0 h 1175"/>
                <a:gd name="T152" fmla="*/ 1295 w 1295"/>
                <a:gd name="T153" fmla="*/ 1175 h 1175"/>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295" h="1175">
                  <a:moveTo>
                    <a:pt x="343" y="577"/>
                  </a:moveTo>
                  <a:lnTo>
                    <a:pt x="375" y="642"/>
                  </a:lnTo>
                  <a:lnTo>
                    <a:pt x="381" y="649"/>
                  </a:lnTo>
                  <a:lnTo>
                    <a:pt x="381" y="671"/>
                  </a:lnTo>
                  <a:lnTo>
                    <a:pt x="438" y="750"/>
                  </a:lnTo>
                  <a:lnTo>
                    <a:pt x="476" y="743"/>
                  </a:lnTo>
                  <a:lnTo>
                    <a:pt x="470" y="793"/>
                  </a:lnTo>
                  <a:lnTo>
                    <a:pt x="406" y="901"/>
                  </a:lnTo>
                  <a:lnTo>
                    <a:pt x="413" y="995"/>
                  </a:lnTo>
                  <a:lnTo>
                    <a:pt x="368" y="1038"/>
                  </a:lnTo>
                  <a:lnTo>
                    <a:pt x="375" y="1082"/>
                  </a:lnTo>
                  <a:lnTo>
                    <a:pt x="356" y="1096"/>
                  </a:lnTo>
                  <a:lnTo>
                    <a:pt x="317" y="1168"/>
                  </a:lnTo>
                  <a:lnTo>
                    <a:pt x="260" y="1175"/>
                  </a:lnTo>
                  <a:lnTo>
                    <a:pt x="229" y="1103"/>
                  </a:lnTo>
                  <a:lnTo>
                    <a:pt x="210" y="1002"/>
                  </a:lnTo>
                  <a:lnTo>
                    <a:pt x="222" y="952"/>
                  </a:lnTo>
                  <a:lnTo>
                    <a:pt x="191" y="873"/>
                  </a:lnTo>
                  <a:lnTo>
                    <a:pt x="184" y="808"/>
                  </a:lnTo>
                  <a:lnTo>
                    <a:pt x="165" y="808"/>
                  </a:lnTo>
                  <a:lnTo>
                    <a:pt x="152" y="793"/>
                  </a:lnTo>
                  <a:lnTo>
                    <a:pt x="64" y="808"/>
                  </a:lnTo>
                  <a:lnTo>
                    <a:pt x="6" y="736"/>
                  </a:lnTo>
                  <a:lnTo>
                    <a:pt x="0" y="664"/>
                  </a:lnTo>
                  <a:lnTo>
                    <a:pt x="51" y="548"/>
                  </a:lnTo>
                  <a:lnTo>
                    <a:pt x="83" y="519"/>
                  </a:lnTo>
                  <a:lnTo>
                    <a:pt x="191" y="505"/>
                  </a:lnTo>
                  <a:lnTo>
                    <a:pt x="191" y="534"/>
                  </a:lnTo>
                  <a:lnTo>
                    <a:pt x="254" y="570"/>
                  </a:lnTo>
                  <a:lnTo>
                    <a:pt x="260" y="555"/>
                  </a:lnTo>
                  <a:lnTo>
                    <a:pt x="362" y="555"/>
                  </a:lnTo>
                  <a:lnTo>
                    <a:pt x="368" y="512"/>
                  </a:lnTo>
                  <a:lnTo>
                    <a:pt x="317" y="505"/>
                  </a:lnTo>
                  <a:lnTo>
                    <a:pt x="311" y="469"/>
                  </a:lnTo>
                  <a:lnTo>
                    <a:pt x="337" y="447"/>
                  </a:lnTo>
                  <a:lnTo>
                    <a:pt x="400" y="462"/>
                  </a:lnTo>
                  <a:lnTo>
                    <a:pt x="375" y="418"/>
                  </a:lnTo>
                  <a:lnTo>
                    <a:pt x="381" y="397"/>
                  </a:lnTo>
                  <a:lnTo>
                    <a:pt x="356" y="404"/>
                  </a:lnTo>
                  <a:lnTo>
                    <a:pt x="362" y="411"/>
                  </a:lnTo>
                  <a:lnTo>
                    <a:pt x="343" y="426"/>
                  </a:lnTo>
                  <a:lnTo>
                    <a:pt x="337" y="397"/>
                  </a:lnTo>
                  <a:lnTo>
                    <a:pt x="324" y="404"/>
                  </a:lnTo>
                  <a:lnTo>
                    <a:pt x="311" y="462"/>
                  </a:lnTo>
                  <a:lnTo>
                    <a:pt x="273" y="469"/>
                  </a:lnTo>
                  <a:lnTo>
                    <a:pt x="279" y="490"/>
                  </a:lnTo>
                  <a:lnTo>
                    <a:pt x="273" y="512"/>
                  </a:lnTo>
                  <a:lnTo>
                    <a:pt x="248" y="447"/>
                  </a:lnTo>
                  <a:lnTo>
                    <a:pt x="210" y="404"/>
                  </a:lnTo>
                  <a:lnTo>
                    <a:pt x="203" y="426"/>
                  </a:lnTo>
                  <a:lnTo>
                    <a:pt x="241" y="469"/>
                  </a:lnTo>
                  <a:lnTo>
                    <a:pt x="229" y="469"/>
                  </a:lnTo>
                  <a:lnTo>
                    <a:pt x="222" y="490"/>
                  </a:lnTo>
                  <a:lnTo>
                    <a:pt x="222" y="469"/>
                  </a:lnTo>
                  <a:lnTo>
                    <a:pt x="184" y="433"/>
                  </a:lnTo>
                  <a:lnTo>
                    <a:pt x="114" y="476"/>
                  </a:lnTo>
                  <a:lnTo>
                    <a:pt x="102" y="505"/>
                  </a:lnTo>
                  <a:lnTo>
                    <a:pt x="70" y="505"/>
                  </a:lnTo>
                  <a:lnTo>
                    <a:pt x="51" y="483"/>
                  </a:lnTo>
                  <a:lnTo>
                    <a:pt x="64" y="440"/>
                  </a:lnTo>
                  <a:lnTo>
                    <a:pt x="102" y="433"/>
                  </a:lnTo>
                  <a:lnTo>
                    <a:pt x="108" y="404"/>
                  </a:lnTo>
                  <a:lnTo>
                    <a:pt x="89" y="382"/>
                  </a:lnTo>
                  <a:lnTo>
                    <a:pt x="146" y="346"/>
                  </a:lnTo>
                  <a:lnTo>
                    <a:pt x="178" y="317"/>
                  </a:lnTo>
                  <a:lnTo>
                    <a:pt x="171" y="289"/>
                  </a:lnTo>
                  <a:lnTo>
                    <a:pt x="184" y="281"/>
                  </a:lnTo>
                  <a:lnTo>
                    <a:pt x="184" y="310"/>
                  </a:lnTo>
                  <a:lnTo>
                    <a:pt x="254" y="303"/>
                  </a:lnTo>
                  <a:lnTo>
                    <a:pt x="254" y="274"/>
                  </a:lnTo>
                  <a:lnTo>
                    <a:pt x="273" y="281"/>
                  </a:lnTo>
                  <a:lnTo>
                    <a:pt x="305" y="245"/>
                  </a:lnTo>
                  <a:lnTo>
                    <a:pt x="254" y="238"/>
                  </a:lnTo>
                  <a:lnTo>
                    <a:pt x="273" y="181"/>
                  </a:lnTo>
                  <a:lnTo>
                    <a:pt x="254" y="173"/>
                  </a:lnTo>
                  <a:lnTo>
                    <a:pt x="216" y="296"/>
                  </a:lnTo>
                  <a:lnTo>
                    <a:pt x="203" y="296"/>
                  </a:lnTo>
                  <a:lnTo>
                    <a:pt x="191" y="245"/>
                  </a:lnTo>
                  <a:lnTo>
                    <a:pt x="159" y="267"/>
                  </a:lnTo>
                  <a:lnTo>
                    <a:pt x="152" y="231"/>
                  </a:lnTo>
                  <a:lnTo>
                    <a:pt x="229" y="123"/>
                  </a:lnTo>
                  <a:lnTo>
                    <a:pt x="279" y="101"/>
                  </a:lnTo>
                  <a:lnTo>
                    <a:pt x="368" y="152"/>
                  </a:lnTo>
                  <a:lnTo>
                    <a:pt x="356" y="166"/>
                  </a:lnTo>
                  <a:lnTo>
                    <a:pt x="324" y="159"/>
                  </a:lnTo>
                  <a:lnTo>
                    <a:pt x="356" y="195"/>
                  </a:lnTo>
                  <a:lnTo>
                    <a:pt x="394" y="166"/>
                  </a:lnTo>
                  <a:lnTo>
                    <a:pt x="387" y="137"/>
                  </a:lnTo>
                  <a:lnTo>
                    <a:pt x="406" y="144"/>
                  </a:lnTo>
                  <a:lnTo>
                    <a:pt x="406" y="159"/>
                  </a:lnTo>
                  <a:lnTo>
                    <a:pt x="489" y="137"/>
                  </a:lnTo>
                  <a:lnTo>
                    <a:pt x="476" y="116"/>
                  </a:lnTo>
                  <a:lnTo>
                    <a:pt x="533" y="137"/>
                  </a:lnTo>
                  <a:lnTo>
                    <a:pt x="533" y="72"/>
                  </a:lnTo>
                  <a:lnTo>
                    <a:pt x="552" y="72"/>
                  </a:lnTo>
                  <a:lnTo>
                    <a:pt x="552" y="94"/>
                  </a:lnTo>
                  <a:lnTo>
                    <a:pt x="565" y="137"/>
                  </a:lnTo>
                  <a:lnTo>
                    <a:pt x="552" y="166"/>
                  </a:lnTo>
                  <a:lnTo>
                    <a:pt x="578" y="152"/>
                  </a:lnTo>
                  <a:lnTo>
                    <a:pt x="578" y="137"/>
                  </a:lnTo>
                  <a:lnTo>
                    <a:pt x="590" y="144"/>
                  </a:lnTo>
                  <a:lnTo>
                    <a:pt x="597" y="137"/>
                  </a:lnTo>
                  <a:lnTo>
                    <a:pt x="571" y="116"/>
                  </a:lnTo>
                  <a:lnTo>
                    <a:pt x="565" y="65"/>
                  </a:lnTo>
                  <a:lnTo>
                    <a:pt x="622" y="101"/>
                  </a:lnTo>
                  <a:lnTo>
                    <a:pt x="603" y="65"/>
                  </a:lnTo>
                  <a:lnTo>
                    <a:pt x="724" y="0"/>
                  </a:lnTo>
                  <a:lnTo>
                    <a:pt x="787" y="29"/>
                  </a:lnTo>
                  <a:lnTo>
                    <a:pt x="774" y="51"/>
                  </a:lnTo>
                  <a:lnTo>
                    <a:pt x="895" y="65"/>
                  </a:lnTo>
                  <a:lnTo>
                    <a:pt x="901" y="87"/>
                  </a:lnTo>
                  <a:lnTo>
                    <a:pt x="971" y="87"/>
                  </a:lnTo>
                  <a:lnTo>
                    <a:pt x="971" y="65"/>
                  </a:lnTo>
                  <a:lnTo>
                    <a:pt x="1079" y="101"/>
                  </a:lnTo>
                  <a:lnTo>
                    <a:pt x="1105" y="116"/>
                  </a:lnTo>
                  <a:lnTo>
                    <a:pt x="1187" y="108"/>
                  </a:lnTo>
                  <a:lnTo>
                    <a:pt x="1295" y="152"/>
                  </a:lnTo>
                  <a:lnTo>
                    <a:pt x="1289" y="173"/>
                  </a:lnTo>
                  <a:lnTo>
                    <a:pt x="1238" y="166"/>
                  </a:lnTo>
                  <a:lnTo>
                    <a:pt x="1225" y="173"/>
                  </a:lnTo>
                  <a:lnTo>
                    <a:pt x="1250" y="202"/>
                  </a:lnTo>
                  <a:lnTo>
                    <a:pt x="1231" y="202"/>
                  </a:lnTo>
                  <a:lnTo>
                    <a:pt x="1206" y="231"/>
                  </a:lnTo>
                  <a:lnTo>
                    <a:pt x="1162" y="238"/>
                  </a:lnTo>
                  <a:lnTo>
                    <a:pt x="1155" y="253"/>
                  </a:lnTo>
                  <a:lnTo>
                    <a:pt x="1168" y="274"/>
                  </a:lnTo>
                  <a:lnTo>
                    <a:pt x="1162" y="317"/>
                  </a:lnTo>
                  <a:lnTo>
                    <a:pt x="1149" y="317"/>
                  </a:lnTo>
                  <a:lnTo>
                    <a:pt x="1143" y="339"/>
                  </a:lnTo>
                  <a:lnTo>
                    <a:pt x="1124" y="289"/>
                  </a:lnTo>
                  <a:lnTo>
                    <a:pt x="1124" y="260"/>
                  </a:lnTo>
                  <a:lnTo>
                    <a:pt x="1162" y="202"/>
                  </a:lnTo>
                  <a:lnTo>
                    <a:pt x="1149" y="202"/>
                  </a:lnTo>
                  <a:lnTo>
                    <a:pt x="1136" y="224"/>
                  </a:lnTo>
                  <a:lnTo>
                    <a:pt x="1130" y="217"/>
                  </a:lnTo>
                  <a:lnTo>
                    <a:pt x="1111" y="217"/>
                  </a:lnTo>
                  <a:lnTo>
                    <a:pt x="1105" y="231"/>
                  </a:lnTo>
                  <a:lnTo>
                    <a:pt x="1105" y="245"/>
                  </a:lnTo>
                  <a:lnTo>
                    <a:pt x="1092" y="245"/>
                  </a:lnTo>
                  <a:lnTo>
                    <a:pt x="1060" y="238"/>
                  </a:lnTo>
                  <a:lnTo>
                    <a:pt x="1028" y="245"/>
                  </a:lnTo>
                  <a:lnTo>
                    <a:pt x="1003" y="296"/>
                  </a:lnTo>
                  <a:lnTo>
                    <a:pt x="1047" y="325"/>
                  </a:lnTo>
                  <a:lnTo>
                    <a:pt x="1054" y="368"/>
                  </a:lnTo>
                  <a:lnTo>
                    <a:pt x="1028" y="426"/>
                  </a:lnTo>
                  <a:lnTo>
                    <a:pt x="1003" y="433"/>
                  </a:lnTo>
                  <a:lnTo>
                    <a:pt x="978" y="469"/>
                  </a:lnTo>
                  <a:lnTo>
                    <a:pt x="997" y="483"/>
                  </a:lnTo>
                  <a:lnTo>
                    <a:pt x="1003" y="505"/>
                  </a:lnTo>
                  <a:lnTo>
                    <a:pt x="997" y="519"/>
                  </a:lnTo>
                  <a:lnTo>
                    <a:pt x="984" y="519"/>
                  </a:lnTo>
                  <a:lnTo>
                    <a:pt x="978" y="490"/>
                  </a:lnTo>
                  <a:lnTo>
                    <a:pt x="965" y="469"/>
                  </a:lnTo>
                  <a:lnTo>
                    <a:pt x="939" y="462"/>
                  </a:lnTo>
                  <a:lnTo>
                    <a:pt x="920" y="476"/>
                  </a:lnTo>
                  <a:lnTo>
                    <a:pt x="952" y="490"/>
                  </a:lnTo>
                  <a:lnTo>
                    <a:pt x="946" y="527"/>
                  </a:lnTo>
                  <a:lnTo>
                    <a:pt x="965" y="570"/>
                  </a:lnTo>
                  <a:lnTo>
                    <a:pt x="927" y="635"/>
                  </a:lnTo>
                  <a:lnTo>
                    <a:pt x="895" y="649"/>
                  </a:lnTo>
                  <a:lnTo>
                    <a:pt x="889" y="664"/>
                  </a:lnTo>
                  <a:lnTo>
                    <a:pt x="882" y="649"/>
                  </a:lnTo>
                  <a:lnTo>
                    <a:pt x="857" y="671"/>
                  </a:lnTo>
                  <a:lnTo>
                    <a:pt x="882" y="700"/>
                  </a:lnTo>
                  <a:lnTo>
                    <a:pt x="889" y="721"/>
                  </a:lnTo>
                  <a:lnTo>
                    <a:pt x="857" y="757"/>
                  </a:lnTo>
                  <a:lnTo>
                    <a:pt x="857" y="743"/>
                  </a:lnTo>
                  <a:lnTo>
                    <a:pt x="825" y="714"/>
                  </a:lnTo>
                  <a:lnTo>
                    <a:pt x="819" y="750"/>
                  </a:lnTo>
                  <a:lnTo>
                    <a:pt x="851" y="793"/>
                  </a:lnTo>
                  <a:lnTo>
                    <a:pt x="857" y="829"/>
                  </a:lnTo>
                  <a:lnTo>
                    <a:pt x="838" y="815"/>
                  </a:lnTo>
                  <a:lnTo>
                    <a:pt x="813" y="764"/>
                  </a:lnTo>
                  <a:lnTo>
                    <a:pt x="800" y="685"/>
                  </a:lnTo>
                  <a:lnTo>
                    <a:pt x="781" y="700"/>
                  </a:lnTo>
                  <a:lnTo>
                    <a:pt x="755" y="635"/>
                  </a:lnTo>
                  <a:lnTo>
                    <a:pt x="724" y="649"/>
                  </a:lnTo>
                  <a:lnTo>
                    <a:pt x="679" y="707"/>
                  </a:lnTo>
                  <a:lnTo>
                    <a:pt x="679" y="743"/>
                  </a:lnTo>
                  <a:lnTo>
                    <a:pt x="660" y="764"/>
                  </a:lnTo>
                  <a:lnTo>
                    <a:pt x="641" y="714"/>
                  </a:lnTo>
                  <a:lnTo>
                    <a:pt x="628" y="700"/>
                  </a:lnTo>
                  <a:lnTo>
                    <a:pt x="622" y="649"/>
                  </a:lnTo>
                  <a:lnTo>
                    <a:pt x="603" y="649"/>
                  </a:lnTo>
                  <a:lnTo>
                    <a:pt x="578" y="613"/>
                  </a:lnTo>
                  <a:lnTo>
                    <a:pt x="514" y="613"/>
                  </a:lnTo>
                  <a:lnTo>
                    <a:pt x="508" y="599"/>
                  </a:lnTo>
                  <a:lnTo>
                    <a:pt x="502" y="599"/>
                  </a:lnTo>
                  <a:lnTo>
                    <a:pt x="457" y="570"/>
                  </a:lnTo>
                  <a:lnTo>
                    <a:pt x="482" y="627"/>
                  </a:lnTo>
                  <a:lnTo>
                    <a:pt x="508" y="613"/>
                  </a:lnTo>
                  <a:lnTo>
                    <a:pt x="514" y="627"/>
                  </a:lnTo>
                  <a:lnTo>
                    <a:pt x="533" y="649"/>
                  </a:lnTo>
                  <a:lnTo>
                    <a:pt x="495" y="685"/>
                  </a:lnTo>
                  <a:lnTo>
                    <a:pt x="482" y="707"/>
                  </a:lnTo>
                  <a:lnTo>
                    <a:pt x="432" y="728"/>
                  </a:lnTo>
                  <a:lnTo>
                    <a:pt x="394" y="635"/>
                  </a:lnTo>
                  <a:lnTo>
                    <a:pt x="387" y="627"/>
                  </a:lnTo>
                  <a:lnTo>
                    <a:pt x="368" y="577"/>
                  </a:lnTo>
                  <a:lnTo>
                    <a:pt x="356" y="591"/>
                  </a:lnTo>
                  <a:lnTo>
                    <a:pt x="343" y="577"/>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58" name="Freeform 12"/>
            <p:cNvSpPr>
              <a:spLocks/>
            </p:cNvSpPr>
            <p:nvPr/>
          </p:nvSpPr>
          <p:spPr bwMode="auto">
            <a:xfrm>
              <a:off x="4214" y="79"/>
              <a:ext cx="1295" cy="1175"/>
            </a:xfrm>
            <a:custGeom>
              <a:avLst/>
              <a:gdLst>
                <a:gd name="T0" fmla="*/ 381 w 1295"/>
                <a:gd name="T1" fmla="*/ 671 h 1175"/>
                <a:gd name="T2" fmla="*/ 406 w 1295"/>
                <a:gd name="T3" fmla="*/ 901 h 1175"/>
                <a:gd name="T4" fmla="*/ 356 w 1295"/>
                <a:gd name="T5" fmla="*/ 1096 h 1175"/>
                <a:gd name="T6" fmla="*/ 210 w 1295"/>
                <a:gd name="T7" fmla="*/ 1002 h 1175"/>
                <a:gd name="T8" fmla="*/ 165 w 1295"/>
                <a:gd name="T9" fmla="*/ 808 h 1175"/>
                <a:gd name="T10" fmla="*/ 0 w 1295"/>
                <a:gd name="T11" fmla="*/ 664 h 1175"/>
                <a:gd name="T12" fmla="*/ 191 w 1295"/>
                <a:gd name="T13" fmla="*/ 534 h 1175"/>
                <a:gd name="T14" fmla="*/ 368 w 1295"/>
                <a:gd name="T15" fmla="*/ 512 h 1175"/>
                <a:gd name="T16" fmla="*/ 400 w 1295"/>
                <a:gd name="T17" fmla="*/ 462 h 1175"/>
                <a:gd name="T18" fmla="*/ 362 w 1295"/>
                <a:gd name="T19" fmla="*/ 411 h 1175"/>
                <a:gd name="T20" fmla="*/ 311 w 1295"/>
                <a:gd name="T21" fmla="*/ 462 h 1175"/>
                <a:gd name="T22" fmla="*/ 248 w 1295"/>
                <a:gd name="T23" fmla="*/ 447 h 1175"/>
                <a:gd name="T24" fmla="*/ 229 w 1295"/>
                <a:gd name="T25" fmla="*/ 469 h 1175"/>
                <a:gd name="T26" fmla="*/ 114 w 1295"/>
                <a:gd name="T27" fmla="*/ 476 h 1175"/>
                <a:gd name="T28" fmla="*/ 64 w 1295"/>
                <a:gd name="T29" fmla="*/ 440 h 1175"/>
                <a:gd name="T30" fmla="*/ 146 w 1295"/>
                <a:gd name="T31" fmla="*/ 346 h 1175"/>
                <a:gd name="T32" fmla="*/ 184 w 1295"/>
                <a:gd name="T33" fmla="*/ 310 h 1175"/>
                <a:gd name="T34" fmla="*/ 305 w 1295"/>
                <a:gd name="T35" fmla="*/ 245 h 1175"/>
                <a:gd name="T36" fmla="*/ 216 w 1295"/>
                <a:gd name="T37" fmla="*/ 296 h 1175"/>
                <a:gd name="T38" fmla="*/ 152 w 1295"/>
                <a:gd name="T39" fmla="*/ 231 h 1175"/>
                <a:gd name="T40" fmla="*/ 356 w 1295"/>
                <a:gd name="T41" fmla="*/ 166 h 1175"/>
                <a:gd name="T42" fmla="*/ 387 w 1295"/>
                <a:gd name="T43" fmla="*/ 137 h 1175"/>
                <a:gd name="T44" fmla="*/ 476 w 1295"/>
                <a:gd name="T45" fmla="*/ 116 h 1175"/>
                <a:gd name="T46" fmla="*/ 552 w 1295"/>
                <a:gd name="T47" fmla="*/ 94 h 1175"/>
                <a:gd name="T48" fmla="*/ 578 w 1295"/>
                <a:gd name="T49" fmla="*/ 137 h 1175"/>
                <a:gd name="T50" fmla="*/ 565 w 1295"/>
                <a:gd name="T51" fmla="*/ 65 h 1175"/>
                <a:gd name="T52" fmla="*/ 787 w 1295"/>
                <a:gd name="T53" fmla="*/ 29 h 1175"/>
                <a:gd name="T54" fmla="*/ 971 w 1295"/>
                <a:gd name="T55" fmla="*/ 87 h 1175"/>
                <a:gd name="T56" fmla="*/ 1187 w 1295"/>
                <a:gd name="T57" fmla="*/ 108 h 1175"/>
                <a:gd name="T58" fmla="*/ 1225 w 1295"/>
                <a:gd name="T59" fmla="*/ 173 h 1175"/>
                <a:gd name="T60" fmla="*/ 1162 w 1295"/>
                <a:gd name="T61" fmla="*/ 238 h 1175"/>
                <a:gd name="T62" fmla="*/ 1149 w 1295"/>
                <a:gd name="T63" fmla="*/ 317 h 1175"/>
                <a:gd name="T64" fmla="*/ 1162 w 1295"/>
                <a:gd name="T65" fmla="*/ 202 h 1175"/>
                <a:gd name="T66" fmla="*/ 1111 w 1295"/>
                <a:gd name="T67" fmla="*/ 217 h 1175"/>
                <a:gd name="T68" fmla="*/ 1060 w 1295"/>
                <a:gd name="T69" fmla="*/ 238 h 1175"/>
                <a:gd name="T70" fmla="*/ 1054 w 1295"/>
                <a:gd name="T71" fmla="*/ 368 h 1175"/>
                <a:gd name="T72" fmla="*/ 997 w 1295"/>
                <a:gd name="T73" fmla="*/ 483 h 1175"/>
                <a:gd name="T74" fmla="*/ 978 w 1295"/>
                <a:gd name="T75" fmla="*/ 490 h 1175"/>
                <a:gd name="T76" fmla="*/ 952 w 1295"/>
                <a:gd name="T77" fmla="*/ 490 h 1175"/>
                <a:gd name="T78" fmla="*/ 895 w 1295"/>
                <a:gd name="T79" fmla="*/ 649 h 1175"/>
                <a:gd name="T80" fmla="*/ 882 w 1295"/>
                <a:gd name="T81" fmla="*/ 700 h 1175"/>
                <a:gd name="T82" fmla="*/ 825 w 1295"/>
                <a:gd name="T83" fmla="*/ 714 h 1175"/>
                <a:gd name="T84" fmla="*/ 838 w 1295"/>
                <a:gd name="T85" fmla="*/ 815 h 1175"/>
                <a:gd name="T86" fmla="*/ 755 w 1295"/>
                <a:gd name="T87" fmla="*/ 635 h 1175"/>
                <a:gd name="T88" fmla="*/ 660 w 1295"/>
                <a:gd name="T89" fmla="*/ 764 h 1175"/>
                <a:gd name="T90" fmla="*/ 603 w 1295"/>
                <a:gd name="T91" fmla="*/ 649 h 1175"/>
                <a:gd name="T92" fmla="*/ 502 w 1295"/>
                <a:gd name="T93" fmla="*/ 599 h 1175"/>
                <a:gd name="T94" fmla="*/ 514 w 1295"/>
                <a:gd name="T95" fmla="*/ 627 h 1175"/>
                <a:gd name="T96" fmla="*/ 432 w 1295"/>
                <a:gd name="T97" fmla="*/ 728 h 1175"/>
                <a:gd name="T98" fmla="*/ 356 w 1295"/>
                <a:gd name="T99" fmla="*/ 591 h 117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295"/>
                <a:gd name="T151" fmla="*/ 0 h 1175"/>
                <a:gd name="T152" fmla="*/ 1295 w 1295"/>
                <a:gd name="T153" fmla="*/ 1175 h 1175"/>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295" h="1175">
                  <a:moveTo>
                    <a:pt x="343" y="577"/>
                  </a:moveTo>
                  <a:lnTo>
                    <a:pt x="375" y="642"/>
                  </a:lnTo>
                  <a:lnTo>
                    <a:pt x="381" y="649"/>
                  </a:lnTo>
                  <a:lnTo>
                    <a:pt x="381" y="671"/>
                  </a:lnTo>
                  <a:lnTo>
                    <a:pt x="438" y="750"/>
                  </a:lnTo>
                  <a:lnTo>
                    <a:pt x="476" y="743"/>
                  </a:lnTo>
                  <a:lnTo>
                    <a:pt x="470" y="793"/>
                  </a:lnTo>
                  <a:lnTo>
                    <a:pt x="406" y="901"/>
                  </a:lnTo>
                  <a:lnTo>
                    <a:pt x="413" y="995"/>
                  </a:lnTo>
                  <a:lnTo>
                    <a:pt x="368" y="1038"/>
                  </a:lnTo>
                  <a:lnTo>
                    <a:pt x="375" y="1082"/>
                  </a:lnTo>
                  <a:lnTo>
                    <a:pt x="356" y="1096"/>
                  </a:lnTo>
                  <a:lnTo>
                    <a:pt x="317" y="1168"/>
                  </a:lnTo>
                  <a:lnTo>
                    <a:pt x="260" y="1175"/>
                  </a:lnTo>
                  <a:lnTo>
                    <a:pt x="229" y="1103"/>
                  </a:lnTo>
                  <a:lnTo>
                    <a:pt x="210" y="1002"/>
                  </a:lnTo>
                  <a:lnTo>
                    <a:pt x="222" y="952"/>
                  </a:lnTo>
                  <a:lnTo>
                    <a:pt x="191" y="873"/>
                  </a:lnTo>
                  <a:lnTo>
                    <a:pt x="184" y="808"/>
                  </a:lnTo>
                  <a:lnTo>
                    <a:pt x="165" y="808"/>
                  </a:lnTo>
                  <a:lnTo>
                    <a:pt x="152" y="793"/>
                  </a:lnTo>
                  <a:lnTo>
                    <a:pt x="64" y="808"/>
                  </a:lnTo>
                  <a:lnTo>
                    <a:pt x="6" y="736"/>
                  </a:lnTo>
                  <a:lnTo>
                    <a:pt x="0" y="664"/>
                  </a:lnTo>
                  <a:lnTo>
                    <a:pt x="51" y="548"/>
                  </a:lnTo>
                  <a:lnTo>
                    <a:pt x="83" y="519"/>
                  </a:lnTo>
                  <a:lnTo>
                    <a:pt x="191" y="505"/>
                  </a:lnTo>
                  <a:lnTo>
                    <a:pt x="191" y="534"/>
                  </a:lnTo>
                  <a:lnTo>
                    <a:pt x="254" y="570"/>
                  </a:lnTo>
                  <a:lnTo>
                    <a:pt x="260" y="555"/>
                  </a:lnTo>
                  <a:lnTo>
                    <a:pt x="362" y="555"/>
                  </a:lnTo>
                  <a:lnTo>
                    <a:pt x="368" y="512"/>
                  </a:lnTo>
                  <a:lnTo>
                    <a:pt x="317" y="505"/>
                  </a:lnTo>
                  <a:lnTo>
                    <a:pt x="311" y="469"/>
                  </a:lnTo>
                  <a:lnTo>
                    <a:pt x="337" y="447"/>
                  </a:lnTo>
                  <a:lnTo>
                    <a:pt x="400" y="462"/>
                  </a:lnTo>
                  <a:lnTo>
                    <a:pt x="375" y="418"/>
                  </a:lnTo>
                  <a:lnTo>
                    <a:pt x="381" y="397"/>
                  </a:lnTo>
                  <a:lnTo>
                    <a:pt x="356" y="404"/>
                  </a:lnTo>
                  <a:lnTo>
                    <a:pt x="362" y="411"/>
                  </a:lnTo>
                  <a:lnTo>
                    <a:pt x="343" y="426"/>
                  </a:lnTo>
                  <a:lnTo>
                    <a:pt x="337" y="397"/>
                  </a:lnTo>
                  <a:lnTo>
                    <a:pt x="324" y="404"/>
                  </a:lnTo>
                  <a:lnTo>
                    <a:pt x="311" y="462"/>
                  </a:lnTo>
                  <a:lnTo>
                    <a:pt x="273" y="469"/>
                  </a:lnTo>
                  <a:lnTo>
                    <a:pt x="279" y="490"/>
                  </a:lnTo>
                  <a:lnTo>
                    <a:pt x="273" y="512"/>
                  </a:lnTo>
                  <a:lnTo>
                    <a:pt x="248" y="447"/>
                  </a:lnTo>
                  <a:lnTo>
                    <a:pt x="210" y="404"/>
                  </a:lnTo>
                  <a:lnTo>
                    <a:pt x="203" y="426"/>
                  </a:lnTo>
                  <a:lnTo>
                    <a:pt x="241" y="469"/>
                  </a:lnTo>
                  <a:lnTo>
                    <a:pt x="229" y="469"/>
                  </a:lnTo>
                  <a:lnTo>
                    <a:pt x="222" y="490"/>
                  </a:lnTo>
                  <a:lnTo>
                    <a:pt x="222" y="469"/>
                  </a:lnTo>
                  <a:lnTo>
                    <a:pt x="184" y="433"/>
                  </a:lnTo>
                  <a:lnTo>
                    <a:pt x="114" y="476"/>
                  </a:lnTo>
                  <a:lnTo>
                    <a:pt x="102" y="505"/>
                  </a:lnTo>
                  <a:lnTo>
                    <a:pt x="70" y="505"/>
                  </a:lnTo>
                  <a:lnTo>
                    <a:pt x="51" y="483"/>
                  </a:lnTo>
                  <a:lnTo>
                    <a:pt x="64" y="440"/>
                  </a:lnTo>
                  <a:lnTo>
                    <a:pt x="102" y="433"/>
                  </a:lnTo>
                  <a:lnTo>
                    <a:pt x="108" y="404"/>
                  </a:lnTo>
                  <a:lnTo>
                    <a:pt x="89" y="382"/>
                  </a:lnTo>
                  <a:lnTo>
                    <a:pt x="146" y="346"/>
                  </a:lnTo>
                  <a:lnTo>
                    <a:pt x="178" y="317"/>
                  </a:lnTo>
                  <a:lnTo>
                    <a:pt x="171" y="289"/>
                  </a:lnTo>
                  <a:lnTo>
                    <a:pt x="184" y="281"/>
                  </a:lnTo>
                  <a:lnTo>
                    <a:pt x="184" y="310"/>
                  </a:lnTo>
                  <a:lnTo>
                    <a:pt x="254" y="303"/>
                  </a:lnTo>
                  <a:lnTo>
                    <a:pt x="254" y="274"/>
                  </a:lnTo>
                  <a:lnTo>
                    <a:pt x="273" y="281"/>
                  </a:lnTo>
                  <a:lnTo>
                    <a:pt x="305" y="245"/>
                  </a:lnTo>
                  <a:lnTo>
                    <a:pt x="254" y="238"/>
                  </a:lnTo>
                  <a:lnTo>
                    <a:pt x="273" y="181"/>
                  </a:lnTo>
                  <a:lnTo>
                    <a:pt x="254" y="173"/>
                  </a:lnTo>
                  <a:lnTo>
                    <a:pt x="216" y="296"/>
                  </a:lnTo>
                  <a:lnTo>
                    <a:pt x="203" y="296"/>
                  </a:lnTo>
                  <a:lnTo>
                    <a:pt x="191" y="245"/>
                  </a:lnTo>
                  <a:lnTo>
                    <a:pt x="159" y="267"/>
                  </a:lnTo>
                  <a:lnTo>
                    <a:pt x="152" y="231"/>
                  </a:lnTo>
                  <a:lnTo>
                    <a:pt x="229" y="123"/>
                  </a:lnTo>
                  <a:lnTo>
                    <a:pt x="279" y="101"/>
                  </a:lnTo>
                  <a:lnTo>
                    <a:pt x="368" y="152"/>
                  </a:lnTo>
                  <a:lnTo>
                    <a:pt x="356" y="166"/>
                  </a:lnTo>
                  <a:lnTo>
                    <a:pt x="324" y="159"/>
                  </a:lnTo>
                  <a:lnTo>
                    <a:pt x="356" y="195"/>
                  </a:lnTo>
                  <a:lnTo>
                    <a:pt x="394" y="166"/>
                  </a:lnTo>
                  <a:lnTo>
                    <a:pt x="387" y="137"/>
                  </a:lnTo>
                  <a:lnTo>
                    <a:pt x="406" y="144"/>
                  </a:lnTo>
                  <a:lnTo>
                    <a:pt x="406" y="159"/>
                  </a:lnTo>
                  <a:lnTo>
                    <a:pt x="489" y="137"/>
                  </a:lnTo>
                  <a:lnTo>
                    <a:pt x="476" y="116"/>
                  </a:lnTo>
                  <a:lnTo>
                    <a:pt x="533" y="137"/>
                  </a:lnTo>
                  <a:lnTo>
                    <a:pt x="533" y="72"/>
                  </a:lnTo>
                  <a:lnTo>
                    <a:pt x="552" y="72"/>
                  </a:lnTo>
                  <a:lnTo>
                    <a:pt x="552" y="94"/>
                  </a:lnTo>
                  <a:lnTo>
                    <a:pt x="565" y="137"/>
                  </a:lnTo>
                  <a:lnTo>
                    <a:pt x="552" y="166"/>
                  </a:lnTo>
                  <a:lnTo>
                    <a:pt x="578" y="152"/>
                  </a:lnTo>
                  <a:lnTo>
                    <a:pt x="578" y="137"/>
                  </a:lnTo>
                  <a:lnTo>
                    <a:pt x="590" y="144"/>
                  </a:lnTo>
                  <a:lnTo>
                    <a:pt x="597" y="137"/>
                  </a:lnTo>
                  <a:lnTo>
                    <a:pt x="571" y="116"/>
                  </a:lnTo>
                  <a:lnTo>
                    <a:pt x="565" y="65"/>
                  </a:lnTo>
                  <a:lnTo>
                    <a:pt x="622" y="101"/>
                  </a:lnTo>
                  <a:lnTo>
                    <a:pt x="603" y="65"/>
                  </a:lnTo>
                  <a:lnTo>
                    <a:pt x="724" y="0"/>
                  </a:lnTo>
                  <a:lnTo>
                    <a:pt x="787" y="29"/>
                  </a:lnTo>
                  <a:lnTo>
                    <a:pt x="774" y="51"/>
                  </a:lnTo>
                  <a:lnTo>
                    <a:pt x="895" y="65"/>
                  </a:lnTo>
                  <a:lnTo>
                    <a:pt x="901" y="87"/>
                  </a:lnTo>
                  <a:lnTo>
                    <a:pt x="971" y="87"/>
                  </a:lnTo>
                  <a:lnTo>
                    <a:pt x="971" y="65"/>
                  </a:lnTo>
                  <a:lnTo>
                    <a:pt x="1079" y="101"/>
                  </a:lnTo>
                  <a:lnTo>
                    <a:pt x="1105" y="116"/>
                  </a:lnTo>
                  <a:lnTo>
                    <a:pt x="1187" y="108"/>
                  </a:lnTo>
                  <a:lnTo>
                    <a:pt x="1295" y="152"/>
                  </a:lnTo>
                  <a:lnTo>
                    <a:pt x="1289" y="173"/>
                  </a:lnTo>
                  <a:lnTo>
                    <a:pt x="1238" y="166"/>
                  </a:lnTo>
                  <a:lnTo>
                    <a:pt x="1225" y="173"/>
                  </a:lnTo>
                  <a:lnTo>
                    <a:pt x="1250" y="202"/>
                  </a:lnTo>
                  <a:lnTo>
                    <a:pt x="1231" y="202"/>
                  </a:lnTo>
                  <a:lnTo>
                    <a:pt x="1206" y="231"/>
                  </a:lnTo>
                  <a:lnTo>
                    <a:pt x="1162" y="238"/>
                  </a:lnTo>
                  <a:lnTo>
                    <a:pt x="1155" y="253"/>
                  </a:lnTo>
                  <a:lnTo>
                    <a:pt x="1168" y="274"/>
                  </a:lnTo>
                  <a:lnTo>
                    <a:pt x="1162" y="317"/>
                  </a:lnTo>
                  <a:lnTo>
                    <a:pt x="1149" y="317"/>
                  </a:lnTo>
                  <a:lnTo>
                    <a:pt x="1143" y="339"/>
                  </a:lnTo>
                  <a:lnTo>
                    <a:pt x="1124" y="289"/>
                  </a:lnTo>
                  <a:lnTo>
                    <a:pt x="1124" y="260"/>
                  </a:lnTo>
                  <a:lnTo>
                    <a:pt x="1162" y="202"/>
                  </a:lnTo>
                  <a:lnTo>
                    <a:pt x="1149" y="202"/>
                  </a:lnTo>
                  <a:lnTo>
                    <a:pt x="1136" y="224"/>
                  </a:lnTo>
                  <a:lnTo>
                    <a:pt x="1130" y="217"/>
                  </a:lnTo>
                  <a:lnTo>
                    <a:pt x="1111" y="217"/>
                  </a:lnTo>
                  <a:lnTo>
                    <a:pt x="1105" y="231"/>
                  </a:lnTo>
                  <a:lnTo>
                    <a:pt x="1105" y="245"/>
                  </a:lnTo>
                  <a:lnTo>
                    <a:pt x="1092" y="245"/>
                  </a:lnTo>
                  <a:lnTo>
                    <a:pt x="1060" y="238"/>
                  </a:lnTo>
                  <a:lnTo>
                    <a:pt x="1028" y="245"/>
                  </a:lnTo>
                  <a:lnTo>
                    <a:pt x="1003" y="296"/>
                  </a:lnTo>
                  <a:lnTo>
                    <a:pt x="1047" y="325"/>
                  </a:lnTo>
                  <a:lnTo>
                    <a:pt x="1054" y="368"/>
                  </a:lnTo>
                  <a:lnTo>
                    <a:pt x="1028" y="426"/>
                  </a:lnTo>
                  <a:lnTo>
                    <a:pt x="1003" y="433"/>
                  </a:lnTo>
                  <a:lnTo>
                    <a:pt x="978" y="469"/>
                  </a:lnTo>
                  <a:lnTo>
                    <a:pt x="997" y="483"/>
                  </a:lnTo>
                  <a:lnTo>
                    <a:pt x="1003" y="505"/>
                  </a:lnTo>
                  <a:lnTo>
                    <a:pt x="997" y="519"/>
                  </a:lnTo>
                  <a:lnTo>
                    <a:pt x="984" y="519"/>
                  </a:lnTo>
                  <a:lnTo>
                    <a:pt x="978" y="490"/>
                  </a:lnTo>
                  <a:lnTo>
                    <a:pt x="965" y="469"/>
                  </a:lnTo>
                  <a:lnTo>
                    <a:pt x="939" y="462"/>
                  </a:lnTo>
                  <a:lnTo>
                    <a:pt x="920" y="476"/>
                  </a:lnTo>
                  <a:lnTo>
                    <a:pt x="952" y="490"/>
                  </a:lnTo>
                  <a:lnTo>
                    <a:pt x="946" y="527"/>
                  </a:lnTo>
                  <a:lnTo>
                    <a:pt x="965" y="570"/>
                  </a:lnTo>
                  <a:lnTo>
                    <a:pt x="927" y="635"/>
                  </a:lnTo>
                  <a:lnTo>
                    <a:pt x="895" y="649"/>
                  </a:lnTo>
                  <a:lnTo>
                    <a:pt x="889" y="664"/>
                  </a:lnTo>
                  <a:lnTo>
                    <a:pt x="882" y="649"/>
                  </a:lnTo>
                  <a:lnTo>
                    <a:pt x="857" y="671"/>
                  </a:lnTo>
                  <a:lnTo>
                    <a:pt x="882" y="700"/>
                  </a:lnTo>
                  <a:lnTo>
                    <a:pt x="889" y="721"/>
                  </a:lnTo>
                  <a:lnTo>
                    <a:pt x="857" y="757"/>
                  </a:lnTo>
                  <a:lnTo>
                    <a:pt x="857" y="743"/>
                  </a:lnTo>
                  <a:lnTo>
                    <a:pt x="825" y="714"/>
                  </a:lnTo>
                  <a:lnTo>
                    <a:pt x="819" y="750"/>
                  </a:lnTo>
                  <a:lnTo>
                    <a:pt x="851" y="793"/>
                  </a:lnTo>
                  <a:lnTo>
                    <a:pt x="857" y="829"/>
                  </a:lnTo>
                  <a:lnTo>
                    <a:pt x="838" y="815"/>
                  </a:lnTo>
                  <a:lnTo>
                    <a:pt x="813" y="764"/>
                  </a:lnTo>
                  <a:lnTo>
                    <a:pt x="800" y="685"/>
                  </a:lnTo>
                  <a:lnTo>
                    <a:pt x="781" y="700"/>
                  </a:lnTo>
                  <a:lnTo>
                    <a:pt x="755" y="635"/>
                  </a:lnTo>
                  <a:lnTo>
                    <a:pt x="724" y="649"/>
                  </a:lnTo>
                  <a:lnTo>
                    <a:pt x="679" y="707"/>
                  </a:lnTo>
                  <a:lnTo>
                    <a:pt x="679" y="743"/>
                  </a:lnTo>
                  <a:lnTo>
                    <a:pt x="660" y="764"/>
                  </a:lnTo>
                  <a:lnTo>
                    <a:pt x="641" y="714"/>
                  </a:lnTo>
                  <a:lnTo>
                    <a:pt x="628" y="700"/>
                  </a:lnTo>
                  <a:lnTo>
                    <a:pt x="622" y="649"/>
                  </a:lnTo>
                  <a:lnTo>
                    <a:pt x="603" y="649"/>
                  </a:lnTo>
                  <a:lnTo>
                    <a:pt x="578" y="613"/>
                  </a:lnTo>
                  <a:lnTo>
                    <a:pt x="514" y="613"/>
                  </a:lnTo>
                  <a:lnTo>
                    <a:pt x="508" y="599"/>
                  </a:lnTo>
                  <a:lnTo>
                    <a:pt x="502" y="599"/>
                  </a:lnTo>
                  <a:lnTo>
                    <a:pt x="457" y="570"/>
                  </a:lnTo>
                  <a:lnTo>
                    <a:pt x="482" y="627"/>
                  </a:lnTo>
                  <a:lnTo>
                    <a:pt x="508" y="613"/>
                  </a:lnTo>
                  <a:lnTo>
                    <a:pt x="514" y="627"/>
                  </a:lnTo>
                  <a:lnTo>
                    <a:pt x="533" y="649"/>
                  </a:lnTo>
                  <a:lnTo>
                    <a:pt x="495" y="685"/>
                  </a:lnTo>
                  <a:lnTo>
                    <a:pt x="482" y="707"/>
                  </a:lnTo>
                  <a:lnTo>
                    <a:pt x="432" y="728"/>
                  </a:lnTo>
                  <a:lnTo>
                    <a:pt x="394" y="635"/>
                  </a:lnTo>
                  <a:lnTo>
                    <a:pt x="387" y="627"/>
                  </a:lnTo>
                  <a:lnTo>
                    <a:pt x="368" y="577"/>
                  </a:lnTo>
                  <a:lnTo>
                    <a:pt x="356" y="591"/>
                  </a:lnTo>
                  <a:lnTo>
                    <a:pt x="343" y="577"/>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59" name="Freeform 13"/>
            <p:cNvSpPr>
              <a:spLocks/>
            </p:cNvSpPr>
            <p:nvPr/>
          </p:nvSpPr>
          <p:spPr bwMode="auto">
            <a:xfrm>
              <a:off x="4969" y="130"/>
              <a:ext cx="13" cy="14"/>
            </a:xfrm>
            <a:custGeom>
              <a:avLst/>
              <a:gdLst>
                <a:gd name="T0" fmla="*/ 0 w 13"/>
                <a:gd name="T1" fmla="*/ 14 h 14"/>
                <a:gd name="T2" fmla="*/ 0 w 13"/>
                <a:gd name="T3" fmla="*/ 14 h 14"/>
                <a:gd name="T4" fmla="*/ 7 w 13"/>
                <a:gd name="T5" fmla="*/ 7 h 14"/>
                <a:gd name="T6" fmla="*/ 13 w 13"/>
                <a:gd name="T7" fmla="*/ 0 h 14"/>
                <a:gd name="T8" fmla="*/ 13 w 13"/>
                <a:gd name="T9" fmla="*/ 0 h 14"/>
                <a:gd name="T10" fmla="*/ 13 w 13"/>
                <a:gd name="T11" fmla="*/ 14 h 14"/>
                <a:gd name="T12" fmla="*/ 13 w 13"/>
                <a:gd name="T13" fmla="*/ 14 h 14"/>
                <a:gd name="T14" fmla="*/ 0 w 13"/>
                <a:gd name="T15" fmla="*/ 14 h 14"/>
                <a:gd name="T16" fmla="*/ 0 w 13"/>
                <a:gd name="T17" fmla="*/ 14 h 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
                <a:gd name="T28" fmla="*/ 0 h 14"/>
                <a:gd name="T29" fmla="*/ 13 w 13"/>
                <a:gd name="T30" fmla="*/ 14 h 1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 h="14">
                  <a:moveTo>
                    <a:pt x="0" y="14"/>
                  </a:moveTo>
                  <a:lnTo>
                    <a:pt x="0" y="14"/>
                  </a:lnTo>
                  <a:lnTo>
                    <a:pt x="7" y="7"/>
                  </a:lnTo>
                  <a:lnTo>
                    <a:pt x="13" y="0"/>
                  </a:lnTo>
                  <a:lnTo>
                    <a:pt x="13" y="14"/>
                  </a:lnTo>
                  <a:lnTo>
                    <a:pt x="0" y="14"/>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60" name="Freeform 14"/>
            <p:cNvSpPr>
              <a:spLocks/>
            </p:cNvSpPr>
            <p:nvPr/>
          </p:nvSpPr>
          <p:spPr bwMode="auto">
            <a:xfrm>
              <a:off x="4969" y="130"/>
              <a:ext cx="13" cy="14"/>
            </a:xfrm>
            <a:custGeom>
              <a:avLst/>
              <a:gdLst>
                <a:gd name="T0" fmla="*/ 0 w 13"/>
                <a:gd name="T1" fmla="*/ 14 h 14"/>
                <a:gd name="T2" fmla="*/ 7 w 13"/>
                <a:gd name="T3" fmla="*/ 7 h 14"/>
                <a:gd name="T4" fmla="*/ 13 w 13"/>
                <a:gd name="T5" fmla="*/ 0 h 14"/>
                <a:gd name="T6" fmla="*/ 13 w 13"/>
                <a:gd name="T7" fmla="*/ 14 h 14"/>
                <a:gd name="T8" fmla="*/ 0 w 13"/>
                <a:gd name="T9" fmla="*/ 14 h 14"/>
                <a:gd name="T10" fmla="*/ 0 60000 65536"/>
                <a:gd name="T11" fmla="*/ 0 60000 65536"/>
                <a:gd name="T12" fmla="*/ 0 60000 65536"/>
                <a:gd name="T13" fmla="*/ 0 60000 65536"/>
                <a:gd name="T14" fmla="*/ 0 60000 65536"/>
                <a:gd name="T15" fmla="*/ 0 w 13"/>
                <a:gd name="T16" fmla="*/ 0 h 14"/>
                <a:gd name="T17" fmla="*/ 13 w 13"/>
                <a:gd name="T18" fmla="*/ 14 h 14"/>
              </a:gdLst>
              <a:ahLst/>
              <a:cxnLst>
                <a:cxn ang="T10">
                  <a:pos x="T0" y="T1"/>
                </a:cxn>
                <a:cxn ang="T11">
                  <a:pos x="T2" y="T3"/>
                </a:cxn>
                <a:cxn ang="T12">
                  <a:pos x="T4" y="T5"/>
                </a:cxn>
                <a:cxn ang="T13">
                  <a:pos x="T6" y="T7"/>
                </a:cxn>
                <a:cxn ang="T14">
                  <a:pos x="T8" y="T9"/>
                </a:cxn>
              </a:cxnLst>
              <a:rect l="T15" t="T16" r="T17" b="T18"/>
              <a:pathLst>
                <a:path w="13" h="14">
                  <a:moveTo>
                    <a:pt x="0" y="14"/>
                  </a:moveTo>
                  <a:lnTo>
                    <a:pt x="7" y="7"/>
                  </a:lnTo>
                  <a:lnTo>
                    <a:pt x="13" y="0"/>
                  </a:lnTo>
                  <a:lnTo>
                    <a:pt x="13" y="14"/>
                  </a:lnTo>
                  <a:lnTo>
                    <a:pt x="0" y="14"/>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61" name="Freeform 15"/>
            <p:cNvSpPr>
              <a:spLocks/>
            </p:cNvSpPr>
            <p:nvPr/>
          </p:nvSpPr>
          <p:spPr bwMode="auto">
            <a:xfrm>
              <a:off x="4652" y="476"/>
              <a:ext cx="51" cy="108"/>
            </a:xfrm>
            <a:custGeom>
              <a:avLst/>
              <a:gdLst>
                <a:gd name="T0" fmla="*/ 38 w 51"/>
                <a:gd name="T1" fmla="*/ 57 h 108"/>
                <a:gd name="T2" fmla="*/ 38 w 51"/>
                <a:gd name="T3" fmla="*/ 43 h 108"/>
                <a:gd name="T4" fmla="*/ 32 w 51"/>
                <a:gd name="T5" fmla="*/ 43 h 108"/>
                <a:gd name="T6" fmla="*/ 32 w 51"/>
                <a:gd name="T7" fmla="*/ 43 h 108"/>
                <a:gd name="T8" fmla="*/ 25 w 51"/>
                <a:gd name="T9" fmla="*/ 36 h 108"/>
                <a:gd name="T10" fmla="*/ 19 w 51"/>
                <a:gd name="T11" fmla="*/ 29 h 108"/>
                <a:gd name="T12" fmla="*/ 19 w 51"/>
                <a:gd name="T13" fmla="*/ 21 h 108"/>
                <a:gd name="T14" fmla="*/ 25 w 51"/>
                <a:gd name="T15" fmla="*/ 21 h 108"/>
                <a:gd name="T16" fmla="*/ 25 w 51"/>
                <a:gd name="T17" fmla="*/ 14 h 108"/>
                <a:gd name="T18" fmla="*/ 38 w 51"/>
                <a:gd name="T19" fmla="*/ 14 h 108"/>
                <a:gd name="T20" fmla="*/ 38 w 51"/>
                <a:gd name="T21" fmla="*/ 7 h 108"/>
                <a:gd name="T22" fmla="*/ 38 w 51"/>
                <a:gd name="T23" fmla="*/ 0 h 108"/>
                <a:gd name="T24" fmla="*/ 19 w 51"/>
                <a:gd name="T25" fmla="*/ 0 h 108"/>
                <a:gd name="T26" fmla="*/ 0 w 51"/>
                <a:gd name="T27" fmla="*/ 7 h 108"/>
                <a:gd name="T28" fmla="*/ 0 w 51"/>
                <a:gd name="T29" fmla="*/ 21 h 108"/>
                <a:gd name="T30" fmla="*/ 0 w 51"/>
                <a:gd name="T31" fmla="*/ 29 h 108"/>
                <a:gd name="T32" fmla="*/ 13 w 51"/>
                <a:gd name="T33" fmla="*/ 50 h 108"/>
                <a:gd name="T34" fmla="*/ 19 w 51"/>
                <a:gd name="T35" fmla="*/ 65 h 108"/>
                <a:gd name="T36" fmla="*/ 19 w 51"/>
                <a:gd name="T37" fmla="*/ 72 h 108"/>
                <a:gd name="T38" fmla="*/ 19 w 51"/>
                <a:gd name="T39" fmla="*/ 72 h 108"/>
                <a:gd name="T40" fmla="*/ 19 w 51"/>
                <a:gd name="T41" fmla="*/ 86 h 108"/>
                <a:gd name="T42" fmla="*/ 19 w 51"/>
                <a:gd name="T43" fmla="*/ 93 h 108"/>
                <a:gd name="T44" fmla="*/ 19 w 51"/>
                <a:gd name="T45" fmla="*/ 101 h 108"/>
                <a:gd name="T46" fmla="*/ 32 w 51"/>
                <a:gd name="T47" fmla="*/ 101 h 108"/>
                <a:gd name="T48" fmla="*/ 38 w 51"/>
                <a:gd name="T49" fmla="*/ 108 h 108"/>
                <a:gd name="T50" fmla="*/ 38 w 51"/>
                <a:gd name="T51" fmla="*/ 108 h 108"/>
                <a:gd name="T52" fmla="*/ 51 w 51"/>
                <a:gd name="T53" fmla="*/ 108 h 108"/>
                <a:gd name="T54" fmla="*/ 44 w 51"/>
                <a:gd name="T55" fmla="*/ 79 h 108"/>
                <a:gd name="T56" fmla="*/ 38 w 51"/>
                <a:gd name="T57" fmla="*/ 72 h 108"/>
                <a:gd name="T58" fmla="*/ 38 w 51"/>
                <a:gd name="T59" fmla="*/ 65 h 108"/>
                <a:gd name="T60" fmla="*/ 38 w 51"/>
                <a:gd name="T61" fmla="*/ 65 h 108"/>
                <a:gd name="T62" fmla="*/ 44 w 51"/>
                <a:gd name="T63" fmla="*/ 65 h 108"/>
                <a:gd name="T64" fmla="*/ 44 w 51"/>
                <a:gd name="T65" fmla="*/ 57 h 108"/>
                <a:gd name="T66" fmla="*/ 38 w 51"/>
                <a:gd name="T67" fmla="*/ 50 h 108"/>
                <a:gd name="T68" fmla="*/ 38 w 51"/>
                <a:gd name="T69" fmla="*/ 50 h 108"/>
                <a:gd name="T70" fmla="*/ 38 w 51"/>
                <a:gd name="T71" fmla="*/ 57 h 108"/>
                <a:gd name="T72" fmla="*/ 38 w 51"/>
                <a:gd name="T73" fmla="*/ 57 h 10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51"/>
                <a:gd name="T112" fmla="*/ 0 h 108"/>
                <a:gd name="T113" fmla="*/ 51 w 51"/>
                <a:gd name="T114" fmla="*/ 108 h 108"/>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51" h="108">
                  <a:moveTo>
                    <a:pt x="38" y="57"/>
                  </a:moveTo>
                  <a:lnTo>
                    <a:pt x="38" y="43"/>
                  </a:lnTo>
                  <a:lnTo>
                    <a:pt x="32" y="43"/>
                  </a:lnTo>
                  <a:lnTo>
                    <a:pt x="25" y="36"/>
                  </a:lnTo>
                  <a:lnTo>
                    <a:pt x="19" y="29"/>
                  </a:lnTo>
                  <a:lnTo>
                    <a:pt x="19" y="21"/>
                  </a:lnTo>
                  <a:lnTo>
                    <a:pt x="25" y="21"/>
                  </a:lnTo>
                  <a:lnTo>
                    <a:pt x="25" y="14"/>
                  </a:lnTo>
                  <a:lnTo>
                    <a:pt x="38" y="14"/>
                  </a:lnTo>
                  <a:lnTo>
                    <a:pt x="38" y="7"/>
                  </a:lnTo>
                  <a:lnTo>
                    <a:pt x="38" y="0"/>
                  </a:lnTo>
                  <a:lnTo>
                    <a:pt x="19" y="0"/>
                  </a:lnTo>
                  <a:lnTo>
                    <a:pt x="0" y="7"/>
                  </a:lnTo>
                  <a:lnTo>
                    <a:pt x="0" y="21"/>
                  </a:lnTo>
                  <a:lnTo>
                    <a:pt x="0" y="29"/>
                  </a:lnTo>
                  <a:lnTo>
                    <a:pt x="13" y="50"/>
                  </a:lnTo>
                  <a:lnTo>
                    <a:pt x="19" y="65"/>
                  </a:lnTo>
                  <a:lnTo>
                    <a:pt x="19" y="72"/>
                  </a:lnTo>
                  <a:lnTo>
                    <a:pt x="19" y="86"/>
                  </a:lnTo>
                  <a:lnTo>
                    <a:pt x="19" y="93"/>
                  </a:lnTo>
                  <a:lnTo>
                    <a:pt x="19" y="101"/>
                  </a:lnTo>
                  <a:lnTo>
                    <a:pt x="32" y="101"/>
                  </a:lnTo>
                  <a:lnTo>
                    <a:pt x="38" y="108"/>
                  </a:lnTo>
                  <a:lnTo>
                    <a:pt x="51" y="108"/>
                  </a:lnTo>
                  <a:lnTo>
                    <a:pt x="44" y="79"/>
                  </a:lnTo>
                  <a:lnTo>
                    <a:pt x="38" y="72"/>
                  </a:lnTo>
                  <a:lnTo>
                    <a:pt x="38" y="65"/>
                  </a:lnTo>
                  <a:lnTo>
                    <a:pt x="44" y="65"/>
                  </a:lnTo>
                  <a:lnTo>
                    <a:pt x="44" y="57"/>
                  </a:lnTo>
                  <a:lnTo>
                    <a:pt x="38" y="50"/>
                  </a:lnTo>
                  <a:lnTo>
                    <a:pt x="38" y="57"/>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62" name="Freeform 16"/>
            <p:cNvSpPr>
              <a:spLocks/>
            </p:cNvSpPr>
            <p:nvPr/>
          </p:nvSpPr>
          <p:spPr bwMode="auto">
            <a:xfrm>
              <a:off x="4652" y="476"/>
              <a:ext cx="51" cy="108"/>
            </a:xfrm>
            <a:custGeom>
              <a:avLst/>
              <a:gdLst>
                <a:gd name="T0" fmla="*/ 38 w 51"/>
                <a:gd name="T1" fmla="*/ 57 h 108"/>
                <a:gd name="T2" fmla="*/ 38 w 51"/>
                <a:gd name="T3" fmla="*/ 43 h 108"/>
                <a:gd name="T4" fmla="*/ 32 w 51"/>
                <a:gd name="T5" fmla="*/ 43 h 108"/>
                <a:gd name="T6" fmla="*/ 25 w 51"/>
                <a:gd name="T7" fmla="*/ 36 h 108"/>
                <a:gd name="T8" fmla="*/ 19 w 51"/>
                <a:gd name="T9" fmla="*/ 29 h 108"/>
                <a:gd name="T10" fmla="*/ 19 w 51"/>
                <a:gd name="T11" fmla="*/ 21 h 108"/>
                <a:gd name="T12" fmla="*/ 25 w 51"/>
                <a:gd name="T13" fmla="*/ 21 h 108"/>
                <a:gd name="T14" fmla="*/ 25 w 51"/>
                <a:gd name="T15" fmla="*/ 14 h 108"/>
                <a:gd name="T16" fmla="*/ 38 w 51"/>
                <a:gd name="T17" fmla="*/ 14 h 108"/>
                <a:gd name="T18" fmla="*/ 38 w 51"/>
                <a:gd name="T19" fmla="*/ 7 h 108"/>
                <a:gd name="T20" fmla="*/ 38 w 51"/>
                <a:gd name="T21" fmla="*/ 0 h 108"/>
                <a:gd name="T22" fmla="*/ 19 w 51"/>
                <a:gd name="T23" fmla="*/ 0 h 108"/>
                <a:gd name="T24" fmla="*/ 0 w 51"/>
                <a:gd name="T25" fmla="*/ 7 h 108"/>
                <a:gd name="T26" fmla="*/ 0 w 51"/>
                <a:gd name="T27" fmla="*/ 21 h 108"/>
                <a:gd name="T28" fmla="*/ 0 w 51"/>
                <a:gd name="T29" fmla="*/ 29 h 108"/>
                <a:gd name="T30" fmla="*/ 13 w 51"/>
                <a:gd name="T31" fmla="*/ 50 h 108"/>
                <a:gd name="T32" fmla="*/ 19 w 51"/>
                <a:gd name="T33" fmla="*/ 65 h 108"/>
                <a:gd name="T34" fmla="*/ 19 w 51"/>
                <a:gd name="T35" fmla="*/ 72 h 108"/>
                <a:gd name="T36" fmla="*/ 19 w 51"/>
                <a:gd name="T37" fmla="*/ 86 h 108"/>
                <a:gd name="T38" fmla="*/ 19 w 51"/>
                <a:gd name="T39" fmla="*/ 93 h 108"/>
                <a:gd name="T40" fmla="*/ 19 w 51"/>
                <a:gd name="T41" fmla="*/ 101 h 108"/>
                <a:gd name="T42" fmla="*/ 32 w 51"/>
                <a:gd name="T43" fmla="*/ 101 h 108"/>
                <a:gd name="T44" fmla="*/ 38 w 51"/>
                <a:gd name="T45" fmla="*/ 108 h 108"/>
                <a:gd name="T46" fmla="*/ 51 w 51"/>
                <a:gd name="T47" fmla="*/ 108 h 108"/>
                <a:gd name="T48" fmla="*/ 44 w 51"/>
                <a:gd name="T49" fmla="*/ 79 h 108"/>
                <a:gd name="T50" fmla="*/ 38 w 51"/>
                <a:gd name="T51" fmla="*/ 72 h 108"/>
                <a:gd name="T52" fmla="*/ 38 w 51"/>
                <a:gd name="T53" fmla="*/ 65 h 108"/>
                <a:gd name="T54" fmla="*/ 44 w 51"/>
                <a:gd name="T55" fmla="*/ 65 h 108"/>
                <a:gd name="T56" fmla="*/ 44 w 51"/>
                <a:gd name="T57" fmla="*/ 57 h 108"/>
                <a:gd name="T58" fmla="*/ 38 w 51"/>
                <a:gd name="T59" fmla="*/ 50 h 108"/>
                <a:gd name="T60" fmla="*/ 38 w 51"/>
                <a:gd name="T61" fmla="*/ 57 h 10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51"/>
                <a:gd name="T94" fmla="*/ 0 h 108"/>
                <a:gd name="T95" fmla="*/ 51 w 51"/>
                <a:gd name="T96" fmla="*/ 108 h 108"/>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51" h="108">
                  <a:moveTo>
                    <a:pt x="38" y="57"/>
                  </a:moveTo>
                  <a:lnTo>
                    <a:pt x="38" y="43"/>
                  </a:lnTo>
                  <a:lnTo>
                    <a:pt x="32" y="43"/>
                  </a:lnTo>
                  <a:lnTo>
                    <a:pt x="25" y="36"/>
                  </a:lnTo>
                  <a:lnTo>
                    <a:pt x="19" y="29"/>
                  </a:lnTo>
                  <a:lnTo>
                    <a:pt x="19" y="21"/>
                  </a:lnTo>
                  <a:lnTo>
                    <a:pt x="25" y="21"/>
                  </a:lnTo>
                  <a:lnTo>
                    <a:pt x="25" y="14"/>
                  </a:lnTo>
                  <a:lnTo>
                    <a:pt x="38" y="14"/>
                  </a:lnTo>
                  <a:lnTo>
                    <a:pt x="38" y="7"/>
                  </a:lnTo>
                  <a:lnTo>
                    <a:pt x="38" y="0"/>
                  </a:lnTo>
                  <a:lnTo>
                    <a:pt x="19" y="0"/>
                  </a:lnTo>
                  <a:lnTo>
                    <a:pt x="0" y="7"/>
                  </a:lnTo>
                  <a:lnTo>
                    <a:pt x="0" y="21"/>
                  </a:lnTo>
                  <a:lnTo>
                    <a:pt x="0" y="29"/>
                  </a:lnTo>
                  <a:lnTo>
                    <a:pt x="13" y="50"/>
                  </a:lnTo>
                  <a:lnTo>
                    <a:pt x="19" y="65"/>
                  </a:lnTo>
                  <a:lnTo>
                    <a:pt x="19" y="72"/>
                  </a:lnTo>
                  <a:lnTo>
                    <a:pt x="19" y="86"/>
                  </a:lnTo>
                  <a:lnTo>
                    <a:pt x="19" y="93"/>
                  </a:lnTo>
                  <a:lnTo>
                    <a:pt x="19" y="101"/>
                  </a:lnTo>
                  <a:lnTo>
                    <a:pt x="32" y="101"/>
                  </a:lnTo>
                  <a:lnTo>
                    <a:pt x="38" y="108"/>
                  </a:lnTo>
                  <a:lnTo>
                    <a:pt x="51" y="108"/>
                  </a:lnTo>
                  <a:lnTo>
                    <a:pt x="44" y="79"/>
                  </a:lnTo>
                  <a:lnTo>
                    <a:pt x="38" y="72"/>
                  </a:lnTo>
                  <a:lnTo>
                    <a:pt x="38" y="65"/>
                  </a:lnTo>
                  <a:lnTo>
                    <a:pt x="44" y="65"/>
                  </a:lnTo>
                  <a:lnTo>
                    <a:pt x="44" y="57"/>
                  </a:lnTo>
                  <a:lnTo>
                    <a:pt x="38" y="50"/>
                  </a:lnTo>
                  <a:lnTo>
                    <a:pt x="38" y="57"/>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63" name="Freeform 17"/>
            <p:cNvSpPr>
              <a:spLocks/>
            </p:cNvSpPr>
            <p:nvPr/>
          </p:nvSpPr>
          <p:spPr bwMode="auto">
            <a:xfrm>
              <a:off x="4716" y="476"/>
              <a:ext cx="25" cy="36"/>
            </a:xfrm>
            <a:custGeom>
              <a:avLst/>
              <a:gdLst>
                <a:gd name="T0" fmla="*/ 25 w 25"/>
                <a:gd name="T1" fmla="*/ 0 h 36"/>
                <a:gd name="T2" fmla="*/ 25 w 25"/>
                <a:gd name="T3" fmla="*/ 7 h 36"/>
                <a:gd name="T4" fmla="*/ 25 w 25"/>
                <a:gd name="T5" fmla="*/ 14 h 36"/>
                <a:gd name="T6" fmla="*/ 25 w 25"/>
                <a:gd name="T7" fmla="*/ 14 h 36"/>
                <a:gd name="T8" fmla="*/ 25 w 25"/>
                <a:gd name="T9" fmla="*/ 14 h 36"/>
                <a:gd name="T10" fmla="*/ 25 w 25"/>
                <a:gd name="T11" fmla="*/ 36 h 36"/>
                <a:gd name="T12" fmla="*/ 6 w 25"/>
                <a:gd name="T13" fmla="*/ 36 h 36"/>
                <a:gd name="T14" fmla="*/ 0 w 25"/>
                <a:gd name="T15" fmla="*/ 21 h 36"/>
                <a:gd name="T16" fmla="*/ 6 w 25"/>
                <a:gd name="T17" fmla="*/ 7 h 36"/>
                <a:gd name="T18" fmla="*/ 12 w 25"/>
                <a:gd name="T19" fmla="*/ 7 h 36"/>
                <a:gd name="T20" fmla="*/ 19 w 25"/>
                <a:gd name="T21" fmla="*/ 0 h 36"/>
                <a:gd name="T22" fmla="*/ 25 w 25"/>
                <a:gd name="T23" fmla="*/ 0 h 36"/>
                <a:gd name="T24" fmla="*/ 25 w 25"/>
                <a:gd name="T25" fmla="*/ 0 h 36"/>
                <a:gd name="T26" fmla="*/ 25 w 25"/>
                <a:gd name="T27" fmla="*/ 0 h 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5"/>
                <a:gd name="T43" fmla="*/ 0 h 36"/>
                <a:gd name="T44" fmla="*/ 25 w 25"/>
                <a:gd name="T45" fmla="*/ 36 h 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5" h="36">
                  <a:moveTo>
                    <a:pt x="25" y="0"/>
                  </a:moveTo>
                  <a:lnTo>
                    <a:pt x="25" y="7"/>
                  </a:lnTo>
                  <a:lnTo>
                    <a:pt x="25" y="14"/>
                  </a:lnTo>
                  <a:lnTo>
                    <a:pt x="25" y="36"/>
                  </a:lnTo>
                  <a:lnTo>
                    <a:pt x="6" y="36"/>
                  </a:lnTo>
                  <a:lnTo>
                    <a:pt x="0" y="21"/>
                  </a:lnTo>
                  <a:lnTo>
                    <a:pt x="6" y="7"/>
                  </a:lnTo>
                  <a:lnTo>
                    <a:pt x="12" y="7"/>
                  </a:lnTo>
                  <a:lnTo>
                    <a:pt x="19" y="0"/>
                  </a:lnTo>
                  <a:lnTo>
                    <a:pt x="25"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64" name="Freeform 18"/>
            <p:cNvSpPr>
              <a:spLocks/>
            </p:cNvSpPr>
            <p:nvPr/>
          </p:nvSpPr>
          <p:spPr bwMode="auto">
            <a:xfrm>
              <a:off x="4716" y="476"/>
              <a:ext cx="25" cy="36"/>
            </a:xfrm>
            <a:custGeom>
              <a:avLst/>
              <a:gdLst>
                <a:gd name="T0" fmla="*/ 25 w 25"/>
                <a:gd name="T1" fmla="*/ 0 h 36"/>
                <a:gd name="T2" fmla="*/ 25 w 25"/>
                <a:gd name="T3" fmla="*/ 7 h 36"/>
                <a:gd name="T4" fmla="*/ 25 w 25"/>
                <a:gd name="T5" fmla="*/ 14 h 36"/>
                <a:gd name="T6" fmla="*/ 25 w 25"/>
                <a:gd name="T7" fmla="*/ 36 h 36"/>
                <a:gd name="T8" fmla="*/ 6 w 25"/>
                <a:gd name="T9" fmla="*/ 36 h 36"/>
                <a:gd name="T10" fmla="*/ 0 w 25"/>
                <a:gd name="T11" fmla="*/ 21 h 36"/>
                <a:gd name="T12" fmla="*/ 6 w 25"/>
                <a:gd name="T13" fmla="*/ 7 h 36"/>
                <a:gd name="T14" fmla="*/ 12 w 25"/>
                <a:gd name="T15" fmla="*/ 7 h 36"/>
                <a:gd name="T16" fmla="*/ 19 w 25"/>
                <a:gd name="T17" fmla="*/ 0 h 36"/>
                <a:gd name="T18" fmla="*/ 25 w 25"/>
                <a:gd name="T19" fmla="*/ 0 h 3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
                <a:gd name="T31" fmla="*/ 0 h 36"/>
                <a:gd name="T32" fmla="*/ 25 w 25"/>
                <a:gd name="T33" fmla="*/ 36 h 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 h="36">
                  <a:moveTo>
                    <a:pt x="25" y="0"/>
                  </a:moveTo>
                  <a:lnTo>
                    <a:pt x="25" y="7"/>
                  </a:lnTo>
                  <a:lnTo>
                    <a:pt x="25" y="14"/>
                  </a:lnTo>
                  <a:lnTo>
                    <a:pt x="25" y="36"/>
                  </a:lnTo>
                  <a:lnTo>
                    <a:pt x="6" y="36"/>
                  </a:lnTo>
                  <a:lnTo>
                    <a:pt x="0" y="21"/>
                  </a:lnTo>
                  <a:lnTo>
                    <a:pt x="6" y="7"/>
                  </a:lnTo>
                  <a:lnTo>
                    <a:pt x="12" y="7"/>
                  </a:lnTo>
                  <a:lnTo>
                    <a:pt x="19" y="0"/>
                  </a:lnTo>
                  <a:lnTo>
                    <a:pt x="25"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65" name="Freeform 19"/>
            <p:cNvSpPr>
              <a:spLocks/>
            </p:cNvSpPr>
            <p:nvPr/>
          </p:nvSpPr>
          <p:spPr bwMode="auto">
            <a:xfrm>
              <a:off x="4189" y="245"/>
              <a:ext cx="57" cy="36"/>
            </a:xfrm>
            <a:custGeom>
              <a:avLst/>
              <a:gdLst>
                <a:gd name="T0" fmla="*/ 0 w 57"/>
                <a:gd name="T1" fmla="*/ 22 h 36"/>
                <a:gd name="T2" fmla="*/ 0 w 57"/>
                <a:gd name="T3" fmla="*/ 22 h 36"/>
                <a:gd name="T4" fmla="*/ 6 w 57"/>
                <a:gd name="T5" fmla="*/ 15 h 36"/>
                <a:gd name="T6" fmla="*/ 0 w 57"/>
                <a:gd name="T7" fmla="*/ 7 h 36"/>
                <a:gd name="T8" fmla="*/ 0 w 57"/>
                <a:gd name="T9" fmla="*/ 7 h 36"/>
                <a:gd name="T10" fmla="*/ 0 w 57"/>
                <a:gd name="T11" fmla="*/ 7 h 36"/>
                <a:gd name="T12" fmla="*/ 6 w 57"/>
                <a:gd name="T13" fmla="*/ 0 h 36"/>
                <a:gd name="T14" fmla="*/ 6 w 57"/>
                <a:gd name="T15" fmla="*/ 7 h 36"/>
                <a:gd name="T16" fmla="*/ 12 w 57"/>
                <a:gd name="T17" fmla="*/ 7 h 36"/>
                <a:gd name="T18" fmla="*/ 12 w 57"/>
                <a:gd name="T19" fmla="*/ 7 h 36"/>
                <a:gd name="T20" fmla="*/ 12 w 57"/>
                <a:gd name="T21" fmla="*/ 7 h 36"/>
                <a:gd name="T22" fmla="*/ 12 w 57"/>
                <a:gd name="T23" fmla="*/ 7 h 36"/>
                <a:gd name="T24" fmla="*/ 25 w 57"/>
                <a:gd name="T25" fmla="*/ 7 h 36"/>
                <a:gd name="T26" fmla="*/ 31 w 57"/>
                <a:gd name="T27" fmla="*/ 7 h 36"/>
                <a:gd name="T28" fmla="*/ 38 w 57"/>
                <a:gd name="T29" fmla="*/ 7 h 36"/>
                <a:gd name="T30" fmla="*/ 44 w 57"/>
                <a:gd name="T31" fmla="*/ 0 h 36"/>
                <a:gd name="T32" fmla="*/ 50 w 57"/>
                <a:gd name="T33" fmla="*/ 0 h 36"/>
                <a:gd name="T34" fmla="*/ 57 w 57"/>
                <a:gd name="T35" fmla="*/ 7 h 36"/>
                <a:gd name="T36" fmla="*/ 57 w 57"/>
                <a:gd name="T37" fmla="*/ 7 h 36"/>
                <a:gd name="T38" fmla="*/ 57 w 57"/>
                <a:gd name="T39" fmla="*/ 22 h 36"/>
                <a:gd name="T40" fmla="*/ 50 w 57"/>
                <a:gd name="T41" fmla="*/ 22 h 36"/>
                <a:gd name="T42" fmla="*/ 44 w 57"/>
                <a:gd name="T43" fmla="*/ 29 h 36"/>
                <a:gd name="T44" fmla="*/ 38 w 57"/>
                <a:gd name="T45" fmla="*/ 29 h 36"/>
                <a:gd name="T46" fmla="*/ 31 w 57"/>
                <a:gd name="T47" fmla="*/ 36 h 36"/>
                <a:gd name="T48" fmla="*/ 25 w 57"/>
                <a:gd name="T49" fmla="*/ 36 h 36"/>
                <a:gd name="T50" fmla="*/ 12 w 57"/>
                <a:gd name="T51" fmla="*/ 36 h 36"/>
                <a:gd name="T52" fmla="*/ 0 w 57"/>
                <a:gd name="T53" fmla="*/ 36 h 36"/>
                <a:gd name="T54" fmla="*/ 0 w 57"/>
                <a:gd name="T55" fmla="*/ 22 h 36"/>
                <a:gd name="T56" fmla="*/ 0 w 57"/>
                <a:gd name="T57" fmla="*/ 22 h 36"/>
                <a:gd name="T58" fmla="*/ 0 w 57"/>
                <a:gd name="T59" fmla="*/ 22 h 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7"/>
                <a:gd name="T91" fmla="*/ 0 h 36"/>
                <a:gd name="T92" fmla="*/ 57 w 57"/>
                <a:gd name="T93" fmla="*/ 36 h 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7" h="36">
                  <a:moveTo>
                    <a:pt x="0" y="22"/>
                  </a:moveTo>
                  <a:lnTo>
                    <a:pt x="0" y="22"/>
                  </a:lnTo>
                  <a:lnTo>
                    <a:pt x="6" y="15"/>
                  </a:lnTo>
                  <a:lnTo>
                    <a:pt x="0" y="7"/>
                  </a:lnTo>
                  <a:lnTo>
                    <a:pt x="6" y="0"/>
                  </a:lnTo>
                  <a:lnTo>
                    <a:pt x="6" y="7"/>
                  </a:lnTo>
                  <a:lnTo>
                    <a:pt x="12" y="7"/>
                  </a:lnTo>
                  <a:lnTo>
                    <a:pt x="25" y="7"/>
                  </a:lnTo>
                  <a:lnTo>
                    <a:pt x="31" y="7"/>
                  </a:lnTo>
                  <a:lnTo>
                    <a:pt x="38" y="7"/>
                  </a:lnTo>
                  <a:lnTo>
                    <a:pt x="44" y="0"/>
                  </a:lnTo>
                  <a:lnTo>
                    <a:pt x="50" y="0"/>
                  </a:lnTo>
                  <a:lnTo>
                    <a:pt x="57" y="7"/>
                  </a:lnTo>
                  <a:lnTo>
                    <a:pt x="57" y="22"/>
                  </a:lnTo>
                  <a:lnTo>
                    <a:pt x="50" y="22"/>
                  </a:lnTo>
                  <a:lnTo>
                    <a:pt x="44" y="29"/>
                  </a:lnTo>
                  <a:lnTo>
                    <a:pt x="38" y="29"/>
                  </a:lnTo>
                  <a:lnTo>
                    <a:pt x="31" y="36"/>
                  </a:lnTo>
                  <a:lnTo>
                    <a:pt x="25" y="36"/>
                  </a:lnTo>
                  <a:lnTo>
                    <a:pt x="12" y="36"/>
                  </a:lnTo>
                  <a:lnTo>
                    <a:pt x="0" y="36"/>
                  </a:lnTo>
                  <a:lnTo>
                    <a:pt x="0" y="22"/>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66" name="Freeform 20"/>
            <p:cNvSpPr>
              <a:spLocks/>
            </p:cNvSpPr>
            <p:nvPr/>
          </p:nvSpPr>
          <p:spPr bwMode="auto">
            <a:xfrm>
              <a:off x="4189" y="245"/>
              <a:ext cx="57" cy="36"/>
            </a:xfrm>
            <a:custGeom>
              <a:avLst/>
              <a:gdLst>
                <a:gd name="T0" fmla="*/ 0 w 57"/>
                <a:gd name="T1" fmla="*/ 22 h 36"/>
                <a:gd name="T2" fmla="*/ 6 w 57"/>
                <a:gd name="T3" fmla="*/ 15 h 36"/>
                <a:gd name="T4" fmla="*/ 0 w 57"/>
                <a:gd name="T5" fmla="*/ 7 h 36"/>
                <a:gd name="T6" fmla="*/ 6 w 57"/>
                <a:gd name="T7" fmla="*/ 0 h 36"/>
                <a:gd name="T8" fmla="*/ 6 w 57"/>
                <a:gd name="T9" fmla="*/ 7 h 36"/>
                <a:gd name="T10" fmla="*/ 12 w 57"/>
                <a:gd name="T11" fmla="*/ 7 h 36"/>
                <a:gd name="T12" fmla="*/ 25 w 57"/>
                <a:gd name="T13" fmla="*/ 7 h 36"/>
                <a:gd name="T14" fmla="*/ 31 w 57"/>
                <a:gd name="T15" fmla="*/ 7 h 36"/>
                <a:gd name="T16" fmla="*/ 38 w 57"/>
                <a:gd name="T17" fmla="*/ 7 h 36"/>
                <a:gd name="T18" fmla="*/ 44 w 57"/>
                <a:gd name="T19" fmla="*/ 0 h 36"/>
                <a:gd name="T20" fmla="*/ 50 w 57"/>
                <a:gd name="T21" fmla="*/ 0 h 36"/>
                <a:gd name="T22" fmla="*/ 57 w 57"/>
                <a:gd name="T23" fmla="*/ 7 h 36"/>
                <a:gd name="T24" fmla="*/ 57 w 57"/>
                <a:gd name="T25" fmla="*/ 22 h 36"/>
                <a:gd name="T26" fmla="*/ 50 w 57"/>
                <a:gd name="T27" fmla="*/ 22 h 36"/>
                <a:gd name="T28" fmla="*/ 44 w 57"/>
                <a:gd name="T29" fmla="*/ 29 h 36"/>
                <a:gd name="T30" fmla="*/ 38 w 57"/>
                <a:gd name="T31" fmla="*/ 29 h 36"/>
                <a:gd name="T32" fmla="*/ 31 w 57"/>
                <a:gd name="T33" fmla="*/ 36 h 36"/>
                <a:gd name="T34" fmla="*/ 25 w 57"/>
                <a:gd name="T35" fmla="*/ 36 h 36"/>
                <a:gd name="T36" fmla="*/ 12 w 57"/>
                <a:gd name="T37" fmla="*/ 36 h 36"/>
                <a:gd name="T38" fmla="*/ 0 w 57"/>
                <a:gd name="T39" fmla="*/ 36 h 36"/>
                <a:gd name="T40" fmla="*/ 0 w 57"/>
                <a:gd name="T41" fmla="*/ 22 h 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
                <a:gd name="T64" fmla="*/ 0 h 36"/>
                <a:gd name="T65" fmla="*/ 57 w 57"/>
                <a:gd name="T66" fmla="*/ 36 h 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 h="36">
                  <a:moveTo>
                    <a:pt x="0" y="22"/>
                  </a:moveTo>
                  <a:lnTo>
                    <a:pt x="6" y="15"/>
                  </a:lnTo>
                  <a:lnTo>
                    <a:pt x="0" y="7"/>
                  </a:lnTo>
                  <a:lnTo>
                    <a:pt x="6" y="0"/>
                  </a:lnTo>
                  <a:lnTo>
                    <a:pt x="6" y="7"/>
                  </a:lnTo>
                  <a:lnTo>
                    <a:pt x="12" y="7"/>
                  </a:lnTo>
                  <a:lnTo>
                    <a:pt x="25" y="7"/>
                  </a:lnTo>
                  <a:lnTo>
                    <a:pt x="31" y="7"/>
                  </a:lnTo>
                  <a:lnTo>
                    <a:pt x="38" y="7"/>
                  </a:lnTo>
                  <a:lnTo>
                    <a:pt x="44" y="0"/>
                  </a:lnTo>
                  <a:lnTo>
                    <a:pt x="50" y="0"/>
                  </a:lnTo>
                  <a:lnTo>
                    <a:pt x="57" y="7"/>
                  </a:lnTo>
                  <a:lnTo>
                    <a:pt x="57" y="22"/>
                  </a:lnTo>
                  <a:lnTo>
                    <a:pt x="50" y="22"/>
                  </a:lnTo>
                  <a:lnTo>
                    <a:pt x="44" y="29"/>
                  </a:lnTo>
                  <a:lnTo>
                    <a:pt x="38" y="29"/>
                  </a:lnTo>
                  <a:lnTo>
                    <a:pt x="31" y="36"/>
                  </a:lnTo>
                  <a:lnTo>
                    <a:pt x="25" y="36"/>
                  </a:lnTo>
                  <a:lnTo>
                    <a:pt x="12" y="36"/>
                  </a:lnTo>
                  <a:lnTo>
                    <a:pt x="0" y="36"/>
                  </a:lnTo>
                  <a:lnTo>
                    <a:pt x="0" y="22"/>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67" name="Freeform 21"/>
            <p:cNvSpPr>
              <a:spLocks/>
            </p:cNvSpPr>
            <p:nvPr/>
          </p:nvSpPr>
          <p:spPr bwMode="auto">
            <a:xfrm>
              <a:off x="3770" y="260"/>
              <a:ext cx="44" cy="28"/>
            </a:xfrm>
            <a:custGeom>
              <a:avLst/>
              <a:gdLst>
                <a:gd name="T0" fmla="*/ 13 w 44"/>
                <a:gd name="T1" fmla="*/ 28 h 28"/>
                <a:gd name="T2" fmla="*/ 6 w 44"/>
                <a:gd name="T3" fmla="*/ 21 h 28"/>
                <a:gd name="T4" fmla="*/ 0 w 44"/>
                <a:gd name="T5" fmla="*/ 21 h 28"/>
                <a:gd name="T6" fmla="*/ 6 w 44"/>
                <a:gd name="T7" fmla="*/ 21 h 28"/>
                <a:gd name="T8" fmla="*/ 6 w 44"/>
                <a:gd name="T9" fmla="*/ 14 h 28"/>
                <a:gd name="T10" fmla="*/ 13 w 44"/>
                <a:gd name="T11" fmla="*/ 7 h 28"/>
                <a:gd name="T12" fmla="*/ 13 w 44"/>
                <a:gd name="T13" fmla="*/ 0 h 28"/>
                <a:gd name="T14" fmla="*/ 19 w 44"/>
                <a:gd name="T15" fmla="*/ 7 h 28"/>
                <a:gd name="T16" fmla="*/ 25 w 44"/>
                <a:gd name="T17" fmla="*/ 7 h 28"/>
                <a:gd name="T18" fmla="*/ 32 w 44"/>
                <a:gd name="T19" fmla="*/ 14 h 28"/>
                <a:gd name="T20" fmla="*/ 38 w 44"/>
                <a:gd name="T21" fmla="*/ 14 h 28"/>
                <a:gd name="T22" fmla="*/ 44 w 44"/>
                <a:gd name="T23" fmla="*/ 21 h 28"/>
                <a:gd name="T24" fmla="*/ 44 w 44"/>
                <a:gd name="T25" fmla="*/ 21 h 28"/>
                <a:gd name="T26" fmla="*/ 32 w 44"/>
                <a:gd name="T27" fmla="*/ 21 h 28"/>
                <a:gd name="T28" fmla="*/ 25 w 44"/>
                <a:gd name="T29" fmla="*/ 21 h 28"/>
                <a:gd name="T30" fmla="*/ 19 w 44"/>
                <a:gd name="T31" fmla="*/ 21 h 28"/>
                <a:gd name="T32" fmla="*/ 13 w 44"/>
                <a:gd name="T33" fmla="*/ 28 h 28"/>
                <a:gd name="T34" fmla="*/ 13 w 44"/>
                <a:gd name="T35" fmla="*/ 28 h 2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4"/>
                <a:gd name="T55" fmla="*/ 0 h 28"/>
                <a:gd name="T56" fmla="*/ 44 w 44"/>
                <a:gd name="T57" fmla="*/ 28 h 2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4" h="28">
                  <a:moveTo>
                    <a:pt x="13" y="28"/>
                  </a:moveTo>
                  <a:lnTo>
                    <a:pt x="6" y="21"/>
                  </a:lnTo>
                  <a:lnTo>
                    <a:pt x="0" y="21"/>
                  </a:lnTo>
                  <a:lnTo>
                    <a:pt x="6" y="21"/>
                  </a:lnTo>
                  <a:lnTo>
                    <a:pt x="6" y="14"/>
                  </a:lnTo>
                  <a:lnTo>
                    <a:pt x="13" y="7"/>
                  </a:lnTo>
                  <a:lnTo>
                    <a:pt x="13" y="0"/>
                  </a:lnTo>
                  <a:lnTo>
                    <a:pt x="19" y="7"/>
                  </a:lnTo>
                  <a:lnTo>
                    <a:pt x="25" y="7"/>
                  </a:lnTo>
                  <a:lnTo>
                    <a:pt x="32" y="14"/>
                  </a:lnTo>
                  <a:lnTo>
                    <a:pt x="38" y="14"/>
                  </a:lnTo>
                  <a:lnTo>
                    <a:pt x="44" y="21"/>
                  </a:lnTo>
                  <a:lnTo>
                    <a:pt x="32" y="21"/>
                  </a:lnTo>
                  <a:lnTo>
                    <a:pt x="25" y="21"/>
                  </a:lnTo>
                  <a:lnTo>
                    <a:pt x="19" y="21"/>
                  </a:lnTo>
                  <a:lnTo>
                    <a:pt x="13" y="28"/>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68" name="Freeform 22"/>
            <p:cNvSpPr>
              <a:spLocks/>
            </p:cNvSpPr>
            <p:nvPr/>
          </p:nvSpPr>
          <p:spPr bwMode="auto">
            <a:xfrm>
              <a:off x="3770" y="260"/>
              <a:ext cx="44" cy="28"/>
            </a:xfrm>
            <a:custGeom>
              <a:avLst/>
              <a:gdLst>
                <a:gd name="T0" fmla="*/ 13 w 44"/>
                <a:gd name="T1" fmla="*/ 28 h 28"/>
                <a:gd name="T2" fmla="*/ 6 w 44"/>
                <a:gd name="T3" fmla="*/ 21 h 28"/>
                <a:gd name="T4" fmla="*/ 0 w 44"/>
                <a:gd name="T5" fmla="*/ 21 h 28"/>
                <a:gd name="T6" fmla="*/ 6 w 44"/>
                <a:gd name="T7" fmla="*/ 21 h 28"/>
                <a:gd name="T8" fmla="*/ 6 w 44"/>
                <a:gd name="T9" fmla="*/ 14 h 28"/>
                <a:gd name="T10" fmla="*/ 13 w 44"/>
                <a:gd name="T11" fmla="*/ 7 h 28"/>
                <a:gd name="T12" fmla="*/ 13 w 44"/>
                <a:gd name="T13" fmla="*/ 0 h 28"/>
                <a:gd name="T14" fmla="*/ 19 w 44"/>
                <a:gd name="T15" fmla="*/ 7 h 28"/>
                <a:gd name="T16" fmla="*/ 25 w 44"/>
                <a:gd name="T17" fmla="*/ 7 h 28"/>
                <a:gd name="T18" fmla="*/ 32 w 44"/>
                <a:gd name="T19" fmla="*/ 14 h 28"/>
                <a:gd name="T20" fmla="*/ 38 w 44"/>
                <a:gd name="T21" fmla="*/ 14 h 28"/>
                <a:gd name="T22" fmla="*/ 44 w 44"/>
                <a:gd name="T23" fmla="*/ 21 h 28"/>
                <a:gd name="T24" fmla="*/ 32 w 44"/>
                <a:gd name="T25" fmla="*/ 21 h 28"/>
                <a:gd name="T26" fmla="*/ 25 w 44"/>
                <a:gd name="T27" fmla="*/ 21 h 28"/>
                <a:gd name="T28" fmla="*/ 19 w 44"/>
                <a:gd name="T29" fmla="*/ 21 h 28"/>
                <a:gd name="T30" fmla="*/ 13 w 44"/>
                <a:gd name="T31" fmla="*/ 28 h 2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4"/>
                <a:gd name="T49" fmla="*/ 0 h 28"/>
                <a:gd name="T50" fmla="*/ 44 w 44"/>
                <a:gd name="T51" fmla="*/ 28 h 2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4" h="28">
                  <a:moveTo>
                    <a:pt x="13" y="28"/>
                  </a:moveTo>
                  <a:lnTo>
                    <a:pt x="6" y="21"/>
                  </a:lnTo>
                  <a:lnTo>
                    <a:pt x="0" y="21"/>
                  </a:lnTo>
                  <a:lnTo>
                    <a:pt x="6" y="21"/>
                  </a:lnTo>
                  <a:lnTo>
                    <a:pt x="6" y="14"/>
                  </a:lnTo>
                  <a:lnTo>
                    <a:pt x="13" y="7"/>
                  </a:lnTo>
                  <a:lnTo>
                    <a:pt x="13" y="0"/>
                  </a:lnTo>
                  <a:lnTo>
                    <a:pt x="19" y="7"/>
                  </a:lnTo>
                  <a:lnTo>
                    <a:pt x="25" y="7"/>
                  </a:lnTo>
                  <a:lnTo>
                    <a:pt x="32" y="14"/>
                  </a:lnTo>
                  <a:lnTo>
                    <a:pt x="38" y="14"/>
                  </a:lnTo>
                  <a:lnTo>
                    <a:pt x="44" y="21"/>
                  </a:lnTo>
                  <a:lnTo>
                    <a:pt x="32" y="21"/>
                  </a:lnTo>
                  <a:lnTo>
                    <a:pt x="25" y="21"/>
                  </a:lnTo>
                  <a:lnTo>
                    <a:pt x="19" y="21"/>
                  </a:lnTo>
                  <a:lnTo>
                    <a:pt x="13" y="28"/>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69" name="Freeform 23"/>
            <p:cNvSpPr>
              <a:spLocks/>
            </p:cNvSpPr>
            <p:nvPr/>
          </p:nvSpPr>
          <p:spPr bwMode="auto">
            <a:xfrm>
              <a:off x="3840" y="231"/>
              <a:ext cx="12" cy="14"/>
            </a:xfrm>
            <a:custGeom>
              <a:avLst/>
              <a:gdLst>
                <a:gd name="T0" fmla="*/ 0 w 12"/>
                <a:gd name="T1" fmla="*/ 7 h 14"/>
                <a:gd name="T2" fmla="*/ 0 w 12"/>
                <a:gd name="T3" fmla="*/ 0 h 14"/>
                <a:gd name="T4" fmla="*/ 6 w 12"/>
                <a:gd name="T5" fmla="*/ 0 h 14"/>
                <a:gd name="T6" fmla="*/ 12 w 12"/>
                <a:gd name="T7" fmla="*/ 0 h 14"/>
                <a:gd name="T8" fmla="*/ 12 w 12"/>
                <a:gd name="T9" fmla="*/ 7 h 14"/>
                <a:gd name="T10" fmla="*/ 12 w 12"/>
                <a:gd name="T11" fmla="*/ 14 h 14"/>
                <a:gd name="T12" fmla="*/ 6 w 12"/>
                <a:gd name="T13" fmla="*/ 14 h 14"/>
                <a:gd name="T14" fmla="*/ 0 w 12"/>
                <a:gd name="T15" fmla="*/ 7 h 14"/>
                <a:gd name="T16" fmla="*/ 0 w 12"/>
                <a:gd name="T17" fmla="*/ 7 h 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
                <a:gd name="T28" fmla="*/ 0 h 14"/>
                <a:gd name="T29" fmla="*/ 12 w 12"/>
                <a:gd name="T30" fmla="*/ 14 h 1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 h="14">
                  <a:moveTo>
                    <a:pt x="0" y="7"/>
                  </a:moveTo>
                  <a:lnTo>
                    <a:pt x="0" y="0"/>
                  </a:lnTo>
                  <a:lnTo>
                    <a:pt x="6" y="0"/>
                  </a:lnTo>
                  <a:lnTo>
                    <a:pt x="12" y="0"/>
                  </a:lnTo>
                  <a:lnTo>
                    <a:pt x="12" y="7"/>
                  </a:lnTo>
                  <a:lnTo>
                    <a:pt x="12" y="14"/>
                  </a:lnTo>
                  <a:lnTo>
                    <a:pt x="6" y="14"/>
                  </a:lnTo>
                  <a:lnTo>
                    <a:pt x="0" y="7"/>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70" name="Freeform 24"/>
            <p:cNvSpPr>
              <a:spLocks/>
            </p:cNvSpPr>
            <p:nvPr/>
          </p:nvSpPr>
          <p:spPr bwMode="auto">
            <a:xfrm>
              <a:off x="3840" y="231"/>
              <a:ext cx="12" cy="14"/>
            </a:xfrm>
            <a:custGeom>
              <a:avLst/>
              <a:gdLst>
                <a:gd name="T0" fmla="*/ 0 w 12"/>
                <a:gd name="T1" fmla="*/ 7 h 14"/>
                <a:gd name="T2" fmla="*/ 0 w 12"/>
                <a:gd name="T3" fmla="*/ 0 h 14"/>
                <a:gd name="T4" fmla="*/ 6 w 12"/>
                <a:gd name="T5" fmla="*/ 0 h 14"/>
                <a:gd name="T6" fmla="*/ 12 w 12"/>
                <a:gd name="T7" fmla="*/ 0 h 14"/>
                <a:gd name="T8" fmla="*/ 12 w 12"/>
                <a:gd name="T9" fmla="*/ 7 h 14"/>
                <a:gd name="T10" fmla="*/ 12 w 12"/>
                <a:gd name="T11" fmla="*/ 14 h 14"/>
                <a:gd name="T12" fmla="*/ 6 w 12"/>
                <a:gd name="T13" fmla="*/ 14 h 14"/>
                <a:gd name="T14" fmla="*/ 0 w 12"/>
                <a:gd name="T15" fmla="*/ 7 h 14"/>
                <a:gd name="T16" fmla="*/ 0 60000 65536"/>
                <a:gd name="T17" fmla="*/ 0 60000 65536"/>
                <a:gd name="T18" fmla="*/ 0 60000 65536"/>
                <a:gd name="T19" fmla="*/ 0 60000 65536"/>
                <a:gd name="T20" fmla="*/ 0 60000 65536"/>
                <a:gd name="T21" fmla="*/ 0 60000 65536"/>
                <a:gd name="T22" fmla="*/ 0 60000 65536"/>
                <a:gd name="T23" fmla="*/ 0 60000 65536"/>
                <a:gd name="T24" fmla="*/ 0 w 12"/>
                <a:gd name="T25" fmla="*/ 0 h 14"/>
                <a:gd name="T26" fmla="*/ 12 w 12"/>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2" h="14">
                  <a:moveTo>
                    <a:pt x="0" y="7"/>
                  </a:moveTo>
                  <a:lnTo>
                    <a:pt x="0" y="0"/>
                  </a:lnTo>
                  <a:lnTo>
                    <a:pt x="6" y="0"/>
                  </a:lnTo>
                  <a:lnTo>
                    <a:pt x="12" y="0"/>
                  </a:lnTo>
                  <a:lnTo>
                    <a:pt x="12" y="7"/>
                  </a:lnTo>
                  <a:lnTo>
                    <a:pt x="12" y="14"/>
                  </a:lnTo>
                  <a:lnTo>
                    <a:pt x="6" y="14"/>
                  </a:lnTo>
                  <a:lnTo>
                    <a:pt x="0" y="7"/>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71" name="Freeform 25"/>
            <p:cNvSpPr>
              <a:spLocks/>
            </p:cNvSpPr>
            <p:nvPr/>
          </p:nvSpPr>
          <p:spPr bwMode="auto">
            <a:xfrm>
              <a:off x="3833" y="151"/>
              <a:ext cx="26" cy="15"/>
            </a:xfrm>
            <a:custGeom>
              <a:avLst/>
              <a:gdLst>
                <a:gd name="T0" fmla="*/ 13 w 26"/>
                <a:gd name="T1" fmla="*/ 0 h 15"/>
                <a:gd name="T2" fmla="*/ 19 w 26"/>
                <a:gd name="T3" fmla="*/ 0 h 15"/>
                <a:gd name="T4" fmla="*/ 26 w 26"/>
                <a:gd name="T5" fmla="*/ 8 h 15"/>
                <a:gd name="T6" fmla="*/ 7 w 26"/>
                <a:gd name="T7" fmla="*/ 15 h 15"/>
                <a:gd name="T8" fmla="*/ 7 w 26"/>
                <a:gd name="T9" fmla="*/ 15 h 15"/>
                <a:gd name="T10" fmla="*/ 0 w 26"/>
                <a:gd name="T11" fmla="*/ 0 h 15"/>
                <a:gd name="T12" fmla="*/ 13 w 26"/>
                <a:gd name="T13" fmla="*/ 0 h 15"/>
                <a:gd name="T14" fmla="*/ 13 w 26"/>
                <a:gd name="T15" fmla="*/ 0 h 15"/>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5"/>
                <a:gd name="T26" fmla="*/ 26 w 26"/>
                <a:gd name="T27" fmla="*/ 15 h 1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5">
                  <a:moveTo>
                    <a:pt x="13" y="0"/>
                  </a:moveTo>
                  <a:lnTo>
                    <a:pt x="19" y="0"/>
                  </a:lnTo>
                  <a:lnTo>
                    <a:pt x="26" y="8"/>
                  </a:lnTo>
                  <a:lnTo>
                    <a:pt x="7" y="15"/>
                  </a:lnTo>
                  <a:lnTo>
                    <a:pt x="0" y="0"/>
                  </a:lnTo>
                  <a:lnTo>
                    <a:pt x="13"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72" name="Freeform 26"/>
            <p:cNvSpPr>
              <a:spLocks/>
            </p:cNvSpPr>
            <p:nvPr/>
          </p:nvSpPr>
          <p:spPr bwMode="auto">
            <a:xfrm>
              <a:off x="3833" y="151"/>
              <a:ext cx="26" cy="15"/>
            </a:xfrm>
            <a:custGeom>
              <a:avLst/>
              <a:gdLst>
                <a:gd name="T0" fmla="*/ 13 w 26"/>
                <a:gd name="T1" fmla="*/ 0 h 15"/>
                <a:gd name="T2" fmla="*/ 19 w 26"/>
                <a:gd name="T3" fmla="*/ 0 h 15"/>
                <a:gd name="T4" fmla="*/ 26 w 26"/>
                <a:gd name="T5" fmla="*/ 8 h 15"/>
                <a:gd name="T6" fmla="*/ 7 w 26"/>
                <a:gd name="T7" fmla="*/ 15 h 15"/>
                <a:gd name="T8" fmla="*/ 0 w 26"/>
                <a:gd name="T9" fmla="*/ 0 h 15"/>
                <a:gd name="T10" fmla="*/ 13 w 26"/>
                <a:gd name="T11" fmla="*/ 0 h 15"/>
                <a:gd name="T12" fmla="*/ 0 60000 65536"/>
                <a:gd name="T13" fmla="*/ 0 60000 65536"/>
                <a:gd name="T14" fmla="*/ 0 60000 65536"/>
                <a:gd name="T15" fmla="*/ 0 60000 65536"/>
                <a:gd name="T16" fmla="*/ 0 60000 65536"/>
                <a:gd name="T17" fmla="*/ 0 60000 65536"/>
                <a:gd name="T18" fmla="*/ 0 w 26"/>
                <a:gd name="T19" fmla="*/ 0 h 15"/>
                <a:gd name="T20" fmla="*/ 26 w 26"/>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26" h="15">
                  <a:moveTo>
                    <a:pt x="13" y="0"/>
                  </a:moveTo>
                  <a:lnTo>
                    <a:pt x="19" y="0"/>
                  </a:lnTo>
                  <a:lnTo>
                    <a:pt x="26" y="8"/>
                  </a:lnTo>
                  <a:lnTo>
                    <a:pt x="7" y="15"/>
                  </a:lnTo>
                  <a:lnTo>
                    <a:pt x="0" y="0"/>
                  </a:lnTo>
                  <a:lnTo>
                    <a:pt x="13"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73" name="Freeform 27"/>
            <p:cNvSpPr>
              <a:spLocks/>
            </p:cNvSpPr>
            <p:nvPr/>
          </p:nvSpPr>
          <p:spPr bwMode="auto">
            <a:xfrm>
              <a:off x="3770" y="144"/>
              <a:ext cx="165" cy="166"/>
            </a:xfrm>
            <a:custGeom>
              <a:avLst/>
              <a:gdLst>
                <a:gd name="T0" fmla="*/ 32 w 165"/>
                <a:gd name="T1" fmla="*/ 7 h 166"/>
                <a:gd name="T2" fmla="*/ 25 w 165"/>
                <a:gd name="T3" fmla="*/ 29 h 166"/>
                <a:gd name="T4" fmla="*/ 32 w 165"/>
                <a:gd name="T5" fmla="*/ 36 h 166"/>
                <a:gd name="T6" fmla="*/ 32 w 165"/>
                <a:gd name="T7" fmla="*/ 22 h 166"/>
                <a:gd name="T8" fmla="*/ 51 w 165"/>
                <a:gd name="T9" fmla="*/ 7 h 166"/>
                <a:gd name="T10" fmla="*/ 63 w 165"/>
                <a:gd name="T11" fmla="*/ 22 h 166"/>
                <a:gd name="T12" fmla="*/ 70 w 165"/>
                <a:gd name="T13" fmla="*/ 29 h 166"/>
                <a:gd name="T14" fmla="*/ 95 w 165"/>
                <a:gd name="T15" fmla="*/ 29 h 166"/>
                <a:gd name="T16" fmla="*/ 101 w 165"/>
                <a:gd name="T17" fmla="*/ 36 h 166"/>
                <a:gd name="T18" fmla="*/ 114 w 165"/>
                <a:gd name="T19" fmla="*/ 36 h 166"/>
                <a:gd name="T20" fmla="*/ 120 w 165"/>
                <a:gd name="T21" fmla="*/ 43 h 166"/>
                <a:gd name="T22" fmla="*/ 139 w 165"/>
                <a:gd name="T23" fmla="*/ 58 h 166"/>
                <a:gd name="T24" fmla="*/ 133 w 165"/>
                <a:gd name="T25" fmla="*/ 79 h 166"/>
                <a:gd name="T26" fmla="*/ 139 w 165"/>
                <a:gd name="T27" fmla="*/ 87 h 166"/>
                <a:gd name="T28" fmla="*/ 152 w 165"/>
                <a:gd name="T29" fmla="*/ 87 h 166"/>
                <a:gd name="T30" fmla="*/ 165 w 165"/>
                <a:gd name="T31" fmla="*/ 101 h 166"/>
                <a:gd name="T32" fmla="*/ 158 w 165"/>
                <a:gd name="T33" fmla="*/ 108 h 166"/>
                <a:gd name="T34" fmla="*/ 152 w 165"/>
                <a:gd name="T35" fmla="*/ 116 h 166"/>
                <a:gd name="T36" fmla="*/ 133 w 165"/>
                <a:gd name="T37" fmla="*/ 108 h 166"/>
                <a:gd name="T38" fmla="*/ 133 w 165"/>
                <a:gd name="T39" fmla="*/ 108 h 166"/>
                <a:gd name="T40" fmla="*/ 133 w 165"/>
                <a:gd name="T41" fmla="*/ 123 h 166"/>
                <a:gd name="T42" fmla="*/ 146 w 165"/>
                <a:gd name="T43" fmla="*/ 137 h 166"/>
                <a:gd name="T44" fmla="*/ 139 w 165"/>
                <a:gd name="T45" fmla="*/ 144 h 166"/>
                <a:gd name="T46" fmla="*/ 120 w 165"/>
                <a:gd name="T47" fmla="*/ 144 h 166"/>
                <a:gd name="T48" fmla="*/ 133 w 165"/>
                <a:gd name="T49" fmla="*/ 159 h 166"/>
                <a:gd name="T50" fmla="*/ 127 w 165"/>
                <a:gd name="T51" fmla="*/ 166 h 166"/>
                <a:gd name="T52" fmla="*/ 101 w 165"/>
                <a:gd name="T53" fmla="*/ 152 h 166"/>
                <a:gd name="T54" fmla="*/ 89 w 165"/>
                <a:gd name="T55" fmla="*/ 137 h 166"/>
                <a:gd name="T56" fmla="*/ 70 w 165"/>
                <a:gd name="T57" fmla="*/ 130 h 166"/>
                <a:gd name="T58" fmla="*/ 63 w 165"/>
                <a:gd name="T59" fmla="*/ 123 h 166"/>
                <a:gd name="T60" fmla="*/ 76 w 165"/>
                <a:gd name="T61" fmla="*/ 123 h 166"/>
                <a:gd name="T62" fmla="*/ 89 w 165"/>
                <a:gd name="T63" fmla="*/ 108 h 166"/>
                <a:gd name="T64" fmla="*/ 101 w 165"/>
                <a:gd name="T65" fmla="*/ 101 h 166"/>
                <a:gd name="T66" fmla="*/ 95 w 165"/>
                <a:gd name="T67" fmla="*/ 79 h 166"/>
                <a:gd name="T68" fmla="*/ 82 w 165"/>
                <a:gd name="T69" fmla="*/ 72 h 166"/>
                <a:gd name="T70" fmla="*/ 63 w 165"/>
                <a:gd name="T71" fmla="*/ 58 h 166"/>
                <a:gd name="T72" fmla="*/ 57 w 165"/>
                <a:gd name="T73" fmla="*/ 65 h 166"/>
                <a:gd name="T74" fmla="*/ 38 w 165"/>
                <a:gd name="T75" fmla="*/ 58 h 166"/>
                <a:gd name="T76" fmla="*/ 13 w 165"/>
                <a:gd name="T77" fmla="*/ 58 h 166"/>
                <a:gd name="T78" fmla="*/ 6 w 165"/>
                <a:gd name="T79" fmla="*/ 36 h 166"/>
                <a:gd name="T80" fmla="*/ 19 w 165"/>
                <a:gd name="T81" fmla="*/ 15 h 166"/>
                <a:gd name="T82" fmla="*/ 38 w 165"/>
                <a:gd name="T83" fmla="*/ 7 h 16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65"/>
                <a:gd name="T127" fmla="*/ 0 h 166"/>
                <a:gd name="T128" fmla="*/ 165 w 165"/>
                <a:gd name="T129" fmla="*/ 166 h 16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65" h="166">
                  <a:moveTo>
                    <a:pt x="38" y="7"/>
                  </a:moveTo>
                  <a:lnTo>
                    <a:pt x="32" y="7"/>
                  </a:lnTo>
                  <a:lnTo>
                    <a:pt x="25" y="22"/>
                  </a:lnTo>
                  <a:lnTo>
                    <a:pt x="25" y="29"/>
                  </a:lnTo>
                  <a:lnTo>
                    <a:pt x="32" y="36"/>
                  </a:lnTo>
                  <a:lnTo>
                    <a:pt x="32" y="29"/>
                  </a:lnTo>
                  <a:lnTo>
                    <a:pt x="32" y="22"/>
                  </a:lnTo>
                  <a:lnTo>
                    <a:pt x="38" y="15"/>
                  </a:lnTo>
                  <a:lnTo>
                    <a:pt x="51" y="7"/>
                  </a:lnTo>
                  <a:lnTo>
                    <a:pt x="57" y="7"/>
                  </a:lnTo>
                  <a:lnTo>
                    <a:pt x="63" y="22"/>
                  </a:lnTo>
                  <a:lnTo>
                    <a:pt x="57" y="29"/>
                  </a:lnTo>
                  <a:lnTo>
                    <a:pt x="70" y="29"/>
                  </a:lnTo>
                  <a:lnTo>
                    <a:pt x="82" y="22"/>
                  </a:lnTo>
                  <a:lnTo>
                    <a:pt x="95" y="29"/>
                  </a:lnTo>
                  <a:lnTo>
                    <a:pt x="101" y="36"/>
                  </a:lnTo>
                  <a:lnTo>
                    <a:pt x="114" y="36"/>
                  </a:lnTo>
                  <a:lnTo>
                    <a:pt x="120" y="36"/>
                  </a:lnTo>
                  <a:lnTo>
                    <a:pt x="120" y="43"/>
                  </a:lnTo>
                  <a:lnTo>
                    <a:pt x="133" y="51"/>
                  </a:lnTo>
                  <a:lnTo>
                    <a:pt x="139" y="58"/>
                  </a:lnTo>
                  <a:lnTo>
                    <a:pt x="139" y="72"/>
                  </a:lnTo>
                  <a:lnTo>
                    <a:pt x="133" y="79"/>
                  </a:lnTo>
                  <a:lnTo>
                    <a:pt x="139" y="87"/>
                  </a:lnTo>
                  <a:lnTo>
                    <a:pt x="152" y="87"/>
                  </a:lnTo>
                  <a:lnTo>
                    <a:pt x="158" y="101"/>
                  </a:lnTo>
                  <a:lnTo>
                    <a:pt x="165" y="101"/>
                  </a:lnTo>
                  <a:lnTo>
                    <a:pt x="165" y="108"/>
                  </a:lnTo>
                  <a:lnTo>
                    <a:pt x="158" y="108"/>
                  </a:lnTo>
                  <a:lnTo>
                    <a:pt x="152" y="108"/>
                  </a:lnTo>
                  <a:lnTo>
                    <a:pt x="152" y="116"/>
                  </a:lnTo>
                  <a:lnTo>
                    <a:pt x="146" y="108"/>
                  </a:lnTo>
                  <a:lnTo>
                    <a:pt x="133" y="108"/>
                  </a:lnTo>
                  <a:lnTo>
                    <a:pt x="127" y="108"/>
                  </a:lnTo>
                  <a:lnTo>
                    <a:pt x="133" y="123"/>
                  </a:lnTo>
                  <a:lnTo>
                    <a:pt x="139" y="130"/>
                  </a:lnTo>
                  <a:lnTo>
                    <a:pt x="146" y="137"/>
                  </a:lnTo>
                  <a:lnTo>
                    <a:pt x="139" y="137"/>
                  </a:lnTo>
                  <a:lnTo>
                    <a:pt x="139" y="144"/>
                  </a:lnTo>
                  <a:lnTo>
                    <a:pt x="133" y="144"/>
                  </a:lnTo>
                  <a:lnTo>
                    <a:pt x="120" y="144"/>
                  </a:lnTo>
                  <a:lnTo>
                    <a:pt x="127" y="152"/>
                  </a:lnTo>
                  <a:lnTo>
                    <a:pt x="133" y="159"/>
                  </a:lnTo>
                  <a:lnTo>
                    <a:pt x="133" y="166"/>
                  </a:lnTo>
                  <a:lnTo>
                    <a:pt x="127" y="166"/>
                  </a:lnTo>
                  <a:lnTo>
                    <a:pt x="114" y="159"/>
                  </a:lnTo>
                  <a:lnTo>
                    <a:pt x="101" y="152"/>
                  </a:lnTo>
                  <a:lnTo>
                    <a:pt x="95" y="152"/>
                  </a:lnTo>
                  <a:lnTo>
                    <a:pt x="89" y="137"/>
                  </a:lnTo>
                  <a:lnTo>
                    <a:pt x="82" y="130"/>
                  </a:lnTo>
                  <a:lnTo>
                    <a:pt x="70" y="130"/>
                  </a:lnTo>
                  <a:lnTo>
                    <a:pt x="63" y="123"/>
                  </a:lnTo>
                  <a:lnTo>
                    <a:pt x="70" y="123"/>
                  </a:lnTo>
                  <a:lnTo>
                    <a:pt x="76" y="123"/>
                  </a:lnTo>
                  <a:lnTo>
                    <a:pt x="89" y="116"/>
                  </a:lnTo>
                  <a:lnTo>
                    <a:pt x="89" y="108"/>
                  </a:lnTo>
                  <a:lnTo>
                    <a:pt x="101" y="101"/>
                  </a:lnTo>
                  <a:lnTo>
                    <a:pt x="101" y="94"/>
                  </a:lnTo>
                  <a:lnTo>
                    <a:pt x="95" y="79"/>
                  </a:lnTo>
                  <a:lnTo>
                    <a:pt x="82" y="72"/>
                  </a:lnTo>
                  <a:lnTo>
                    <a:pt x="70" y="58"/>
                  </a:lnTo>
                  <a:lnTo>
                    <a:pt x="63" y="58"/>
                  </a:lnTo>
                  <a:lnTo>
                    <a:pt x="63" y="65"/>
                  </a:lnTo>
                  <a:lnTo>
                    <a:pt x="57" y="65"/>
                  </a:lnTo>
                  <a:lnTo>
                    <a:pt x="51" y="58"/>
                  </a:lnTo>
                  <a:lnTo>
                    <a:pt x="38" y="58"/>
                  </a:lnTo>
                  <a:lnTo>
                    <a:pt x="19" y="58"/>
                  </a:lnTo>
                  <a:lnTo>
                    <a:pt x="13" y="58"/>
                  </a:lnTo>
                  <a:lnTo>
                    <a:pt x="6" y="51"/>
                  </a:lnTo>
                  <a:lnTo>
                    <a:pt x="6" y="36"/>
                  </a:lnTo>
                  <a:lnTo>
                    <a:pt x="0" y="36"/>
                  </a:lnTo>
                  <a:lnTo>
                    <a:pt x="19" y="15"/>
                  </a:lnTo>
                  <a:lnTo>
                    <a:pt x="25" y="0"/>
                  </a:lnTo>
                  <a:lnTo>
                    <a:pt x="38" y="7"/>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74" name="Freeform 28"/>
            <p:cNvSpPr>
              <a:spLocks/>
            </p:cNvSpPr>
            <p:nvPr/>
          </p:nvSpPr>
          <p:spPr bwMode="auto">
            <a:xfrm>
              <a:off x="3770" y="144"/>
              <a:ext cx="165" cy="166"/>
            </a:xfrm>
            <a:custGeom>
              <a:avLst/>
              <a:gdLst>
                <a:gd name="T0" fmla="*/ 32 w 165"/>
                <a:gd name="T1" fmla="*/ 7 h 166"/>
                <a:gd name="T2" fmla="*/ 25 w 165"/>
                <a:gd name="T3" fmla="*/ 29 h 166"/>
                <a:gd name="T4" fmla="*/ 32 w 165"/>
                <a:gd name="T5" fmla="*/ 29 h 166"/>
                <a:gd name="T6" fmla="*/ 38 w 165"/>
                <a:gd name="T7" fmla="*/ 15 h 166"/>
                <a:gd name="T8" fmla="*/ 57 w 165"/>
                <a:gd name="T9" fmla="*/ 7 h 166"/>
                <a:gd name="T10" fmla="*/ 57 w 165"/>
                <a:gd name="T11" fmla="*/ 29 h 166"/>
                <a:gd name="T12" fmla="*/ 82 w 165"/>
                <a:gd name="T13" fmla="*/ 22 h 166"/>
                <a:gd name="T14" fmla="*/ 101 w 165"/>
                <a:gd name="T15" fmla="*/ 36 h 166"/>
                <a:gd name="T16" fmla="*/ 120 w 165"/>
                <a:gd name="T17" fmla="*/ 36 h 166"/>
                <a:gd name="T18" fmla="*/ 133 w 165"/>
                <a:gd name="T19" fmla="*/ 51 h 166"/>
                <a:gd name="T20" fmla="*/ 139 w 165"/>
                <a:gd name="T21" fmla="*/ 72 h 166"/>
                <a:gd name="T22" fmla="*/ 139 w 165"/>
                <a:gd name="T23" fmla="*/ 87 h 166"/>
                <a:gd name="T24" fmla="*/ 158 w 165"/>
                <a:gd name="T25" fmla="*/ 101 h 166"/>
                <a:gd name="T26" fmla="*/ 165 w 165"/>
                <a:gd name="T27" fmla="*/ 108 h 166"/>
                <a:gd name="T28" fmla="*/ 152 w 165"/>
                <a:gd name="T29" fmla="*/ 108 h 166"/>
                <a:gd name="T30" fmla="*/ 146 w 165"/>
                <a:gd name="T31" fmla="*/ 108 h 166"/>
                <a:gd name="T32" fmla="*/ 127 w 165"/>
                <a:gd name="T33" fmla="*/ 108 h 166"/>
                <a:gd name="T34" fmla="*/ 139 w 165"/>
                <a:gd name="T35" fmla="*/ 130 h 166"/>
                <a:gd name="T36" fmla="*/ 139 w 165"/>
                <a:gd name="T37" fmla="*/ 137 h 166"/>
                <a:gd name="T38" fmla="*/ 133 w 165"/>
                <a:gd name="T39" fmla="*/ 144 h 166"/>
                <a:gd name="T40" fmla="*/ 127 w 165"/>
                <a:gd name="T41" fmla="*/ 152 h 166"/>
                <a:gd name="T42" fmla="*/ 133 w 165"/>
                <a:gd name="T43" fmla="*/ 166 h 166"/>
                <a:gd name="T44" fmla="*/ 114 w 165"/>
                <a:gd name="T45" fmla="*/ 159 h 166"/>
                <a:gd name="T46" fmla="*/ 95 w 165"/>
                <a:gd name="T47" fmla="*/ 152 h 166"/>
                <a:gd name="T48" fmla="*/ 82 w 165"/>
                <a:gd name="T49" fmla="*/ 130 h 166"/>
                <a:gd name="T50" fmla="*/ 63 w 165"/>
                <a:gd name="T51" fmla="*/ 123 h 166"/>
                <a:gd name="T52" fmla="*/ 76 w 165"/>
                <a:gd name="T53" fmla="*/ 123 h 166"/>
                <a:gd name="T54" fmla="*/ 89 w 165"/>
                <a:gd name="T55" fmla="*/ 108 h 166"/>
                <a:gd name="T56" fmla="*/ 101 w 165"/>
                <a:gd name="T57" fmla="*/ 94 h 166"/>
                <a:gd name="T58" fmla="*/ 82 w 165"/>
                <a:gd name="T59" fmla="*/ 72 h 166"/>
                <a:gd name="T60" fmla="*/ 63 w 165"/>
                <a:gd name="T61" fmla="*/ 58 h 166"/>
                <a:gd name="T62" fmla="*/ 57 w 165"/>
                <a:gd name="T63" fmla="*/ 65 h 166"/>
                <a:gd name="T64" fmla="*/ 38 w 165"/>
                <a:gd name="T65" fmla="*/ 58 h 166"/>
                <a:gd name="T66" fmla="*/ 13 w 165"/>
                <a:gd name="T67" fmla="*/ 58 h 166"/>
                <a:gd name="T68" fmla="*/ 6 w 165"/>
                <a:gd name="T69" fmla="*/ 36 h 166"/>
                <a:gd name="T70" fmla="*/ 19 w 165"/>
                <a:gd name="T71" fmla="*/ 15 h 166"/>
                <a:gd name="T72" fmla="*/ 38 w 165"/>
                <a:gd name="T73" fmla="*/ 7 h 16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65"/>
                <a:gd name="T112" fmla="*/ 0 h 166"/>
                <a:gd name="T113" fmla="*/ 165 w 165"/>
                <a:gd name="T114" fmla="*/ 166 h 16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65" h="166">
                  <a:moveTo>
                    <a:pt x="38" y="7"/>
                  </a:moveTo>
                  <a:lnTo>
                    <a:pt x="32" y="7"/>
                  </a:lnTo>
                  <a:lnTo>
                    <a:pt x="25" y="22"/>
                  </a:lnTo>
                  <a:lnTo>
                    <a:pt x="25" y="29"/>
                  </a:lnTo>
                  <a:lnTo>
                    <a:pt x="32" y="36"/>
                  </a:lnTo>
                  <a:lnTo>
                    <a:pt x="32" y="29"/>
                  </a:lnTo>
                  <a:lnTo>
                    <a:pt x="32" y="22"/>
                  </a:lnTo>
                  <a:lnTo>
                    <a:pt x="38" y="15"/>
                  </a:lnTo>
                  <a:lnTo>
                    <a:pt x="51" y="7"/>
                  </a:lnTo>
                  <a:lnTo>
                    <a:pt x="57" y="7"/>
                  </a:lnTo>
                  <a:lnTo>
                    <a:pt x="63" y="22"/>
                  </a:lnTo>
                  <a:lnTo>
                    <a:pt x="57" y="29"/>
                  </a:lnTo>
                  <a:lnTo>
                    <a:pt x="70" y="29"/>
                  </a:lnTo>
                  <a:lnTo>
                    <a:pt x="82" y="22"/>
                  </a:lnTo>
                  <a:lnTo>
                    <a:pt x="95" y="29"/>
                  </a:lnTo>
                  <a:lnTo>
                    <a:pt x="101" y="36"/>
                  </a:lnTo>
                  <a:lnTo>
                    <a:pt x="114" y="36"/>
                  </a:lnTo>
                  <a:lnTo>
                    <a:pt x="120" y="36"/>
                  </a:lnTo>
                  <a:lnTo>
                    <a:pt x="120" y="43"/>
                  </a:lnTo>
                  <a:lnTo>
                    <a:pt x="133" y="51"/>
                  </a:lnTo>
                  <a:lnTo>
                    <a:pt x="139" y="58"/>
                  </a:lnTo>
                  <a:lnTo>
                    <a:pt x="139" y="72"/>
                  </a:lnTo>
                  <a:lnTo>
                    <a:pt x="133" y="79"/>
                  </a:lnTo>
                  <a:lnTo>
                    <a:pt x="139" y="87"/>
                  </a:lnTo>
                  <a:lnTo>
                    <a:pt x="152" y="87"/>
                  </a:lnTo>
                  <a:lnTo>
                    <a:pt x="158" y="101"/>
                  </a:lnTo>
                  <a:lnTo>
                    <a:pt x="165" y="101"/>
                  </a:lnTo>
                  <a:lnTo>
                    <a:pt x="165" y="108"/>
                  </a:lnTo>
                  <a:lnTo>
                    <a:pt x="158" y="108"/>
                  </a:lnTo>
                  <a:lnTo>
                    <a:pt x="152" y="108"/>
                  </a:lnTo>
                  <a:lnTo>
                    <a:pt x="152" y="116"/>
                  </a:lnTo>
                  <a:lnTo>
                    <a:pt x="146" y="108"/>
                  </a:lnTo>
                  <a:lnTo>
                    <a:pt x="133" y="108"/>
                  </a:lnTo>
                  <a:lnTo>
                    <a:pt x="127" y="108"/>
                  </a:lnTo>
                  <a:lnTo>
                    <a:pt x="133" y="123"/>
                  </a:lnTo>
                  <a:lnTo>
                    <a:pt x="139" y="130"/>
                  </a:lnTo>
                  <a:lnTo>
                    <a:pt x="146" y="137"/>
                  </a:lnTo>
                  <a:lnTo>
                    <a:pt x="139" y="137"/>
                  </a:lnTo>
                  <a:lnTo>
                    <a:pt x="139" y="144"/>
                  </a:lnTo>
                  <a:lnTo>
                    <a:pt x="133" y="144"/>
                  </a:lnTo>
                  <a:lnTo>
                    <a:pt x="120" y="144"/>
                  </a:lnTo>
                  <a:lnTo>
                    <a:pt x="127" y="152"/>
                  </a:lnTo>
                  <a:lnTo>
                    <a:pt x="133" y="159"/>
                  </a:lnTo>
                  <a:lnTo>
                    <a:pt x="133" y="166"/>
                  </a:lnTo>
                  <a:lnTo>
                    <a:pt x="127" y="166"/>
                  </a:lnTo>
                  <a:lnTo>
                    <a:pt x="114" y="159"/>
                  </a:lnTo>
                  <a:lnTo>
                    <a:pt x="101" y="152"/>
                  </a:lnTo>
                  <a:lnTo>
                    <a:pt x="95" y="152"/>
                  </a:lnTo>
                  <a:lnTo>
                    <a:pt x="89" y="137"/>
                  </a:lnTo>
                  <a:lnTo>
                    <a:pt x="82" y="130"/>
                  </a:lnTo>
                  <a:lnTo>
                    <a:pt x="70" y="130"/>
                  </a:lnTo>
                  <a:lnTo>
                    <a:pt x="63" y="123"/>
                  </a:lnTo>
                  <a:lnTo>
                    <a:pt x="70" y="123"/>
                  </a:lnTo>
                  <a:lnTo>
                    <a:pt x="76" y="123"/>
                  </a:lnTo>
                  <a:lnTo>
                    <a:pt x="89" y="116"/>
                  </a:lnTo>
                  <a:lnTo>
                    <a:pt x="89" y="108"/>
                  </a:lnTo>
                  <a:lnTo>
                    <a:pt x="101" y="101"/>
                  </a:lnTo>
                  <a:lnTo>
                    <a:pt x="101" y="94"/>
                  </a:lnTo>
                  <a:lnTo>
                    <a:pt x="95" y="79"/>
                  </a:lnTo>
                  <a:lnTo>
                    <a:pt x="82" y="72"/>
                  </a:lnTo>
                  <a:lnTo>
                    <a:pt x="70" y="58"/>
                  </a:lnTo>
                  <a:lnTo>
                    <a:pt x="63" y="58"/>
                  </a:lnTo>
                  <a:lnTo>
                    <a:pt x="63" y="65"/>
                  </a:lnTo>
                  <a:lnTo>
                    <a:pt x="57" y="65"/>
                  </a:lnTo>
                  <a:lnTo>
                    <a:pt x="51" y="58"/>
                  </a:lnTo>
                  <a:lnTo>
                    <a:pt x="38" y="58"/>
                  </a:lnTo>
                  <a:lnTo>
                    <a:pt x="19" y="58"/>
                  </a:lnTo>
                  <a:lnTo>
                    <a:pt x="13" y="58"/>
                  </a:lnTo>
                  <a:lnTo>
                    <a:pt x="6" y="51"/>
                  </a:lnTo>
                  <a:lnTo>
                    <a:pt x="6" y="36"/>
                  </a:lnTo>
                  <a:lnTo>
                    <a:pt x="0" y="36"/>
                  </a:lnTo>
                  <a:lnTo>
                    <a:pt x="19" y="15"/>
                  </a:lnTo>
                  <a:lnTo>
                    <a:pt x="25" y="0"/>
                  </a:lnTo>
                  <a:lnTo>
                    <a:pt x="38" y="7"/>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75" name="Freeform 29"/>
            <p:cNvSpPr>
              <a:spLocks/>
            </p:cNvSpPr>
            <p:nvPr/>
          </p:nvSpPr>
          <p:spPr bwMode="auto">
            <a:xfrm>
              <a:off x="3738" y="123"/>
              <a:ext cx="25" cy="14"/>
            </a:xfrm>
            <a:custGeom>
              <a:avLst/>
              <a:gdLst>
                <a:gd name="T0" fmla="*/ 0 w 25"/>
                <a:gd name="T1" fmla="*/ 7 h 14"/>
                <a:gd name="T2" fmla="*/ 6 w 25"/>
                <a:gd name="T3" fmla="*/ 7 h 14"/>
                <a:gd name="T4" fmla="*/ 13 w 25"/>
                <a:gd name="T5" fmla="*/ 0 h 14"/>
                <a:gd name="T6" fmla="*/ 19 w 25"/>
                <a:gd name="T7" fmla="*/ 0 h 14"/>
                <a:gd name="T8" fmla="*/ 25 w 25"/>
                <a:gd name="T9" fmla="*/ 7 h 14"/>
                <a:gd name="T10" fmla="*/ 25 w 25"/>
                <a:gd name="T11" fmla="*/ 14 h 14"/>
                <a:gd name="T12" fmla="*/ 13 w 25"/>
                <a:gd name="T13" fmla="*/ 14 h 14"/>
                <a:gd name="T14" fmla="*/ 0 w 25"/>
                <a:gd name="T15" fmla="*/ 7 h 14"/>
                <a:gd name="T16" fmla="*/ 0 w 25"/>
                <a:gd name="T17" fmla="*/ 7 h 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5"/>
                <a:gd name="T28" fmla="*/ 0 h 14"/>
                <a:gd name="T29" fmla="*/ 25 w 25"/>
                <a:gd name="T30" fmla="*/ 14 h 1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5" h="14">
                  <a:moveTo>
                    <a:pt x="0" y="7"/>
                  </a:moveTo>
                  <a:lnTo>
                    <a:pt x="6" y="7"/>
                  </a:lnTo>
                  <a:lnTo>
                    <a:pt x="13" y="0"/>
                  </a:lnTo>
                  <a:lnTo>
                    <a:pt x="19" y="0"/>
                  </a:lnTo>
                  <a:lnTo>
                    <a:pt x="25" y="7"/>
                  </a:lnTo>
                  <a:lnTo>
                    <a:pt x="25" y="14"/>
                  </a:lnTo>
                  <a:lnTo>
                    <a:pt x="13" y="14"/>
                  </a:lnTo>
                  <a:lnTo>
                    <a:pt x="0" y="7"/>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76" name="Freeform 30"/>
            <p:cNvSpPr>
              <a:spLocks/>
            </p:cNvSpPr>
            <p:nvPr/>
          </p:nvSpPr>
          <p:spPr bwMode="auto">
            <a:xfrm>
              <a:off x="3738" y="123"/>
              <a:ext cx="25" cy="14"/>
            </a:xfrm>
            <a:custGeom>
              <a:avLst/>
              <a:gdLst>
                <a:gd name="T0" fmla="*/ 0 w 25"/>
                <a:gd name="T1" fmla="*/ 7 h 14"/>
                <a:gd name="T2" fmla="*/ 6 w 25"/>
                <a:gd name="T3" fmla="*/ 7 h 14"/>
                <a:gd name="T4" fmla="*/ 13 w 25"/>
                <a:gd name="T5" fmla="*/ 0 h 14"/>
                <a:gd name="T6" fmla="*/ 19 w 25"/>
                <a:gd name="T7" fmla="*/ 0 h 14"/>
                <a:gd name="T8" fmla="*/ 25 w 25"/>
                <a:gd name="T9" fmla="*/ 7 h 14"/>
                <a:gd name="T10" fmla="*/ 25 w 25"/>
                <a:gd name="T11" fmla="*/ 14 h 14"/>
                <a:gd name="T12" fmla="*/ 13 w 25"/>
                <a:gd name="T13" fmla="*/ 14 h 14"/>
                <a:gd name="T14" fmla="*/ 0 w 25"/>
                <a:gd name="T15" fmla="*/ 7 h 14"/>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14"/>
                <a:gd name="T26" fmla="*/ 25 w 25"/>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14">
                  <a:moveTo>
                    <a:pt x="0" y="7"/>
                  </a:moveTo>
                  <a:lnTo>
                    <a:pt x="6" y="7"/>
                  </a:lnTo>
                  <a:lnTo>
                    <a:pt x="13" y="0"/>
                  </a:lnTo>
                  <a:lnTo>
                    <a:pt x="19" y="0"/>
                  </a:lnTo>
                  <a:lnTo>
                    <a:pt x="25" y="7"/>
                  </a:lnTo>
                  <a:lnTo>
                    <a:pt x="25" y="14"/>
                  </a:lnTo>
                  <a:lnTo>
                    <a:pt x="13" y="14"/>
                  </a:lnTo>
                  <a:lnTo>
                    <a:pt x="0" y="7"/>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77" name="Freeform 31"/>
            <p:cNvSpPr>
              <a:spLocks/>
            </p:cNvSpPr>
            <p:nvPr/>
          </p:nvSpPr>
          <p:spPr bwMode="auto">
            <a:xfrm>
              <a:off x="3700" y="151"/>
              <a:ext cx="32" cy="36"/>
            </a:xfrm>
            <a:custGeom>
              <a:avLst/>
              <a:gdLst>
                <a:gd name="T0" fmla="*/ 0 w 32"/>
                <a:gd name="T1" fmla="*/ 15 h 36"/>
                <a:gd name="T2" fmla="*/ 6 w 32"/>
                <a:gd name="T3" fmla="*/ 15 h 36"/>
                <a:gd name="T4" fmla="*/ 13 w 32"/>
                <a:gd name="T5" fmla="*/ 15 h 36"/>
                <a:gd name="T6" fmla="*/ 13 w 32"/>
                <a:gd name="T7" fmla="*/ 0 h 36"/>
                <a:gd name="T8" fmla="*/ 32 w 32"/>
                <a:gd name="T9" fmla="*/ 0 h 36"/>
                <a:gd name="T10" fmla="*/ 32 w 32"/>
                <a:gd name="T11" fmla="*/ 8 h 36"/>
                <a:gd name="T12" fmla="*/ 25 w 32"/>
                <a:gd name="T13" fmla="*/ 15 h 36"/>
                <a:gd name="T14" fmla="*/ 32 w 32"/>
                <a:gd name="T15" fmla="*/ 22 h 36"/>
                <a:gd name="T16" fmla="*/ 32 w 32"/>
                <a:gd name="T17" fmla="*/ 22 h 36"/>
                <a:gd name="T18" fmla="*/ 19 w 32"/>
                <a:gd name="T19" fmla="*/ 29 h 36"/>
                <a:gd name="T20" fmla="*/ 13 w 32"/>
                <a:gd name="T21" fmla="*/ 36 h 36"/>
                <a:gd name="T22" fmla="*/ 13 w 32"/>
                <a:gd name="T23" fmla="*/ 29 h 36"/>
                <a:gd name="T24" fmla="*/ 6 w 32"/>
                <a:gd name="T25" fmla="*/ 22 h 36"/>
                <a:gd name="T26" fmla="*/ 0 w 32"/>
                <a:gd name="T27" fmla="*/ 15 h 36"/>
                <a:gd name="T28" fmla="*/ 0 w 32"/>
                <a:gd name="T29" fmla="*/ 15 h 36"/>
                <a:gd name="T30" fmla="*/ 0 w 32"/>
                <a:gd name="T31" fmla="*/ 15 h 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2"/>
                <a:gd name="T49" fmla="*/ 0 h 36"/>
                <a:gd name="T50" fmla="*/ 32 w 32"/>
                <a:gd name="T51" fmla="*/ 36 h 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2" h="36">
                  <a:moveTo>
                    <a:pt x="0" y="15"/>
                  </a:moveTo>
                  <a:lnTo>
                    <a:pt x="6" y="15"/>
                  </a:lnTo>
                  <a:lnTo>
                    <a:pt x="13" y="15"/>
                  </a:lnTo>
                  <a:lnTo>
                    <a:pt x="13" y="0"/>
                  </a:lnTo>
                  <a:lnTo>
                    <a:pt x="32" y="0"/>
                  </a:lnTo>
                  <a:lnTo>
                    <a:pt x="32" y="8"/>
                  </a:lnTo>
                  <a:lnTo>
                    <a:pt x="25" y="15"/>
                  </a:lnTo>
                  <a:lnTo>
                    <a:pt x="32" y="22"/>
                  </a:lnTo>
                  <a:lnTo>
                    <a:pt x="19" y="29"/>
                  </a:lnTo>
                  <a:lnTo>
                    <a:pt x="13" y="36"/>
                  </a:lnTo>
                  <a:lnTo>
                    <a:pt x="13" y="29"/>
                  </a:lnTo>
                  <a:lnTo>
                    <a:pt x="6" y="22"/>
                  </a:lnTo>
                  <a:lnTo>
                    <a:pt x="0" y="15"/>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78" name="Freeform 32"/>
            <p:cNvSpPr>
              <a:spLocks/>
            </p:cNvSpPr>
            <p:nvPr/>
          </p:nvSpPr>
          <p:spPr bwMode="auto">
            <a:xfrm>
              <a:off x="3700" y="151"/>
              <a:ext cx="32" cy="36"/>
            </a:xfrm>
            <a:custGeom>
              <a:avLst/>
              <a:gdLst>
                <a:gd name="T0" fmla="*/ 0 w 32"/>
                <a:gd name="T1" fmla="*/ 15 h 36"/>
                <a:gd name="T2" fmla="*/ 6 w 32"/>
                <a:gd name="T3" fmla="*/ 15 h 36"/>
                <a:gd name="T4" fmla="*/ 13 w 32"/>
                <a:gd name="T5" fmla="*/ 15 h 36"/>
                <a:gd name="T6" fmla="*/ 13 w 32"/>
                <a:gd name="T7" fmla="*/ 0 h 36"/>
                <a:gd name="T8" fmla="*/ 32 w 32"/>
                <a:gd name="T9" fmla="*/ 0 h 36"/>
                <a:gd name="T10" fmla="*/ 32 w 32"/>
                <a:gd name="T11" fmla="*/ 8 h 36"/>
                <a:gd name="T12" fmla="*/ 25 w 32"/>
                <a:gd name="T13" fmla="*/ 15 h 36"/>
                <a:gd name="T14" fmla="*/ 32 w 32"/>
                <a:gd name="T15" fmla="*/ 22 h 36"/>
                <a:gd name="T16" fmla="*/ 19 w 32"/>
                <a:gd name="T17" fmla="*/ 29 h 36"/>
                <a:gd name="T18" fmla="*/ 13 w 32"/>
                <a:gd name="T19" fmla="*/ 36 h 36"/>
                <a:gd name="T20" fmla="*/ 13 w 32"/>
                <a:gd name="T21" fmla="*/ 29 h 36"/>
                <a:gd name="T22" fmla="*/ 6 w 32"/>
                <a:gd name="T23" fmla="*/ 22 h 36"/>
                <a:gd name="T24" fmla="*/ 0 w 32"/>
                <a:gd name="T25" fmla="*/ 15 h 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2"/>
                <a:gd name="T40" fmla="*/ 0 h 36"/>
                <a:gd name="T41" fmla="*/ 32 w 32"/>
                <a:gd name="T42" fmla="*/ 36 h 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2" h="36">
                  <a:moveTo>
                    <a:pt x="0" y="15"/>
                  </a:moveTo>
                  <a:lnTo>
                    <a:pt x="6" y="15"/>
                  </a:lnTo>
                  <a:lnTo>
                    <a:pt x="13" y="15"/>
                  </a:lnTo>
                  <a:lnTo>
                    <a:pt x="13" y="0"/>
                  </a:lnTo>
                  <a:lnTo>
                    <a:pt x="32" y="0"/>
                  </a:lnTo>
                  <a:lnTo>
                    <a:pt x="32" y="8"/>
                  </a:lnTo>
                  <a:lnTo>
                    <a:pt x="25" y="15"/>
                  </a:lnTo>
                  <a:lnTo>
                    <a:pt x="32" y="22"/>
                  </a:lnTo>
                  <a:lnTo>
                    <a:pt x="19" y="29"/>
                  </a:lnTo>
                  <a:lnTo>
                    <a:pt x="13" y="36"/>
                  </a:lnTo>
                  <a:lnTo>
                    <a:pt x="13" y="29"/>
                  </a:lnTo>
                  <a:lnTo>
                    <a:pt x="6" y="22"/>
                  </a:lnTo>
                  <a:lnTo>
                    <a:pt x="0" y="15"/>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79" name="Freeform 33"/>
            <p:cNvSpPr>
              <a:spLocks/>
            </p:cNvSpPr>
            <p:nvPr/>
          </p:nvSpPr>
          <p:spPr bwMode="auto">
            <a:xfrm>
              <a:off x="3713" y="108"/>
              <a:ext cx="25" cy="22"/>
            </a:xfrm>
            <a:custGeom>
              <a:avLst/>
              <a:gdLst>
                <a:gd name="T0" fmla="*/ 12 w 25"/>
                <a:gd name="T1" fmla="*/ 22 h 22"/>
                <a:gd name="T2" fmla="*/ 19 w 25"/>
                <a:gd name="T3" fmla="*/ 22 h 22"/>
                <a:gd name="T4" fmla="*/ 25 w 25"/>
                <a:gd name="T5" fmla="*/ 15 h 22"/>
                <a:gd name="T6" fmla="*/ 25 w 25"/>
                <a:gd name="T7" fmla="*/ 0 h 22"/>
                <a:gd name="T8" fmla="*/ 12 w 25"/>
                <a:gd name="T9" fmla="*/ 0 h 22"/>
                <a:gd name="T10" fmla="*/ 6 w 25"/>
                <a:gd name="T11" fmla="*/ 7 h 22"/>
                <a:gd name="T12" fmla="*/ 0 w 25"/>
                <a:gd name="T13" fmla="*/ 7 h 22"/>
                <a:gd name="T14" fmla="*/ 0 w 25"/>
                <a:gd name="T15" fmla="*/ 15 h 22"/>
                <a:gd name="T16" fmla="*/ 6 w 25"/>
                <a:gd name="T17" fmla="*/ 22 h 22"/>
                <a:gd name="T18" fmla="*/ 6 w 25"/>
                <a:gd name="T19" fmla="*/ 22 h 22"/>
                <a:gd name="T20" fmla="*/ 12 w 25"/>
                <a:gd name="T21" fmla="*/ 22 h 22"/>
                <a:gd name="T22" fmla="*/ 12 w 25"/>
                <a:gd name="T23" fmla="*/ 22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5"/>
                <a:gd name="T37" fmla="*/ 0 h 22"/>
                <a:gd name="T38" fmla="*/ 25 w 25"/>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5" h="22">
                  <a:moveTo>
                    <a:pt x="12" y="22"/>
                  </a:moveTo>
                  <a:lnTo>
                    <a:pt x="19" y="22"/>
                  </a:lnTo>
                  <a:lnTo>
                    <a:pt x="25" y="15"/>
                  </a:lnTo>
                  <a:lnTo>
                    <a:pt x="25" y="0"/>
                  </a:lnTo>
                  <a:lnTo>
                    <a:pt x="12" y="0"/>
                  </a:lnTo>
                  <a:lnTo>
                    <a:pt x="6" y="7"/>
                  </a:lnTo>
                  <a:lnTo>
                    <a:pt x="0" y="7"/>
                  </a:lnTo>
                  <a:lnTo>
                    <a:pt x="0" y="15"/>
                  </a:lnTo>
                  <a:lnTo>
                    <a:pt x="6" y="22"/>
                  </a:lnTo>
                  <a:lnTo>
                    <a:pt x="12" y="22"/>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80" name="Freeform 34"/>
            <p:cNvSpPr>
              <a:spLocks/>
            </p:cNvSpPr>
            <p:nvPr/>
          </p:nvSpPr>
          <p:spPr bwMode="auto">
            <a:xfrm>
              <a:off x="3713" y="108"/>
              <a:ext cx="25" cy="22"/>
            </a:xfrm>
            <a:custGeom>
              <a:avLst/>
              <a:gdLst>
                <a:gd name="T0" fmla="*/ 12 w 25"/>
                <a:gd name="T1" fmla="*/ 22 h 22"/>
                <a:gd name="T2" fmla="*/ 19 w 25"/>
                <a:gd name="T3" fmla="*/ 22 h 22"/>
                <a:gd name="T4" fmla="*/ 25 w 25"/>
                <a:gd name="T5" fmla="*/ 15 h 22"/>
                <a:gd name="T6" fmla="*/ 25 w 25"/>
                <a:gd name="T7" fmla="*/ 0 h 22"/>
                <a:gd name="T8" fmla="*/ 12 w 25"/>
                <a:gd name="T9" fmla="*/ 0 h 22"/>
                <a:gd name="T10" fmla="*/ 6 w 25"/>
                <a:gd name="T11" fmla="*/ 7 h 22"/>
                <a:gd name="T12" fmla="*/ 0 w 25"/>
                <a:gd name="T13" fmla="*/ 7 h 22"/>
                <a:gd name="T14" fmla="*/ 0 w 25"/>
                <a:gd name="T15" fmla="*/ 15 h 22"/>
                <a:gd name="T16" fmla="*/ 6 w 25"/>
                <a:gd name="T17" fmla="*/ 22 h 22"/>
                <a:gd name="T18" fmla="*/ 12 w 25"/>
                <a:gd name="T19" fmla="*/ 22 h 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
                <a:gd name="T31" fmla="*/ 0 h 22"/>
                <a:gd name="T32" fmla="*/ 25 w 25"/>
                <a:gd name="T33" fmla="*/ 22 h 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 h="22">
                  <a:moveTo>
                    <a:pt x="12" y="22"/>
                  </a:moveTo>
                  <a:lnTo>
                    <a:pt x="19" y="22"/>
                  </a:lnTo>
                  <a:lnTo>
                    <a:pt x="25" y="15"/>
                  </a:lnTo>
                  <a:lnTo>
                    <a:pt x="25" y="0"/>
                  </a:lnTo>
                  <a:lnTo>
                    <a:pt x="12" y="0"/>
                  </a:lnTo>
                  <a:lnTo>
                    <a:pt x="6" y="7"/>
                  </a:lnTo>
                  <a:lnTo>
                    <a:pt x="0" y="7"/>
                  </a:lnTo>
                  <a:lnTo>
                    <a:pt x="0" y="15"/>
                  </a:lnTo>
                  <a:lnTo>
                    <a:pt x="6" y="22"/>
                  </a:lnTo>
                  <a:lnTo>
                    <a:pt x="12" y="22"/>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81" name="Freeform 35"/>
            <p:cNvSpPr>
              <a:spLocks/>
            </p:cNvSpPr>
            <p:nvPr/>
          </p:nvSpPr>
          <p:spPr bwMode="auto">
            <a:xfrm>
              <a:off x="3617" y="108"/>
              <a:ext cx="70" cy="36"/>
            </a:xfrm>
            <a:custGeom>
              <a:avLst/>
              <a:gdLst>
                <a:gd name="T0" fmla="*/ 26 w 70"/>
                <a:gd name="T1" fmla="*/ 22 h 36"/>
                <a:gd name="T2" fmla="*/ 0 w 70"/>
                <a:gd name="T3" fmla="*/ 22 h 36"/>
                <a:gd name="T4" fmla="*/ 0 w 70"/>
                <a:gd name="T5" fmla="*/ 22 h 36"/>
                <a:gd name="T6" fmla="*/ 20 w 70"/>
                <a:gd name="T7" fmla="*/ 7 h 36"/>
                <a:gd name="T8" fmla="*/ 26 w 70"/>
                <a:gd name="T9" fmla="*/ 7 h 36"/>
                <a:gd name="T10" fmla="*/ 45 w 70"/>
                <a:gd name="T11" fmla="*/ 22 h 36"/>
                <a:gd name="T12" fmla="*/ 45 w 70"/>
                <a:gd name="T13" fmla="*/ 15 h 36"/>
                <a:gd name="T14" fmla="*/ 51 w 70"/>
                <a:gd name="T15" fmla="*/ 15 h 36"/>
                <a:gd name="T16" fmla="*/ 45 w 70"/>
                <a:gd name="T17" fmla="*/ 7 h 36"/>
                <a:gd name="T18" fmla="*/ 51 w 70"/>
                <a:gd name="T19" fmla="*/ 0 h 36"/>
                <a:gd name="T20" fmla="*/ 58 w 70"/>
                <a:gd name="T21" fmla="*/ 0 h 36"/>
                <a:gd name="T22" fmla="*/ 58 w 70"/>
                <a:gd name="T23" fmla="*/ 7 h 36"/>
                <a:gd name="T24" fmla="*/ 64 w 70"/>
                <a:gd name="T25" fmla="*/ 15 h 36"/>
                <a:gd name="T26" fmla="*/ 70 w 70"/>
                <a:gd name="T27" fmla="*/ 7 h 36"/>
                <a:gd name="T28" fmla="*/ 70 w 70"/>
                <a:gd name="T29" fmla="*/ 15 h 36"/>
                <a:gd name="T30" fmla="*/ 70 w 70"/>
                <a:gd name="T31" fmla="*/ 22 h 36"/>
                <a:gd name="T32" fmla="*/ 70 w 70"/>
                <a:gd name="T33" fmla="*/ 29 h 36"/>
                <a:gd name="T34" fmla="*/ 58 w 70"/>
                <a:gd name="T35" fmla="*/ 29 h 36"/>
                <a:gd name="T36" fmla="*/ 45 w 70"/>
                <a:gd name="T37" fmla="*/ 22 h 36"/>
                <a:gd name="T38" fmla="*/ 39 w 70"/>
                <a:gd name="T39" fmla="*/ 29 h 36"/>
                <a:gd name="T40" fmla="*/ 32 w 70"/>
                <a:gd name="T41" fmla="*/ 36 h 36"/>
                <a:gd name="T42" fmla="*/ 26 w 70"/>
                <a:gd name="T43" fmla="*/ 36 h 36"/>
                <a:gd name="T44" fmla="*/ 20 w 70"/>
                <a:gd name="T45" fmla="*/ 36 h 36"/>
                <a:gd name="T46" fmla="*/ 26 w 70"/>
                <a:gd name="T47" fmla="*/ 22 h 36"/>
                <a:gd name="T48" fmla="*/ 26 w 70"/>
                <a:gd name="T49" fmla="*/ 22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0"/>
                <a:gd name="T76" fmla="*/ 0 h 36"/>
                <a:gd name="T77" fmla="*/ 70 w 70"/>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0" h="36">
                  <a:moveTo>
                    <a:pt x="26" y="22"/>
                  </a:moveTo>
                  <a:lnTo>
                    <a:pt x="0" y="22"/>
                  </a:lnTo>
                  <a:lnTo>
                    <a:pt x="20" y="7"/>
                  </a:lnTo>
                  <a:lnTo>
                    <a:pt x="26" y="7"/>
                  </a:lnTo>
                  <a:lnTo>
                    <a:pt x="45" y="22"/>
                  </a:lnTo>
                  <a:lnTo>
                    <a:pt x="45" y="15"/>
                  </a:lnTo>
                  <a:lnTo>
                    <a:pt x="51" y="15"/>
                  </a:lnTo>
                  <a:lnTo>
                    <a:pt x="45" y="7"/>
                  </a:lnTo>
                  <a:lnTo>
                    <a:pt x="51" y="0"/>
                  </a:lnTo>
                  <a:lnTo>
                    <a:pt x="58" y="0"/>
                  </a:lnTo>
                  <a:lnTo>
                    <a:pt x="58" y="7"/>
                  </a:lnTo>
                  <a:lnTo>
                    <a:pt x="64" y="15"/>
                  </a:lnTo>
                  <a:lnTo>
                    <a:pt x="70" y="7"/>
                  </a:lnTo>
                  <a:lnTo>
                    <a:pt x="70" y="15"/>
                  </a:lnTo>
                  <a:lnTo>
                    <a:pt x="70" y="22"/>
                  </a:lnTo>
                  <a:lnTo>
                    <a:pt x="70" y="29"/>
                  </a:lnTo>
                  <a:lnTo>
                    <a:pt x="58" y="29"/>
                  </a:lnTo>
                  <a:lnTo>
                    <a:pt x="45" y="22"/>
                  </a:lnTo>
                  <a:lnTo>
                    <a:pt x="39" y="29"/>
                  </a:lnTo>
                  <a:lnTo>
                    <a:pt x="32" y="36"/>
                  </a:lnTo>
                  <a:lnTo>
                    <a:pt x="26" y="36"/>
                  </a:lnTo>
                  <a:lnTo>
                    <a:pt x="20" y="36"/>
                  </a:lnTo>
                  <a:lnTo>
                    <a:pt x="26" y="22"/>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82" name="Freeform 36"/>
            <p:cNvSpPr>
              <a:spLocks/>
            </p:cNvSpPr>
            <p:nvPr/>
          </p:nvSpPr>
          <p:spPr bwMode="auto">
            <a:xfrm>
              <a:off x="3617" y="108"/>
              <a:ext cx="70" cy="36"/>
            </a:xfrm>
            <a:custGeom>
              <a:avLst/>
              <a:gdLst>
                <a:gd name="T0" fmla="*/ 26 w 70"/>
                <a:gd name="T1" fmla="*/ 22 h 36"/>
                <a:gd name="T2" fmla="*/ 0 w 70"/>
                <a:gd name="T3" fmla="*/ 22 h 36"/>
                <a:gd name="T4" fmla="*/ 20 w 70"/>
                <a:gd name="T5" fmla="*/ 7 h 36"/>
                <a:gd name="T6" fmla="*/ 26 w 70"/>
                <a:gd name="T7" fmla="*/ 7 h 36"/>
                <a:gd name="T8" fmla="*/ 45 w 70"/>
                <a:gd name="T9" fmla="*/ 22 h 36"/>
                <a:gd name="T10" fmla="*/ 45 w 70"/>
                <a:gd name="T11" fmla="*/ 15 h 36"/>
                <a:gd name="T12" fmla="*/ 51 w 70"/>
                <a:gd name="T13" fmla="*/ 15 h 36"/>
                <a:gd name="T14" fmla="*/ 45 w 70"/>
                <a:gd name="T15" fmla="*/ 7 h 36"/>
                <a:gd name="T16" fmla="*/ 51 w 70"/>
                <a:gd name="T17" fmla="*/ 0 h 36"/>
                <a:gd name="T18" fmla="*/ 58 w 70"/>
                <a:gd name="T19" fmla="*/ 0 h 36"/>
                <a:gd name="T20" fmla="*/ 58 w 70"/>
                <a:gd name="T21" fmla="*/ 7 h 36"/>
                <a:gd name="T22" fmla="*/ 64 w 70"/>
                <a:gd name="T23" fmla="*/ 15 h 36"/>
                <a:gd name="T24" fmla="*/ 70 w 70"/>
                <a:gd name="T25" fmla="*/ 7 h 36"/>
                <a:gd name="T26" fmla="*/ 70 w 70"/>
                <a:gd name="T27" fmla="*/ 15 h 36"/>
                <a:gd name="T28" fmla="*/ 70 w 70"/>
                <a:gd name="T29" fmla="*/ 22 h 36"/>
                <a:gd name="T30" fmla="*/ 70 w 70"/>
                <a:gd name="T31" fmla="*/ 29 h 36"/>
                <a:gd name="T32" fmla="*/ 58 w 70"/>
                <a:gd name="T33" fmla="*/ 29 h 36"/>
                <a:gd name="T34" fmla="*/ 45 w 70"/>
                <a:gd name="T35" fmla="*/ 22 h 36"/>
                <a:gd name="T36" fmla="*/ 39 w 70"/>
                <a:gd name="T37" fmla="*/ 29 h 36"/>
                <a:gd name="T38" fmla="*/ 32 w 70"/>
                <a:gd name="T39" fmla="*/ 36 h 36"/>
                <a:gd name="T40" fmla="*/ 26 w 70"/>
                <a:gd name="T41" fmla="*/ 36 h 36"/>
                <a:gd name="T42" fmla="*/ 20 w 70"/>
                <a:gd name="T43" fmla="*/ 36 h 36"/>
                <a:gd name="T44" fmla="*/ 26 w 70"/>
                <a:gd name="T45" fmla="*/ 22 h 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0"/>
                <a:gd name="T70" fmla="*/ 0 h 36"/>
                <a:gd name="T71" fmla="*/ 70 w 70"/>
                <a:gd name="T72" fmla="*/ 36 h 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0" h="36">
                  <a:moveTo>
                    <a:pt x="26" y="22"/>
                  </a:moveTo>
                  <a:lnTo>
                    <a:pt x="0" y="22"/>
                  </a:lnTo>
                  <a:lnTo>
                    <a:pt x="20" y="7"/>
                  </a:lnTo>
                  <a:lnTo>
                    <a:pt x="26" y="7"/>
                  </a:lnTo>
                  <a:lnTo>
                    <a:pt x="45" y="22"/>
                  </a:lnTo>
                  <a:lnTo>
                    <a:pt x="45" y="15"/>
                  </a:lnTo>
                  <a:lnTo>
                    <a:pt x="51" y="15"/>
                  </a:lnTo>
                  <a:lnTo>
                    <a:pt x="45" y="7"/>
                  </a:lnTo>
                  <a:lnTo>
                    <a:pt x="51" y="0"/>
                  </a:lnTo>
                  <a:lnTo>
                    <a:pt x="58" y="0"/>
                  </a:lnTo>
                  <a:lnTo>
                    <a:pt x="58" y="7"/>
                  </a:lnTo>
                  <a:lnTo>
                    <a:pt x="64" y="15"/>
                  </a:lnTo>
                  <a:lnTo>
                    <a:pt x="70" y="7"/>
                  </a:lnTo>
                  <a:lnTo>
                    <a:pt x="70" y="15"/>
                  </a:lnTo>
                  <a:lnTo>
                    <a:pt x="70" y="22"/>
                  </a:lnTo>
                  <a:lnTo>
                    <a:pt x="70" y="29"/>
                  </a:lnTo>
                  <a:lnTo>
                    <a:pt x="58" y="29"/>
                  </a:lnTo>
                  <a:lnTo>
                    <a:pt x="45" y="22"/>
                  </a:lnTo>
                  <a:lnTo>
                    <a:pt x="39" y="29"/>
                  </a:lnTo>
                  <a:lnTo>
                    <a:pt x="32" y="36"/>
                  </a:lnTo>
                  <a:lnTo>
                    <a:pt x="26" y="36"/>
                  </a:lnTo>
                  <a:lnTo>
                    <a:pt x="20" y="36"/>
                  </a:lnTo>
                  <a:lnTo>
                    <a:pt x="26" y="22"/>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83" name="Freeform 37"/>
            <p:cNvSpPr>
              <a:spLocks/>
            </p:cNvSpPr>
            <p:nvPr/>
          </p:nvSpPr>
          <p:spPr bwMode="auto">
            <a:xfrm>
              <a:off x="3586" y="94"/>
              <a:ext cx="51" cy="29"/>
            </a:xfrm>
            <a:custGeom>
              <a:avLst/>
              <a:gdLst>
                <a:gd name="T0" fmla="*/ 31 w 51"/>
                <a:gd name="T1" fmla="*/ 21 h 29"/>
                <a:gd name="T2" fmla="*/ 38 w 51"/>
                <a:gd name="T3" fmla="*/ 21 h 29"/>
                <a:gd name="T4" fmla="*/ 44 w 51"/>
                <a:gd name="T5" fmla="*/ 14 h 29"/>
                <a:gd name="T6" fmla="*/ 51 w 51"/>
                <a:gd name="T7" fmla="*/ 7 h 29"/>
                <a:gd name="T8" fmla="*/ 44 w 51"/>
                <a:gd name="T9" fmla="*/ 0 h 29"/>
                <a:gd name="T10" fmla="*/ 31 w 51"/>
                <a:gd name="T11" fmla="*/ 7 h 29"/>
                <a:gd name="T12" fmla="*/ 12 w 51"/>
                <a:gd name="T13" fmla="*/ 7 h 29"/>
                <a:gd name="T14" fmla="*/ 0 w 51"/>
                <a:gd name="T15" fmla="*/ 21 h 29"/>
                <a:gd name="T16" fmla="*/ 0 w 51"/>
                <a:gd name="T17" fmla="*/ 29 h 29"/>
                <a:gd name="T18" fmla="*/ 12 w 51"/>
                <a:gd name="T19" fmla="*/ 29 h 29"/>
                <a:gd name="T20" fmla="*/ 19 w 51"/>
                <a:gd name="T21" fmla="*/ 21 h 29"/>
                <a:gd name="T22" fmla="*/ 25 w 51"/>
                <a:gd name="T23" fmla="*/ 21 h 29"/>
                <a:gd name="T24" fmla="*/ 25 w 51"/>
                <a:gd name="T25" fmla="*/ 21 h 29"/>
                <a:gd name="T26" fmla="*/ 31 w 51"/>
                <a:gd name="T27" fmla="*/ 21 h 29"/>
                <a:gd name="T28" fmla="*/ 31 w 51"/>
                <a:gd name="T29" fmla="*/ 21 h 2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1"/>
                <a:gd name="T46" fmla="*/ 0 h 29"/>
                <a:gd name="T47" fmla="*/ 51 w 51"/>
                <a:gd name="T48" fmla="*/ 29 h 2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1" h="29">
                  <a:moveTo>
                    <a:pt x="31" y="21"/>
                  </a:moveTo>
                  <a:lnTo>
                    <a:pt x="38" y="21"/>
                  </a:lnTo>
                  <a:lnTo>
                    <a:pt x="44" y="14"/>
                  </a:lnTo>
                  <a:lnTo>
                    <a:pt x="51" y="7"/>
                  </a:lnTo>
                  <a:lnTo>
                    <a:pt x="44" y="0"/>
                  </a:lnTo>
                  <a:lnTo>
                    <a:pt x="31" y="7"/>
                  </a:lnTo>
                  <a:lnTo>
                    <a:pt x="12" y="7"/>
                  </a:lnTo>
                  <a:lnTo>
                    <a:pt x="0" y="21"/>
                  </a:lnTo>
                  <a:lnTo>
                    <a:pt x="0" y="29"/>
                  </a:lnTo>
                  <a:lnTo>
                    <a:pt x="12" y="29"/>
                  </a:lnTo>
                  <a:lnTo>
                    <a:pt x="19" y="21"/>
                  </a:lnTo>
                  <a:lnTo>
                    <a:pt x="25" y="21"/>
                  </a:lnTo>
                  <a:lnTo>
                    <a:pt x="31" y="21"/>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84" name="Freeform 38"/>
            <p:cNvSpPr>
              <a:spLocks/>
            </p:cNvSpPr>
            <p:nvPr/>
          </p:nvSpPr>
          <p:spPr bwMode="auto">
            <a:xfrm>
              <a:off x="3586" y="94"/>
              <a:ext cx="51" cy="29"/>
            </a:xfrm>
            <a:custGeom>
              <a:avLst/>
              <a:gdLst>
                <a:gd name="T0" fmla="*/ 31 w 51"/>
                <a:gd name="T1" fmla="*/ 21 h 29"/>
                <a:gd name="T2" fmla="*/ 38 w 51"/>
                <a:gd name="T3" fmla="*/ 21 h 29"/>
                <a:gd name="T4" fmla="*/ 44 w 51"/>
                <a:gd name="T5" fmla="*/ 14 h 29"/>
                <a:gd name="T6" fmla="*/ 51 w 51"/>
                <a:gd name="T7" fmla="*/ 7 h 29"/>
                <a:gd name="T8" fmla="*/ 44 w 51"/>
                <a:gd name="T9" fmla="*/ 0 h 29"/>
                <a:gd name="T10" fmla="*/ 31 w 51"/>
                <a:gd name="T11" fmla="*/ 7 h 29"/>
                <a:gd name="T12" fmla="*/ 12 w 51"/>
                <a:gd name="T13" fmla="*/ 7 h 29"/>
                <a:gd name="T14" fmla="*/ 0 w 51"/>
                <a:gd name="T15" fmla="*/ 21 h 29"/>
                <a:gd name="T16" fmla="*/ 0 w 51"/>
                <a:gd name="T17" fmla="*/ 29 h 29"/>
                <a:gd name="T18" fmla="*/ 12 w 51"/>
                <a:gd name="T19" fmla="*/ 29 h 29"/>
                <a:gd name="T20" fmla="*/ 19 w 51"/>
                <a:gd name="T21" fmla="*/ 21 h 29"/>
                <a:gd name="T22" fmla="*/ 25 w 51"/>
                <a:gd name="T23" fmla="*/ 21 h 29"/>
                <a:gd name="T24" fmla="*/ 31 w 51"/>
                <a:gd name="T25" fmla="*/ 21 h 2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1"/>
                <a:gd name="T40" fmla="*/ 0 h 29"/>
                <a:gd name="T41" fmla="*/ 51 w 51"/>
                <a:gd name="T42" fmla="*/ 29 h 2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1" h="29">
                  <a:moveTo>
                    <a:pt x="31" y="21"/>
                  </a:moveTo>
                  <a:lnTo>
                    <a:pt x="38" y="21"/>
                  </a:lnTo>
                  <a:lnTo>
                    <a:pt x="44" y="14"/>
                  </a:lnTo>
                  <a:lnTo>
                    <a:pt x="51" y="7"/>
                  </a:lnTo>
                  <a:lnTo>
                    <a:pt x="44" y="0"/>
                  </a:lnTo>
                  <a:lnTo>
                    <a:pt x="31" y="7"/>
                  </a:lnTo>
                  <a:lnTo>
                    <a:pt x="12" y="7"/>
                  </a:lnTo>
                  <a:lnTo>
                    <a:pt x="0" y="21"/>
                  </a:lnTo>
                  <a:lnTo>
                    <a:pt x="0" y="29"/>
                  </a:lnTo>
                  <a:lnTo>
                    <a:pt x="12" y="29"/>
                  </a:lnTo>
                  <a:lnTo>
                    <a:pt x="19" y="21"/>
                  </a:lnTo>
                  <a:lnTo>
                    <a:pt x="25" y="21"/>
                  </a:lnTo>
                  <a:lnTo>
                    <a:pt x="31" y="21"/>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85" name="Freeform 39"/>
            <p:cNvSpPr>
              <a:spLocks/>
            </p:cNvSpPr>
            <p:nvPr/>
          </p:nvSpPr>
          <p:spPr bwMode="auto">
            <a:xfrm>
              <a:off x="3706" y="65"/>
              <a:ext cx="26" cy="29"/>
            </a:xfrm>
            <a:custGeom>
              <a:avLst/>
              <a:gdLst>
                <a:gd name="T0" fmla="*/ 0 w 26"/>
                <a:gd name="T1" fmla="*/ 7 h 29"/>
                <a:gd name="T2" fmla="*/ 0 w 26"/>
                <a:gd name="T3" fmla="*/ 0 h 29"/>
                <a:gd name="T4" fmla="*/ 7 w 26"/>
                <a:gd name="T5" fmla="*/ 0 h 29"/>
                <a:gd name="T6" fmla="*/ 19 w 26"/>
                <a:gd name="T7" fmla="*/ 7 h 29"/>
                <a:gd name="T8" fmla="*/ 26 w 26"/>
                <a:gd name="T9" fmla="*/ 7 h 29"/>
                <a:gd name="T10" fmla="*/ 26 w 26"/>
                <a:gd name="T11" fmla="*/ 14 h 29"/>
                <a:gd name="T12" fmla="*/ 26 w 26"/>
                <a:gd name="T13" fmla="*/ 22 h 29"/>
                <a:gd name="T14" fmla="*/ 26 w 26"/>
                <a:gd name="T15" fmla="*/ 29 h 29"/>
                <a:gd name="T16" fmla="*/ 19 w 26"/>
                <a:gd name="T17" fmla="*/ 29 h 29"/>
                <a:gd name="T18" fmla="*/ 19 w 26"/>
                <a:gd name="T19" fmla="*/ 22 h 29"/>
                <a:gd name="T20" fmla="*/ 0 w 26"/>
                <a:gd name="T21" fmla="*/ 22 h 29"/>
                <a:gd name="T22" fmla="*/ 0 w 26"/>
                <a:gd name="T23" fmla="*/ 22 h 29"/>
                <a:gd name="T24" fmla="*/ 0 w 26"/>
                <a:gd name="T25" fmla="*/ 14 h 29"/>
                <a:gd name="T26" fmla="*/ 0 w 26"/>
                <a:gd name="T27" fmla="*/ 7 h 29"/>
                <a:gd name="T28" fmla="*/ 0 w 26"/>
                <a:gd name="T29" fmla="*/ 7 h 29"/>
                <a:gd name="T30" fmla="*/ 0 w 26"/>
                <a:gd name="T31" fmla="*/ 7 h 2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6"/>
                <a:gd name="T49" fmla="*/ 0 h 29"/>
                <a:gd name="T50" fmla="*/ 26 w 26"/>
                <a:gd name="T51" fmla="*/ 29 h 2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6" h="29">
                  <a:moveTo>
                    <a:pt x="0" y="7"/>
                  </a:moveTo>
                  <a:lnTo>
                    <a:pt x="0" y="0"/>
                  </a:lnTo>
                  <a:lnTo>
                    <a:pt x="7" y="0"/>
                  </a:lnTo>
                  <a:lnTo>
                    <a:pt x="19" y="7"/>
                  </a:lnTo>
                  <a:lnTo>
                    <a:pt x="26" y="7"/>
                  </a:lnTo>
                  <a:lnTo>
                    <a:pt x="26" y="14"/>
                  </a:lnTo>
                  <a:lnTo>
                    <a:pt x="26" y="22"/>
                  </a:lnTo>
                  <a:lnTo>
                    <a:pt x="26" y="29"/>
                  </a:lnTo>
                  <a:lnTo>
                    <a:pt x="19" y="29"/>
                  </a:lnTo>
                  <a:lnTo>
                    <a:pt x="19" y="22"/>
                  </a:lnTo>
                  <a:lnTo>
                    <a:pt x="0" y="22"/>
                  </a:lnTo>
                  <a:lnTo>
                    <a:pt x="0" y="14"/>
                  </a:lnTo>
                  <a:lnTo>
                    <a:pt x="0" y="7"/>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86" name="Freeform 40"/>
            <p:cNvSpPr>
              <a:spLocks/>
            </p:cNvSpPr>
            <p:nvPr/>
          </p:nvSpPr>
          <p:spPr bwMode="auto">
            <a:xfrm>
              <a:off x="3706" y="65"/>
              <a:ext cx="26" cy="29"/>
            </a:xfrm>
            <a:custGeom>
              <a:avLst/>
              <a:gdLst>
                <a:gd name="T0" fmla="*/ 0 w 26"/>
                <a:gd name="T1" fmla="*/ 7 h 29"/>
                <a:gd name="T2" fmla="*/ 0 w 26"/>
                <a:gd name="T3" fmla="*/ 0 h 29"/>
                <a:gd name="T4" fmla="*/ 7 w 26"/>
                <a:gd name="T5" fmla="*/ 0 h 29"/>
                <a:gd name="T6" fmla="*/ 19 w 26"/>
                <a:gd name="T7" fmla="*/ 7 h 29"/>
                <a:gd name="T8" fmla="*/ 26 w 26"/>
                <a:gd name="T9" fmla="*/ 7 h 29"/>
                <a:gd name="T10" fmla="*/ 26 w 26"/>
                <a:gd name="T11" fmla="*/ 14 h 29"/>
                <a:gd name="T12" fmla="*/ 26 w 26"/>
                <a:gd name="T13" fmla="*/ 22 h 29"/>
                <a:gd name="T14" fmla="*/ 26 w 26"/>
                <a:gd name="T15" fmla="*/ 29 h 29"/>
                <a:gd name="T16" fmla="*/ 19 w 26"/>
                <a:gd name="T17" fmla="*/ 29 h 29"/>
                <a:gd name="T18" fmla="*/ 19 w 26"/>
                <a:gd name="T19" fmla="*/ 22 h 29"/>
                <a:gd name="T20" fmla="*/ 0 w 26"/>
                <a:gd name="T21" fmla="*/ 22 h 29"/>
                <a:gd name="T22" fmla="*/ 0 w 26"/>
                <a:gd name="T23" fmla="*/ 14 h 29"/>
                <a:gd name="T24" fmla="*/ 0 w 26"/>
                <a:gd name="T25" fmla="*/ 7 h 2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6"/>
                <a:gd name="T40" fmla="*/ 0 h 29"/>
                <a:gd name="T41" fmla="*/ 26 w 26"/>
                <a:gd name="T42" fmla="*/ 29 h 2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6" h="29">
                  <a:moveTo>
                    <a:pt x="0" y="7"/>
                  </a:moveTo>
                  <a:lnTo>
                    <a:pt x="0" y="0"/>
                  </a:lnTo>
                  <a:lnTo>
                    <a:pt x="7" y="0"/>
                  </a:lnTo>
                  <a:lnTo>
                    <a:pt x="19" y="7"/>
                  </a:lnTo>
                  <a:lnTo>
                    <a:pt x="26" y="7"/>
                  </a:lnTo>
                  <a:lnTo>
                    <a:pt x="26" y="14"/>
                  </a:lnTo>
                  <a:lnTo>
                    <a:pt x="26" y="22"/>
                  </a:lnTo>
                  <a:lnTo>
                    <a:pt x="26" y="29"/>
                  </a:lnTo>
                  <a:lnTo>
                    <a:pt x="19" y="29"/>
                  </a:lnTo>
                  <a:lnTo>
                    <a:pt x="19" y="22"/>
                  </a:lnTo>
                  <a:lnTo>
                    <a:pt x="0" y="22"/>
                  </a:lnTo>
                  <a:lnTo>
                    <a:pt x="0" y="14"/>
                  </a:lnTo>
                  <a:lnTo>
                    <a:pt x="0" y="7"/>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87" name="Freeform 41"/>
            <p:cNvSpPr>
              <a:spLocks/>
            </p:cNvSpPr>
            <p:nvPr/>
          </p:nvSpPr>
          <p:spPr bwMode="auto">
            <a:xfrm>
              <a:off x="3649" y="87"/>
              <a:ext cx="19" cy="14"/>
            </a:xfrm>
            <a:custGeom>
              <a:avLst/>
              <a:gdLst>
                <a:gd name="T0" fmla="*/ 13 w 19"/>
                <a:gd name="T1" fmla="*/ 0 h 14"/>
                <a:gd name="T2" fmla="*/ 7 w 19"/>
                <a:gd name="T3" fmla="*/ 7 h 14"/>
                <a:gd name="T4" fmla="*/ 0 w 19"/>
                <a:gd name="T5" fmla="*/ 7 h 14"/>
                <a:gd name="T6" fmla="*/ 0 w 19"/>
                <a:gd name="T7" fmla="*/ 7 h 14"/>
                <a:gd name="T8" fmla="*/ 7 w 19"/>
                <a:gd name="T9" fmla="*/ 14 h 14"/>
                <a:gd name="T10" fmla="*/ 13 w 19"/>
                <a:gd name="T11" fmla="*/ 14 h 14"/>
                <a:gd name="T12" fmla="*/ 19 w 19"/>
                <a:gd name="T13" fmla="*/ 7 h 14"/>
                <a:gd name="T14" fmla="*/ 19 w 19"/>
                <a:gd name="T15" fmla="*/ 7 h 14"/>
                <a:gd name="T16" fmla="*/ 19 w 19"/>
                <a:gd name="T17" fmla="*/ 0 h 14"/>
                <a:gd name="T18" fmla="*/ 19 w 19"/>
                <a:gd name="T19" fmla="*/ 0 h 14"/>
                <a:gd name="T20" fmla="*/ 13 w 19"/>
                <a:gd name="T21" fmla="*/ 0 h 14"/>
                <a:gd name="T22" fmla="*/ 13 w 19"/>
                <a:gd name="T23" fmla="*/ 0 h 1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9"/>
                <a:gd name="T37" fmla="*/ 0 h 14"/>
                <a:gd name="T38" fmla="*/ 19 w 19"/>
                <a:gd name="T39" fmla="*/ 14 h 1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9" h="14">
                  <a:moveTo>
                    <a:pt x="13" y="0"/>
                  </a:moveTo>
                  <a:lnTo>
                    <a:pt x="7" y="7"/>
                  </a:lnTo>
                  <a:lnTo>
                    <a:pt x="0" y="7"/>
                  </a:lnTo>
                  <a:lnTo>
                    <a:pt x="7" y="14"/>
                  </a:lnTo>
                  <a:lnTo>
                    <a:pt x="13" y="14"/>
                  </a:lnTo>
                  <a:lnTo>
                    <a:pt x="19" y="7"/>
                  </a:lnTo>
                  <a:lnTo>
                    <a:pt x="19" y="0"/>
                  </a:lnTo>
                  <a:lnTo>
                    <a:pt x="13"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88" name="Freeform 42"/>
            <p:cNvSpPr>
              <a:spLocks/>
            </p:cNvSpPr>
            <p:nvPr/>
          </p:nvSpPr>
          <p:spPr bwMode="auto">
            <a:xfrm>
              <a:off x="3649" y="87"/>
              <a:ext cx="19" cy="14"/>
            </a:xfrm>
            <a:custGeom>
              <a:avLst/>
              <a:gdLst>
                <a:gd name="T0" fmla="*/ 13 w 19"/>
                <a:gd name="T1" fmla="*/ 0 h 14"/>
                <a:gd name="T2" fmla="*/ 7 w 19"/>
                <a:gd name="T3" fmla="*/ 7 h 14"/>
                <a:gd name="T4" fmla="*/ 0 w 19"/>
                <a:gd name="T5" fmla="*/ 7 h 14"/>
                <a:gd name="T6" fmla="*/ 7 w 19"/>
                <a:gd name="T7" fmla="*/ 14 h 14"/>
                <a:gd name="T8" fmla="*/ 13 w 19"/>
                <a:gd name="T9" fmla="*/ 14 h 14"/>
                <a:gd name="T10" fmla="*/ 19 w 19"/>
                <a:gd name="T11" fmla="*/ 7 h 14"/>
                <a:gd name="T12" fmla="*/ 19 w 19"/>
                <a:gd name="T13" fmla="*/ 0 h 14"/>
                <a:gd name="T14" fmla="*/ 13 w 19"/>
                <a:gd name="T15" fmla="*/ 0 h 14"/>
                <a:gd name="T16" fmla="*/ 0 60000 65536"/>
                <a:gd name="T17" fmla="*/ 0 60000 65536"/>
                <a:gd name="T18" fmla="*/ 0 60000 65536"/>
                <a:gd name="T19" fmla="*/ 0 60000 65536"/>
                <a:gd name="T20" fmla="*/ 0 60000 65536"/>
                <a:gd name="T21" fmla="*/ 0 60000 65536"/>
                <a:gd name="T22" fmla="*/ 0 60000 65536"/>
                <a:gd name="T23" fmla="*/ 0 60000 65536"/>
                <a:gd name="T24" fmla="*/ 0 w 19"/>
                <a:gd name="T25" fmla="*/ 0 h 14"/>
                <a:gd name="T26" fmla="*/ 19 w 19"/>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 h="14">
                  <a:moveTo>
                    <a:pt x="13" y="0"/>
                  </a:moveTo>
                  <a:lnTo>
                    <a:pt x="7" y="7"/>
                  </a:lnTo>
                  <a:lnTo>
                    <a:pt x="0" y="7"/>
                  </a:lnTo>
                  <a:lnTo>
                    <a:pt x="7" y="14"/>
                  </a:lnTo>
                  <a:lnTo>
                    <a:pt x="13" y="14"/>
                  </a:lnTo>
                  <a:lnTo>
                    <a:pt x="19" y="7"/>
                  </a:lnTo>
                  <a:lnTo>
                    <a:pt x="19" y="0"/>
                  </a:lnTo>
                  <a:lnTo>
                    <a:pt x="13"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89" name="Freeform 43"/>
            <p:cNvSpPr>
              <a:spLocks/>
            </p:cNvSpPr>
            <p:nvPr/>
          </p:nvSpPr>
          <p:spPr bwMode="auto">
            <a:xfrm>
              <a:off x="3744" y="101"/>
              <a:ext cx="102" cy="43"/>
            </a:xfrm>
            <a:custGeom>
              <a:avLst/>
              <a:gdLst>
                <a:gd name="T0" fmla="*/ 0 w 102"/>
                <a:gd name="T1" fmla="*/ 7 h 43"/>
                <a:gd name="T2" fmla="*/ 7 w 102"/>
                <a:gd name="T3" fmla="*/ 0 h 43"/>
                <a:gd name="T4" fmla="*/ 13 w 102"/>
                <a:gd name="T5" fmla="*/ 0 h 43"/>
                <a:gd name="T6" fmla="*/ 19 w 102"/>
                <a:gd name="T7" fmla="*/ 0 h 43"/>
                <a:gd name="T8" fmla="*/ 26 w 102"/>
                <a:gd name="T9" fmla="*/ 7 h 43"/>
                <a:gd name="T10" fmla="*/ 32 w 102"/>
                <a:gd name="T11" fmla="*/ 7 h 43"/>
                <a:gd name="T12" fmla="*/ 39 w 102"/>
                <a:gd name="T13" fmla="*/ 7 h 43"/>
                <a:gd name="T14" fmla="*/ 39 w 102"/>
                <a:gd name="T15" fmla="*/ 14 h 43"/>
                <a:gd name="T16" fmla="*/ 32 w 102"/>
                <a:gd name="T17" fmla="*/ 22 h 43"/>
                <a:gd name="T18" fmla="*/ 45 w 102"/>
                <a:gd name="T19" fmla="*/ 22 h 43"/>
                <a:gd name="T20" fmla="*/ 58 w 102"/>
                <a:gd name="T21" fmla="*/ 29 h 43"/>
                <a:gd name="T22" fmla="*/ 70 w 102"/>
                <a:gd name="T23" fmla="*/ 22 h 43"/>
                <a:gd name="T24" fmla="*/ 83 w 102"/>
                <a:gd name="T25" fmla="*/ 22 h 43"/>
                <a:gd name="T26" fmla="*/ 89 w 102"/>
                <a:gd name="T27" fmla="*/ 22 h 43"/>
                <a:gd name="T28" fmla="*/ 96 w 102"/>
                <a:gd name="T29" fmla="*/ 29 h 43"/>
                <a:gd name="T30" fmla="*/ 102 w 102"/>
                <a:gd name="T31" fmla="*/ 36 h 43"/>
                <a:gd name="T32" fmla="*/ 96 w 102"/>
                <a:gd name="T33" fmla="*/ 43 h 43"/>
                <a:gd name="T34" fmla="*/ 70 w 102"/>
                <a:gd name="T35" fmla="*/ 36 h 43"/>
                <a:gd name="T36" fmla="*/ 51 w 102"/>
                <a:gd name="T37" fmla="*/ 43 h 43"/>
                <a:gd name="T38" fmla="*/ 45 w 102"/>
                <a:gd name="T39" fmla="*/ 43 h 43"/>
                <a:gd name="T40" fmla="*/ 39 w 102"/>
                <a:gd name="T41" fmla="*/ 36 h 43"/>
                <a:gd name="T42" fmla="*/ 32 w 102"/>
                <a:gd name="T43" fmla="*/ 36 h 43"/>
                <a:gd name="T44" fmla="*/ 26 w 102"/>
                <a:gd name="T45" fmla="*/ 29 h 43"/>
                <a:gd name="T46" fmla="*/ 26 w 102"/>
                <a:gd name="T47" fmla="*/ 14 h 43"/>
                <a:gd name="T48" fmla="*/ 13 w 102"/>
                <a:gd name="T49" fmla="*/ 14 h 43"/>
                <a:gd name="T50" fmla="*/ 7 w 102"/>
                <a:gd name="T51" fmla="*/ 7 h 43"/>
                <a:gd name="T52" fmla="*/ 0 w 102"/>
                <a:gd name="T53" fmla="*/ 7 h 43"/>
                <a:gd name="T54" fmla="*/ 0 w 102"/>
                <a:gd name="T55" fmla="*/ 7 h 4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02"/>
                <a:gd name="T85" fmla="*/ 0 h 43"/>
                <a:gd name="T86" fmla="*/ 102 w 102"/>
                <a:gd name="T87" fmla="*/ 43 h 4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02" h="43">
                  <a:moveTo>
                    <a:pt x="0" y="7"/>
                  </a:moveTo>
                  <a:lnTo>
                    <a:pt x="7" y="0"/>
                  </a:lnTo>
                  <a:lnTo>
                    <a:pt x="13" y="0"/>
                  </a:lnTo>
                  <a:lnTo>
                    <a:pt x="19" y="0"/>
                  </a:lnTo>
                  <a:lnTo>
                    <a:pt x="26" y="7"/>
                  </a:lnTo>
                  <a:lnTo>
                    <a:pt x="32" y="7"/>
                  </a:lnTo>
                  <a:lnTo>
                    <a:pt x="39" y="7"/>
                  </a:lnTo>
                  <a:lnTo>
                    <a:pt x="39" y="14"/>
                  </a:lnTo>
                  <a:lnTo>
                    <a:pt x="32" y="22"/>
                  </a:lnTo>
                  <a:lnTo>
                    <a:pt x="45" y="22"/>
                  </a:lnTo>
                  <a:lnTo>
                    <a:pt x="58" y="29"/>
                  </a:lnTo>
                  <a:lnTo>
                    <a:pt x="70" y="22"/>
                  </a:lnTo>
                  <a:lnTo>
                    <a:pt x="83" y="22"/>
                  </a:lnTo>
                  <a:lnTo>
                    <a:pt x="89" y="22"/>
                  </a:lnTo>
                  <a:lnTo>
                    <a:pt x="96" y="29"/>
                  </a:lnTo>
                  <a:lnTo>
                    <a:pt x="102" y="36"/>
                  </a:lnTo>
                  <a:lnTo>
                    <a:pt x="96" y="43"/>
                  </a:lnTo>
                  <a:lnTo>
                    <a:pt x="70" y="36"/>
                  </a:lnTo>
                  <a:lnTo>
                    <a:pt x="51" y="43"/>
                  </a:lnTo>
                  <a:lnTo>
                    <a:pt x="45" y="43"/>
                  </a:lnTo>
                  <a:lnTo>
                    <a:pt x="39" y="36"/>
                  </a:lnTo>
                  <a:lnTo>
                    <a:pt x="32" y="36"/>
                  </a:lnTo>
                  <a:lnTo>
                    <a:pt x="26" y="29"/>
                  </a:lnTo>
                  <a:lnTo>
                    <a:pt x="26" y="14"/>
                  </a:lnTo>
                  <a:lnTo>
                    <a:pt x="13" y="14"/>
                  </a:lnTo>
                  <a:lnTo>
                    <a:pt x="7" y="7"/>
                  </a:lnTo>
                  <a:lnTo>
                    <a:pt x="0" y="7"/>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90" name="Freeform 44"/>
            <p:cNvSpPr>
              <a:spLocks/>
            </p:cNvSpPr>
            <p:nvPr/>
          </p:nvSpPr>
          <p:spPr bwMode="auto">
            <a:xfrm>
              <a:off x="3744" y="101"/>
              <a:ext cx="102" cy="43"/>
            </a:xfrm>
            <a:custGeom>
              <a:avLst/>
              <a:gdLst>
                <a:gd name="T0" fmla="*/ 0 w 102"/>
                <a:gd name="T1" fmla="*/ 7 h 43"/>
                <a:gd name="T2" fmla="*/ 7 w 102"/>
                <a:gd name="T3" fmla="*/ 0 h 43"/>
                <a:gd name="T4" fmla="*/ 13 w 102"/>
                <a:gd name="T5" fmla="*/ 0 h 43"/>
                <a:gd name="T6" fmla="*/ 19 w 102"/>
                <a:gd name="T7" fmla="*/ 0 h 43"/>
                <a:gd name="T8" fmla="*/ 26 w 102"/>
                <a:gd name="T9" fmla="*/ 7 h 43"/>
                <a:gd name="T10" fmla="*/ 32 w 102"/>
                <a:gd name="T11" fmla="*/ 7 h 43"/>
                <a:gd name="T12" fmla="*/ 39 w 102"/>
                <a:gd name="T13" fmla="*/ 7 h 43"/>
                <a:gd name="T14" fmla="*/ 39 w 102"/>
                <a:gd name="T15" fmla="*/ 14 h 43"/>
                <a:gd name="T16" fmla="*/ 32 w 102"/>
                <a:gd name="T17" fmla="*/ 22 h 43"/>
                <a:gd name="T18" fmla="*/ 45 w 102"/>
                <a:gd name="T19" fmla="*/ 22 h 43"/>
                <a:gd name="T20" fmla="*/ 58 w 102"/>
                <a:gd name="T21" fmla="*/ 29 h 43"/>
                <a:gd name="T22" fmla="*/ 70 w 102"/>
                <a:gd name="T23" fmla="*/ 22 h 43"/>
                <a:gd name="T24" fmla="*/ 83 w 102"/>
                <a:gd name="T25" fmla="*/ 22 h 43"/>
                <a:gd name="T26" fmla="*/ 89 w 102"/>
                <a:gd name="T27" fmla="*/ 22 h 43"/>
                <a:gd name="T28" fmla="*/ 96 w 102"/>
                <a:gd name="T29" fmla="*/ 29 h 43"/>
                <a:gd name="T30" fmla="*/ 102 w 102"/>
                <a:gd name="T31" fmla="*/ 36 h 43"/>
                <a:gd name="T32" fmla="*/ 96 w 102"/>
                <a:gd name="T33" fmla="*/ 43 h 43"/>
                <a:gd name="T34" fmla="*/ 70 w 102"/>
                <a:gd name="T35" fmla="*/ 36 h 43"/>
                <a:gd name="T36" fmla="*/ 51 w 102"/>
                <a:gd name="T37" fmla="*/ 43 h 43"/>
                <a:gd name="T38" fmla="*/ 45 w 102"/>
                <a:gd name="T39" fmla="*/ 43 h 43"/>
                <a:gd name="T40" fmla="*/ 39 w 102"/>
                <a:gd name="T41" fmla="*/ 36 h 43"/>
                <a:gd name="T42" fmla="*/ 32 w 102"/>
                <a:gd name="T43" fmla="*/ 36 h 43"/>
                <a:gd name="T44" fmla="*/ 26 w 102"/>
                <a:gd name="T45" fmla="*/ 29 h 43"/>
                <a:gd name="T46" fmla="*/ 26 w 102"/>
                <a:gd name="T47" fmla="*/ 14 h 43"/>
                <a:gd name="T48" fmla="*/ 13 w 102"/>
                <a:gd name="T49" fmla="*/ 14 h 43"/>
                <a:gd name="T50" fmla="*/ 7 w 102"/>
                <a:gd name="T51" fmla="*/ 7 h 43"/>
                <a:gd name="T52" fmla="*/ 0 w 102"/>
                <a:gd name="T53" fmla="*/ 7 h 4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02"/>
                <a:gd name="T82" fmla="*/ 0 h 43"/>
                <a:gd name="T83" fmla="*/ 102 w 102"/>
                <a:gd name="T84" fmla="*/ 43 h 43"/>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02" h="43">
                  <a:moveTo>
                    <a:pt x="0" y="7"/>
                  </a:moveTo>
                  <a:lnTo>
                    <a:pt x="7" y="0"/>
                  </a:lnTo>
                  <a:lnTo>
                    <a:pt x="13" y="0"/>
                  </a:lnTo>
                  <a:lnTo>
                    <a:pt x="19" y="0"/>
                  </a:lnTo>
                  <a:lnTo>
                    <a:pt x="26" y="7"/>
                  </a:lnTo>
                  <a:lnTo>
                    <a:pt x="32" y="7"/>
                  </a:lnTo>
                  <a:lnTo>
                    <a:pt x="39" y="7"/>
                  </a:lnTo>
                  <a:lnTo>
                    <a:pt x="39" y="14"/>
                  </a:lnTo>
                  <a:lnTo>
                    <a:pt x="32" y="22"/>
                  </a:lnTo>
                  <a:lnTo>
                    <a:pt x="45" y="22"/>
                  </a:lnTo>
                  <a:lnTo>
                    <a:pt x="58" y="29"/>
                  </a:lnTo>
                  <a:lnTo>
                    <a:pt x="70" y="22"/>
                  </a:lnTo>
                  <a:lnTo>
                    <a:pt x="83" y="22"/>
                  </a:lnTo>
                  <a:lnTo>
                    <a:pt x="89" y="22"/>
                  </a:lnTo>
                  <a:lnTo>
                    <a:pt x="96" y="29"/>
                  </a:lnTo>
                  <a:lnTo>
                    <a:pt x="102" y="36"/>
                  </a:lnTo>
                  <a:lnTo>
                    <a:pt x="96" y="43"/>
                  </a:lnTo>
                  <a:lnTo>
                    <a:pt x="70" y="36"/>
                  </a:lnTo>
                  <a:lnTo>
                    <a:pt x="51" y="43"/>
                  </a:lnTo>
                  <a:lnTo>
                    <a:pt x="45" y="43"/>
                  </a:lnTo>
                  <a:lnTo>
                    <a:pt x="39" y="36"/>
                  </a:lnTo>
                  <a:lnTo>
                    <a:pt x="32" y="36"/>
                  </a:lnTo>
                  <a:lnTo>
                    <a:pt x="26" y="29"/>
                  </a:lnTo>
                  <a:lnTo>
                    <a:pt x="26" y="14"/>
                  </a:lnTo>
                  <a:lnTo>
                    <a:pt x="13" y="14"/>
                  </a:lnTo>
                  <a:lnTo>
                    <a:pt x="7" y="7"/>
                  </a:lnTo>
                  <a:lnTo>
                    <a:pt x="0" y="7"/>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91" name="Freeform 45"/>
            <p:cNvSpPr>
              <a:spLocks/>
            </p:cNvSpPr>
            <p:nvPr/>
          </p:nvSpPr>
          <p:spPr bwMode="auto">
            <a:xfrm>
              <a:off x="3554" y="137"/>
              <a:ext cx="146" cy="94"/>
            </a:xfrm>
            <a:custGeom>
              <a:avLst/>
              <a:gdLst>
                <a:gd name="T0" fmla="*/ 63 w 146"/>
                <a:gd name="T1" fmla="*/ 65 h 94"/>
                <a:gd name="T2" fmla="*/ 44 w 146"/>
                <a:gd name="T3" fmla="*/ 58 h 94"/>
                <a:gd name="T4" fmla="*/ 44 w 146"/>
                <a:gd name="T5" fmla="*/ 50 h 94"/>
                <a:gd name="T6" fmla="*/ 44 w 146"/>
                <a:gd name="T7" fmla="*/ 36 h 94"/>
                <a:gd name="T8" fmla="*/ 57 w 146"/>
                <a:gd name="T9" fmla="*/ 22 h 94"/>
                <a:gd name="T10" fmla="*/ 38 w 146"/>
                <a:gd name="T11" fmla="*/ 29 h 94"/>
                <a:gd name="T12" fmla="*/ 32 w 146"/>
                <a:gd name="T13" fmla="*/ 43 h 94"/>
                <a:gd name="T14" fmla="*/ 19 w 146"/>
                <a:gd name="T15" fmla="*/ 50 h 94"/>
                <a:gd name="T16" fmla="*/ 6 w 146"/>
                <a:gd name="T17" fmla="*/ 43 h 94"/>
                <a:gd name="T18" fmla="*/ 0 w 146"/>
                <a:gd name="T19" fmla="*/ 29 h 94"/>
                <a:gd name="T20" fmla="*/ 13 w 146"/>
                <a:gd name="T21" fmla="*/ 14 h 94"/>
                <a:gd name="T22" fmla="*/ 13 w 146"/>
                <a:gd name="T23" fmla="*/ 7 h 94"/>
                <a:gd name="T24" fmla="*/ 38 w 146"/>
                <a:gd name="T25" fmla="*/ 7 h 94"/>
                <a:gd name="T26" fmla="*/ 63 w 146"/>
                <a:gd name="T27" fmla="*/ 7 h 94"/>
                <a:gd name="T28" fmla="*/ 63 w 146"/>
                <a:gd name="T29" fmla="*/ 22 h 94"/>
                <a:gd name="T30" fmla="*/ 70 w 146"/>
                <a:gd name="T31" fmla="*/ 22 h 94"/>
                <a:gd name="T32" fmla="*/ 89 w 146"/>
                <a:gd name="T33" fmla="*/ 29 h 94"/>
                <a:gd name="T34" fmla="*/ 95 w 146"/>
                <a:gd name="T35" fmla="*/ 29 h 94"/>
                <a:gd name="T36" fmla="*/ 102 w 146"/>
                <a:gd name="T37" fmla="*/ 29 h 94"/>
                <a:gd name="T38" fmla="*/ 108 w 146"/>
                <a:gd name="T39" fmla="*/ 43 h 94"/>
                <a:gd name="T40" fmla="*/ 108 w 146"/>
                <a:gd name="T41" fmla="*/ 29 h 94"/>
                <a:gd name="T42" fmla="*/ 127 w 146"/>
                <a:gd name="T43" fmla="*/ 14 h 94"/>
                <a:gd name="T44" fmla="*/ 133 w 146"/>
                <a:gd name="T45" fmla="*/ 22 h 94"/>
                <a:gd name="T46" fmla="*/ 127 w 146"/>
                <a:gd name="T47" fmla="*/ 43 h 94"/>
                <a:gd name="T48" fmla="*/ 127 w 146"/>
                <a:gd name="T49" fmla="*/ 50 h 94"/>
                <a:gd name="T50" fmla="*/ 140 w 146"/>
                <a:gd name="T51" fmla="*/ 65 h 94"/>
                <a:gd name="T52" fmla="*/ 146 w 146"/>
                <a:gd name="T53" fmla="*/ 72 h 94"/>
                <a:gd name="T54" fmla="*/ 133 w 146"/>
                <a:gd name="T55" fmla="*/ 79 h 94"/>
                <a:gd name="T56" fmla="*/ 133 w 146"/>
                <a:gd name="T57" fmla="*/ 86 h 94"/>
                <a:gd name="T58" fmla="*/ 114 w 146"/>
                <a:gd name="T59" fmla="*/ 79 h 94"/>
                <a:gd name="T60" fmla="*/ 95 w 146"/>
                <a:gd name="T61" fmla="*/ 86 h 94"/>
                <a:gd name="T62" fmla="*/ 70 w 146"/>
                <a:gd name="T63" fmla="*/ 94 h 94"/>
                <a:gd name="T64" fmla="*/ 63 w 146"/>
                <a:gd name="T65" fmla="*/ 79 h 94"/>
                <a:gd name="T66" fmla="*/ 44 w 146"/>
                <a:gd name="T67" fmla="*/ 72 h 94"/>
                <a:gd name="T68" fmla="*/ 63 w 146"/>
                <a:gd name="T69" fmla="*/ 65 h 94"/>
                <a:gd name="T70" fmla="*/ 83 w 146"/>
                <a:gd name="T71" fmla="*/ 65 h 9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46"/>
                <a:gd name="T109" fmla="*/ 0 h 94"/>
                <a:gd name="T110" fmla="*/ 146 w 146"/>
                <a:gd name="T111" fmla="*/ 94 h 9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46" h="94">
                  <a:moveTo>
                    <a:pt x="83" y="65"/>
                  </a:moveTo>
                  <a:lnTo>
                    <a:pt x="63" y="65"/>
                  </a:lnTo>
                  <a:lnTo>
                    <a:pt x="63" y="58"/>
                  </a:lnTo>
                  <a:lnTo>
                    <a:pt x="44" y="58"/>
                  </a:lnTo>
                  <a:lnTo>
                    <a:pt x="44" y="50"/>
                  </a:lnTo>
                  <a:lnTo>
                    <a:pt x="38" y="43"/>
                  </a:lnTo>
                  <a:lnTo>
                    <a:pt x="44" y="36"/>
                  </a:lnTo>
                  <a:lnTo>
                    <a:pt x="63" y="22"/>
                  </a:lnTo>
                  <a:lnTo>
                    <a:pt x="57" y="22"/>
                  </a:lnTo>
                  <a:lnTo>
                    <a:pt x="51" y="22"/>
                  </a:lnTo>
                  <a:lnTo>
                    <a:pt x="38" y="29"/>
                  </a:lnTo>
                  <a:lnTo>
                    <a:pt x="32" y="36"/>
                  </a:lnTo>
                  <a:lnTo>
                    <a:pt x="32" y="43"/>
                  </a:lnTo>
                  <a:lnTo>
                    <a:pt x="32" y="50"/>
                  </a:lnTo>
                  <a:lnTo>
                    <a:pt x="19" y="50"/>
                  </a:lnTo>
                  <a:lnTo>
                    <a:pt x="13" y="58"/>
                  </a:lnTo>
                  <a:lnTo>
                    <a:pt x="6" y="43"/>
                  </a:lnTo>
                  <a:lnTo>
                    <a:pt x="0" y="43"/>
                  </a:lnTo>
                  <a:lnTo>
                    <a:pt x="0" y="29"/>
                  </a:lnTo>
                  <a:lnTo>
                    <a:pt x="6" y="22"/>
                  </a:lnTo>
                  <a:lnTo>
                    <a:pt x="13" y="14"/>
                  </a:lnTo>
                  <a:lnTo>
                    <a:pt x="13" y="7"/>
                  </a:lnTo>
                  <a:lnTo>
                    <a:pt x="19" y="0"/>
                  </a:lnTo>
                  <a:lnTo>
                    <a:pt x="38" y="7"/>
                  </a:lnTo>
                  <a:lnTo>
                    <a:pt x="44" y="7"/>
                  </a:lnTo>
                  <a:lnTo>
                    <a:pt x="63" y="7"/>
                  </a:lnTo>
                  <a:lnTo>
                    <a:pt x="63" y="14"/>
                  </a:lnTo>
                  <a:lnTo>
                    <a:pt x="63" y="22"/>
                  </a:lnTo>
                  <a:lnTo>
                    <a:pt x="70" y="22"/>
                  </a:lnTo>
                  <a:lnTo>
                    <a:pt x="83" y="29"/>
                  </a:lnTo>
                  <a:lnTo>
                    <a:pt x="89" y="29"/>
                  </a:lnTo>
                  <a:lnTo>
                    <a:pt x="89" y="36"/>
                  </a:lnTo>
                  <a:lnTo>
                    <a:pt x="95" y="29"/>
                  </a:lnTo>
                  <a:lnTo>
                    <a:pt x="102" y="29"/>
                  </a:lnTo>
                  <a:lnTo>
                    <a:pt x="102" y="43"/>
                  </a:lnTo>
                  <a:lnTo>
                    <a:pt x="108" y="43"/>
                  </a:lnTo>
                  <a:lnTo>
                    <a:pt x="108" y="29"/>
                  </a:lnTo>
                  <a:lnTo>
                    <a:pt x="114" y="22"/>
                  </a:lnTo>
                  <a:lnTo>
                    <a:pt x="127" y="14"/>
                  </a:lnTo>
                  <a:lnTo>
                    <a:pt x="133" y="14"/>
                  </a:lnTo>
                  <a:lnTo>
                    <a:pt x="133" y="22"/>
                  </a:lnTo>
                  <a:lnTo>
                    <a:pt x="127" y="29"/>
                  </a:lnTo>
                  <a:lnTo>
                    <a:pt x="127" y="43"/>
                  </a:lnTo>
                  <a:lnTo>
                    <a:pt x="127" y="50"/>
                  </a:lnTo>
                  <a:lnTo>
                    <a:pt x="127" y="58"/>
                  </a:lnTo>
                  <a:lnTo>
                    <a:pt x="140" y="65"/>
                  </a:lnTo>
                  <a:lnTo>
                    <a:pt x="146" y="65"/>
                  </a:lnTo>
                  <a:lnTo>
                    <a:pt x="146" y="72"/>
                  </a:lnTo>
                  <a:lnTo>
                    <a:pt x="133" y="72"/>
                  </a:lnTo>
                  <a:lnTo>
                    <a:pt x="133" y="79"/>
                  </a:lnTo>
                  <a:lnTo>
                    <a:pt x="140" y="79"/>
                  </a:lnTo>
                  <a:lnTo>
                    <a:pt x="133" y="86"/>
                  </a:lnTo>
                  <a:lnTo>
                    <a:pt x="127" y="86"/>
                  </a:lnTo>
                  <a:lnTo>
                    <a:pt x="114" y="79"/>
                  </a:lnTo>
                  <a:lnTo>
                    <a:pt x="102" y="79"/>
                  </a:lnTo>
                  <a:lnTo>
                    <a:pt x="95" y="86"/>
                  </a:lnTo>
                  <a:lnTo>
                    <a:pt x="70" y="94"/>
                  </a:lnTo>
                  <a:lnTo>
                    <a:pt x="70" y="86"/>
                  </a:lnTo>
                  <a:lnTo>
                    <a:pt x="63" y="79"/>
                  </a:lnTo>
                  <a:lnTo>
                    <a:pt x="51" y="79"/>
                  </a:lnTo>
                  <a:lnTo>
                    <a:pt x="44" y="72"/>
                  </a:lnTo>
                  <a:lnTo>
                    <a:pt x="44" y="65"/>
                  </a:lnTo>
                  <a:lnTo>
                    <a:pt x="63" y="65"/>
                  </a:lnTo>
                  <a:lnTo>
                    <a:pt x="83" y="65"/>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92" name="Freeform 46"/>
            <p:cNvSpPr>
              <a:spLocks/>
            </p:cNvSpPr>
            <p:nvPr/>
          </p:nvSpPr>
          <p:spPr bwMode="auto">
            <a:xfrm>
              <a:off x="3554" y="137"/>
              <a:ext cx="146" cy="94"/>
            </a:xfrm>
            <a:custGeom>
              <a:avLst/>
              <a:gdLst>
                <a:gd name="T0" fmla="*/ 63 w 146"/>
                <a:gd name="T1" fmla="*/ 65 h 94"/>
                <a:gd name="T2" fmla="*/ 44 w 146"/>
                <a:gd name="T3" fmla="*/ 58 h 94"/>
                <a:gd name="T4" fmla="*/ 38 w 146"/>
                <a:gd name="T5" fmla="*/ 43 h 94"/>
                <a:gd name="T6" fmla="*/ 63 w 146"/>
                <a:gd name="T7" fmla="*/ 22 h 94"/>
                <a:gd name="T8" fmla="*/ 51 w 146"/>
                <a:gd name="T9" fmla="*/ 22 h 94"/>
                <a:gd name="T10" fmla="*/ 32 w 146"/>
                <a:gd name="T11" fmla="*/ 36 h 94"/>
                <a:gd name="T12" fmla="*/ 32 w 146"/>
                <a:gd name="T13" fmla="*/ 50 h 94"/>
                <a:gd name="T14" fmla="*/ 13 w 146"/>
                <a:gd name="T15" fmla="*/ 58 h 94"/>
                <a:gd name="T16" fmla="*/ 0 w 146"/>
                <a:gd name="T17" fmla="*/ 43 h 94"/>
                <a:gd name="T18" fmla="*/ 6 w 146"/>
                <a:gd name="T19" fmla="*/ 22 h 94"/>
                <a:gd name="T20" fmla="*/ 13 w 146"/>
                <a:gd name="T21" fmla="*/ 7 h 94"/>
                <a:gd name="T22" fmla="*/ 38 w 146"/>
                <a:gd name="T23" fmla="*/ 7 h 94"/>
                <a:gd name="T24" fmla="*/ 63 w 146"/>
                <a:gd name="T25" fmla="*/ 7 h 94"/>
                <a:gd name="T26" fmla="*/ 63 w 146"/>
                <a:gd name="T27" fmla="*/ 22 h 94"/>
                <a:gd name="T28" fmla="*/ 83 w 146"/>
                <a:gd name="T29" fmla="*/ 29 h 94"/>
                <a:gd name="T30" fmla="*/ 89 w 146"/>
                <a:gd name="T31" fmla="*/ 36 h 94"/>
                <a:gd name="T32" fmla="*/ 102 w 146"/>
                <a:gd name="T33" fmla="*/ 29 h 94"/>
                <a:gd name="T34" fmla="*/ 108 w 146"/>
                <a:gd name="T35" fmla="*/ 43 h 94"/>
                <a:gd name="T36" fmla="*/ 114 w 146"/>
                <a:gd name="T37" fmla="*/ 22 h 94"/>
                <a:gd name="T38" fmla="*/ 133 w 146"/>
                <a:gd name="T39" fmla="*/ 14 h 94"/>
                <a:gd name="T40" fmla="*/ 127 w 146"/>
                <a:gd name="T41" fmla="*/ 29 h 94"/>
                <a:gd name="T42" fmla="*/ 127 w 146"/>
                <a:gd name="T43" fmla="*/ 50 h 94"/>
                <a:gd name="T44" fmla="*/ 140 w 146"/>
                <a:gd name="T45" fmla="*/ 65 h 94"/>
                <a:gd name="T46" fmla="*/ 146 w 146"/>
                <a:gd name="T47" fmla="*/ 72 h 94"/>
                <a:gd name="T48" fmla="*/ 133 w 146"/>
                <a:gd name="T49" fmla="*/ 79 h 94"/>
                <a:gd name="T50" fmla="*/ 133 w 146"/>
                <a:gd name="T51" fmla="*/ 86 h 94"/>
                <a:gd name="T52" fmla="*/ 114 w 146"/>
                <a:gd name="T53" fmla="*/ 79 h 94"/>
                <a:gd name="T54" fmla="*/ 95 w 146"/>
                <a:gd name="T55" fmla="*/ 86 h 94"/>
                <a:gd name="T56" fmla="*/ 70 w 146"/>
                <a:gd name="T57" fmla="*/ 86 h 94"/>
                <a:gd name="T58" fmla="*/ 51 w 146"/>
                <a:gd name="T59" fmla="*/ 79 h 94"/>
                <a:gd name="T60" fmla="*/ 44 w 146"/>
                <a:gd name="T61" fmla="*/ 65 h 94"/>
                <a:gd name="T62" fmla="*/ 83 w 146"/>
                <a:gd name="T63" fmla="*/ 65 h 9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46"/>
                <a:gd name="T97" fmla="*/ 0 h 94"/>
                <a:gd name="T98" fmla="*/ 146 w 146"/>
                <a:gd name="T99" fmla="*/ 94 h 9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46" h="94">
                  <a:moveTo>
                    <a:pt x="83" y="65"/>
                  </a:moveTo>
                  <a:lnTo>
                    <a:pt x="63" y="65"/>
                  </a:lnTo>
                  <a:lnTo>
                    <a:pt x="63" y="58"/>
                  </a:lnTo>
                  <a:lnTo>
                    <a:pt x="44" y="58"/>
                  </a:lnTo>
                  <a:lnTo>
                    <a:pt x="44" y="50"/>
                  </a:lnTo>
                  <a:lnTo>
                    <a:pt x="38" y="43"/>
                  </a:lnTo>
                  <a:lnTo>
                    <a:pt x="44" y="36"/>
                  </a:lnTo>
                  <a:lnTo>
                    <a:pt x="63" y="22"/>
                  </a:lnTo>
                  <a:lnTo>
                    <a:pt x="57" y="22"/>
                  </a:lnTo>
                  <a:lnTo>
                    <a:pt x="51" y="22"/>
                  </a:lnTo>
                  <a:lnTo>
                    <a:pt x="38" y="29"/>
                  </a:lnTo>
                  <a:lnTo>
                    <a:pt x="32" y="36"/>
                  </a:lnTo>
                  <a:lnTo>
                    <a:pt x="32" y="43"/>
                  </a:lnTo>
                  <a:lnTo>
                    <a:pt x="32" y="50"/>
                  </a:lnTo>
                  <a:lnTo>
                    <a:pt x="19" y="50"/>
                  </a:lnTo>
                  <a:lnTo>
                    <a:pt x="13" y="58"/>
                  </a:lnTo>
                  <a:lnTo>
                    <a:pt x="6" y="43"/>
                  </a:lnTo>
                  <a:lnTo>
                    <a:pt x="0" y="43"/>
                  </a:lnTo>
                  <a:lnTo>
                    <a:pt x="0" y="29"/>
                  </a:lnTo>
                  <a:lnTo>
                    <a:pt x="6" y="22"/>
                  </a:lnTo>
                  <a:lnTo>
                    <a:pt x="13" y="14"/>
                  </a:lnTo>
                  <a:lnTo>
                    <a:pt x="13" y="7"/>
                  </a:lnTo>
                  <a:lnTo>
                    <a:pt x="19" y="0"/>
                  </a:lnTo>
                  <a:lnTo>
                    <a:pt x="38" y="7"/>
                  </a:lnTo>
                  <a:lnTo>
                    <a:pt x="44" y="7"/>
                  </a:lnTo>
                  <a:lnTo>
                    <a:pt x="63" y="7"/>
                  </a:lnTo>
                  <a:lnTo>
                    <a:pt x="63" y="14"/>
                  </a:lnTo>
                  <a:lnTo>
                    <a:pt x="63" y="22"/>
                  </a:lnTo>
                  <a:lnTo>
                    <a:pt x="70" y="22"/>
                  </a:lnTo>
                  <a:lnTo>
                    <a:pt x="83" y="29"/>
                  </a:lnTo>
                  <a:lnTo>
                    <a:pt x="89" y="29"/>
                  </a:lnTo>
                  <a:lnTo>
                    <a:pt x="89" y="36"/>
                  </a:lnTo>
                  <a:lnTo>
                    <a:pt x="95" y="29"/>
                  </a:lnTo>
                  <a:lnTo>
                    <a:pt x="102" y="29"/>
                  </a:lnTo>
                  <a:lnTo>
                    <a:pt x="102" y="43"/>
                  </a:lnTo>
                  <a:lnTo>
                    <a:pt x="108" y="43"/>
                  </a:lnTo>
                  <a:lnTo>
                    <a:pt x="108" y="29"/>
                  </a:lnTo>
                  <a:lnTo>
                    <a:pt x="114" y="22"/>
                  </a:lnTo>
                  <a:lnTo>
                    <a:pt x="127" y="14"/>
                  </a:lnTo>
                  <a:lnTo>
                    <a:pt x="133" y="14"/>
                  </a:lnTo>
                  <a:lnTo>
                    <a:pt x="133" y="22"/>
                  </a:lnTo>
                  <a:lnTo>
                    <a:pt x="127" y="29"/>
                  </a:lnTo>
                  <a:lnTo>
                    <a:pt x="127" y="43"/>
                  </a:lnTo>
                  <a:lnTo>
                    <a:pt x="127" y="50"/>
                  </a:lnTo>
                  <a:lnTo>
                    <a:pt x="127" y="58"/>
                  </a:lnTo>
                  <a:lnTo>
                    <a:pt x="140" y="65"/>
                  </a:lnTo>
                  <a:lnTo>
                    <a:pt x="146" y="65"/>
                  </a:lnTo>
                  <a:lnTo>
                    <a:pt x="146" y="72"/>
                  </a:lnTo>
                  <a:lnTo>
                    <a:pt x="133" y="72"/>
                  </a:lnTo>
                  <a:lnTo>
                    <a:pt x="133" y="79"/>
                  </a:lnTo>
                  <a:lnTo>
                    <a:pt x="140" y="79"/>
                  </a:lnTo>
                  <a:lnTo>
                    <a:pt x="133" y="86"/>
                  </a:lnTo>
                  <a:lnTo>
                    <a:pt x="127" y="86"/>
                  </a:lnTo>
                  <a:lnTo>
                    <a:pt x="114" y="79"/>
                  </a:lnTo>
                  <a:lnTo>
                    <a:pt x="102" y="79"/>
                  </a:lnTo>
                  <a:lnTo>
                    <a:pt x="95" y="86"/>
                  </a:lnTo>
                  <a:lnTo>
                    <a:pt x="70" y="94"/>
                  </a:lnTo>
                  <a:lnTo>
                    <a:pt x="70" y="86"/>
                  </a:lnTo>
                  <a:lnTo>
                    <a:pt x="63" y="79"/>
                  </a:lnTo>
                  <a:lnTo>
                    <a:pt x="51" y="79"/>
                  </a:lnTo>
                  <a:lnTo>
                    <a:pt x="44" y="72"/>
                  </a:lnTo>
                  <a:lnTo>
                    <a:pt x="44" y="65"/>
                  </a:lnTo>
                  <a:lnTo>
                    <a:pt x="63" y="65"/>
                  </a:lnTo>
                  <a:lnTo>
                    <a:pt x="83" y="65"/>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93" name="Freeform 47"/>
            <p:cNvSpPr>
              <a:spLocks/>
            </p:cNvSpPr>
            <p:nvPr/>
          </p:nvSpPr>
          <p:spPr bwMode="auto">
            <a:xfrm>
              <a:off x="3897" y="0"/>
              <a:ext cx="362" cy="332"/>
            </a:xfrm>
            <a:custGeom>
              <a:avLst/>
              <a:gdLst>
                <a:gd name="T0" fmla="*/ 235 w 362"/>
                <a:gd name="T1" fmla="*/ 0 h 332"/>
                <a:gd name="T2" fmla="*/ 209 w 362"/>
                <a:gd name="T3" fmla="*/ 0 h 332"/>
                <a:gd name="T4" fmla="*/ 184 w 362"/>
                <a:gd name="T5" fmla="*/ 0 h 332"/>
                <a:gd name="T6" fmla="*/ 152 w 362"/>
                <a:gd name="T7" fmla="*/ 7 h 332"/>
                <a:gd name="T8" fmla="*/ 139 w 362"/>
                <a:gd name="T9" fmla="*/ 14 h 332"/>
                <a:gd name="T10" fmla="*/ 127 w 362"/>
                <a:gd name="T11" fmla="*/ 29 h 332"/>
                <a:gd name="T12" fmla="*/ 114 w 362"/>
                <a:gd name="T13" fmla="*/ 22 h 332"/>
                <a:gd name="T14" fmla="*/ 82 w 362"/>
                <a:gd name="T15" fmla="*/ 14 h 332"/>
                <a:gd name="T16" fmla="*/ 63 w 362"/>
                <a:gd name="T17" fmla="*/ 36 h 332"/>
                <a:gd name="T18" fmla="*/ 38 w 362"/>
                <a:gd name="T19" fmla="*/ 43 h 332"/>
                <a:gd name="T20" fmla="*/ 44 w 362"/>
                <a:gd name="T21" fmla="*/ 58 h 332"/>
                <a:gd name="T22" fmla="*/ 31 w 362"/>
                <a:gd name="T23" fmla="*/ 72 h 332"/>
                <a:gd name="T24" fmla="*/ 0 w 362"/>
                <a:gd name="T25" fmla="*/ 87 h 332"/>
                <a:gd name="T26" fmla="*/ 38 w 362"/>
                <a:gd name="T27" fmla="*/ 94 h 332"/>
                <a:gd name="T28" fmla="*/ 6 w 362"/>
                <a:gd name="T29" fmla="*/ 101 h 332"/>
                <a:gd name="T30" fmla="*/ 38 w 362"/>
                <a:gd name="T31" fmla="*/ 115 h 332"/>
                <a:gd name="T32" fmla="*/ 82 w 362"/>
                <a:gd name="T33" fmla="*/ 130 h 332"/>
                <a:gd name="T34" fmla="*/ 89 w 362"/>
                <a:gd name="T35" fmla="*/ 180 h 332"/>
                <a:gd name="T36" fmla="*/ 108 w 362"/>
                <a:gd name="T37" fmla="*/ 180 h 332"/>
                <a:gd name="T38" fmla="*/ 108 w 362"/>
                <a:gd name="T39" fmla="*/ 195 h 332"/>
                <a:gd name="T40" fmla="*/ 95 w 362"/>
                <a:gd name="T41" fmla="*/ 195 h 332"/>
                <a:gd name="T42" fmla="*/ 89 w 362"/>
                <a:gd name="T43" fmla="*/ 202 h 332"/>
                <a:gd name="T44" fmla="*/ 101 w 362"/>
                <a:gd name="T45" fmla="*/ 216 h 332"/>
                <a:gd name="T46" fmla="*/ 114 w 362"/>
                <a:gd name="T47" fmla="*/ 209 h 332"/>
                <a:gd name="T48" fmla="*/ 108 w 362"/>
                <a:gd name="T49" fmla="*/ 231 h 332"/>
                <a:gd name="T50" fmla="*/ 95 w 362"/>
                <a:gd name="T51" fmla="*/ 252 h 332"/>
                <a:gd name="T52" fmla="*/ 108 w 362"/>
                <a:gd name="T53" fmla="*/ 288 h 332"/>
                <a:gd name="T54" fmla="*/ 133 w 362"/>
                <a:gd name="T55" fmla="*/ 317 h 332"/>
                <a:gd name="T56" fmla="*/ 146 w 362"/>
                <a:gd name="T57" fmla="*/ 324 h 332"/>
                <a:gd name="T58" fmla="*/ 158 w 362"/>
                <a:gd name="T59" fmla="*/ 296 h 332"/>
                <a:gd name="T60" fmla="*/ 165 w 362"/>
                <a:gd name="T61" fmla="*/ 274 h 332"/>
                <a:gd name="T62" fmla="*/ 184 w 362"/>
                <a:gd name="T63" fmla="*/ 252 h 332"/>
                <a:gd name="T64" fmla="*/ 209 w 362"/>
                <a:gd name="T65" fmla="*/ 245 h 332"/>
                <a:gd name="T66" fmla="*/ 228 w 362"/>
                <a:gd name="T67" fmla="*/ 223 h 332"/>
                <a:gd name="T68" fmla="*/ 266 w 362"/>
                <a:gd name="T69" fmla="*/ 216 h 332"/>
                <a:gd name="T70" fmla="*/ 298 w 362"/>
                <a:gd name="T71" fmla="*/ 202 h 332"/>
                <a:gd name="T72" fmla="*/ 279 w 362"/>
                <a:gd name="T73" fmla="*/ 187 h 332"/>
                <a:gd name="T74" fmla="*/ 298 w 362"/>
                <a:gd name="T75" fmla="*/ 195 h 332"/>
                <a:gd name="T76" fmla="*/ 298 w 362"/>
                <a:gd name="T77" fmla="*/ 159 h 332"/>
                <a:gd name="T78" fmla="*/ 317 w 362"/>
                <a:gd name="T79" fmla="*/ 144 h 332"/>
                <a:gd name="T80" fmla="*/ 317 w 362"/>
                <a:gd name="T81" fmla="*/ 108 h 332"/>
                <a:gd name="T82" fmla="*/ 323 w 362"/>
                <a:gd name="T83" fmla="*/ 94 h 332"/>
                <a:gd name="T84" fmla="*/ 311 w 362"/>
                <a:gd name="T85" fmla="*/ 72 h 332"/>
                <a:gd name="T86" fmla="*/ 323 w 362"/>
                <a:gd name="T87" fmla="*/ 50 h 332"/>
                <a:gd name="T88" fmla="*/ 336 w 362"/>
                <a:gd name="T89" fmla="*/ 43 h 332"/>
                <a:gd name="T90" fmla="*/ 349 w 362"/>
                <a:gd name="T91" fmla="*/ 22 h 332"/>
                <a:gd name="T92" fmla="*/ 304 w 362"/>
                <a:gd name="T93" fmla="*/ 22 h 332"/>
                <a:gd name="T94" fmla="*/ 304 w 362"/>
                <a:gd name="T95" fmla="*/ 22 h 332"/>
                <a:gd name="T96" fmla="*/ 279 w 362"/>
                <a:gd name="T97" fmla="*/ 22 h 332"/>
                <a:gd name="T98" fmla="*/ 279 w 362"/>
                <a:gd name="T99" fmla="*/ 22 h 332"/>
                <a:gd name="T100" fmla="*/ 304 w 362"/>
                <a:gd name="T101" fmla="*/ 14 h 332"/>
                <a:gd name="T102" fmla="*/ 298 w 362"/>
                <a:gd name="T103" fmla="*/ 0 h 332"/>
                <a:gd name="T104" fmla="*/ 292 w 362"/>
                <a:gd name="T105" fmla="*/ 0 h 332"/>
                <a:gd name="T106" fmla="*/ 260 w 362"/>
                <a:gd name="T107" fmla="*/ 0 h 33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362"/>
                <a:gd name="T163" fmla="*/ 0 h 332"/>
                <a:gd name="T164" fmla="*/ 362 w 362"/>
                <a:gd name="T165" fmla="*/ 332 h 33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362" h="332">
                  <a:moveTo>
                    <a:pt x="260" y="0"/>
                  </a:moveTo>
                  <a:lnTo>
                    <a:pt x="254" y="0"/>
                  </a:lnTo>
                  <a:lnTo>
                    <a:pt x="235" y="0"/>
                  </a:lnTo>
                  <a:lnTo>
                    <a:pt x="209" y="0"/>
                  </a:lnTo>
                  <a:lnTo>
                    <a:pt x="203" y="0"/>
                  </a:lnTo>
                  <a:lnTo>
                    <a:pt x="197" y="0"/>
                  </a:lnTo>
                  <a:lnTo>
                    <a:pt x="184" y="0"/>
                  </a:lnTo>
                  <a:lnTo>
                    <a:pt x="177" y="0"/>
                  </a:lnTo>
                  <a:lnTo>
                    <a:pt x="165" y="0"/>
                  </a:lnTo>
                  <a:lnTo>
                    <a:pt x="152" y="7"/>
                  </a:lnTo>
                  <a:lnTo>
                    <a:pt x="152" y="14"/>
                  </a:lnTo>
                  <a:lnTo>
                    <a:pt x="152" y="22"/>
                  </a:lnTo>
                  <a:lnTo>
                    <a:pt x="139" y="14"/>
                  </a:lnTo>
                  <a:lnTo>
                    <a:pt x="133" y="14"/>
                  </a:lnTo>
                  <a:lnTo>
                    <a:pt x="133" y="22"/>
                  </a:lnTo>
                  <a:lnTo>
                    <a:pt x="127" y="29"/>
                  </a:lnTo>
                  <a:lnTo>
                    <a:pt x="120" y="22"/>
                  </a:lnTo>
                  <a:lnTo>
                    <a:pt x="114" y="22"/>
                  </a:lnTo>
                  <a:lnTo>
                    <a:pt x="108" y="14"/>
                  </a:lnTo>
                  <a:lnTo>
                    <a:pt x="82" y="14"/>
                  </a:lnTo>
                  <a:lnTo>
                    <a:pt x="76" y="22"/>
                  </a:lnTo>
                  <a:lnTo>
                    <a:pt x="70" y="29"/>
                  </a:lnTo>
                  <a:lnTo>
                    <a:pt x="63" y="36"/>
                  </a:lnTo>
                  <a:lnTo>
                    <a:pt x="57" y="36"/>
                  </a:lnTo>
                  <a:lnTo>
                    <a:pt x="44" y="43"/>
                  </a:lnTo>
                  <a:lnTo>
                    <a:pt x="38" y="43"/>
                  </a:lnTo>
                  <a:lnTo>
                    <a:pt x="38" y="50"/>
                  </a:lnTo>
                  <a:lnTo>
                    <a:pt x="44" y="58"/>
                  </a:lnTo>
                  <a:lnTo>
                    <a:pt x="44" y="65"/>
                  </a:lnTo>
                  <a:lnTo>
                    <a:pt x="31" y="72"/>
                  </a:lnTo>
                  <a:lnTo>
                    <a:pt x="19" y="72"/>
                  </a:lnTo>
                  <a:lnTo>
                    <a:pt x="0" y="79"/>
                  </a:lnTo>
                  <a:lnTo>
                    <a:pt x="0" y="87"/>
                  </a:lnTo>
                  <a:lnTo>
                    <a:pt x="19" y="94"/>
                  </a:lnTo>
                  <a:lnTo>
                    <a:pt x="31" y="94"/>
                  </a:lnTo>
                  <a:lnTo>
                    <a:pt x="38" y="94"/>
                  </a:lnTo>
                  <a:lnTo>
                    <a:pt x="31" y="101"/>
                  </a:lnTo>
                  <a:lnTo>
                    <a:pt x="12" y="101"/>
                  </a:lnTo>
                  <a:lnTo>
                    <a:pt x="6" y="101"/>
                  </a:lnTo>
                  <a:lnTo>
                    <a:pt x="12" y="108"/>
                  </a:lnTo>
                  <a:lnTo>
                    <a:pt x="31" y="123"/>
                  </a:lnTo>
                  <a:lnTo>
                    <a:pt x="38" y="115"/>
                  </a:lnTo>
                  <a:lnTo>
                    <a:pt x="51" y="115"/>
                  </a:lnTo>
                  <a:lnTo>
                    <a:pt x="76" y="123"/>
                  </a:lnTo>
                  <a:lnTo>
                    <a:pt x="82" y="130"/>
                  </a:lnTo>
                  <a:lnTo>
                    <a:pt x="82" y="144"/>
                  </a:lnTo>
                  <a:lnTo>
                    <a:pt x="95" y="159"/>
                  </a:lnTo>
                  <a:lnTo>
                    <a:pt x="89" y="180"/>
                  </a:lnTo>
                  <a:lnTo>
                    <a:pt x="95" y="180"/>
                  </a:lnTo>
                  <a:lnTo>
                    <a:pt x="108" y="180"/>
                  </a:lnTo>
                  <a:lnTo>
                    <a:pt x="114" y="195"/>
                  </a:lnTo>
                  <a:lnTo>
                    <a:pt x="108" y="195"/>
                  </a:lnTo>
                  <a:lnTo>
                    <a:pt x="101" y="195"/>
                  </a:lnTo>
                  <a:lnTo>
                    <a:pt x="101" y="202"/>
                  </a:lnTo>
                  <a:lnTo>
                    <a:pt x="95" y="195"/>
                  </a:lnTo>
                  <a:lnTo>
                    <a:pt x="89" y="202"/>
                  </a:lnTo>
                  <a:lnTo>
                    <a:pt x="89" y="209"/>
                  </a:lnTo>
                  <a:lnTo>
                    <a:pt x="101" y="216"/>
                  </a:lnTo>
                  <a:lnTo>
                    <a:pt x="101" y="202"/>
                  </a:lnTo>
                  <a:lnTo>
                    <a:pt x="108" y="202"/>
                  </a:lnTo>
                  <a:lnTo>
                    <a:pt x="114" y="209"/>
                  </a:lnTo>
                  <a:lnTo>
                    <a:pt x="108" y="216"/>
                  </a:lnTo>
                  <a:lnTo>
                    <a:pt x="108" y="223"/>
                  </a:lnTo>
                  <a:lnTo>
                    <a:pt x="108" y="231"/>
                  </a:lnTo>
                  <a:lnTo>
                    <a:pt x="95" y="231"/>
                  </a:lnTo>
                  <a:lnTo>
                    <a:pt x="95" y="252"/>
                  </a:lnTo>
                  <a:lnTo>
                    <a:pt x="95" y="267"/>
                  </a:lnTo>
                  <a:lnTo>
                    <a:pt x="101" y="281"/>
                  </a:lnTo>
                  <a:lnTo>
                    <a:pt x="108" y="288"/>
                  </a:lnTo>
                  <a:lnTo>
                    <a:pt x="114" y="317"/>
                  </a:lnTo>
                  <a:lnTo>
                    <a:pt x="120" y="317"/>
                  </a:lnTo>
                  <a:lnTo>
                    <a:pt x="133" y="317"/>
                  </a:lnTo>
                  <a:lnTo>
                    <a:pt x="133" y="324"/>
                  </a:lnTo>
                  <a:lnTo>
                    <a:pt x="146" y="332"/>
                  </a:lnTo>
                  <a:lnTo>
                    <a:pt x="146" y="324"/>
                  </a:lnTo>
                  <a:lnTo>
                    <a:pt x="152" y="317"/>
                  </a:lnTo>
                  <a:lnTo>
                    <a:pt x="152" y="310"/>
                  </a:lnTo>
                  <a:lnTo>
                    <a:pt x="158" y="296"/>
                  </a:lnTo>
                  <a:lnTo>
                    <a:pt x="158" y="288"/>
                  </a:lnTo>
                  <a:lnTo>
                    <a:pt x="165" y="281"/>
                  </a:lnTo>
                  <a:lnTo>
                    <a:pt x="165" y="274"/>
                  </a:lnTo>
                  <a:lnTo>
                    <a:pt x="171" y="267"/>
                  </a:lnTo>
                  <a:lnTo>
                    <a:pt x="171" y="260"/>
                  </a:lnTo>
                  <a:lnTo>
                    <a:pt x="184" y="252"/>
                  </a:lnTo>
                  <a:lnTo>
                    <a:pt x="197" y="252"/>
                  </a:lnTo>
                  <a:lnTo>
                    <a:pt x="209" y="252"/>
                  </a:lnTo>
                  <a:lnTo>
                    <a:pt x="209" y="245"/>
                  </a:lnTo>
                  <a:lnTo>
                    <a:pt x="216" y="231"/>
                  </a:lnTo>
                  <a:lnTo>
                    <a:pt x="228" y="223"/>
                  </a:lnTo>
                  <a:lnTo>
                    <a:pt x="247" y="223"/>
                  </a:lnTo>
                  <a:lnTo>
                    <a:pt x="260" y="216"/>
                  </a:lnTo>
                  <a:lnTo>
                    <a:pt x="266" y="216"/>
                  </a:lnTo>
                  <a:lnTo>
                    <a:pt x="279" y="216"/>
                  </a:lnTo>
                  <a:lnTo>
                    <a:pt x="292" y="202"/>
                  </a:lnTo>
                  <a:lnTo>
                    <a:pt x="298" y="202"/>
                  </a:lnTo>
                  <a:lnTo>
                    <a:pt x="292" y="202"/>
                  </a:lnTo>
                  <a:lnTo>
                    <a:pt x="279" y="195"/>
                  </a:lnTo>
                  <a:lnTo>
                    <a:pt x="279" y="187"/>
                  </a:lnTo>
                  <a:lnTo>
                    <a:pt x="279" y="180"/>
                  </a:lnTo>
                  <a:lnTo>
                    <a:pt x="292" y="195"/>
                  </a:lnTo>
                  <a:lnTo>
                    <a:pt x="298" y="195"/>
                  </a:lnTo>
                  <a:lnTo>
                    <a:pt x="304" y="195"/>
                  </a:lnTo>
                  <a:lnTo>
                    <a:pt x="304" y="180"/>
                  </a:lnTo>
                  <a:lnTo>
                    <a:pt x="298" y="159"/>
                  </a:lnTo>
                  <a:lnTo>
                    <a:pt x="304" y="151"/>
                  </a:lnTo>
                  <a:lnTo>
                    <a:pt x="304" y="144"/>
                  </a:lnTo>
                  <a:lnTo>
                    <a:pt x="317" y="144"/>
                  </a:lnTo>
                  <a:lnTo>
                    <a:pt x="317" y="115"/>
                  </a:lnTo>
                  <a:lnTo>
                    <a:pt x="311" y="108"/>
                  </a:lnTo>
                  <a:lnTo>
                    <a:pt x="317" y="108"/>
                  </a:lnTo>
                  <a:lnTo>
                    <a:pt x="323" y="101"/>
                  </a:lnTo>
                  <a:lnTo>
                    <a:pt x="323" y="94"/>
                  </a:lnTo>
                  <a:lnTo>
                    <a:pt x="311" y="87"/>
                  </a:lnTo>
                  <a:lnTo>
                    <a:pt x="311" y="72"/>
                  </a:lnTo>
                  <a:lnTo>
                    <a:pt x="323" y="65"/>
                  </a:lnTo>
                  <a:lnTo>
                    <a:pt x="323" y="58"/>
                  </a:lnTo>
                  <a:lnTo>
                    <a:pt x="323" y="50"/>
                  </a:lnTo>
                  <a:lnTo>
                    <a:pt x="336" y="50"/>
                  </a:lnTo>
                  <a:lnTo>
                    <a:pt x="336" y="43"/>
                  </a:lnTo>
                  <a:lnTo>
                    <a:pt x="355" y="29"/>
                  </a:lnTo>
                  <a:lnTo>
                    <a:pt x="362" y="22"/>
                  </a:lnTo>
                  <a:lnTo>
                    <a:pt x="349" y="22"/>
                  </a:lnTo>
                  <a:lnTo>
                    <a:pt x="336" y="14"/>
                  </a:lnTo>
                  <a:lnTo>
                    <a:pt x="330" y="22"/>
                  </a:lnTo>
                  <a:lnTo>
                    <a:pt x="304" y="22"/>
                  </a:lnTo>
                  <a:lnTo>
                    <a:pt x="298" y="29"/>
                  </a:lnTo>
                  <a:lnTo>
                    <a:pt x="298" y="43"/>
                  </a:lnTo>
                  <a:lnTo>
                    <a:pt x="304" y="22"/>
                  </a:lnTo>
                  <a:lnTo>
                    <a:pt x="298" y="14"/>
                  </a:lnTo>
                  <a:lnTo>
                    <a:pt x="279" y="22"/>
                  </a:lnTo>
                  <a:lnTo>
                    <a:pt x="260" y="29"/>
                  </a:lnTo>
                  <a:lnTo>
                    <a:pt x="266" y="22"/>
                  </a:lnTo>
                  <a:lnTo>
                    <a:pt x="279" y="22"/>
                  </a:lnTo>
                  <a:lnTo>
                    <a:pt x="292" y="14"/>
                  </a:lnTo>
                  <a:lnTo>
                    <a:pt x="298" y="14"/>
                  </a:lnTo>
                  <a:lnTo>
                    <a:pt x="304" y="14"/>
                  </a:lnTo>
                  <a:lnTo>
                    <a:pt x="311" y="7"/>
                  </a:lnTo>
                  <a:lnTo>
                    <a:pt x="304" y="0"/>
                  </a:lnTo>
                  <a:lnTo>
                    <a:pt x="298" y="0"/>
                  </a:lnTo>
                  <a:lnTo>
                    <a:pt x="292" y="7"/>
                  </a:lnTo>
                  <a:lnTo>
                    <a:pt x="292" y="0"/>
                  </a:lnTo>
                  <a:lnTo>
                    <a:pt x="279" y="0"/>
                  </a:lnTo>
                  <a:lnTo>
                    <a:pt x="260"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94" name="Freeform 48"/>
            <p:cNvSpPr>
              <a:spLocks/>
            </p:cNvSpPr>
            <p:nvPr/>
          </p:nvSpPr>
          <p:spPr bwMode="auto">
            <a:xfrm>
              <a:off x="3897" y="0"/>
              <a:ext cx="362" cy="332"/>
            </a:xfrm>
            <a:custGeom>
              <a:avLst/>
              <a:gdLst>
                <a:gd name="T0" fmla="*/ 235 w 362"/>
                <a:gd name="T1" fmla="*/ 0 h 332"/>
                <a:gd name="T2" fmla="*/ 197 w 362"/>
                <a:gd name="T3" fmla="*/ 0 h 332"/>
                <a:gd name="T4" fmla="*/ 165 w 362"/>
                <a:gd name="T5" fmla="*/ 0 h 332"/>
                <a:gd name="T6" fmla="*/ 152 w 362"/>
                <a:gd name="T7" fmla="*/ 22 h 332"/>
                <a:gd name="T8" fmla="*/ 133 w 362"/>
                <a:gd name="T9" fmla="*/ 22 h 332"/>
                <a:gd name="T10" fmla="*/ 114 w 362"/>
                <a:gd name="T11" fmla="*/ 22 h 332"/>
                <a:gd name="T12" fmla="*/ 76 w 362"/>
                <a:gd name="T13" fmla="*/ 22 h 332"/>
                <a:gd name="T14" fmla="*/ 57 w 362"/>
                <a:gd name="T15" fmla="*/ 36 h 332"/>
                <a:gd name="T16" fmla="*/ 38 w 362"/>
                <a:gd name="T17" fmla="*/ 50 h 332"/>
                <a:gd name="T18" fmla="*/ 31 w 362"/>
                <a:gd name="T19" fmla="*/ 72 h 332"/>
                <a:gd name="T20" fmla="*/ 0 w 362"/>
                <a:gd name="T21" fmla="*/ 87 h 332"/>
                <a:gd name="T22" fmla="*/ 38 w 362"/>
                <a:gd name="T23" fmla="*/ 94 h 332"/>
                <a:gd name="T24" fmla="*/ 6 w 362"/>
                <a:gd name="T25" fmla="*/ 101 h 332"/>
                <a:gd name="T26" fmla="*/ 38 w 362"/>
                <a:gd name="T27" fmla="*/ 115 h 332"/>
                <a:gd name="T28" fmla="*/ 82 w 362"/>
                <a:gd name="T29" fmla="*/ 130 h 332"/>
                <a:gd name="T30" fmla="*/ 89 w 362"/>
                <a:gd name="T31" fmla="*/ 180 h 332"/>
                <a:gd name="T32" fmla="*/ 114 w 362"/>
                <a:gd name="T33" fmla="*/ 195 h 332"/>
                <a:gd name="T34" fmla="*/ 101 w 362"/>
                <a:gd name="T35" fmla="*/ 202 h 332"/>
                <a:gd name="T36" fmla="*/ 89 w 362"/>
                <a:gd name="T37" fmla="*/ 209 h 332"/>
                <a:gd name="T38" fmla="*/ 108 w 362"/>
                <a:gd name="T39" fmla="*/ 202 h 332"/>
                <a:gd name="T40" fmla="*/ 108 w 362"/>
                <a:gd name="T41" fmla="*/ 223 h 332"/>
                <a:gd name="T42" fmla="*/ 95 w 362"/>
                <a:gd name="T43" fmla="*/ 252 h 332"/>
                <a:gd name="T44" fmla="*/ 108 w 362"/>
                <a:gd name="T45" fmla="*/ 288 h 332"/>
                <a:gd name="T46" fmla="*/ 133 w 362"/>
                <a:gd name="T47" fmla="*/ 317 h 332"/>
                <a:gd name="T48" fmla="*/ 146 w 362"/>
                <a:gd name="T49" fmla="*/ 324 h 332"/>
                <a:gd name="T50" fmla="*/ 158 w 362"/>
                <a:gd name="T51" fmla="*/ 296 h 332"/>
                <a:gd name="T52" fmla="*/ 165 w 362"/>
                <a:gd name="T53" fmla="*/ 274 h 332"/>
                <a:gd name="T54" fmla="*/ 184 w 362"/>
                <a:gd name="T55" fmla="*/ 252 h 332"/>
                <a:gd name="T56" fmla="*/ 209 w 362"/>
                <a:gd name="T57" fmla="*/ 245 h 332"/>
                <a:gd name="T58" fmla="*/ 247 w 362"/>
                <a:gd name="T59" fmla="*/ 223 h 332"/>
                <a:gd name="T60" fmla="*/ 279 w 362"/>
                <a:gd name="T61" fmla="*/ 216 h 332"/>
                <a:gd name="T62" fmla="*/ 292 w 362"/>
                <a:gd name="T63" fmla="*/ 202 h 332"/>
                <a:gd name="T64" fmla="*/ 279 w 362"/>
                <a:gd name="T65" fmla="*/ 180 h 332"/>
                <a:gd name="T66" fmla="*/ 304 w 362"/>
                <a:gd name="T67" fmla="*/ 195 h 332"/>
                <a:gd name="T68" fmla="*/ 304 w 362"/>
                <a:gd name="T69" fmla="*/ 151 h 332"/>
                <a:gd name="T70" fmla="*/ 317 w 362"/>
                <a:gd name="T71" fmla="*/ 115 h 332"/>
                <a:gd name="T72" fmla="*/ 323 w 362"/>
                <a:gd name="T73" fmla="*/ 101 h 332"/>
                <a:gd name="T74" fmla="*/ 311 w 362"/>
                <a:gd name="T75" fmla="*/ 72 h 332"/>
                <a:gd name="T76" fmla="*/ 323 w 362"/>
                <a:gd name="T77" fmla="*/ 50 h 332"/>
                <a:gd name="T78" fmla="*/ 355 w 362"/>
                <a:gd name="T79" fmla="*/ 29 h 332"/>
                <a:gd name="T80" fmla="*/ 336 w 362"/>
                <a:gd name="T81" fmla="*/ 14 h 332"/>
                <a:gd name="T82" fmla="*/ 298 w 362"/>
                <a:gd name="T83" fmla="*/ 29 h 332"/>
                <a:gd name="T84" fmla="*/ 298 w 362"/>
                <a:gd name="T85" fmla="*/ 14 h 332"/>
                <a:gd name="T86" fmla="*/ 266 w 362"/>
                <a:gd name="T87" fmla="*/ 22 h 332"/>
                <a:gd name="T88" fmla="*/ 298 w 362"/>
                <a:gd name="T89" fmla="*/ 14 h 332"/>
                <a:gd name="T90" fmla="*/ 304 w 362"/>
                <a:gd name="T91" fmla="*/ 0 h 332"/>
                <a:gd name="T92" fmla="*/ 292 w 362"/>
                <a:gd name="T93" fmla="*/ 0 h 33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362"/>
                <a:gd name="T142" fmla="*/ 0 h 332"/>
                <a:gd name="T143" fmla="*/ 362 w 362"/>
                <a:gd name="T144" fmla="*/ 332 h 332"/>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362" h="332">
                  <a:moveTo>
                    <a:pt x="260" y="0"/>
                  </a:moveTo>
                  <a:lnTo>
                    <a:pt x="254" y="0"/>
                  </a:lnTo>
                  <a:lnTo>
                    <a:pt x="235" y="0"/>
                  </a:lnTo>
                  <a:lnTo>
                    <a:pt x="209" y="0"/>
                  </a:lnTo>
                  <a:lnTo>
                    <a:pt x="203" y="0"/>
                  </a:lnTo>
                  <a:lnTo>
                    <a:pt x="197" y="0"/>
                  </a:lnTo>
                  <a:lnTo>
                    <a:pt x="184" y="0"/>
                  </a:lnTo>
                  <a:lnTo>
                    <a:pt x="177" y="0"/>
                  </a:lnTo>
                  <a:lnTo>
                    <a:pt x="165" y="0"/>
                  </a:lnTo>
                  <a:lnTo>
                    <a:pt x="152" y="7"/>
                  </a:lnTo>
                  <a:lnTo>
                    <a:pt x="152" y="14"/>
                  </a:lnTo>
                  <a:lnTo>
                    <a:pt x="152" y="22"/>
                  </a:lnTo>
                  <a:lnTo>
                    <a:pt x="139" y="14"/>
                  </a:lnTo>
                  <a:lnTo>
                    <a:pt x="133" y="14"/>
                  </a:lnTo>
                  <a:lnTo>
                    <a:pt x="133" y="22"/>
                  </a:lnTo>
                  <a:lnTo>
                    <a:pt x="127" y="29"/>
                  </a:lnTo>
                  <a:lnTo>
                    <a:pt x="120" y="22"/>
                  </a:lnTo>
                  <a:lnTo>
                    <a:pt x="114" y="22"/>
                  </a:lnTo>
                  <a:lnTo>
                    <a:pt x="108" y="14"/>
                  </a:lnTo>
                  <a:lnTo>
                    <a:pt x="82" y="14"/>
                  </a:lnTo>
                  <a:lnTo>
                    <a:pt x="76" y="22"/>
                  </a:lnTo>
                  <a:lnTo>
                    <a:pt x="70" y="29"/>
                  </a:lnTo>
                  <a:lnTo>
                    <a:pt x="63" y="36"/>
                  </a:lnTo>
                  <a:lnTo>
                    <a:pt x="57" y="36"/>
                  </a:lnTo>
                  <a:lnTo>
                    <a:pt x="44" y="43"/>
                  </a:lnTo>
                  <a:lnTo>
                    <a:pt x="38" y="43"/>
                  </a:lnTo>
                  <a:lnTo>
                    <a:pt x="38" y="50"/>
                  </a:lnTo>
                  <a:lnTo>
                    <a:pt x="44" y="58"/>
                  </a:lnTo>
                  <a:lnTo>
                    <a:pt x="44" y="65"/>
                  </a:lnTo>
                  <a:lnTo>
                    <a:pt x="31" y="72"/>
                  </a:lnTo>
                  <a:lnTo>
                    <a:pt x="19" y="72"/>
                  </a:lnTo>
                  <a:lnTo>
                    <a:pt x="0" y="79"/>
                  </a:lnTo>
                  <a:lnTo>
                    <a:pt x="0" y="87"/>
                  </a:lnTo>
                  <a:lnTo>
                    <a:pt x="19" y="94"/>
                  </a:lnTo>
                  <a:lnTo>
                    <a:pt x="31" y="94"/>
                  </a:lnTo>
                  <a:lnTo>
                    <a:pt x="38" y="94"/>
                  </a:lnTo>
                  <a:lnTo>
                    <a:pt x="31" y="101"/>
                  </a:lnTo>
                  <a:lnTo>
                    <a:pt x="12" y="101"/>
                  </a:lnTo>
                  <a:lnTo>
                    <a:pt x="6" y="101"/>
                  </a:lnTo>
                  <a:lnTo>
                    <a:pt x="12" y="108"/>
                  </a:lnTo>
                  <a:lnTo>
                    <a:pt x="31" y="123"/>
                  </a:lnTo>
                  <a:lnTo>
                    <a:pt x="38" y="115"/>
                  </a:lnTo>
                  <a:lnTo>
                    <a:pt x="51" y="115"/>
                  </a:lnTo>
                  <a:lnTo>
                    <a:pt x="76" y="123"/>
                  </a:lnTo>
                  <a:lnTo>
                    <a:pt x="82" y="130"/>
                  </a:lnTo>
                  <a:lnTo>
                    <a:pt x="82" y="144"/>
                  </a:lnTo>
                  <a:lnTo>
                    <a:pt x="95" y="159"/>
                  </a:lnTo>
                  <a:lnTo>
                    <a:pt x="89" y="180"/>
                  </a:lnTo>
                  <a:lnTo>
                    <a:pt x="95" y="180"/>
                  </a:lnTo>
                  <a:lnTo>
                    <a:pt x="108" y="180"/>
                  </a:lnTo>
                  <a:lnTo>
                    <a:pt x="114" y="195"/>
                  </a:lnTo>
                  <a:lnTo>
                    <a:pt x="108" y="195"/>
                  </a:lnTo>
                  <a:lnTo>
                    <a:pt x="101" y="195"/>
                  </a:lnTo>
                  <a:lnTo>
                    <a:pt x="101" y="202"/>
                  </a:lnTo>
                  <a:lnTo>
                    <a:pt x="95" y="195"/>
                  </a:lnTo>
                  <a:lnTo>
                    <a:pt x="89" y="202"/>
                  </a:lnTo>
                  <a:lnTo>
                    <a:pt x="89" y="209"/>
                  </a:lnTo>
                  <a:lnTo>
                    <a:pt x="101" y="216"/>
                  </a:lnTo>
                  <a:lnTo>
                    <a:pt x="101" y="202"/>
                  </a:lnTo>
                  <a:lnTo>
                    <a:pt x="108" y="202"/>
                  </a:lnTo>
                  <a:lnTo>
                    <a:pt x="114" y="209"/>
                  </a:lnTo>
                  <a:lnTo>
                    <a:pt x="108" y="216"/>
                  </a:lnTo>
                  <a:lnTo>
                    <a:pt x="108" y="223"/>
                  </a:lnTo>
                  <a:lnTo>
                    <a:pt x="108" y="231"/>
                  </a:lnTo>
                  <a:lnTo>
                    <a:pt x="95" y="231"/>
                  </a:lnTo>
                  <a:lnTo>
                    <a:pt x="95" y="252"/>
                  </a:lnTo>
                  <a:lnTo>
                    <a:pt x="95" y="267"/>
                  </a:lnTo>
                  <a:lnTo>
                    <a:pt x="101" y="281"/>
                  </a:lnTo>
                  <a:lnTo>
                    <a:pt x="108" y="288"/>
                  </a:lnTo>
                  <a:lnTo>
                    <a:pt x="114" y="317"/>
                  </a:lnTo>
                  <a:lnTo>
                    <a:pt x="120" y="317"/>
                  </a:lnTo>
                  <a:lnTo>
                    <a:pt x="133" y="317"/>
                  </a:lnTo>
                  <a:lnTo>
                    <a:pt x="133" y="324"/>
                  </a:lnTo>
                  <a:lnTo>
                    <a:pt x="146" y="332"/>
                  </a:lnTo>
                  <a:lnTo>
                    <a:pt x="146" y="324"/>
                  </a:lnTo>
                  <a:lnTo>
                    <a:pt x="152" y="317"/>
                  </a:lnTo>
                  <a:lnTo>
                    <a:pt x="152" y="310"/>
                  </a:lnTo>
                  <a:lnTo>
                    <a:pt x="158" y="296"/>
                  </a:lnTo>
                  <a:lnTo>
                    <a:pt x="158" y="288"/>
                  </a:lnTo>
                  <a:lnTo>
                    <a:pt x="165" y="281"/>
                  </a:lnTo>
                  <a:lnTo>
                    <a:pt x="165" y="274"/>
                  </a:lnTo>
                  <a:lnTo>
                    <a:pt x="171" y="267"/>
                  </a:lnTo>
                  <a:lnTo>
                    <a:pt x="171" y="260"/>
                  </a:lnTo>
                  <a:lnTo>
                    <a:pt x="184" y="252"/>
                  </a:lnTo>
                  <a:lnTo>
                    <a:pt x="197" y="252"/>
                  </a:lnTo>
                  <a:lnTo>
                    <a:pt x="209" y="252"/>
                  </a:lnTo>
                  <a:lnTo>
                    <a:pt x="209" y="245"/>
                  </a:lnTo>
                  <a:lnTo>
                    <a:pt x="216" y="231"/>
                  </a:lnTo>
                  <a:lnTo>
                    <a:pt x="228" y="223"/>
                  </a:lnTo>
                  <a:lnTo>
                    <a:pt x="247" y="223"/>
                  </a:lnTo>
                  <a:lnTo>
                    <a:pt x="260" y="216"/>
                  </a:lnTo>
                  <a:lnTo>
                    <a:pt x="266" y="216"/>
                  </a:lnTo>
                  <a:lnTo>
                    <a:pt x="279" y="216"/>
                  </a:lnTo>
                  <a:lnTo>
                    <a:pt x="292" y="202"/>
                  </a:lnTo>
                  <a:lnTo>
                    <a:pt x="298" y="202"/>
                  </a:lnTo>
                  <a:lnTo>
                    <a:pt x="292" y="202"/>
                  </a:lnTo>
                  <a:lnTo>
                    <a:pt x="279" y="195"/>
                  </a:lnTo>
                  <a:lnTo>
                    <a:pt x="279" y="187"/>
                  </a:lnTo>
                  <a:lnTo>
                    <a:pt x="279" y="180"/>
                  </a:lnTo>
                  <a:lnTo>
                    <a:pt x="292" y="195"/>
                  </a:lnTo>
                  <a:lnTo>
                    <a:pt x="298" y="195"/>
                  </a:lnTo>
                  <a:lnTo>
                    <a:pt x="304" y="195"/>
                  </a:lnTo>
                  <a:lnTo>
                    <a:pt x="304" y="180"/>
                  </a:lnTo>
                  <a:lnTo>
                    <a:pt x="298" y="159"/>
                  </a:lnTo>
                  <a:lnTo>
                    <a:pt x="304" y="151"/>
                  </a:lnTo>
                  <a:lnTo>
                    <a:pt x="304" y="144"/>
                  </a:lnTo>
                  <a:lnTo>
                    <a:pt x="317" y="144"/>
                  </a:lnTo>
                  <a:lnTo>
                    <a:pt x="317" y="115"/>
                  </a:lnTo>
                  <a:lnTo>
                    <a:pt x="311" y="108"/>
                  </a:lnTo>
                  <a:lnTo>
                    <a:pt x="317" y="108"/>
                  </a:lnTo>
                  <a:lnTo>
                    <a:pt x="323" y="101"/>
                  </a:lnTo>
                  <a:lnTo>
                    <a:pt x="323" y="94"/>
                  </a:lnTo>
                  <a:lnTo>
                    <a:pt x="311" y="87"/>
                  </a:lnTo>
                  <a:lnTo>
                    <a:pt x="311" y="72"/>
                  </a:lnTo>
                  <a:lnTo>
                    <a:pt x="323" y="65"/>
                  </a:lnTo>
                  <a:lnTo>
                    <a:pt x="323" y="58"/>
                  </a:lnTo>
                  <a:lnTo>
                    <a:pt x="323" y="50"/>
                  </a:lnTo>
                  <a:lnTo>
                    <a:pt x="336" y="50"/>
                  </a:lnTo>
                  <a:lnTo>
                    <a:pt x="336" y="43"/>
                  </a:lnTo>
                  <a:lnTo>
                    <a:pt x="355" y="29"/>
                  </a:lnTo>
                  <a:lnTo>
                    <a:pt x="362" y="22"/>
                  </a:lnTo>
                  <a:lnTo>
                    <a:pt x="349" y="22"/>
                  </a:lnTo>
                  <a:lnTo>
                    <a:pt x="336" y="14"/>
                  </a:lnTo>
                  <a:lnTo>
                    <a:pt x="330" y="22"/>
                  </a:lnTo>
                  <a:lnTo>
                    <a:pt x="304" y="22"/>
                  </a:lnTo>
                  <a:lnTo>
                    <a:pt x="298" y="29"/>
                  </a:lnTo>
                  <a:lnTo>
                    <a:pt x="298" y="43"/>
                  </a:lnTo>
                  <a:lnTo>
                    <a:pt x="304" y="22"/>
                  </a:lnTo>
                  <a:lnTo>
                    <a:pt x="298" y="14"/>
                  </a:lnTo>
                  <a:lnTo>
                    <a:pt x="279" y="22"/>
                  </a:lnTo>
                  <a:lnTo>
                    <a:pt x="260" y="29"/>
                  </a:lnTo>
                  <a:lnTo>
                    <a:pt x="266" y="22"/>
                  </a:lnTo>
                  <a:lnTo>
                    <a:pt x="279" y="22"/>
                  </a:lnTo>
                  <a:lnTo>
                    <a:pt x="292" y="14"/>
                  </a:lnTo>
                  <a:lnTo>
                    <a:pt x="298" y="14"/>
                  </a:lnTo>
                  <a:lnTo>
                    <a:pt x="304" y="14"/>
                  </a:lnTo>
                  <a:lnTo>
                    <a:pt x="311" y="7"/>
                  </a:lnTo>
                  <a:lnTo>
                    <a:pt x="304" y="0"/>
                  </a:lnTo>
                  <a:lnTo>
                    <a:pt x="298" y="0"/>
                  </a:lnTo>
                  <a:lnTo>
                    <a:pt x="292" y="7"/>
                  </a:lnTo>
                  <a:lnTo>
                    <a:pt x="292" y="0"/>
                  </a:lnTo>
                  <a:lnTo>
                    <a:pt x="279" y="0"/>
                  </a:lnTo>
                  <a:lnTo>
                    <a:pt x="260"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95" name="Freeform 49"/>
            <p:cNvSpPr>
              <a:spLocks/>
            </p:cNvSpPr>
            <p:nvPr/>
          </p:nvSpPr>
          <p:spPr bwMode="auto">
            <a:xfrm>
              <a:off x="3763" y="0"/>
              <a:ext cx="204" cy="115"/>
            </a:xfrm>
            <a:custGeom>
              <a:avLst/>
              <a:gdLst>
                <a:gd name="T0" fmla="*/ 64 w 204"/>
                <a:gd name="T1" fmla="*/ 50 h 115"/>
                <a:gd name="T2" fmla="*/ 58 w 204"/>
                <a:gd name="T3" fmla="*/ 43 h 115"/>
                <a:gd name="T4" fmla="*/ 45 w 204"/>
                <a:gd name="T5" fmla="*/ 36 h 115"/>
                <a:gd name="T6" fmla="*/ 39 w 204"/>
                <a:gd name="T7" fmla="*/ 29 h 115"/>
                <a:gd name="T8" fmla="*/ 39 w 204"/>
                <a:gd name="T9" fmla="*/ 50 h 115"/>
                <a:gd name="T10" fmla="*/ 58 w 204"/>
                <a:gd name="T11" fmla="*/ 65 h 115"/>
                <a:gd name="T12" fmla="*/ 45 w 204"/>
                <a:gd name="T13" fmla="*/ 72 h 115"/>
                <a:gd name="T14" fmla="*/ 26 w 204"/>
                <a:gd name="T15" fmla="*/ 87 h 115"/>
                <a:gd name="T16" fmla="*/ 13 w 204"/>
                <a:gd name="T17" fmla="*/ 79 h 115"/>
                <a:gd name="T18" fmla="*/ 26 w 204"/>
                <a:gd name="T19" fmla="*/ 65 h 115"/>
                <a:gd name="T20" fmla="*/ 0 w 204"/>
                <a:gd name="T21" fmla="*/ 58 h 115"/>
                <a:gd name="T22" fmla="*/ 0 w 204"/>
                <a:gd name="T23" fmla="*/ 50 h 115"/>
                <a:gd name="T24" fmla="*/ 7 w 204"/>
                <a:gd name="T25" fmla="*/ 43 h 115"/>
                <a:gd name="T26" fmla="*/ 32 w 204"/>
                <a:gd name="T27" fmla="*/ 29 h 115"/>
                <a:gd name="T28" fmla="*/ 39 w 204"/>
                <a:gd name="T29" fmla="*/ 29 h 115"/>
                <a:gd name="T30" fmla="*/ 58 w 204"/>
                <a:gd name="T31" fmla="*/ 22 h 115"/>
                <a:gd name="T32" fmla="*/ 83 w 204"/>
                <a:gd name="T33" fmla="*/ 14 h 115"/>
                <a:gd name="T34" fmla="*/ 83 w 204"/>
                <a:gd name="T35" fmla="*/ 14 h 115"/>
                <a:gd name="T36" fmla="*/ 102 w 204"/>
                <a:gd name="T37" fmla="*/ 0 h 115"/>
                <a:gd name="T38" fmla="*/ 115 w 204"/>
                <a:gd name="T39" fmla="*/ 0 h 115"/>
                <a:gd name="T40" fmla="*/ 134 w 204"/>
                <a:gd name="T41" fmla="*/ 0 h 115"/>
                <a:gd name="T42" fmla="*/ 146 w 204"/>
                <a:gd name="T43" fmla="*/ 0 h 115"/>
                <a:gd name="T44" fmla="*/ 172 w 204"/>
                <a:gd name="T45" fmla="*/ 0 h 115"/>
                <a:gd name="T46" fmla="*/ 197 w 204"/>
                <a:gd name="T47" fmla="*/ 7 h 115"/>
                <a:gd name="T48" fmla="*/ 204 w 204"/>
                <a:gd name="T49" fmla="*/ 14 h 115"/>
                <a:gd name="T50" fmla="*/ 191 w 204"/>
                <a:gd name="T51" fmla="*/ 22 h 115"/>
                <a:gd name="T52" fmla="*/ 178 w 204"/>
                <a:gd name="T53" fmla="*/ 29 h 115"/>
                <a:gd name="T54" fmla="*/ 159 w 204"/>
                <a:gd name="T55" fmla="*/ 43 h 115"/>
                <a:gd name="T56" fmla="*/ 127 w 204"/>
                <a:gd name="T57" fmla="*/ 58 h 115"/>
                <a:gd name="T58" fmla="*/ 121 w 204"/>
                <a:gd name="T59" fmla="*/ 65 h 115"/>
                <a:gd name="T60" fmla="*/ 121 w 204"/>
                <a:gd name="T61" fmla="*/ 72 h 115"/>
                <a:gd name="T62" fmla="*/ 115 w 204"/>
                <a:gd name="T63" fmla="*/ 79 h 115"/>
                <a:gd name="T64" fmla="*/ 102 w 204"/>
                <a:gd name="T65" fmla="*/ 94 h 115"/>
                <a:gd name="T66" fmla="*/ 89 w 204"/>
                <a:gd name="T67" fmla="*/ 101 h 115"/>
                <a:gd name="T68" fmla="*/ 89 w 204"/>
                <a:gd name="T69" fmla="*/ 108 h 115"/>
                <a:gd name="T70" fmla="*/ 77 w 204"/>
                <a:gd name="T71" fmla="*/ 115 h 115"/>
                <a:gd name="T72" fmla="*/ 58 w 204"/>
                <a:gd name="T73" fmla="*/ 108 h 115"/>
                <a:gd name="T74" fmla="*/ 51 w 204"/>
                <a:gd name="T75" fmla="*/ 115 h 115"/>
                <a:gd name="T76" fmla="*/ 26 w 204"/>
                <a:gd name="T77" fmla="*/ 115 h 115"/>
                <a:gd name="T78" fmla="*/ 32 w 204"/>
                <a:gd name="T79" fmla="*/ 101 h 115"/>
                <a:gd name="T80" fmla="*/ 39 w 204"/>
                <a:gd name="T81" fmla="*/ 94 h 115"/>
                <a:gd name="T82" fmla="*/ 45 w 204"/>
                <a:gd name="T83" fmla="*/ 94 h 115"/>
                <a:gd name="T84" fmla="*/ 58 w 204"/>
                <a:gd name="T85" fmla="*/ 101 h 115"/>
                <a:gd name="T86" fmla="*/ 58 w 204"/>
                <a:gd name="T87" fmla="*/ 94 h 115"/>
                <a:gd name="T88" fmla="*/ 51 w 204"/>
                <a:gd name="T89" fmla="*/ 79 h 115"/>
                <a:gd name="T90" fmla="*/ 58 w 204"/>
                <a:gd name="T91" fmla="*/ 72 h 115"/>
                <a:gd name="T92" fmla="*/ 64 w 204"/>
                <a:gd name="T93" fmla="*/ 50 h 115"/>
                <a:gd name="T94" fmla="*/ 70 w 204"/>
                <a:gd name="T95" fmla="*/ 50 h 11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4"/>
                <a:gd name="T145" fmla="*/ 0 h 115"/>
                <a:gd name="T146" fmla="*/ 204 w 204"/>
                <a:gd name="T147" fmla="*/ 115 h 11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4" h="115">
                  <a:moveTo>
                    <a:pt x="70" y="50"/>
                  </a:moveTo>
                  <a:lnTo>
                    <a:pt x="64" y="50"/>
                  </a:lnTo>
                  <a:lnTo>
                    <a:pt x="58" y="43"/>
                  </a:lnTo>
                  <a:lnTo>
                    <a:pt x="51" y="43"/>
                  </a:lnTo>
                  <a:lnTo>
                    <a:pt x="45" y="36"/>
                  </a:lnTo>
                  <a:lnTo>
                    <a:pt x="39" y="29"/>
                  </a:lnTo>
                  <a:lnTo>
                    <a:pt x="32" y="43"/>
                  </a:lnTo>
                  <a:lnTo>
                    <a:pt x="39" y="50"/>
                  </a:lnTo>
                  <a:lnTo>
                    <a:pt x="51" y="58"/>
                  </a:lnTo>
                  <a:lnTo>
                    <a:pt x="58" y="65"/>
                  </a:lnTo>
                  <a:lnTo>
                    <a:pt x="51" y="65"/>
                  </a:lnTo>
                  <a:lnTo>
                    <a:pt x="45" y="72"/>
                  </a:lnTo>
                  <a:lnTo>
                    <a:pt x="32" y="87"/>
                  </a:lnTo>
                  <a:lnTo>
                    <a:pt x="26" y="87"/>
                  </a:lnTo>
                  <a:lnTo>
                    <a:pt x="13" y="87"/>
                  </a:lnTo>
                  <a:lnTo>
                    <a:pt x="13" y="79"/>
                  </a:lnTo>
                  <a:lnTo>
                    <a:pt x="13" y="72"/>
                  </a:lnTo>
                  <a:lnTo>
                    <a:pt x="26" y="65"/>
                  </a:lnTo>
                  <a:lnTo>
                    <a:pt x="7" y="65"/>
                  </a:lnTo>
                  <a:lnTo>
                    <a:pt x="0" y="58"/>
                  </a:lnTo>
                  <a:lnTo>
                    <a:pt x="0" y="50"/>
                  </a:lnTo>
                  <a:lnTo>
                    <a:pt x="7" y="43"/>
                  </a:lnTo>
                  <a:lnTo>
                    <a:pt x="20" y="29"/>
                  </a:lnTo>
                  <a:lnTo>
                    <a:pt x="32" y="29"/>
                  </a:lnTo>
                  <a:lnTo>
                    <a:pt x="39" y="29"/>
                  </a:lnTo>
                  <a:lnTo>
                    <a:pt x="45" y="22"/>
                  </a:lnTo>
                  <a:lnTo>
                    <a:pt x="58" y="22"/>
                  </a:lnTo>
                  <a:lnTo>
                    <a:pt x="64" y="14"/>
                  </a:lnTo>
                  <a:lnTo>
                    <a:pt x="83" y="14"/>
                  </a:lnTo>
                  <a:lnTo>
                    <a:pt x="83" y="22"/>
                  </a:lnTo>
                  <a:lnTo>
                    <a:pt x="83" y="14"/>
                  </a:lnTo>
                  <a:lnTo>
                    <a:pt x="96" y="7"/>
                  </a:lnTo>
                  <a:lnTo>
                    <a:pt x="102" y="0"/>
                  </a:lnTo>
                  <a:lnTo>
                    <a:pt x="108" y="7"/>
                  </a:lnTo>
                  <a:lnTo>
                    <a:pt x="115" y="0"/>
                  </a:lnTo>
                  <a:lnTo>
                    <a:pt x="121" y="0"/>
                  </a:lnTo>
                  <a:lnTo>
                    <a:pt x="134" y="0"/>
                  </a:lnTo>
                  <a:lnTo>
                    <a:pt x="140" y="0"/>
                  </a:lnTo>
                  <a:lnTo>
                    <a:pt x="146" y="0"/>
                  </a:lnTo>
                  <a:lnTo>
                    <a:pt x="159" y="0"/>
                  </a:lnTo>
                  <a:lnTo>
                    <a:pt x="172" y="0"/>
                  </a:lnTo>
                  <a:lnTo>
                    <a:pt x="172" y="7"/>
                  </a:lnTo>
                  <a:lnTo>
                    <a:pt x="197" y="7"/>
                  </a:lnTo>
                  <a:lnTo>
                    <a:pt x="197" y="14"/>
                  </a:lnTo>
                  <a:lnTo>
                    <a:pt x="204" y="14"/>
                  </a:lnTo>
                  <a:lnTo>
                    <a:pt x="191" y="22"/>
                  </a:lnTo>
                  <a:lnTo>
                    <a:pt x="178" y="29"/>
                  </a:lnTo>
                  <a:lnTo>
                    <a:pt x="172" y="36"/>
                  </a:lnTo>
                  <a:lnTo>
                    <a:pt x="159" y="43"/>
                  </a:lnTo>
                  <a:lnTo>
                    <a:pt x="146" y="58"/>
                  </a:lnTo>
                  <a:lnTo>
                    <a:pt x="127" y="58"/>
                  </a:lnTo>
                  <a:lnTo>
                    <a:pt x="127" y="65"/>
                  </a:lnTo>
                  <a:lnTo>
                    <a:pt x="121" y="65"/>
                  </a:lnTo>
                  <a:lnTo>
                    <a:pt x="115" y="65"/>
                  </a:lnTo>
                  <a:lnTo>
                    <a:pt x="121" y="72"/>
                  </a:lnTo>
                  <a:lnTo>
                    <a:pt x="115" y="79"/>
                  </a:lnTo>
                  <a:lnTo>
                    <a:pt x="108" y="87"/>
                  </a:lnTo>
                  <a:lnTo>
                    <a:pt x="102" y="94"/>
                  </a:lnTo>
                  <a:lnTo>
                    <a:pt x="96" y="94"/>
                  </a:lnTo>
                  <a:lnTo>
                    <a:pt x="89" y="101"/>
                  </a:lnTo>
                  <a:lnTo>
                    <a:pt x="89" y="108"/>
                  </a:lnTo>
                  <a:lnTo>
                    <a:pt x="83" y="115"/>
                  </a:lnTo>
                  <a:lnTo>
                    <a:pt x="77" y="115"/>
                  </a:lnTo>
                  <a:lnTo>
                    <a:pt x="70" y="115"/>
                  </a:lnTo>
                  <a:lnTo>
                    <a:pt x="58" y="108"/>
                  </a:lnTo>
                  <a:lnTo>
                    <a:pt x="58" y="115"/>
                  </a:lnTo>
                  <a:lnTo>
                    <a:pt x="51" y="115"/>
                  </a:lnTo>
                  <a:lnTo>
                    <a:pt x="45" y="115"/>
                  </a:lnTo>
                  <a:lnTo>
                    <a:pt x="26" y="115"/>
                  </a:lnTo>
                  <a:lnTo>
                    <a:pt x="26" y="108"/>
                  </a:lnTo>
                  <a:lnTo>
                    <a:pt x="32" y="101"/>
                  </a:lnTo>
                  <a:lnTo>
                    <a:pt x="39" y="101"/>
                  </a:lnTo>
                  <a:lnTo>
                    <a:pt x="39" y="94"/>
                  </a:lnTo>
                  <a:lnTo>
                    <a:pt x="45" y="94"/>
                  </a:lnTo>
                  <a:lnTo>
                    <a:pt x="51" y="101"/>
                  </a:lnTo>
                  <a:lnTo>
                    <a:pt x="58" y="101"/>
                  </a:lnTo>
                  <a:lnTo>
                    <a:pt x="64" y="94"/>
                  </a:lnTo>
                  <a:lnTo>
                    <a:pt x="58" y="94"/>
                  </a:lnTo>
                  <a:lnTo>
                    <a:pt x="58" y="87"/>
                  </a:lnTo>
                  <a:lnTo>
                    <a:pt x="51" y="79"/>
                  </a:lnTo>
                  <a:lnTo>
                    <a:pt x="58" y="72"/>
                  </a:lnTo>
                  <a:lnTo>
                    <a:pt x="64" y="72"/>
                  </a:lnTo>
                  <a:lnTo>
                    <a:pt x="64" y="50"/>
                  </a:lnTo>
                  <a:lnTo>
                    <a:pt x="83" y="50"/>
                  </a:lnTo>
                  <a:lnTo>
                    <a:pt x="70" y="5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96" name="Freeform 50"/>
            <p:cNvSpPr>
              <a:spLocks/>
            </p:cNvSpPr>
            <p:nvPr/>
          </p:nvSpPr>
          <p:spPr bwMode="auto">
            <a:xfrm>
              <a:off x="3763" y="0"/>
              <a:ext cx="204" cy="115"/>
            </a:xfrm>
            <a:custGeom>
              <a:avLst/>
              <a:gdLst>
                <a:gd name="T0" fmla="*/ 64 w 204"/>
                <a:gd name="T1" fmla="*/ 50 h 115"/>
                <a:gd name="T2" fmla="*/ 51 w 204"/>
                <a:gd name="T3" fmla="*/ 43 h 115"/>
                <a:gd name="T4" fmla="*/ 39 w 204"/>
                <a:gd name="T5" fmla="*/ 29 h 115"/>
                <a:gd name="T6" fmla="*/ 39 w 204"/>
                <a:gd name="T7" fmla="*/ 50 h 115"/>
                <a:gd name="T8" fmla="*/ 58 w 204"/>
                <a:gd name="T9" fmla="*/ 65 h 115"/>
                <a:gd name="T10" fmla="*/ 45 w 204"/>
                <a:gd name="T11" fmla="*/ 72 h 115"/>
                <a:gd name="T12" fmla="*/ 26 w 204"/>
                <a:gd name="T13" fmla="*/ 87 h 115"/>
                <a:gd name="T14" fmla="*/ 13 w 204"/>
                <a:gd name="T15" fmla="*/ 79 h 115"/>
                <a:gd name="T16" fmla="*/ 26 w 204"/>
                <a:gd name="T17" fmla="*/ 65 h 115"/>
                <a:gd name="T18" fmla="*/ 0 w 204"/>
                <a:gd name="T19" fmla="*/ 58 h 115"/>
                <a:gd name="T20" fmla="*/ 7 w 204"/>
                <a:gd name="T21" fmla="*/ 43 h 115"/>
                <a:gd name="T22" fmla="*/ 32 w 204"/>
                <a:gd name="T23" fmla="*/ 29 h 115"/>
                <a:gd name="T24" fmla="*/ 45 w 204"/>
                <a:gd name="T25" fmla="*/ 22 h 115"/>
                <a:gd name="T26" fmla="*/ 64 w 204"/>
                <a:gd name="T27" fmla="*/ 14 h 115"/>
                <a:gd name="T28" fmla="*/ 83 w 204"/>
                <a:gd name="T29" fmla="*/ 22 h 115"/>
                <a:gd name="T30" fmla="*/ 96 w 204"/>
                <a:gd name="T31" fmla="*/ 7 h 115"/>
                <a:gd name="T32" fmla="*/ 108 w 204"/>
                <a:gd name="T33" fmla="*/ 7 h 115"/>
                <a:gd name="T34" fmla="*/ 121 w 204"/>
                <a:gd name="T35" fmla="*/ 0 h 115"/>
                <a:gd name="T36" fmla="*/ 140 w 204"/>
                <a:gd name="T37" fmla="*/ 0 h 115"/>
                <a:gd name="T38" fmla="*/ 159 w 204"/>
                <a:gd name="T39" fmla="*/ 0 h 115"/>
                <a:gd name="T40" fmla="*/ 172 w 204"/>
                <a:gd name="T41" fmla="*/ 7 h 115"/>
                <a:gd name="T42" fmla="*/ 197 w 204"/>
                <a:gd name="T43" fmla="*/ 14 h 115"/>
                <a:gd name="T44" fmla="*/ 191 w 204"/>
                <a:gd name="T45" fmla="*/ 22 h 115"/>
                <a:gd name="T46" fmla="*/ 172 w 204"/>
                <a:gd name="T47" fmla="*/ 36 h 115"/>
                <a:gd name="T48" fmla="*/ 146 w 204"/>
                <a:gd name="T49" fmla="*/ 58 h 115"/>
                <a:gd name="T50" fmla="*/ 127 w 204"/>
                <a:gd name="T51" fmla="*/ 65 h 115"/>
                <a:gd name="T52" fmla="*/ 115 w 204"/>
                <a:gd name="T53" fmla="*/ 65 h 115"/>
                <a:gd name="T54" fmla="*/ 115 w 204"/>
                <a:gd name="T55" fmla="*/ 79 h 115"/>
                <a:gd name="T56" fmla="*/ 102 w 204"/>
                <a:gd name="T57" fmla="*/ 94 h 115"/>
                <a:gd name="T58" fmla="*/ 89 w 204"/>
                <a:gd name="T59" fmla="*/ 101 h 115"/>
                <a:gd name="T60" fmla="*/ 83 w 204"/>
                <a:gd name="T61" fmla="*/ 115 h 115"/>
                <a:gd name="T62" fmla="*/ 70 w 204"/>
                <a:gd name="T63" fmla="*/ 115 h 115"/>
                <a:gd name="T64" fmla="*/ 58 w 204"/>
                <a:gd name="T65" fmla="*/ 115 h 115"/>
                <a:gd name="T66" fmla="*/ 45 w 204"/>
                <a:gd name="T67" fmla="*/ 115 h 115"/>
                <a:gd name="T68" fmla="*/ 26 w 204"/>
                <a:gd name="T69" fmla="*/ 108 h 115"/>
                <a:gd name="T70" fmla="*/ 39 w 204"/>
                <a:gd name="T71" fmla="*/ 101 h 115"/>
                <a:gd name="T72" fmla="*/ 45 w 204"/>
                <a:gd name="T73" fmla="*/ 94 h 115"/>
                <a:gd name="T74" fmla="*/ 58 w 204"/>
                <a:gd name="T75" fmla="*/ 101 h 115"/>
                <a:gd name="T76" fmla="*/ 58 w 204"/>
                <a:gd name="T77" fmla="*/ 94 h 115"/>
                <a:gd name="T78" fmla="*/ 51 w 204"/>
                <a:gd name="T79" fmla="*/ 79 h 115"/>
                <a:gd name="T80" fmla="*/ 64 w 204"/>
                <a:gd name="T81" fmla="*/ 72 h 115"/>
                <a:gd name="T82" fmla="*/ 83 w 204"/>
                <a:gd name="T83" fmla="*/ 50 h 11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04"/>
                <a:gd name="T127" fmla="*/ 0 h 115"/>
                <a:gd name="T128" fmla="*/ 204 w 204"/>
                <a:gd name="T129" fmla="*/ 115 h 11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04" h="115">
                  <a:moveTo>
                    <a:pt x="70" y="50"/>
                  </a:moveTo>
                  <a:lnTo>
                    <a:pt x="64" y="50"/>
                  </a:lnTo>
                  <a:lnTo>
                    <a:pt x="58" y="43"/>
                  </a:lnTo>
                  <a:lnTo>
                    <a:pt x="51" y="43"/>
                  </a:lnTo>
                  <a:lnTo>
                    <a:pt x="45" y="36"/>
                  </a:lnTo>
                  <a:lnTo>
                    <a:pt x="39" y="29"/>
                  </a:lnTo>
                  <a:lnTo>
                    <a:pt x="32" y="43"/>
                  </a:lnTo>
                  <a:lnTo>
                    <a:pt x="39" y="50"/>
                  </a:lnTo>
                  <a:lnTo>
                    <a:pt x="51" y="58"/>
                  </a:lnTo>
                  <a:lnTo>
                    <a:pt x="58" y="65"/>
                  </a:lnTo>
                  <a:lnTo>
                    <a:pt x="51" y="65"/>
                  </a:lnTo>
                  <a:lnTo>
                    <a:pt x="45" y="72"/>
                  </a:lnTo>
                  <a:lnTo>
                    <a:pt x="32" y="87"/>
                  </a:lnTo>
                  <a:lnTo>
                    <a:pt x="26" y="87"/>
                  </a:lnTo>
                  <a:lnTo>
                    <a:pt x="13" y="87"/>
                  </a:lnTo>
                  <a:lnTo>
                    <a:pt x="13" y="79"/>
                  </a:lnTo>
                  <a:lnTo>
                    <a:pt x="13" y="72"/>
                  </a:lnTo>
                  <a:lnTo>
                    <a:pt x="26" y="65"/>
                  </a:lnTo>
                  <a:lnTo>
                    <a:pt x="7" y="65"/>
                  </a:lnTo>
                  <a:lnTo>
                    <a:pt x="0" y="58"/>
                  </a:lnTo>
                  <a:lnTo>
                    <a:pt x="0" y="50"/>
                  </a:lnTo>
                  <a:lnTo>
                    <a:pt x="7" y="43"/>
                  </a:lnTo>
                  <a:lnTo>
                    <a:pt x="20" y="29"/>
                  </a:lnTo>
                  <a:lnTo>
                    <a:pt x="32" y="29"/>
                  </a:lnTo>
                  <a:lnTo>
                    <a:pt x="39" y="29"/>
                  </a:lnTo>
                  <a:lnTo>
                    <a:pt x="45" y="22"/>
                  </a:lnTo>
                  <a:lnTo>
                    <a:pt x="58" y="22"/>
                  </a:lnTo>
                  <a:lnTo>
                    <a:pt x="64" y="14"/>
                  </a:lnTo>
                  <a:lnTo>
                    <a:pt x="83" y="14"/>
                  </a:lnTo>
                  <a:lnTo>
                    <a:pt x="83" y="22"/>
                  </a:lnTo>
                  <a:lnTo>
                    <a:pt x="83" y="14"/>
                  </a:lnTo>
                  <a:lnTo>
                    <a:pt x="96" y="7"/>
                  </a:lnTo>
                  <a:lnTo>
                    <a:pt x="102" y="0"/>
                  </a:lnTo>
                  <a:lnTo>
                    <a:pt x="108" y="7"/>
                  </a:lnTo>
                  <a:lnTo>
                    <a:pt x="115" y="0"/>
                  </a:lnTo>
                  <a:lnTo>
                    <a:pt x="121" y="0"/>
                  </a:lnTo>
                  <a:lnTo>
                    <a:pt x="134" y="0"/>
                  </a:lnTo>
                  <a:lnTo>
                    <a:pt x="140" y="0"/>
                  </a:lnTo>
                  <a:lnTo>
                    <a:pt x="146" y="0"/>
                  </a:lnTo>
                  <a:lnTo>
                    <a:pt x="159" y="0"/>
                  </a:lnTo>
                  <a:lnTo>
                    <a:pt x="172" y="0"/>
                  </a:lnTo>
                  <a:lnTo>
                    <a:pt x="172" y="7"/>
                  </a:lnTo>
                  <a:lnTo>
                    <a:pt x="197" y="7"/>
                  </a:lnTo>
                  <a:lnTo>
                    <a:pt x="197" y="14"/>
                  </a:lnTo>
                  <a:lnTo>
                    <a:pt x="204" y="14"/>
                  </a:lnTo>
                  <a:lnTo>
                    <a:pt x="191" y="22"/>
                  </a:lnTo>
                  <a:lnTo>
                    <a:pt x="178" y="29"/>
                  </a:lnTo>
                  <a:lnTo>
                    <a:pt x="172" y="36"/>
                  </a:lnTo>
                  <a:lnTo>
                    <a:pt x="159" y="43"/>
                  </a:lnTo>
                  <a:lnTo>
                    <a:pt x="146" y="58"/>
                  </a:lnTo>
                  <a:lnTo>
                    <a:pt x="127" y="58"/>
                  </a:lnTo>
                  <a:lnTo>
                    <a:pt x="127" y="65"/>
                  </a:lnTo>
                  <a:lnTo>
                    <a:pt x="121" y="65"/>
                  </a:lnTo>
                  <a:lnTo>
                    <a:pt x="115" y="65"/>
                  </a:lnTo>
                  <a:lnTo>
                    <a:pt x="121" y="72"/>
                  </a:lnTo>
                  <a:lnTo>
                    <a:pt x="115" y="79"/>
                  </a:lnTo>
                  <a:lnTo>
                    <a:pt x="108" y="87"/>
                  </a:lnTo>
                  <a:lnTo>
                    <a:pt x="102" y="94"/>
                  </a:lnTo>
                  <a:lnTo>
                    <a:pt x="96" y="94"/>
                  </a:lnTo>
                  <a:lnTo>
                    <a:pt x="89" y="101"/>
                  </a:lnTo>
                  <a:lnTo>
                    <a:pt x="89" y="108"/>
                  </a:lnTo>
                  <a:lnTo>
                    <a:pt x="83" y="115"/>
                  </a:lnTo>
                  <a:lnTo>
                    <a:pt x="77" y="115"/>
                  </a:lnTo>
                  <a:lnTo>
                    <a:pt x="70" y="115"/>
                  </a:lnTo>
                  <a:lnTo>
                    <a:pt x="58" y="108"/>
                  </a:lnTo>
                  <a:lnTo>
                    <a:pt x="58" y="115"/>
                  </a:lnTo>
                  <a:lnTo>
                    <a:pt x="51" y="115"/>
                  </a:lnTo>
                  <a:lnTo>
                    <a:pt x="45" y="115"/>
                  </a:lnTo>
                  <a:lnTo>
                    <a:pt x="26" y="115"/>
                  </a:lnTo>
                  <a:lnTo>
                    <a:pt x="26" y="108"/>
                  </a:lnTo>
                  <a:lnTo>
                    <a:pt x="32" y="101"/>
                  </a:lnTo>
                  <a:lnTo>
                    <a:pt x="39" y="101"/>
                  </a:lnTo>
                  <a:lnTo>
                    <a:pt x="39" y="94"/>
                  </a:lnTo>
                  <a:lnTo>
                    <a:pt x="45" y="94"/>
                  </a:lnTo>
                  <a:lnTo>
                    <a:pt x="51" y="101"/>
                  </a:lnTo>
                  <a:lnTo>
                    <a:pt x="58" y="101"/>
                  </a:lnTo>
                  <a:lnTo>
                    <a:pt x="64" y="94"/>
                  </a:lnTo>
                  <a:lnTo>
                    <a:pt x="58" y="94"/>
                  </a:lnTo>
                  <a:lnTo>
                    <a:pt x="58" y="87"/>
                  </a:lnTo>
                  <a:lnTo>
                    <a:pt x="51" y="79"/>
                  </a:lnTo>
                  <a:lnTo>
                    <a:pt x="58" y="72"/>
                  </a:lnTo>
                  <a:lnTo>
                    <a:pt x="64" y="72"/>
                  </a:lnTo>
                  <a:lnTo>
                    <a:pt x="64" y="50"/>
                  </a:lnTo>
                  <a:lnTo>
                    <a:pt x="83" y="50"/>
                  </a:lnTo>
                  <a:lnTo>
                    <a:pt x="70" y="5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97" name="Freeform 51"/>
            <p:cNvSpPr>
              <a:spLocks/>
            </p:cNvSpPr>
            <p:nvPr/>
          </p:nvSpPr>
          <p:spPr bwMode="auto">
            <a:xfrm>
              <a:off x="5414" y="159"/>
              <a:ext cx="25" cy="14"/>
            </a:xfrm>
            <a:custGeom>
              <a:avLst/>
              <a:gdLst>
                <a:gd name="T0" fmla="*/ 0 w 25"/>
                <a:gd name="T1" fmla="*/ 14 h 14"/>
                <a:gd name="T2" fmla="*/ 6 w 25"/>
                <a:gd name="T3" fmla="*/ 7 h 14"/>
                <a:gd name="T4" fmla="*/ 6 w 25"/>
                <a:gd name="T5" fmla="*/ 0 h 14"/>
                <a:gd name="T6" fmla="*/ 12 w 25"/>
                <a:gd name="T7" fmla="*/ 7 h 14"/>
                <a:gd name="T8" fmla="*/ 25 w 25"/>
                <a:gd name="T9" fmla="*/ 7 h 14"/>
                <a:gd name="T10" fmla="*/ 19 w 25"/>
                <a:gd name="T11" fmla="*/ 14 h 14"/>
                <a:gd name="T12" fmla="*/ 6 w 25"/>
                <a:gd name="T13" fmla="*/ 14 h 14"/>
                <a:gd name="T14" fmla="*/ 6 w 25"/>
                <a:gd name="T15" fmla="*/ 14 h 14"/>
                <a:gd name="T16" fmla="*/ 0 w 25"/>
                <a:gd name="T17" fmla="*/ 14 h 14"/>
                <a:gd name="T18" fmla="*/ 0 w 25"/>
                <a:gd name="T19" fmla="*/ 14 h 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
                <a:gd name="T31" fmla="*/ 0 h 14"/>
                <a:gd name="T32" fmla="*/ 25 w 25"/>
                <a:gd name="T33" fmla="*/ 14 h 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 h="14">
                  <a:moveTo>
                    <a:pt x="0" y="14"/>
                  </a:moveTo>
                  <a:lnTo>
                    <a:pt x="6" y="7"/>
                  </a:lnTo>
                  <a:lnTo>
                    <a:pt x="6" y="0"/>
                  </a:lnTo>
                  <a:lnTo>
                    <a:pt x="12" y="7"/>
                  </a:lnTo>
                  <a:lnTo>
                    <a:pt x="25" y="7"/>
                  </a:lnTo>
                  <a:lnTo>
                    <a:pt x="19" y="14"/>
                  </a:lnTo>
                  <a:lnTo>
                    <a:pt x="6" y="14"/>
                  </a:lnTo>
                  <a:lnTo>
                    <a:pt x="0" y="14"/>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98" name="Freeform 52"/>
            <p:cNvSpPr>
              <a:spLocks/>
            </p:cNvSpPr>
            <p:nvPr/>
          </p:nvSpPr>
          <p:spPr bwMode="auto">
            <a:xfrm>
              <a:off x="5414" y="159"/>
              <a:ext cx="25" cy="14"/>
            </a:xfrm>
            <a:custGeom>
              <a:avLst/>
              <a:gdLst>
                <a:gd name="T0" fmla="*/ 0 w 25"/>
                <a:gd name="T1" fmla="*/ 14 h 14"/>
                <a:gd name="T2" fmla="*/ 6 w 25"/>
                <a:gd name="T3" fmla="*/ 7 h 14"/>
                <a:gd name="T4" fmla="*/ 6 w 25"/>
                <a:gd name="T5" fmla="*/ 0 h 14"/>
                <a:gd name="T6" fmla="*/ 12 w 25"/>
                <a:gd name="T7" fmla="*/ 7 h 14"/>
                <a:gd name="T8" fmla="*/ 25 w 25"/>
                <a:gd name="T9" fmla="*/ 7 h 14"/>
                <a:gd name="T10" fmla="*/ 19 w 25"/>
                <a:gd name="T11" fmla="*/ 14 h 14"/>
                <a:gd name="T12" fmla="*/ 6 w 25"/>
                <a:gd name="T13" fmla="*/ 14 h 14"/>
                <a:gd name="T14" fmla="*/ 0 w 25"/>
                <a:gd name="T15" fmla="*/ 14 h 14"/>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14"/>
                <a:gd name="T26" fmla="*/ 25 w 25"/>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14">
                  <a:moveTo>
                    <a:pt x="0" y="14"/>
                  </a:moveTo>
                  <a:lnTo>
                    <a:pt x="6" y="7"/>
                  </a:lnTo>
                  <a:lnTo>
                    <a:pt x="6" y="0"/>
                  </a:lnTo>
                  <a:lnTo>
                    <a:pt x="12" y="7"/>
                  </a:lnTo>
                  <a:lnTo>
                    <a:pt x="25" y="7"/>
                  </a:lnTo>
                  <a:lnTo>
                    <a:pt x="19" y="14"/>
                  </a:lnTo>
                  <a:lnTo>
                    <a:pt x="6" y="14"/>
                  </a:lnTo>
                  <a:lnTo>
                    <a:pt x="0" y="14"/>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99" name="Freeform 53"/>
            <p:cNvSpPr>
              <a:spLocks/>
            </p:cNvSpPr>
            <p:nvPr/>
          </p:nvSpPr>
          <p:spPr bwMode="auto">
            <a:xfrm>
              <a:off x="5204" y="101"/>
              <a:ext cx="19" cy="14"/>
            </a:xfrm>
            <a:custGeom>
              <a:avLst/>
              <a:gdLst>
                <a:gd name="T0" fmla="*/ 19 w 19"/>
                <a:gd name="T1" fmla="*/ 14 h 14"/>
                <a:gd name="T2" fmla="*/ 0 w 19"/>
                <a:gd name="T3" fmla="*/ 7 h 14"/>
                <a:gd name="T4" fmla="*/ 0 w 19"/>
                <a:gd name="T5" fmla="*/ 0 h 14"/>
                <a:gd name="T6" fmla="*/ 7 w 19"/>
                <a:gd name="T7" fmla="*/ 14 h 14"/>
                <a:gd name="T8" fmla="*/ 13 w 19"/>
                <a:gd name="T9" fmla="*/ 14 h 14"/>
                <a:gd name="T10" fmla="*/ 19 w 19"/>
                <a:gd name="T11" fmla="*/ 14 h 14"/>
                <a:gd name="T12" fmla="*/ 19 w 19"/>
                <a:gd name="T13" fmla="*/ 14 h 14"/>
                <a:gd name="T14" fmla="*/ 0 60000 65536"/>
                <a:gd name="T15" fmla="*/ 0 60000 65536"/>
                <a:gd name="T16" fmla="*/ 0 60000 65536"/>
                <a:gd name="T17" fmla="*/ 0 60000 65536"/>
                <a:gd name="T18" fmla="*/ 0 60000 65536"/>
                <a:gd name="T19" fmla="*/ 0 60000 65536"/>
                <a:gd name="T20" fmla="*/ 0 60000 65536"/>
                <a:gd name="T21" fmla="*/ 0 w 19"/>
                <a:gd name="T22" fmla="*/ 0 h 14"/>
                <a:gd name="T23" fmla="*/ 19 w 19"/>
                <a:gd name="T24" fmla="*/ 14 h 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 h="14">
                  <a:moveTo>
                    <a:pt x="19" y="14"/>
                  </a:moveTo>
                  <a:lnTo>
                    <a:pt x="0" y="7"/>
                  </a:lnTo>
                  <a:lnTo>
                    <a:pt x="0" y="0"/>
                  </a:lnTo>
                  <a:lnTo>
                    <a:pt x="7" y="14"/>
                  </a:lnTo>
                  <a:lnTo>
                    <a:pt x="13" y="14"/>
                  </a:lnTo>
                  <a:lnTo>
                    <a:pt x="19" y="14"/>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00" name="Freeform 54"/>
            <p:cNvSpPr>
              <a:spLocks/>
            </p:cNvSpPr>
            <p:nvPr/>
          </p:nvSpPr>
          <p:spPr bwMode="auto">
            <a:xfrm>
              <a:off x="5204" y="101"/>
              <a:ext cx="19" cy="14"/>
            </a:xfrm>
            <a:custGeom>
              <a:avLst/>
              <a:gdLst>
                <a:gd name="T0" fmla="*/ 19 w 19"/>
                <a:gd name="T1" fmla="*/ 14 h 14"/>
                <a:gd name="T2" fmla="*/ 0 w 19"/>
                <a:gd name="T3" fmla="*/ 7 h 14"/>
                <a:gd name="T4" fmla="*/ 0 w 19"/>
                <a:gd name="T5" fmla="*/ 0 h 14"/>
                <a:gd name="T6" fmla="*/ 7 w 19"/>
                <a:gd name="T7" fmla="*/ 14 h 14"/>
                <a:gd name="T8" fmla="*/ 13 w 19"/>
                <a:gd name="T9" fmla="*/ 14 h 14"/>
                <a:gd name="T10" fmla="*/ 19 w 19"/>
                <a:gd name="T11" fmla="*/ 14 h 14"/>
                <a:gd name="T12" fmla="*/ 0 60000 65536"/>
                <a:gd name="T13" fmla="*/ 0 60000 65536"/>
                <a:gd name="T14" fmla="*/ 0 60000 65536"/>
                <a:gd name="T15" fmla="*/ 0 60000 65536"/>
                <a:gd name="T16" fmla="*/ 0 60000 65536"/>
                <a:gd name="T17" fmla="*/ 0 60000 65536"/>
                <a:gd name="T18" fmla="*/ 0 w 19"/>
                <a:gd name="T19" fmla="*/ 0 h 14"/>
                <a:gd name="T20" fmla="*/ 19 w 19"/>
                <a:gd name="T21" fmla="*/ 14 h 14"/>
              </a:gdLst>
              <a:ahLst/>
              <a:cxnLst>
                <a:cxn ang="T12">
                  <a:pos x="T0" y="T1"/>
                </a:cxn>
                <a:cxn ang="T13">
                  <a:pos x="T2" y="T3"/>
                </a:cxn>
                <a:cxn ang="T14">
                  <a:pos x="T4" y="T5"/>
                </a:cxn>
                <a:cxn ang="T15">
                  <a:pos x="T6" y="T7"/>
                </a:cxn>
                <a:cxn ang="T16">
                  <a:pos x="T8" y="T9"/>
                </a:cxn>
                <a:cxn ang="T17">
                  <a:pos x="T10" y="T11"/>
                </a:cxn>
              </a:cxnLst>
              <a:rect l="T18" t="T19" r="T20" b="T21"/>
              <a:pathLst>
                <a:path w="19" h="14">
                  <a:moveTo>
                    <a:pt x="19" y="14"/>
                  </a:moveTo>
                  <a:lnTo>
                    <a:pt x="0" y="7"/>
                  </a:lnTo>
                  <a:lnTo>
                    <a:pt x="0" y="0"/>
                  </a:lnTo>
                  <a:lnTo>
                    <a:pt x="7" y="14"/>
                  </a:lnTo>
                  <a:lnTo>
                    <a:pt x="13" y="14"/>
                  </a:lnTo>
                  <a:lnTo>
                    <a:pt x="19" y="14"/>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01" name="Freeform 55"/>
            <p:cNvSpPr>
              <a:spLocks/>
            </p:cNvSpPr>
            <p:nvPr/>
          </p:nvSpPr>
          <p:spPr bwMode="auto">
            <a:xfrm>
              <a:off x="5179" y="130"/>
              <a:ext cx="13" cy="14"/>
            </a:xfrm>
            <a:custGeom>
              <a:avLst/>
              <a:gdLst>
                <a:gd name="T0" fmla="*/ 0 w 13"/>
                <a:gd name="T1" fmla="*/ 7 h 14"/>
                <a:gd name="T2" fmla="*/ 0 w 13"/>
                <a:gd name="T3" fmla="*/ 0 h 14"/>
                <a:gd name="T4" fmla="*/ 6 w 13"/>
                <a:gd name="T5" fmla="*/ 0 h 14"/>
                <a:gd name="T6" fmla="*/ 6 w 13"/>
                <a:gd name="T7" fmla="*/ 0 h 14"/>
                <a:gd name="T8" fmla="*/ 13 w 13"/>
                <a:gd name="T9" fmla="*/ 7 h 14"/>
                <a:gd name="T10" fmla="*/ 6 w 13"/>
                <a:gd name="T11" fmla="*/ 14 h 14"/>
                <a:gd name="T12" fmla="*/ 0 w 13"/>
                <a:gd name="T13" fmla="*/ 7 h 14"/>
                <a:gd name="T14" fmla="*/ 0 w 13"/>
                <a:gd name="T15" fmla="*/ 7 h 14"/>
                <a:gd name="T16" fmla="*/ 0 60000 65536"/>
                <a:gd name="T17" fmla="*/ 0 60000 65536"/>
                <a:gd name="T18" fmla="*/ 0 60000 65536"/>
                <a:gd name="T19" fmla="*/ 0 60000 65536"/>
                <a:gd name="T20" fmla="*/ 0 60000 65536"/>
                <a:gd name="T21" fmla="*/ 0 60000 65536"/>
                <a:gd name="T22" fmla="*/ 0 60000 65536"/>
                <a:gd name="T23" fmla="*/ 0 60000 65536"/>
                <a:gd name="T24" fmla="*/ 0 w 13"/>
                <a:gd name="T25" fmla="*/ 0 h 14"/>
                <a:gd name="T26" fmla="*/ 13 w 13"/>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 h="14">
                  <a:moveTo>
                    <a:pt x="0" y="7"/>
                  </a:moveTo>
                  <a:lnTo>
                    <a:pt x="0" y="0"/>
                  </a:lnTo>
                  <a:lnTo>
                    <a:pt x="6" y="0"/>
                  </a:lnTo>
                  <a:lnTo>
                    <a:pt x="13" y="7"/>
                  </a:lnTo>
                  <a:lnTo>
                    <a:pt x="6" y="14"/>
                  </a:lnTo>
                  <a:lnTo>
                    <a:pt x="0" y="7"/>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02" name="Freeform 56"/>
            <p:cNvSpPr>
              <a:spLocks/>
            </p:cNvSpPr>
            <p:nvPr/>
          </p:nvSpPr>
          <p:spPr bwMode="auto">
            <a:xfrm>
              <a:off x="5179" y="130"/>
              <a:ext cx="13" cy="14"/>
            </a:xfrm>
            <a:custGeom>
              <a:avLst/>
              <a:gdLst>
                <a:gd name="T0" fmla="*/ 0 w 13"/>
                <a:gd name="T1" fmla="*/ 7 h 14"/>
                <a:gd name="T2" fmla="*/ 0 w 13"/>
                <a:gd name="T3" fmla="*/ 0 h 14"/>
                <a:gd name="T4" fmla="*/ 6 w 13"/>
                <a:gd name="T5" fmla="*/ 0 h 14"/>
                <a:gd name="T6" fmla="*/ 13 w 13"/>
                <a:gd name="T7" fmla="*/ 7 h 14"/>
                <a:gd name="T8" fmla="*/ 6 w 13"/>
                <a:gd name="T9" fmla="*/ 14 h 14"/>
                <a:gd name="T10" fmla="*/ 0 w 13"/>
                <a:gd name="T11" fmla="*/ 7 h 14"/>
                <a:gd name="T12" fmla="*/ 0 60000 65536"/>
                <a:gd name="T13" fmla="*/ 0 60000 65536"/>
                <a:gd name="T14" fmla="*/ 0 60000 65536"/>
                <a:gd name="T15" fmla="*/ 0 60000 65536"/>
                <a:gd name="T16" fmla="*/ 0 60000 65536"/>
                <a:gd name="T17" fmla="*/ 0 60000 65536"/>
                <a:gd name="T18" fmla="*/ 0 w 13"/>
                <a:gd name="T19" fmla="*/ 0 h 14"/>
                <a:gd name="T20" fmla="*/ 13 w 13"/>
                <a:gd name="T21" fmla="*/ 14 h 14"/>
              </a:gdLst>
              <a:ahLst/>
              <a:cxnLst>
                <a:cxn ang="T12">
                  <a:pos x="T0" y="T1"/>
                </a:cxn>
                <a:cxn ang="T13">
                  <a:pos x="T2" y="T3"/>
                </a:cxn>
                <a:cxn ang="T14">
                  <a:pos x="T4" y="T5"/>
                </a:cxn>
                <a:cxn ang="T15">
                  <a:pos x="T6" y="T7"/>
                </a:cxn>
                <a:cxn ang="T16">
                  <a:pos x="T8" y="T9"/>
                </a:cxn>
                <a:cxn ang="T17">
                  <a:pos x="T10" y="T11"/>
                </a:cxn>
              </a:cxnLst>
              <a:rect l="T18" t="T19" r="T20" b="T21"/>
              <a:pathLst>
                <a:path w="13" h="14">
                  <a:moveTo>
                    <a:pt x="0" y="7"/>
                  </a:moveTo>
                  <a:lnTo>
                    <a:pt x="0" y="0"/>
                  </a:lnTo>
                  <a:lnTo>
                    <a:pt x="6" y="0"/>
                  </a:lnTo>
                  <a:lnTo>
                    <a:pt x="13" y="7"/>
                  </a:lnTo>
                  <a:lnTo>
                    <a:pt x="6" y="14"/>
                  </a:lnTo>
                  <a:lnTo>
                    <a:pt x="0" y="7"/>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03" name="Freeform 57"/>
            <p:cNvSpPr>
              <a:spLocks/>
            </p:cNvSpPr>
            <p:nvPr/>
          </p:nvSpPr>
          <p:spPr bwMode="auto">
            <a:xfrm>
              <a:off x="5147" y="101"/>
              <a:ext cx="45" cy="22"/>
            </a:xfrm>
            <a:custGeom>
              <a:avLst/>
              <a:gdLst>
                <a:gd name="T0" fmla="*/ 19 w 45"/>
                <a:gd name="T1" fmla="*/ 7 h 22"/>
                <a:gd name="T2" fmla="*/ 26 w 45"/>
                <a:gd name="T3" fmla="*/ 0 h 22"/>
                <a:gd name="T4" fmla="*/ 38 w 45"/>
                <a:gd name="T5" fmla="*/ 14 h 22"/>
                <a:gd name="T6" fmla="*/ 38 w 45"/>
                <a:gd name="T7" fmla="*/ 0 h 22"/>
                <a:gd name="T8" fmla="*/ 45 w 45"/>
                <a:gd name="T9" fmla="*/ 0 h 22"/>
                <a:gd name="T10" fmla="*/ 45 w 45"/>
                <a:gd name="T11" fmla="*/ 7 h 22"/>
                <a:gd name="T12" fmla="*/ 45 w 45"/>
                <a:gd name="T13" fmla="*/ 14 h 22"/>
                <a:gd name="T14" fmla="*/ 38 w 45"/>
                <a:gd name="T15" fmla="*/ 14 h 22"/>
                <a:gd name="T16" fmla="*/ 32 w 45"/>
                <a:gd name="T17" fmla="*/ 14 h 22"/>
                <a:gd name="T18" fmla="*/ 19 w 45"/>
                <a:gd name="T19" fmla="*/ 14 h 22"/>
                <a:gd name="T20" fmla="*/ 13 w 45"/>
                <a:gd name="T21" fmla="*/ 22 h 22"/>
                <a:gd name="T22" fmla="*/ 6 w 45"/>
                <a:gd name="T23" fmla="*/ 22 h 22"/>
                <a:gd name="T24" fmla="*/ 6 w 45"/>
                <a:gd name="T25" fmla="*/ 14 h 22"/>
                <a:gd name="T26" fmla="*/ 0 w 45"/>
                <a:gd name="T27" fmla="*/ 0 h 22"/>
                <a:gd name="T28" fmla="*/ 19 w 45"/>
                <a:gd name="T29" fmla="*/ 7 h 22"/>
                <a:gd name="T30" fmla="*/ 19 w 45"/>
                <a:gd name="T31" fmla="*/ 7 h 2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
                <a:gd name="T49" fmla="*/ 0 h 22"/>
                <a:gd name="T50" fmla="*/ 45 w 45"/>
                <a:gd name="T51" fmla="*/ 22 h 2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 h="22">
                  <a:moveTo>
                    <a:pt x="19" y="7"/>
                  </a:moveTo>
                  <a:lnTo>
                    <a:pt x="26" y="0"/>
                  </a:lnTo>
                  <a:lnTo>
                    <a:pt x="38" y="14"/>
                  </a:lnTo>
                  <a:lnTo>
                    <a:pt x="38" y="0"/>
                  </a:lnTo>
                  <a:lnTo>
                    <a:pt x="45" y="0"/>
                  </a:lnTo>
                  <a:lnTo>
                    <a:pt x="45" y="7"/>
                  </a:lnTo>
                  <a:lnTo>
                    <a:pt x="45" y="14"/>
                  </a:lnTo>
                  <a:lnTo>
                    <a:pt x="38" y="14"/>
                  </a:lnTo>
                  <a:lnTo>
                    <a:pt x="32" y="14"/>
                  </a:lnTo>
                  <a:lnTo>
                    <a:pt x="19" y="14"/>
                  </a:lnTo>
                  <a:lnTo>
                    <a:pt x="13" y="22"/>
                  </a:lnTo>
                  <a:lnTo>
                    <a:pt x="6" y="22"/>
                  </a:lnTo>
                  <a:lnTo>
                    <a:pt x="6" y="14"/>
                  </a:lnTo>
                  <a:lnTo>
                    <a:pt x="0" y="0"/>
                  </a:lnTo>
                  <a:lnTo>
                    <a:pt x="19" y="7"/>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04" name="Freeform 58"/>
            <p:cNvSpPr>
              <a:spLocks/>
            </p:cNvSpPr>
            <p:nvPr/>
          </p:nvSpPr>
          <p:spPr bwMode="auto">
            <a:xfrm>
              <a:off x="5147" y="101"/>
              <a:ext cx="45" cy="22"/>
            </a:xfrm>
            <a:custGeom>
              <a:avLst/>
              <a:gdLst>
                <a:gd name="T0" fmla="*/ 19 w 45"/>
                <a:gd name="T1" fmla="*/ 7 h 22"/>
                <a:gd name="T2" fmla="*/ 26 w 45"/>
                <a:gd name="T3" fmla="*/ 0 h 22"/>
                <a:gd name="T4" fmla="*/ 38 w 45"/>
                <a:gd name="T5" fmla="*/ 14 h 22"/>
                <a:gd name="T6" fmla="*/ 38 w 45"/>
                <a:gd name="T7" fmla="*/ 0 h 22"/>
                <a:gd name="T8" fmla="*/ 45 w 45"/>
                <a:gd name="T9" fmla="*/ 0 h 22"/>
                <a:gd name="T10" fmla="*/ 45 w 45"/>
                <a:gd name="T11" fmla="*/ 7 h 22"/>
                <a:gd name="T12" fmla="*/ 45 w 45"/>
                <a:gd name="T13" fmla="*/ 14 h 22"/>
                <a:gd name="T14" fmla="*/ 38 w 45"/>
                <a:gd name="T15" fmla="*/ 14 h 22"/>
                <a:gd name="T16" fmla="*/ 32 w 45"/>
                <a:gd name="T17" fmla="*/ 14 h 22"/>
                <a:gd name="T18" fmla="*/ 19 w 45"/>
                <a:gd name="T19" fmla="*/ 14 h 22"/>
                <a:gd name="T20" fmla="*/ 13 w 45"/>
                <a:gd name="T21" fmla="*/ 22 h 22"/>
                <a:gd name="T22" fmla="*/ 6 w 45"/>
                <a:gd name="T23" fmla="*/ 22 h 22"/>
                <a:gd name="T24" fmla="*/ 6 w 45"/>
                <a:gd name="T25" fmla="*/ 14 h 22"/>
                <a:gd name="T26" fmla="*/ 0 w 45"/>
                <a:gd name="T27" fmla="*/ 0 h 22"/>
                <a:gd name="T28" fmla="*/ 19 w 45"/>
                <a:gd name="T29" fmla="*/ 7 h 2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5"/>
                <a:gd name="T46" fmla="*/ 0 h 22"/>
                <a:gd name="T47" fmla="*/ 45 w 45"/>
                <a:gd name="T48" fmla="*/ 22 h 2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5" h="22">
                  <a:moveTo>
                    <a:pt x="19" y="7"/>
                  </a:moveTo>
                  <a:lnTo>
                    <a:pt x="26" y="0"/>
                  </a:lnTo>
                  <a:lnTo>
                    <a:pt x="38" y="14"/>
                  </a:lnTo>
                  <a:lnTo>
                    <a:pt x="38" y="0"/>
                  </a:lnTo>
                  <a:lnTo>
                    <a:pt x="45" y="0"/>
                  </a:lnTo>
                  <a:lnTo>
                    <a:pt x="45" y="7"/>
                  </a:lnTo>
                  <a:lnTo>
                    <a:pt x="45" y="14"/>
                  </a:lnTo>
                  <a:lnTo>
                    <a:pt x="38" y="14"/>
                  </a:lnTo>
                  <a:lnTo>
                    <a:pt x="32" y="14"/>
                  </a:lnTo>
                  <a:lnTo>
                    <a:pt x="19" y="14"/>
                  </a:lnTo>
                  <a:lnTo>
                    <a:pt x="13" y="22"/>
                  </a:lnTo>
                  <a:lnTo>
                    <a:pt x="6" y="22"/>
                  </a:lnTo>
                  <a:lnTo>
                    <a:pt x="6" y="14"/>
                  </a:lnTo>
                  <a:lnTo>
                    <a:pt x="0" y="0"/>
                  </a:lnTo>
                  <a:lnTo>
                    <a:pt x="19" y="7"/>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05" name="Freeform 59"/>
            <p:cNvSpPr>
              <a:spLocks/>
            </p:cNvSpPr>
            <p:nvPr/>
          </p:nvSpPr>
          <p:spPr bwMode="auto">
            <a:xfrm>
              <a:off x="4912" y="50"/>
              <a:ext cx="32" cy="22"/>
            </a:xfrm>
            <a:custGeom>
              <a:avLst/>
              <a:gdLst>
                <a:gd name="T0" fmla="*/ 19 w 32"/>
                <a:gd name="T1" fmla="*/ 8 h 22"/>
                <a:gd name="T2" fmla="*/ 26 w 32"/>
                <a:gd name="T3" fmla="*/ 0 h 22"/>
                <a:gd name="T4" fmla="*/ 32 w 32"/>
                <a:gd name="T5" fmla="*/ 15 h 22"/>
                <a:gd name="T6" fmla="*/ 26 w 32"/>
                <a:gd name="T7" fmla="*/ 15 h 22"/>
                <a:gd name="T8" fmla="*/ 13 w 32"/>
                <a:gd name="T9" fmla="*/ 22 h 22"/>
                <a:gd name="T10" fmla="*/ 0 w 32"/>
                <a:gd name="T11" fmla="*/ 22 h 22"/>
                <a:gd name="T12" fmla="*/ 0 w 32"/>
                <a:gd name="T13" fmla="*/ 22 h 22"/>
                <a:gd name="T14" fmla="*/ 0 w 32"/>
                <a:gd name="T15" fmla="*/ 8 h 22"/>
                <a:gd name="T16" fmla="*/ 7 w 32"/>
                <a:gd name="T17" fmla="*/ 0 h 22"/>
                <a:gd name="T18" fmla="*/ 13 w 32"/>
                <a:gd name="T19" fmla="*/ 0 h 22"/>
                <a:gd name="T20" fmla="*/ 19 w 32"/>
                <a:gd name="T21" fmla="*/ 8 h 22"/>
                <a:gd name="T22" fmla="*/ 19 w 32"/>
                <a:gd name="T23" fmla="*/ 8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
                <a:gd name="T37" fmla="*/ 0 h 22"/>
                <a:gd name="T38" fmla="*/ 32 w 32"/>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 h="22">
                  <a:moveTo>
                    <a:pt x="19" y="8"/>
                  </a:moveTo>
                  <a:lnTo>
                    <a:pt x="26" y="0"/>
                  </a:lnTo>
                  <a:lnTo>
                    <a:pt x="32" y="15"/>
                  </a:lnTo>
                  <a:lnTo>
                    <a:pt x="26" y="15"/>
                  </a:lnTo>
                  <a:lnTo>
                    <a:pt x="13" y="22"/>
                  </a:lnTo>
                  <a:lnTo>
                    <a:pt x="0" y="22"/>
                  </a:lnTo>
                  <a:lnTo>
                    <a:pt x="0" y="8"/>
                  </a:lnTo>
                  <a:lnTo>
                    <a:pt x="7" y="0"/>
                  </a:lnTo>
                  <a:lnTo>
                    <a:pt x="13" y="0"/>
                  </a:lnTo>
                  <a:lnTo>
                    <a:pt x="19" y="8"/>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06" name="Freeform 60"/>
            <p:cNvSpPr>
              <a:spLocks/>
            </p:cNvSpPr>
            <p:nvPr/>
          </p:nvSpPr>
          <p:spPr bwMode="auto">
            <a:xfrm>
              <a:off x="4912" y="50"/>
              <a:ext cx="32" cy="22"/>
            </a:xfrm>
            <a:custGeom>
              <a:avLst/>
              <a:gdLst>
                <a:gd name="T0" fmla="*/ 19 w 32"/>
                <a:gd name="T1" fmla="*/ 8 h 22"/>
                <a:gd name="T2" fmla="*/ 26 w 32"/>
                <a:gd name="T3" fmla="*/ 0 h 22"/>
                <a:gd name="T4" fmla="*/ 32 w 32"/>
                <a:gd name="T5" fmla="*/ 15 h 22"/>
                <a:gd name="T6" fmla="*/ 26 w 32"/>
                <a:gd name="T7" fmla="*/ 15 h 22"/>
                <a:gd name="T8" fmla="*/ 13 w 32"/>
                <a:gd name="T9" fmla="*/ 22 h 22"/>
                <a:gd name="T10" fmla="*/ 0 w 32"/>
                <a:gd name="T11" fmla="*/ 22 h 22"/>
                <a:gd name="T12" fmla="*/ 0 w 32"/>
                <a:gd name="T13" fmla="*/ 8 h 22"/>
                <a:gd name="T14" fmla="*/ 7 w 32"/>
                <a:gd name="T15" fmla="*/ 0 h 22"/>
                <a:gd name="T16" fmla="*/ 13 w 32"/>
                <a:gd name="T17" fmla="*/ 0 h 22"/>
                <a:gd name="T18" fmla="*/ 19 w 32"/>
                <a:gd name="T19" fmla="*/ 8 h 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2"/>
                <a:gd name="T31" fmla="*/ 0 h 22"/>
                <a:gd name="T32" fmla="*/ 32 w 32"/>
                <a:gd name="T33" fmla="*/ 22 h 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2" h="22">
                  <a:moveTo>
                    <a:pt x="19" y="8"/>
                  </a:moveTo>
                  <a:lnTo>
                    <a:pt x="26" y="0"/>
                  </a:lnTo>
                  <a:lnTo>
                    <a:pt x="32" y="15"/>
                  </a:lnTo>
                  <a:lnTo>
                    <a:pt x="26" y="15"/>
                  </a:lnTo>
                  <a:lnTo>
                    <a:pt x="13" y="22"/>
                  </a:lnTo>
                  <a:lnTo>
                    <a:pt x="0" y="22"/>
                  </a:lnTo>
                  <a:lnTo>
                    <a:pt x="0" y="8"/>
                  </a:lnTo>
                  <a:lnTo>
                    <a:pt x="7" y="0"/>
                  </a:lnTo>
                  <a:lnTo>
                    <a:pt x="13" y="0"/>
                  </a:lnTo>
                  <a:lnTo>
                    <a:pt x="19" y="8"/>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07" name="Freeform 61"/>
            <p:cNvSpPr>
              <a:spLocks/>
            </p:cNvSpPr>
            <p:nvPr/>
          </p:nvSpPr>
          <p:spPr bwMode="auto">
            <a:xfrm>
              <a:off x="4855" y="22"/>
              <a:ext cx="51" cy="36"/>
            </a:xfrm>
            <a:custGeom>
              <a:avLst/>
              <a:gdLst>
                <a:gd name="T0" fmla="*/ 32 w 51"/>
                <a:gd name="T1" fmla="*/ 14 h 36"/>
                <a:gd name="T2" fmla="*/ 19 w 51"/>
                <a:gd name="T3" fmla="*/ 21 h 36"/>
                <a:gd name="T4" fmla="*/ 13 w 51"/>
                <a:gd name="T5" fmla="*/ 28 h 36"/>
                <a:gd name="T6" fmla="*/ 19 w 51"/>
                <a:gd name="T7" fmla="*/ 28 h 36"/>
                <a:gd name="T8" fmla="*/ 26 w 51"/>
                <a:gd name="T9" fmla="*/ 28 h 36"/>
                <a:gd name="T10" fmla="*/ 32 w 51"/>
                <a:gd name="T11" fmla="*/ 36 h 36"/>
                <a:gd name="T12" fmla="*/ 51 w 51"/>
                <a:gd name="T13" fmla="*/ 36 h 36"/>
                <a:gd name="T14" fmla="*/ 51 w 51"/>
                <a:gd name="T15" fmla="*/ 21 h 36"/>
                <a:gd name="T16" fmla="*/ 51 w 51"/>
                <a:gd name="T17" fmla="*/ 21 h 36"/>
                <a:gd name="T18" fmla="*/ 51 w 51"/>
                <a:gd name="T19" fmla="*/ 21 h 36"/>
                <a:gd name="T20" fmla="*/ 38 w 51"/>
                <a:gd name="T21" fmla="*/ 21 h 36"/>
                <a:gd name="T22" fmla="*/ 32 w 51"/>
                <a:gd name="T23" fmla="*/ 14 h 36"/>
                <a:gd name="T24" fmla="*/ 32 w 51"/>
                <a:gd name="T25" fmla="*/ 7 h 36"/>
                <a:gd name="T26" fmla="*/ 26 w 51"/>
                <a:gd name="T27" fmla="*/ 0 h 36"/>
                <a:gd name="T28" fmla="*/ 26 w 51"/>
                <a:gd name="T29" fmla="*/ 0 h 36"/>
                <a:gd name="T30" fmla="*/ 13 w 51"/>
                <a:gd name="T31" fmla="*/ 7 h 36"/>
                <a:gd name="T32" fmla="*/ 0 w 51"/>
                <a:gd name="T33" fmla="*/ 14 h 36"/>
                <a:gd name="T34" fmla="*/ 7 w 51"/>
                <a:gd name="T35" fmla="*/ 21 h 36"/>
                <a:gd name="T36" fmla="*/ 19 w 51"/>
                <a:gd name="T37" fmla="*/ 21 h 36"/>
                <a:gd name="T38" fmla="*/ 32 w 51"/>
                <a:gd name="T39" fmla="*/ 14 h 36"/>
                <a:gd name="T40" fmla="*/ 32 w 51"/>
                <a:gd name="T41" fmla="*/ 14 h 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1"/>
                <a:gd name="T64" fmla="*/ 0 h 36"/>
                <a:gd name="T65" fmla="*/ 51 w 51"/>
                <a:gd name="T66" fmla="*/ 36 h 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1" h="36">
                  <a:moveTo>
                    <a:pt x="32" y="14"/>
                  </a:moveTo>
                  <a:lnTo>
                    <a:pt x="19" y="21"/>
                  </a:lnTo>
                  <a:lnTo>
                    <a:pt x="13" y="28"/>
                  </a:lnTo>
                  <a:lnTo>
                    <a:pt x="19" y="28"/>
                  </a:lnTo>
                  <a:lnTo>
                    <a:pt x="26" y="28"/>
                  </a:lnTo>
                  <a:lnTo>
                    <a:pt x="32" y="36"/>
                  </a:lnTo>
                  <a:lnTo>
                    <a:pt x="51" y="36"/>
                  </a:lnTo>
                  <a:lnTo>
                    <a:pt x="51" y="21"/>
                  </a:lnTo>
                  <a:lnTo>
                    <a:pt x="38" y="21"/>
                  </a:lnTo>
                  <a:lnTo>
                    <a:pt x="32" y="14"/>
                  </a:lnTo>
                  <a:lnTo>
                    <a:pt x="32" y="7"/>
                  </a:lnTo>
                  <a:lnTo>
                    <a:pt x="26" y="0"/>
                  </a:lnTo>
                  <a:lnTo>
                    <a:pt x="13" y="7"/>
                  </a:lnTo>
                  <a:lnTo>
                    <a:pt x="0" y="14"/>
                  </a:lnTo>
                  <a:lnTo>
                    <a:pt x="7" y="21"/>
                  </a:lnTo>
                  <a:lnTo>
                    <a:pt x="19" y="21"/>
                  </a:lnTo>
                  <a:lnTo>
                    <a:pt x="32" y="14"/>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08" name="Freeform 62"/>
            <p:cNvSpPr>
              <a:spLocks/>
            </p:cNvSpPr>
            <p:nvPr/>
          </p:nvSpPr>
          <p:spPr bwMode="auto">
            <a:xfrm>
              <a:off x="4855" y="22"/>
              <a:ext cx="51" cy="36"/>
            </a:xfrm>
            <a:custGeom>
              <a:avLst/>
              <a:gdLst>
                <a:gd name="T0" fmla="*/ 32 w 51"/>
                <a:gd name="T1" fmla="*/ 14 h 36"/>
                <a:gd name="T2" fmla="*/ 19 w 51"/>
                <a:gd name="T3" fmla="*/ 21 h 36"/>
                <a:gd name="T4" fmla="*/ 13 w 51"/>
                <a:gd name="T5" fmla="*/ 28 h 36"/>
                <a:gd name="T6" fmla="*/ 19 w 51"/>
                <a:gd name="T7" fmla="*/ 28 h 36"/>
                <a:gd name="T8" fmla="*/ 26 w 51"/>
                <a:gd name="T9" fmla="*/ 28 h 36"/>
                <a:gd name="T10" fmla="*/ 32 w 51"/>
                <a:gd name="T11" fmla="*/ 36 h 36"/>
                <a:gd name="T12" fmla="*/ 51 w 51"/>
                <a:gd name="T13" fmla="*/ 36 h 36"/>
                <a:gd name="T14" fmla="*/ 51 w 51"/>
                <a:gd name="T15" fmla="*/ 21 h 36"/>
                <a:gd name="T16" fmla="*/ 38 w 51"/>
                <a:gd name="T17" fmla="*/ 21 h 36"/>
                <a:gd name="T18" fmla="*/ 32 w 51"/>
                <a:gd name="T19" fmla="*/ 14 h 36"/>
                <a:gd name="T20" fmla="*/ 32 w 51"/>
                <a:gd name="T21" fmla="*/ 7 h 36"/>
                <a:gd name="T22" fmla="*/ 26 w 51"/>
                <a:gd name="T23" fmla="*/ 0 h 36"/>
                <a:gd name="T24" fmla="*/ 13 w 51"/>
                <a:gd name="T25" fmla="*/ 7 h 36"/>
                <a:gd name="T26" fmla="*/ 0 w 51"/>
                <a:gd name="T27" fmla="*/ 14 h 36"/>
                <a:gd name="T28" fmla="*/ 7 w 51"/>
                <a:gd name="T29" fmla="*/ 21 h 36"/>
                <a:gd name="T30" fmla="*/ 19 w 51"/>
                <a:gd name="T31" fmla="*/ 21 h 36"/>
                <a:gd name="T32" fmla="*/ 32 w 51"/>
                <a:gd name="T33" fmla="*/ 14 h 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1"/>
                <a:gd name="T52" fmla="*/ 0 h 36"/>
                <a:gd name="T53" fmla="*/ 51 w 51"/>
                <a:gd name="T54" fmla="*/ 36 h 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1" h="36">
                  <a:moveTo>
                    <a:pt x="32" y="14"/>
                  </a:moveTo>
                  <a:lnTo>
                    <a:pt x="19" y="21"/>
                  </a:lnTo>
                  <a:lnTo>
                    <a:pt x="13" y="28"/>
                  </a:lnTo>
                  <a:lnTo>
                    <a:pt x="19" y="28"/>
                  </a:lnTo>
                  <a:lnTo>
                    <a:pt x="26" y="28"/>
                  </a:lnTo>
                  <a:lnTo>
                    <a:pt x="32" y="36"/>
                  </a:lnTo>
                  <a:lnTo>
                    <a:pt x="51" y="36"/>
                  </a:lnTo>
                  <a:lnTo>
                    <a:pt x="51" y="21"/>
                  </a:lnTo>
                  <a:lnTo>
                    <a:pt x="38" y="21"/>
                  </a:lnTo>
                  <a:lnTo>
                    <a:pt x="32" y="14"/>
                  </a:lnTo>
                  <a:lnTo>
                    <a:pt x="32" y="7"/>
                  </a:lnTo>
                  <a:lnTo>
                    <a:pt x="26" y="0"/>
                  </a:lnTo>
                  <a:lnTo>
                    <a:pt x="13" y="7"/>
                  </a:lnTo>
                  <a:lnTo>
                    <a:pt x="0" y="14"/>
                  </a:lnTo>
                  <a:lnTo>
                    <a:pt x="7" y="21"/>
                  </a:lnTo>
                  <a:lnTo>
                    <a:pt x="19" y="21"/>
                  </a:lnTo>
                  <a:lnTo>
                    <a:pt x="32" y="14"/>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09" name="Freeform 63"/>
            <p:cNvSpPr>
              <a:spLocks/>
            </p:cNvSpPr>
            <p:nvPr/>
          </p:nvSpPr>
          <p:spPr bwMode="auto">
            <a:xfrm>
              <a:off x="4633" y="202"/>
              <a:ext cx="6" cy="14"/>
            </a:xfrm>
            <a:custGeom>
              <a:avLst/>
              <a:gdLst>
                <a:gd name="T0" fmla="*/ 0 w 6"/>
                <a:gd name="T1" fmla="*/ 7 h 14"/>
                <a:gd name="T2" fmla="*/ 0 w 6"/>
                <a:gd name="T3" fmla="*/ 0 h 14"/>
                <a:gd name="T4" fmla="*/ 6 w 6"/>
                <a:gd name="T5" fmla="*/ 0 h 14"/>
                <a:gd name="T6" fmla="*/ 6 w 6"/>
                <a:gd name="T7" fmla="*/ 7 h 14"/>
                <a:gd name="T8" fmla="*/ 6 w 6"/>
                <a:gd name="T9" fmla="*/ 14 h 14"/>
                <a:gd name="T10" fmla="*/ 0 w 6"/>
                <a:gd name="T11" fmla="*/ 7 h 14"/>
                <a:gd name="T12" fmla="*/ 0 w 6"/>
                <a:gd name="T13" fmla="*/ 7 h 14"/>
                <a:gd name="T14" fmla="*/ 0 60000 65536"/>
                <a:gd name="T15" fmla="*/ 0 60000 65536"/>
                <a:gd name="T16" fmla="*/ 0 60000 65536"/>
                <a:gd name="T17" fmla="*/ 0 60000 65536"/>
                <a:gd name="T18" fmla="*/ 0 60000 65536"/>
                <a:gd name="T19" fmla="*/ 0 60000 65536"/>
                <a:gd name="T20" fmla="*/ 0 60000 65536"/>
                <a:gd name="T21" fmla="*/ 0 w 6"/>
                <a:gd name="T22" fmla="*/ 0 h 14"/>
                <a:gd name="T23" fmla="*/ 6 w 6"/>
                <a:gd name="T24" fmla="*/ 14 h 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 h="14">
                  <a:moveTo>
                    <a:pt x="0" y="7"/>
                  </a:moveTo>
                  <a:lnTo>
                    <a:pt x="0" y="0"/>
                  </a:lnTo>
                  <a:lnTo>
                    <a:pt x="6" y="0"/>
                  </a:lnTo>
                  <a:lnTo>
                    <a:pt x="6" y="7"/>
                  </a:lnTo>
                  <a:lnTo>
                    <a:pt x="6" y="14"/>
                  </a:lnTo>
                  <a:lnTo>
                    <a:pt x="0" y="7"/>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10" name="Freeform 64"/>
            <p:cNvSpPr>
              <a:spLocks/>
            </p:cNvSpPr>
            <p:nvPr/>
          </p:nvSpPr>
          <p:spPr bwMode="auto">
            <a:xfrm>
              <a:off x="4633" y="202"/>
              <a:ext cx="6" cy="14"/>
            </a:xfrm>
            <a:custGeom>
              <a:avLst/>
              <a:gdLst>
                <a:gd name="T0" fmla="*/ 0 w 6"/>
                <a:gd name="T1" fmla="*/ 7 h 14"/>
                <a:gd name="T2" fmla="*/ 0 w 6"/>
                <a:gd name="T3" fmla="*/ 0 h 14"/>
                <a:gd name="T4" fmla="*/ 6 w 6"/>
                <a:gd name="T5" fmla="*/ 0 h 14"/>
                <a:gd name="T6" fmla="*/ 6 w 6"/>
                <a:gd name="T7" fmla="*/ 7 h 14"/>
                <a:gd name="T8" fmla="*/ 6 w 6"/>
                <a:gd name="T9" fmla="*/ 14 h 14"/>
                <a:gd name="T10" fmla="*/ 0 w 6"/>
                <a:gd name="T11" fmla="*/ 7 h 14"/>
                <a:gd name="T12" fmla="*/ 0 60000 65536"/>
                <a:gd name="T13" fmla="*/ 0 60000 65536"/>
                <a:gd name="T14" fmla="*/ 0 60000 65536"/>
                <a:gd name="T15" fmla="*/ 0 60000 65536"/>
                <a:gd name="T16" fmla="*/ 0 60000 65536"/>
                <a:gd name="T17" fmla="*/ 0 60000 65536"/>
                <a:gd name="T18" fmla="*/ 0 w 6"/>
                <a:gd name="T19" fmla="*/ 0 h 14"/>
                <a:gd name="T20" fmla="*/ 6 w 6"/>
                <a:gd name="T21" fmla="*/ 14 h 14"/>
              </a:gdLst>
              <a:ahLst/>
              <a:cxnLst>
                <a:cxn ang="T12">
                  <a:pos x="T0" y="T1"/>
                </a:cxn>
                <a:cxn ang="T13">
                  <a:pos x="T2" y="T3"/>
                </a:cxn>
                <a:cxn ang="T14">
                  <a:pos x="T4" y="T5"/>
                </a:cxn>
                <a:cxn ang="T15">
                  <a:pos x="T6" y="T7"/>
                </a:cxn>
                <a:cxn ang="T16">
                  <a:pos x="T8" y="T9"/>
                </a:cxn>
                <a:cxn ang="T17">
                  <a:pos x="T10" y="T11"/>
                </a:cxn>
              </a:cxnLst>
              <a:rect l="T18" t="T19" r="T20" b="T21"/>
              <a:pathLst>
                <a:path w="6" h="14">
                  <a:moveTo>
                    <a:pt x="0" y="7"/>
                  </a:moveTo>
                  <a:lnTo>
                    <a:pt x="0" y="0"/>
                  </a:lnTo>
                  <a:lnTo>
                    <a:pt x="6" y="0"/>
                  </a:lnTo>
                  <a:lnTo>
                    <a:pt x="6" y="7"/>
                  </a:lnTo>
                  <a:lnTo>
                    <a:pt x="6" y="14"/>
                  </a:lnTo>
                  <a:lnTo>
                    <a:pt x="0" y="7"/>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11" name="Freeform 65"/>
            <p:cNvSpPr>
              <a:spLocks/>
            </p:cNvSpPr>
            <p:nvPr/>
          </p:nvSpPr>
          <p:spPr bwMode="auto">
            <a:xfrm>
              <a:off x="4671" y="29"/>
              <a:ext cx="19" cy="14"/>
            </a:xfrm>
            <a:custGeom>
              <a:avLst/>
              <a:gdLst>
                <a:gd name="T0" fmla="*/ 13 w 19"/>
                <a:gd name="T1" fmla="*/ 14 h 14"/>
                <a:gd name="T2" fmla="*/ 19 w 19"/>
                <a:gd name="T3" fmla="*/ 7 h 14"/>
                <a:gd name="T4" fmla="*/ 19 w 19"/>
                <a:gd name="T5" fmla="*/ 7 h 14"/>
                <a:gd name="T6" fmla="*/ 6 w 19"/>
                <a:gd name="T7" fmla="*/ 0 h 14"/>
                <a:gd name="T8" fmla="*/ 0 w 19"/>
                <a:gd name="T9" fmla="*/ 7 h 14"/>
                <a:gd name="T10" fmla="*/ 13 w 19"/>
                <a:gd name="T11" fmla="*/ 14 h 14"/>
                <a:gd name="T12" fmla="*/ 13 w 19"/>
                <a:gd name="T13" fmla="*/ 14 h 14"/>
                <a:gd name="T14" fmla="*/ 0 60000 65536"/>
                <a:gd name="T15" fmla="*/ 0 60000 65536"/>
                <a:gd name="T16" fmla="*/ 0 60000 65536"/>
                <a:gd name="T17" fmla="*/ 0 60000 65536"/>
                <a:gd name="T18" fmla="*/ 0 60000 65536"/>
                <a:gd name="T19" fmla="*/ 0 60000 65536"/>
                <a:gd name="T20" fmla="*/ 0 60000 65536"/>
                <a:gd name="T21" fmla="*/ 0 w 19"/>
                <a:gd name="T22" fmla="*/ 0 h 14"/>
                <a:gd name="T23" fmla="*/ 19 w 19"/>
                <a:gd name="T24" fmla="*/ 14 h 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 h="14">
                  <a:moveTo>
                    <a:pt x="13" y="14"/>
                  </a:moveTo>
                  <a:lnTo>
                    <a:pt x="19" y="7"/>
                  </a:lnTo>
                  <a:lnTo>
                    <a:pt x="6" y="0"/>
                  </a:lnTo>
                  <a:lnTo>
                    <a:pt x="0" y="7"/>
                  </a:lnTo>
                  <a:lnTo>
                    <a:pt x="13" y="14"/>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12" name="Freeform 66"/>
            <p:cNvSpPr>
              <a:spLocks/>
            </p:cNvSpPr>
            <p:nvPr/>
          </p:nvSpPr>
          <p:spPr bwMode="auto">
            <a:xfrm>
              <a:off x="4671" y="29"/>
              <a:ext cx="19" cy="14"/>
            </a:xfrm>
            <a:custGeom>
              <a:avLst/>
              <a:gdLst>
                <a:gd name="T0" fmla="*/ 13 w 19"/>
                <a:gd name="T1" fmla="*/ 14 h 14"/>
                <a:gd name="T2" fmla="*/ 19 w 19"/>
                <a:gd name="T3" fmla="*/ 7 h 14"/>
                <a:gd name="T4" fmla="*/ 6 w 19"/>
                <a:gd name="T5" fmla="*/ 0 h 14"/>
                <a:gd name="T6" fmla="*/ 0 w 19"/>
                <a:gd name="T7" fmla="*/ 7 h 14"/>
                <a:gd name="T8" fmla="*/ 13 w 19"/>
                <a:gd name="T9" fmla="*/ 14 h 14"/>
                <a:gd name="T10" fmla="*/ 0 60000 65536"/>
                <a:gd name="T11" fmla="*/ 0 60000 65536"/>
                <a:gd name="T12" fmla="*/ 0 60000 65536"/>
                <a:gd name="T13" fmla="*/ 0 60000 65536"/>
                <a:gd name="T14" fmla="*/ 0 60000 65536"/>
                <a:gd name="T15" fmla="*/ 0 w 19"/>
                <a:gd name="T16" fmla="*/ 0 h 14"/>
                <a:gd name="T17" fmla="*/ 19 w 19"/>
                <a:gd name="T18" fmla="*/ 14 h 14"/>
              </a:gdLst>
              <a:ahLst/>
              <a:cxnLst>
                <a:cxn ang="T10">
                  <a:pos x="T0" y="T1"/>
                </a:cxn>
                <a:cxn ang="T11">
                  <a:pos x="T2" y="T3"/>
                </a:cxn>
                <a:cxn ang="T12">
                  <a:pos x="T4" y="T5"/>
                </a:cxn>
                <a:cxn ang="T13">
                  <a:pos x="T6" y="T7"/>
                </a:cxn>
                <a:cxn ang="T14">
                  <a:pos x="T8" y="T9"/>
                </a:cxn>
              </a:cxnLst>
              <a:rect l="T15" t="T16" r="T17" b="T18"/>
              <a:pathLst>
                <a:path w="19" h="14">
                  <a:moveTo>
                    <a:pt x="13" y="14"/>
                  </a:moveTo>
                  <a:lnTo>
                    <a:pt x="19" y="7"/>
                  </a:lnTo>
                  <a:lnTo>
                    <a:pt x="6" y="0"/>
                  </a:lnTo>
                  <a:lnTo>
                    <a:pt x="0" y="7"/>
                  </a:lnTo>
                  <a:lnTo>
                    <a:pt x="13" y="14"/>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13" name="Freeform 67"/>
            <p:cNvSpPr>
              <a:spLocks/>
            </p:cNvSpPr>
            <p:nvPr/>
          </p:nvSpPr>
          <p:spPr bwMode="auto">
            <a:xfrm>
              <a:off x="4690" y="22"/>
              <a:ext cx="13" cy="14"/>
            </a:xfrm>
            <a:custGeom>
              <a:avLst/>
              <a:gdLst>
                <a:gd name="T0" fmla="*/ 0 w 13"/>
                <a:gd name="T1" fmla="*/ 14 h 14"/>
                <a:gd name="T2" fmla="*/ 6 w 13"/>
                <a:gd name="T3" fmla="*/ 14 h 14"/>
                <a:gd name="T4" fmla="*/ 13 w 13"/>
                <a:gd name="T5" fmla="*/ 7 h 14"/>
                <a:gd name="T6" fmla="*/ 13 w 13"/>
                <a:gd name="T7" fmla="*/ 7 h 14"/>
                <a:gd name="T8" fmla="*/ 6 w 13"/>
                <a:gd name="T9" fmla="*/ 0 h 14"/>
                <a:gd name="T10" fmla="*/ 0 w 13"/>
                <a:gd name="T11" fmla="*/ 7 h 14"/>
                <a:gd name="T12" fmla="*/ 0 w 13"/>
                <a:gd name="T13" fmla="*/ 14 h 14"/>
                <a:gd name="T14" fmla="*/ 0 w 13"/>
                <a:gd name="T15" fmla="*/ 14 h 14"/>
                <a:gd name="T16" fmla="*/ 0 60000 65536"/>
                <a:gd name="T17" fmla="*/ 0 60000 65536"/>
                <a:gd name="T18" fmla="*/ 0 60000 65536"/>
                <a:gd name="T19" fmla="*/ 0 60000 65536"/>
                <a:gd name="T20" fmla="*/ 0 60000 65536"/>
                <a:gd name="T21" fmla="*/ 0 60000 65536"/>
                <a:gd name="T22" fmla="*/ 0 60000 65536"/>
                <a:gd name="T23" fmla="*/ 0 60000 65536"/>
                <a:gd name="T24" fmla="*/ 0 w 13"/>
                <a:gd name="T25" fmla="*/ 0 h 14"/>
                <a:gd name="T26" fmla="*/ 13 w 13"/>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 h="14">
                  <a:moveTo>
                    <a:pt x="0" y="14"/>
                  </a:moveTo>
                  <a:lnTo>
                    <a:pt x="6" y="14"/>
                  </a:lnTo>
                  <a:lnTo>
                    <a:pt x="13" y="7"/>
                  </a:lnTo>
                  <a:lnTo>
                    <a:pt x="6" y="0"/>
                  </a:lnTo>
                  <a:lnTo>
                    <a:pt x="0" y="7"/>
                  </a:lnTo>
                  <a:lnTo>
                    <a:pt x="0" y="14"/>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14" name="Freeform 68"/>
            <p:cNvSpPr>
              <a:spLocks/>
            </p:cNvSpPr>
            <p:nvPr/>
          </p:nvSpPr>
          <p:spPr bwMode="auto">
            <a:xfrm>
              <a:off x="4690" y="22"/>
              <a:ext cx="13" cy="14"/>
            </a:xfrm>
            <a:custGeom>
              <a:avLst/>
              <a:gdLst>
                <a:gd name="T0" fmla="*/ 0 w 13"/>
                <a:gd name="T1" fmla="*/ 14 h 14"/>
                <a:gd name="T2" fmla="*/ 6 w 13"/>
                <a:gd name="T3" fmla="*/ 14 h 14"/>
                <a:gd name="T4" fmla="*/ 13 w 13"/>
                <a:gd name="T5" fmla="*/ 7 h 14"/>
                <a:gd name="T6" fmla="*/ 6 w 13"/>
                <a:gd name="T7" fmla="*/ 0 h 14"/>
                <a:gd name="T8" fmla="*/ 0 w 13"/>
                <a:gd name="T9" fmla="*/ 7 h 14"/>
                <a:gd name="T10" fmla="*/ 0 w 13"/>
                <a:gd name="T11" fmla="*/ 14 h 14"/>
                <a:gd name="T12" fmla="*/ 0 60000 65536"/>
                <a:gd name="T13" fmla="*/ 0 60000 65536"/>
                <a:gd name="T14" fmla="*/ 0 60000 65536"/>
                <a:gd name="T15" fmla="*/ 0 60000 65536"/>
                <a:gd name="T16" fmla="*/ 0 60000 65536"/>
                <a:gd name="T17" fmla="*/ 0 60000 65536"/>
                <a:gd name="T18" fmla="*/ 0 w 13"/>
                <a:gd name="T19" fmla="*/ 0 h 14"/>
                <a:gd name="T20" fmla="*/ 13 w 13"/>
                <a:gd name="T21" fmla="*/ 14 h 14"/>
              </a:gdLst>
              <a:ahLst/>
              <a:cxnLst>
                <a:cxn ang="T12">
                  <a:pos x="T0" y="T1"/>
                </a:cxn>
                <a:cxn ang="T13">
                  <a:pos x="T2" y="T3"/>
                </a:cxn>
                <a:cxn ang="T14">
                  <a:pos x="T4" y="T5"/>
                </a:cxn>
                <a:cxn ang="T15">
                  <a:pos x="T6" y="T7"/>
                </a:cxn>
                <a:cxn ang="T16">
                  <a:pos x="T8" y="T9"/>
                </a:cxn>
                <a:cxn ang="T17">
                  <a:pos x="T10" y="T11"/>
                </a:cxn>
              </a:cxnLst>
              <a:rect l="T18" t="T19" r="T20" b="T21"/>
              <a:pathLst>
                <a:path w="13" h="14">
                  <a:moveTo>
                    <a:pt x="0" y="14"/>
                  </a:moveTo>
                  <a:lnTo>
                    <a:pt x="6" y="14"/>
                  </a:lnTo>
                  <a:lnTo>
                    <a:pt x="13" y="7"/>
                  </a:lnTo>
                  <a:lnTo>
                    <a:pt x="6" y="0"/>
                  </a:lnTo>
                  <a:lnTo>
                    <a:pt x="0" y="7"/>
                  </a:lnTo>
                  <a:lnTo>
                    <a:pt x="0" y="14"/>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15" name="Freeform 69"/>
            <p:cNvSpPr>
              <a:spLocks/>
            </p:cNvSpPr>
            <p:nvPr/>
          </p:nvSpPr>
          <p:spPr bwMode="auto">
            <a:xfrm>
              <a:off x="4665" y="36"/>
              <a:ext cx="6" cy="7"/>
            </a:xfrm>
            <a:custGeom>
              <a:avLst/>
              <a:gdLst>
                <a:gd name="T0" fmla="*/ 0 w 6"/>
                <a:gd name="T1" fmla="*/ 7 h 7"/>
                <a:gd name="T2" fmla="*/ 0 w 6"/>
                <a:gd name="T3" fmla="*/ 7 h 7"/>
                <a:gd name="T4" fmla="*/ 6 w 6"/>
                <a:gd name="T5" fmla="*/ 0 h 7"/>
                <a:gd name="T6" fmla="*/ 6 w 6"/>
                <a:gd name="T7" fmla="*/ 7 h 7"/>
                <a:gd name="T8" fmla="*/ 0 w 6"/>
                <a:gd name="T9" fmla="*/ 7 h 7"/>
                <a:gd name="T10" fmla="*/ 0 w 6"/>
                <a:gd name="T11" fmla="*/ 7 h 7"/>
                <a:gd name="T12" fmla="*/ 0 w 6"/>
                <a:gd name="T13" fmla="*/ 7 h 7"/>
                <a:gd name="T14" fmla="*/ 0 w 6"/>
                <a:gd name="T15" fmla="*/ 7 h 7"/>
                <a:gd name="T16" fmla="*/ 0 60000 65536"/>
                <a:gd name="T17" fmla="*/ 0 60000 65536"/>
                <a:gd name="T18" fmla="*/ 0 60000 65536"/>
                <a:gd name="T19" fmla="*/ 0 60000 65536"/>
                <a:gd name="T20" fmla="*/ 0 60000 65536"/>
                <a:gd name="T21" fmla="*/ 0 60000 65536"/>
                <a:gd name="T22" fmla="*/ 0 60000 65536"/>
                <a:gd name="T23" fmla="*/ 0 60000 65536"/>
                <a:gd name="T24" fmla="*/ 0 w 6"/>
                <a:gd name="T25" fmla="*/ 0 h 7"/>
                <a:gd name="T26" fmla="*/ 6 w 6"/>
                <a:gd name="T27" fmla="*/ 7 h 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 h="7">
                  <a:moveTo>
                    <a:pt x="0" y="7"/>
                  </a:moveTo>
                  <a:lnTo>
                    <a:pt x="0" y="7"/>
                  </a:lnTo>
                  <a:lnTo>
                    <a:pt x="6" y="0"/>
                  </a:lnTo>
                  <a:lnTo>
                    <a:pt x="6" y="7"/>
                  </a:lnTo>
                  <a:lnTo>
                    <a:pt x="0" y="7"/>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16" name="Freeform 70"/>
            <p:cNvSpPr>
              <a:spLocks/>
            </p:cNvSpPr>
            <p:nvPr/>
          </p:nvSpPr>
          <p:spPr bwMode="auto">
            <a:xfrm>
              <a:off x="4665" y="36"/>
              <a:ext cx="6" cy="7"/>
            </a:xfrm>
            <a:custGeom>
              <a:avLst/>
              <a:gdLst>
                <a:gd name="T0" fmla="*/ 0 w 6"/>
                <a:gd name="T1" fmla="*/ 7 h 7"/>
                <a:gd name="T2" fmla="*/ 6 w 6"/>
                <a:gd name="T3" fmla="*/ 0 h 7"/>
                <a:gd name="T4" fmla="*/ 6 w 6"/>
                <a:gd name="T5" fmla="*/ 7 h 7"/>
                <a:gd name="T6" fmla="*/ 0 w 6"/>
                <a:gd name="T7" fmla="*/ 7 h 7"/>
                <a:gd name="T8" fmla="*/ 0 60000 65536"/>
                <a:gd name="T9" fmla="*/ 0 60000 65536"/>
                <a:gd name="T10" fmla="*/ 0 60000 65536"/>
                <a:gd name="T11" fmla="*/ 0 60000 65536"/>
                <a:gd name="T12" fmla="*/ 0 w 6"/>
                <a:gd name="T13" fmla="*/ 0 h 7"/>
                <a:gd name="T14" fmla="*/ 6 w 6"/>
                <a:gd name="T15" fmla="*/ 7 h 7"/>
              </a:gdLst>
              <a:ahLst/>
              <a:cxnLst>
                <a:cxn ang="T8">
                  <a:pos x="T0" y="T1"/>
                </a:cxn>
                <a:cxn ang="T9">
                  <a:pos x="T2" y="T3"/>
                </a:cxn>
                <a:cxn ang="T10">
                  <a:pos x="T4" y="T5"/>
                </a:cxn>
                <a:cxn ang="T11">
                  <a:pos x="T6" y="T7"/>
                </a:cxn>
              </a:cxnLst>
              <a:rect l="T12" t="T13" r="T14" b="T15"/>
              <a:pathLst>
                <a:path w="6" h="7">
                  <a:moveTo>
                    <a:pt x="0" y="7"/>
                  </a:moveTo>
                  <a:lnTo>
                    <a:pt x="6" y="0"/>
                  </a:lnTo>
                  <a:lnTo>
                    <a:pt x="6" y="7"/>
                  </a:lnTo>
                  <a:lnTo>
                    <a:pt x="0" y="7"/>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17" name="Freeform 71"/>
            <p:cNvSpPr>
              <a:spLocks/>
            </p:cNvSpPr>
            <p:nvPr/>
          </p:nvSpPr>
          <p:spPr bwMode="auto">
            <a:xfrm>
              <a:off x="4595" y="29"/>
              <a:ext cx="32" cy="14"/>
            </a:xfrm>
            <a:custGeom>
              <a:avLst/>
              <a:gdLst>
                <a:gd name="T0" fmla="*/ 0 w 32"/>
                <a:gd name="T1" fmla="*/ 7 h 14"/>
                <a:gd name="T2" fmla="*/ 6 w 32"/>
                <a:gd name="T3" fmla="*/ 0 h 14"/>
                <a:gd name="T4" fmla="*/ 13 w 32"/>
                <a:gd name="T5" fmla="*/ 7 h 14"/>
                <a:gd name="T6" fmla="*/ 13 w 32"/>
                <a:gd name="T7" fmla="*/ 14 h 14"/>
                <a:gd name="T8" fmla="*/ 19 w 32"/>
                <a:gd name="T9" fmla="*/ 14 h 14"/>
                <a:gd name="T10" fmla="*/ 19 w 32"/>
                <a:gd name="T11" fmla="*/ 14 h 14"/>
                <a:gd name="T12" fmla="*/ 32 w 32"/>
                <a:gd name="T13" fmla="*/ 14 h 14"/>
                <a:gd name="T14" fmla="*/ 32 w 32"/>
                <a:gd name="T15" fmla="*/ 7 h 14"/>
                <a:gd name="T16" fmla="*/ 32 w 32"/>
                <a:gd name="T17" fmla="*/ 7 h 14"/>
                <a:gd name="T18" fmla="*/ 25 w 32"/>
                <a:gd name="T19" fmla="*/ 0 h 14"/>
                <a:gd name="T20" fmla="*/ 19 w 32"/>
                <a:gd name="T21" fmla="*/ 0 h 14"/>
                <a:gd name="T22" fmla="*/ 19 w 32"/>
                <a:gd name="T23" fmla="*/ 7 h 14"/>
                <a:gd name="T24" fmla="*/ 13 w 32"/>
                <a:gd name="T25" fmla="*/ 7 h 14"/>
                <a:gd name="T26" fmla="*/ 13 w 32"/>
                <a:gd name="T27" fmla="*/ 14 h 14"/>
                <a:gd name="T28" fmla="*/ 6 w 32"/>
                <a:gd name="T29" fmla="*/ 14 h 14"/>
                <a:gd name="T30" fmla="*/ 6 w 32"/>
                <a:gd name="T31" fmla="*/ 7 h 14"/>
                <a:gd name="T32" fmla="*/ 0 w 32"/>
                <a:gd name="T33" fmla="*/ 7 h 14"/>
                <a:gd name="T34" fmla="*/ 0 w 32"/>
                <a:gd name="T35" fmla="*/ 7 h 1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2"/>
                <a:gd name="T55" fmla="*/ 0 h 14"/>
                <a:gd name="T56" fmla="*/ 32 w 32"/>
                <a:gd name="T57" fmla="*/ 14 h 1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2" h="14">
                  <a:moveTo>
                    <a:pt x="0" y="7"/>
                  </a:moveTo>
                  <a:lnTo>
                    <a:pt x="6" y="0"/>
                  </a:lnTo>
                  <a:lnTo>
                    <a:pt x="13" y="7"/>
                  </a:lnTo>
                  <a:lnTo>
                    <a:pt x="13" y="14"/>
                  </a:lnTo>
                  <a:lnTo>
                    <a:pt x="19" y="14"/>
                  </a:lnTo>
                  <a:lnTo>
                    <a:pt x="32" y="14"/>
                  </a:lnTo>
                  <a:lnTo>
                    <a:pt x="32" y="7"/>
                  </a:lnTo>
                  <a:lnTo>
                    <a:pt x="25" y="0"/>
                  </a:lnTo>
                  <a:lnTo>
                    <a:pt x="19" y="0"/>
                  </a:lnTo>
                  <a:lnTo>
                    <a:pt x="19" y="7"/>
                  </a:lnTo>
                  <a:lnTo>
                    <a:pt x="13" y="7"/>
                  </a:lnTo>
                  <a:lnTo>
                    <a:pt x="13" y="14"/>
                  </a:lnTo>
                  <a:lnTo>
                    <a:pt x="6" y="14"/>
                  </a:lnTo>
                  <a:lnTo>
                    <a:pt x="6" y="7"/>
                  </a:lnTo>
                  <a:lnTo>
                    <a:pt x="0" y="7"/>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18" name="Freeform 72"/>
            <p:cNvSpPr>
              <a:spLocks/>
            </p:cNvSpPr>
            <p:nvPr/>
          </p:nvSpPr>
          <p:spPr bwMode="auto">
            <a:xfrm>
              <a:off x="4595" y="29"/>
              <a:ext cx="32" cy="14"/>
            </a:xfrm>
            <a:custGeom>
              <a:avLst/>
              <a:gdLst>
                <a:gd name="T0" fmla="*/ 0 w 32"/>
                <a:gd name="T1" fmla="*/ 7 h 14"/>
                <a:gd name="T2" fmla="*/ 6 w 32"/>
                <a:gd name="T3" fmla="*/ 0 h 14"/>
                <a:gd name="T4" fmla="*/ 13 w 32"/>
                <a:gd name="T5" fmla="*/ 7 h 14"/>
                <a:gd name="T6" fmla="*/ 13 w 32"/>
                <a:gd name="T7" fmla="*/ 14 h 14"/>
                <a:gd name="T8" fmla="*/ 19 w 32"/>
                <a:gd name="T9" fmla="*/ 14 h 14"/>
                <a:gd name="T10" fmla="*/ 32 w 32"/>
                <a:gd name="T11" fmla="*/ 14 h 14"/>
                <a:gd name="T12" fmla="*/ 32 w 32"/>
                <a:gd name="T13" fmla="*/ 7 h 14"/>
                <a:gd name="T14" fmla="*/ 25 w 32"/>
                <a:gd name="T15" fmla="*/ 0 h 14"/>
                <a:gd name="T16" fmla="*/ 19 w 32"/>
                <a:gd name="T17" fmla="*/ 0 h 14"/>
                <a:gd name="T18" fmla="*/ 19 w 32"/>
                <a:gd name="T19" fmla="*/ 7 h 14"/>
                <a:gd name="T20" fmla="*/ 13 w 32"/>
                <a:gd name="T21" fmla="*/ 7 h 14"/>
                <a:gd name="T22" fmla="*/ 13 w 32"/>
                <a:gd name="T23" fmla="*/ 14 h 14"/>
                <a:gd name="T24" fmla="*/ 6 w 32"/>
                <a:gd name="T25" fmla="*/ 14 h 14"/>
                <a:gd name="T26" fmla="*/ 6 w 32"/>
                <a:gd name="T27" fmla="*/ 7 h 14"/>
                <a:gd name="T28" fmla="*/ 0 w 32"/>
                <a:gd name="T29" fmla="*/ 7 h 1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2"/>
                <a:gd name="T46" fmla="*/ 0 h 14"/>
                <a:gd name="T47" fmla="*/ 32 w 32"/>
                <a:gd name="T48" fmla="*/ 14 h 1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2" h="14">
                  <a:moveTo>
                    <a:pt x="0" y="7"/>
                  </a:moveTo>
                  <a:lnTo>
                    <a:pt x="6" y="0"/>
                  </a:lnTo>
                  <a:lnTo>
                    <a:pt x="13" y="7"/>
                  </a:lnTo>
                  <a:lnTo>
                    <a:pt x="13" y="14"/>
                  </a:lnTo>
                  <a:lnTo>
                    <a:pt x="19" y="14"/>
                  </a:lnTo>
                  <a:lnTo>
                    <a:pt x="32" y="14"/>
                  </a:lnTo>
                  <a:lnTo>
                    <a:pt x="32" y="7"/>
                  </a:lnTo>
                  <a:lnTo>
                    <a:pt x="25" y="0"/>
                  </a:lnTo>
                  <a:lnTo>
                    <a:pt x="19" y="0"/>
                  </a:lnTo>
                  <a:lnTo>
                    <a:pt x="19" y="7"/>
                  </a:lnTo>
                  <a:lnTo>
                    <a:pt x="13" y="7"/>
                  </a:lnTo>
                  <a:lnTo>
                    <a:pt x="13" y="14"/>
                  </a:lnTo>
                  <a:lnTo>
                    <a:pt x="6" y="14"/>
                  </a:lnTo>
                  <a:lnTo>
                    <a:pt x="6" y="7"/>
                  </a:lnTo>
                  <a:lnTo>
                    <a:pt x="0" y="7"/>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19" name="Freeform 73"/>
            <p:cNvSpPr>
              <a:spLocks/>
            </p:cNvSpPr>
            <p:nvPr/>
          </p:nvSpPr>
          <p:spPr bwMode="auto">
            <a:xfrm>
              <a:off x="4430" y="43"/>
              <a:ext cx="57" cy="22"/>
            </a:xfrm>
            <a:custGeom>
              <a:avLst/>
              <a:gdLst>
                <a:gd name="T0" fmla="*/ 44 w 57"/>
                <a:gd name="T1" fmla="*/ 15 h 22"/>
                <a:gd name="T2" fmla="*/ 51 w 57"/>
                <a:gd name="T3" fmla="*/ 15 h 22"/>
                <a:gd name="T4" fmla="*/ 57 w 57"/>
                <a:gd name="T5" fmla="*/ 7 h 22"/>
                <a:gd name="T6" fmla="*/ 51 w 57"/>
                <a:gd name="T7" fmla="*/ 0 h 22"/>
                <a:gd name="T8" fmla="*/ 44 w 57"/>
                <a:gd name="T9" fmla="*/ 0 h 22"/>
                <a:gd name="T10" fmla="*/ 38 w 57"/>
                <a:gd name="T11" fmla="*/ 0 h 22"/>
                <a:gd name="T12" fmla="*/ 32 w 57"/>
                <a:gd name="T13" fmla="*/ 0 h 22"/>
                <a:gd name="T14" fmla="*/ 32 w 57"/>
                <a:gd name="T15" fmla="*/ 0 h 22"/>
                <a:gd name="T16" fmla="*/ 25 w 57"/>
                <a:gd name="T17" fmla="*/ 0 h 22"/>
                <a:gd name="T18" fmla="*/ 19 w 57"/>
                <a:gd name="T19" fmla="*/ 0 h 22"/>
                <a:gd name="T20" fmla="*/ 13 w 57"/>
                <a:gd name="T21" fmla="*/ 0 h 22"/>
                <a:gd name="T22" fmla="*/ 6 w 57"/>
                <a:gd name="T23" fmla="*/ 0 h 22"/>
                <a:gd name="T24" fmla="*/ 0 w 57"/>
                <a:gd name="T25" fmla="*/ 0 h 22"/>
                <a:gd name="T26" fmla="*/ 0 w 57"/>
                <a:gd name="T27" fmla="*/ 7 h 22"/>
                <a:gd name="T28" fmla="*/ 13 w 57"/>
                <a:gd name="T29" fmla="*/ 15 h 22"/>
                <a:gd name="T30" fmla="*/ 25 w 57"/>
                <a:gd name="T31" fmla="*/ 15 h 22"/>
                <a:gd name="T32" fmla="*/ 32 w 57"/>
                <a:gd name="T33" fmla="*/ 22 h 22"/>
                <a:gd name="T34" fmla="*/ 44 w 57"/>
                <a:gd name="T35" fmla="*/ 15 h 22"/>
                <a:gd name="T36" fmla="*/ 44 w 57"/>
                <a:gd name="T37" fmla="*/ 15 h 2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7"/>
                <a:gd name="T58" fmla="*/ 0 h 22"/>
                <a:gd name="T59" fmla="*/ 57 w 57"/>
                <a:gd name="T60" fmla="*/ 22 h 2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7" h="22">
                  <a:moveTo>
                    <a:pt x="44" y="15"/>
                  </a:moveTo>
                  <a:lnTo>
                    <a:pt x="51" y="15"/>
                  </a:lnTo>
                  <a:lnTo>
                    <a:pt x="57" y="7"/>
                  </a:lnTo>
                  <a:lnTo>
                    <a:pt x="51" y="0"/>
                  </a:lnTo>
                  <a:lnTo>
                    <a:pt x="44" y="0"/>
                  </a:lnTo>
                  <a:lnTo>
                    <a:pt x="38" y="0"/>
                  </a:lnTo>
                  <a:lnTo>
                    <a:pt x="32" y="0"/>
                  </a:lnTo>
                  <a:lnTo>
                    <a:pt x="25" y="0"/>
                  </a:lnTo>
                  <a:lnTo>
                    <a:pt x="19" y="0"/>
                  </a:lnTo>
                  <a:lnTo>
                    <a:pt x="13" y="0"/>
                  </a:lnTo>
                  <a:lnTo>
                    <a:pt x="6" y="0"/>
                  </a:lnTo>
                  <a:lnTo>
                    <a:pt x="0" y="0"/>
                  </a:lnTo>
                  <a:lnTo>
                    <a:pt x="0" y="7"/>
                  </a:lnTo>
                  <a:lnTo>
                    <a:pt x="13" y="15"/>
                  </a:lnTo>
                  <a:lnTo>
                    <a:pt x="25" y="15"/>
                  </a:lnTo>
                  <a:lnTo>
                    <a:pt x="32" y="22"/>
                  </a:lnTo>
                  <a:lnTo>
                    <a:pt x="44" y="15"/>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20" name="Freeform 74"/>
            <p:cNvSpPr>
              <a:spLocks/>
            </p:cNvSpPr>
            <p:nvPr/>
          </p:nvSpPr>
          <p:spPr bwMode="auto">
            <a:xfrm>
              <a:off x="4430" y="43"/>
              <a:ext cx="57" cy="22"/>
            </a:xfrm>
            <a:custGeom>
              <a:avLst/>
              <a:gdLst>
                <a:gd name="T0" fmla="*/ 44 w 57"/>
                <a:gd name="T1" fmla="*/ 15 h 22"/>
                <a:gd name="T2" fmla="*/ 51 w 57"/>
                <a:gd name="T3" fmla="*/ 15 h 22"/>
                <a:gd name="T4" fmla="*/ 57 w 57"/>
                <a:gd name="T5" fmla="*/ 7 h 22"/>
                <a:gd name="T6" fmla="*/ 51 w 57"/>
                <a:gd name="T7" fmla="*/ 0 h 22"/>
                <a:gd name="T8" fmla="*/ 44 w 57"/>
                <a:gd name="T9" fmla="*/ 0 h 22"/>
                <a:gd name="T10" fmla="*/ 38 w 57"/>
                <a:gd name="T11" fmla="*/ 0 h 22"/>
                <a:gd name="T12" fmla="*/ 32 w 57"/>
                <a:gd name="T13" fmla="*/ 0 h 22"/>
                <a:gd name="T14" fmla="*/ 25 w 57"/>
                <a:gd name="T15" fmla="*/ 0 h 22"/>
                <a:gd name="T16" fmla="*/ 19 w 57"/>
                <a:gd name="T17" fmla="*/ 0 h 22"/>
                <a:gd name="T18" fmla="*/ 13 w 57"/>
                <a:gd name="T19" fmla="*/ 0 h 22"/>
                <a:gd name="T20" fmla="*/ 6 w 57"/>
                <a:gd name="T21" fmla="*/ 0 h 22"/>
                <a:gd name="T22" fmla="*/ 0 w 57"/>
                <a:gd name="T23" fmla="*/ 0 h 22"/>
                <a:gd name="T24" fmla="*/ 0 w 57"/>
                <a:gd name="T25" fmla="*/ 7 h 22"/>
                <a:gd name="T26" fmla="*/ 13 w 57"/>
                <a:gd name="T27" fmla="*/ 15 h 22"/>
                <a:gd name="T28" fmla="*/ 25 w 57"/>
                <a:gd name="T29" fmla="*/ 15 h 22"/>
                <a:gd name="T30" fmla="*/ 32 w 57"/>
                <a:gd name="T31" fmla="*/ 22 h 22"/>
                <a:gd name="T32" fmla="*/ 44 w 57"/>
                <a:gd name="T33" fmla="*/ 15 h 2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7"/>
                <a:gd name="T52" fmla="*/ 0 h 22"/>
                <a:gd name="T53" fmla="*/ 57 w 57"/>
                <a:gd name="T54" fmla="*/ 22 h 2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7" h="22">
                  <a:moveTo>
                    <a:pt x="44" y="15"/>
                  </a:moveTo>
                  <a:lnTo>
                    <a:pt x="51" y="15"/>
                  </a:lnTo>
                  <a:lnTo>
                    <a:pt x="57" y="7"/>
                  </a:lnTo>
                  <a:lnTo>
                    <a:pt x="51" y="0"/>
                  </a:lnTo>
                  <a:lnTo>
                    <a:pt x="44" y="0"/>
                  </a:lnTo>
                  <a:lnTo>
                    <a:pt x="38" y="0"/>
                  </a:lnTo>
                  <a:lnTo>
                    <a:pt x="32" y="0"/>
                  </a:lnTo>
                  <a:lnTo>
                    <a:pt x="25" y="0"/>
                  </a:lnTo>
                  <a:lnTo>
                    <a:pt x="19" y="0"/>
                  </a:lnTo>
                  <a:lnTo>
                    <a:pt x="13" y="0"/>
                  </a:lnTo>
                  <a:lnTo>
                    <a:pt x="6" y="0"/>
                  </a:lnTo>
                  <a:lnTo>
                    <a:pt x="0" y="0"/>
                  </a:lnTo>
                  <a:lnTo>
                    <a:pt x="0" y="7"/>
                  </a:lnTo>
                  <a:lnTo>
                    <a:pt x="13" y="15"/>
                  </a:lnTo>
                  <a:lnTo>
                    <a:pt x="25" y="15"/>
                  </a:lnTo>
                  <a:lnTo>
                    <a:pt x="32" y="22"/>
                  </a:lnTo>
                  <a:lnTo>
                    <a:pt x="44" y="15"/>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21" name="Freeform 75"/>
            <p:cNvSpPr>
              <a:spLocks/>
            </p:cNvSpPr>
            <p:nvPr/>
          </p:nvSpPr>
          <p:spPr bwMode="auto">
            <a:xfrm>
              <a:off x="4392" y="50"/>
              <a:ext cx="82" cy="51"/>
            </a:xfrm>
            <a:custGeom>
              <a:avLst/>
              <a:gdLst>
                <a:gd name="T0" fmla="*/ 0 w 82"/>
                <a:gd name="T1" fmla="*/ 0 h 51"/>
                <a:gd name="T2" fmla="*/ 13 w 82"/>
                <a:gd name="T3" fmla="*/ 0 h 51"/>
                <a:gd name="T4" fmla="*/ 13 w 82"/>
                <a:gd name="T5" fmla="*/ 0 h 51"/>
                <a:gd name="T6" fmla="*/ 19 w 82"/>
                <a:gd name="T7" fmla="*/ 0 h 51"/>
                <a:gd name="T8" fmla="*/ 25 w 82"/>
                <a:gd name="T9" fmla="*/ 8 h 51"/>
                <a:gd name="T10" fmla="*/ 25 w 82"/>
                <a:gd name="T11" fmla="*/ 0 h 51"/>
                <a:gd name="T12" fmla="*/ 38 w 82"/>
                <a:gd name="T13" fmla="*/ 0 h 51"/>
                <a:gd name="T14" fmla="*/ 38 w 82"/>
                <a:gd name="T15" fmla="*/ 8 h 51"/>
                <a:gd name="T16" fmla="*/ 51 w 82"/>
                <a:gd name="T17" fmla="*/ 8 h 51"/>
                <a:gd name="T18" fmla="*/ 57 w 82"/>
                <a:gd name="T19" fmla="*/ 15 h 51"/>
                <a:gd name="T20" fmla="*/ 63 w 82"/>
                <a:gd name="T21" fmla="*/ 15 h 51"/>
                <a:gd name="T22" fmla="*/ 70 w 82"/>
                <a:gd name="T23" fmla="*/ 22 h 51"/>
                <a:gd name="T24" fmla="*/ 76 w 82"/>
                <a:gd name="T25" fmla="*/ 37 h 51"/>
                <a:gd name="T26" fmla="*/ 82 w 82"/>
                <a:gd name="T27" fmla="*/ 37 h 51"/>
                <a:gd name="T28" fmla="*/ 76 w 82"/>
                <a:gd name="T29" fmla="*/ 44 h 51"/>
                <a:gd name="T30" fmla="*/ 63 w 82"/>
                <a:gd name="T31" fmla="*/ 44 h 51"/>
                <a:gd name="T32" fmla="*/ 57 w 82"/>
                <a:gd name="T33" fmla="*/ 37 h 51"/>
                <a:gd name="T34" fmla="*/ 57 w 82"/>
                <a:gd name="T35" fmla="*/ 29 h 51"/>
                <a:gd name="T36" fmla="*/ 51 w 82"/>
                <a:gd name="T37" fmla="*/ 22 h 51"/>
                <a:gd name="T38" fmla="*/ 51 w 82"/>
                <a:gd name="T39" fmla="*/ 22 h 51"/>
                <a:gd name="T40" fmla="*/ 38 w 82"/>
                <a:gd name="T41" fmla="*/ 51 h 51"/>
                <a:gd name="T42" fmla="*/ 32 w 82"/>
                <a:gd name="T43" fmla="*/ 51 h 51"/>
                <a:gd name="T44" fmla="*/ 25 w 82"/>
                <a:gd name="T45" fmla="*/ 44 h 51"/>
                <a:gd name="T46" fmla="*/ 25 w 82"/>
                <a:gd name="T47" fmla="*/ 37 h 51"/>
                <a:gd name="T48" fmla="*/ 19 w 82"/>
                <a:gd name="T49" fmla="*/ 37 h 51"/>
                <a:gd name="T50" fmla="*/ 13 w 82"/>
                <a:gd name="T51" fmla="*/ 29 h 51"/>
                <a:gd name="T52" fmla="*/ 32 w 82"/>
                <a:gd name="T53" fmla="*/ 29 h 51"/>
                <a:gd name="T54" fmla="*/ 32 w 82"/>
                <a:gd name="T55" fmla="*/ 22 h 51"/>
                <a:gd name="T56" fmla="*/ 32 w 82"/>
                <a:gd name="T57" fmla="*/ 15 h 51"/>
                <a:gd name="T58" fmla="*/ 25 w 82"/>
                <a:gd name="T59" fmla="*/ 15 h 51"/>
                <a:gd name="T60" fmla="*/ 13 w 82"/>
                <a:gd name="T61" fmla="*/ 29 h 51"/>
                <a:gd name="T62" fmla="*/ 6 w 82"/>
                <a:gd name="T63" fmla="*/ 29 h 51"/>
                <a:gd name="T64" fmla="*/ 0 w 82"/>
                <a:gd name="T65" fmla="*/ 22 h 51"/>
                <a:gd name="T66" fmla="*/ 0 w 82"/>
                <a:gd name="T67" fmla="*/ 15 h 51"/>
                <a:gd name="T68" fmla="*/ 0 w 82"/>
                <a:gd name="T69" fmla="*/ 0 h 51"/>
                <a:gd name="T70" fmla="*/ 0 w 82"/>
                <a:gd name="T71" fmla="*/ 0 h 5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2"/>
                <a:gd name="T109" fmla="*/ 0 h 51"/>
                <a:gd name="T110" fmla="*/ 82 w 82"/>
                <a:gd name="T111" fmla="*/ 51 h 51"/>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2" h="51">
                  <a:moveTo>
                    <a:pt x="0" y="0"/>
                  </a:moveTo>
                  <a:lnTo>
                    <a:pt x="13" y="0"/>
                  </a:lnTo>
                  <a:lnTo>
                    <a:pt x="19" y="0"/>
                  </a:lnTo>
                  <a:lnTo>
                    <a:pt x="25" y="8"/>
                  </a:lnTo>
                  <a:lnTo>
                    <a:pt x="25" y="0"/>
                  </a:lnTo>
                  <a:lnTo>
                    <a:pt x="38" y="0"/>
                  </a:lnTo>
                  <a:lnTo>
                    <a:pt x="38" y="8"/>
                  </a:lnTo>
                  <a:lnTo>
                    <a:pt x="51" y="8"/>
                  </a:lnTo>
                  <a:lnTo>
                    <a:pt x="57" y="15"/>
                  </a:lnTo>
                  <a:lnTo>
                    <a:pt x="63" y="15"/>
                  </a:lnTo>
                  <a:lnTo>
                    <a:pt x="70" y="22"/>
                  </a:lnTo>
                  <a:lnTo>
                    <a:pt x="76" y="37"/>
                  </a:lnTo>
                  <a:lnTo>
                    <a:pt x="82" y="37"/>
                  </a:lnTo>
                  <a:lnTo>
                    <a:pt x="76" y="44"/>
                  </a:lnTo>
                  <a:lnTo>
                    <a:pt x="63" y="44"/>
                  </a:lnTo>
                  <a:lnTo>
                    <a:pt x="57" y="37"/>
                  </a:lnTo>
                  <a:lnTo>
                    <a:pt x="57" y="29"/>
                  </a:lnTo>
                  <a:lnTo>
                    <a:pt x="51" y="22"/>
                  </a:lnTo>
                  <a:lnTo>
                    <a:pt x="38" y="51"/>
                  </a:lnTo>
                  <a:lnTo>
                    <a:pt x="32" y="51"/>
                  </a:lnTo>
                  <a:lnTo>
                    <a:pt x="25" y="44"/>
                  </a:lnTo>
                  <a:lnTo>
                    <a:pt x="25" y="37"/>
                  </a:lnTo>
                  <a:lnTo>
                    <a:pt x="19" y="37"/>
                  </a:lnTo>
                  <a:lnTo>
                    <a:pt x="13" y="29"/>
                  </a:lnTo>
                  <a:lnTo>
                    <a:pt x="32" y="29"/>
                  </a:lnTo>
                  <a:lnTo>
                    <a:pt x="32" y="22"/>
                  </a:lnTo>
                  <a:lnTo>
                    <a:pt x="32" y="15"/>
                  </a:lnTo>
                  <a:lnTo>
                    <a:pt x="25" y="15"/>
                  </a:lnTo>
                  <a:lnTo>
                    <a:pt x="13" y="29"/>
                  </a:lnTo>
                  <a:lnTo>
                    <a:pt x="6" y="29"/>
                  </a:lnTo>
                  <a:lnTo>
                    <a:pt x="0" y="22"/>
                  </a:lnTo>
                  <a:lnTo>
                    <a:pt x="0" y="15"/>
                  </a:lnTo>
                  <a:lnTo>
                    <a:pt x="0"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22" name="Freeform 76"/>
            <p:cNvSpPr>
              <a:spLocks/>
            </p:cNvSpPr>
            <p:nvPr/>
          </p:nvSpPr>
          <p:spPr bwMode="auto">
            <a:xfrm>
              <a:off x="4392" y="50"/>
              <a:ext cx="82" cy="51"/>
            </a:xfrm>
            <a:custGeom>
              <a:avLst/>
              <a:gdLst>
                <a:gd name="T0" fmla="*/ 0 w 82"/>
                <a:gd name="T1" fmla="*/ 0 h 51"/>
                <a:gd name="T2" fmla="*/ 13 w 82"/>
                <a:gd name="T3" fmla="*/ 0 h 51"/>
                <a:gd name="T4" fmla="*/ 19 w 82"/>
                <a:gd name="T5" fmla="*/ 0 h 51"/>
                <a:gd name="T6" fmla="*/ 25 w 82"/>
                <a:gd name="T7" fmla="*/ 8 h 51"/>
                <a:gd name="T8" fmla="*/ 25 w 82"/>
                <a:gd name="T9" fmla="*/ 0 h 51"/>
                <a:gd name="T10" fmla="*/ 38 w 82"/>
                <a:gd name="T11" fmla="*/ 0 h 51"/>
                <a:gd name="T12" fmla="*/ 38 w 82"/>
                <a:gd name="T13" fmla="*/ 8 h 51"/>
                <a:gd name="T14" fmla="*/ 51 w 82"/>
                <a:gd name="T15" fmla="*/ 8 h 51"/>
                <a:gd name="T16" fmla="*/ 57 w 82"/>
                <a:gd name="T17" fmla="*/ 15 h 51"/>
                <a:gd name="T18" fmla="*/ 63 w 82"/>
                <a:gd name="T19" fmla="*/ 15 h 51"/>
                <a:gd name="T20" fmla="*/ 70 w 82"/>
                <a:gd name="T21" fmla="*/ 22 h 51"/>
                <a:gd name="T22" fmla="*/ 76 w 82"/>
                <a:gd name="T23" fmla="*/ 37 h 51"/>
                <a:gd name="T24" fmla="*/ 82 w 82"/>
                <a:gd name="T25" fmla="*/ 37 h 51"/>
                <a:gd name="T26" fmla="*/ 76 w 82"/>
                <a:gd name="T27" fmla="*/ 44 h 51"/>
                <a:gd name="T28" fmla="*/ 63 w 82"/>
                <a:gd name="T29" fmla="*/ 44 h 51"/>
                <a:gd name="T30" fmla="*/ 57 w 82"/>
                <a:gd name="T31" fmla="*/ 37 h 51"/>
                <a:gd name="T32" fmla="*/ 57 w 82"/>
                <a:gd name="T33" fmla="*/ 29 h 51"/>
                <a:gd name="T34" fmla="*/ 51 w 82"/>
                <a:gd name="T35" fmla="*/ 22 h 51"/>
                <a:gd name="T36" fmla="*/ 38 w 82"/>
                <a:gd name="T37" fmla="*/ 51 h 51"/>
                <a:gd name="T38" fmla="*/ 32 w 82"/>
                <a:gd name="T39" fmla="*/ 51 h 51"/>
                <a:gd name="T40" fmla="*/ 25 w 82"/>
                <a:gd name="T41" fmla="*/ 44 h 51"/>
                <a:gd name="T42" fmla="*/ 25 w 82"/>
                <a:gd name="T43" fmla="*/ 37 h 51"/>
                <a:gd name="T44" fmla="*/ 19 w 82"/>
                <a:gd name="T45" fmla="*/ 37 h 51"/>
                <a:gd name="T46" fmla="*/ 13 w 82"/>
                <a:gd name="T47" fmla="*/ 29 h 51"/>
                <a:gd name="T48" fmla="*/ 32 w 82"/>
                <a:gd name="T49" fmla="*/ 29 h 51"/>
                <a:gd name="T50" fmla="*/ 32 w 82"/>
                <a:gd name="T51" fmla="*/ 22 h 51"/>
                <a:gd name="T52" fmla="*/ 32 w 82"/>
                <a:gd name="T53" fmla="*/ 15 h 51"/>
                <a:gd name="T54" fmla="*/ 25 w 82"/>
                <a:gd name="T55" fmla="*/ 15 h 51"/>
                <a:gd name="T56" fmla="*/ 13 w 82"/>
                <a:gd name="T57" fmla="*/ 29 h 51"/>
                <a:gd name="T58" fmla="*/ 6 w 82"/>
                <a:gd name="T59" fmla="*/ 29 h 51"/>
                <a:gd name="T60" fmla="*/ 0 w 82"/>
                <a:gd name="T61" fmla="*/ 22 h 51"/>
                <a:gd name="T62" fmla="*/ 0 w 82"/>
                <a:gd name="T63" fmla="*/ 15 h 51"/>
                <a:gd name="T64" fmla="*/ 0 w 82"/>
                <a:gd name="T65" fmla="*/ 0 h 5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82"/>
                <a:gd name="T100" fmla="*/ 0 h 51"/>
                <a:gd name="T101" fmla="*/ 82 w 82"/>
                <a:gd name="T102" fmla="*/ 51 h 5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82" h="51">
                  <a:moveTo>
                    <a:pt x="0" y="0"/>
                  </a:moveTo>
                  <a:lnTo>
                    <a:pt x="13" y="0"/>
                  </a:lnTo>
                  <a:lnTo>
                    <a:pt x="19" y="0"/>
                  </a:lnTo>
                  <a:lnTo>
                    <a:pt x="25" y="8"/>
                  </a:lnTo>
                  <a:lnTo>
                    <a:pt x="25" y="0"/>
                  </a:lnTo>
                  <a:lnTo>
                    <a:pt x="38" y="0"/>
                  </a:lnTo>
                  <a:lnTo>
                    <a:pt x="38" y="8"/>
                  </a:lnTo>
                  <a:lnTo>
                    <a:pt x="51" y="8"/>
                  </a:lnTo>
                  <a:lnTo>
                    <a:pt x="57" y="15"/>
                  </a:lnTo>
                  <a:lnTo>
                    <a:pt x="63" y="15"/>
                  </a:lnTo>
                  <a:lnTo>
                    <a:pt x="70" y="22"/>
                  </a:lnTo>
                  <a:lnTo>
                    <a:pt x="76" y="37"/>
                  </a:lnTo>
                  <a:lnTo>
                    <a:pt x="82" y="37"/>
                  </a:lnTo>
                  <a:lnTo>
                    <a:pt x="76" y="44"/>
                  </a:lnTo>
                  <a:lnTo>
                    <a:pt x="63" y="44"/>
                  </a:lnTo>
                  <a:lnTo>
                    <a:pt x="57" y="37"/>
                  </a:lnTo>
                  <a:lnTo>
                    <a:pt x="57" y="29"/>
                  </a:lnTo>
                  <a:lnTo>
                    <a:pt x="51" y="22"/>
                  </a:lnTo>
                  <a:lnTo>
                    <a:pt x="38" y="51"/>
                  </a:lnTo>
                  <a:lnTo>
                    <a:pt x="32" y="51"/>
                  </a:lnTo>
                  <a:lnTo>
                    <a:pt x="25" y="44"/>
                  </a:lnTo>
                  <a:lnTo>
                    <a:pt x="25" y="37"/>
                  </a:lnTo>
                  <a:lnTo>
                    <a:pt x="19" y="37"/>
                  </a:lnTo>
                  <a:lnTo>
                    <a:pt x="13" y="29"/>
                  </a:lnTo>
                  <a:lnTo>
                    <a:pt x="32" y="29"/>
                  </a:lnTo>
                  <a:lnTo>
                    <a:pt x="32" y="22"/>
                  </a:lnTo>
                  <a:lnTo>
                    <a:pt x="32" y="15"/>
                  </a:lnTo>
                  <a:lnTo>
                    <a:pt x="25" y="15"/>
                  </a:lnTo>
                  <a:lnTo>
                    <a:pt x="13" y="29"/>
                  </a:lnTo>
                  <a:lnTo>
                    <a:pt x="6" y="29"/>
                  </a:lnTo>
                  <a:lnTo>
                    <a:pt x="0" y="22"/>
                  </a:lnTo>
                  <a:lnTo>
                    <a:pt x="0" y="15"/>
                  </a:lnTo>
                  <a:lnTo>
                    <a:pt x="0"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23" name="Freeform 77"/>
            <p:cNvSpPr>
              <a:spLocks/>
            </p:cNvSpPr>
            <p:nvPr/>
          </p:nvSpPr>
          <p:spPr bwMode="auto">
            <a:xfrm>
              <a:off x="4646" y="94"/>
              <a:ext cx="89" cy="93"/>
            </a:xfrm>
            <a:custGeom>
              <a:avLst/>
              <a:gdLst>
                <a:gd name="T0" fmla="*/ 50 w 89"/>
                <a:gd name="T1" fmla="*/ 29 h 93"/>
                <a:gd name="T2" fmla="*/ 44 w 89"/>
                <a:gd name="T3" fmla="*/ 29 h 93"/>
                <a:gd name="T4" fmla="*/ 44 w 89"/>
                <a:gd name="T5" fmla="*/ 29 h 93"/>
                <a:gd name="T6" fmla="*/ 44 w 89"/>
                <a:gd name="T7" fmla="*/ 29 h 93"/>
                <a:gd name="T8" fmla="*/ 44 w 89"/>
                <a:gd name="T9" fmla="*/ 36 h 93"/>
                <a:gd name="T10" fmla="*/ 38 w 89"/>
                <a:gd name="T11" fmla="*/ 36 h 93"/>
                <a:gd name="T12" fmla="*/ 38 w 89"/>
                <a:gd name="T13" fmla="*/ 36 h 93"/>
                <a:gd name="T14" fmla="*/ 38 w 89"/>
                <a:gd name="T15" fmla="*/ 43 h 93"/>
                <a:gd name="T16" fmla="*/ 31 w 89"/>
                <a:gd name="T17" fmla="*/ 50 h 93"/>
                <a:gd name="T18" fmla="*/ 31 w 89"/>
                <a:gd name="T19" fmla="*/ 50 h 93"/>
                <a:gd name="T20" fmla="*/ 25 w 89"/>
                <a:gd name="T21" fmla="*/ 50 h 93"/>
                <a:gd name="T22" fmla="*/ 25 w 89"/>
                <a:gd name="T23" fmla="*/ 79 h 93"/>
                <a:gd name="T24" fmla="*/ 31 w 89"/>
                <a:gd name="T25" fmla="*/ 86 h 93"/>
                <a:gd name="T26" fmla="*/ 38 w 89"/>
                <a:gd name="T27" fmla="*/ 93 h 93"/>
                <a:gd name="T28" fmla="*/ 12 w 89"/>
                <a:gd name="T29" fmla="*/ 93 h 93"/>
                <a:gd name="T30" fmla="*/ 12 w 89"/>
                <a:gd name="T31" fmla="*/ 79 h 93"/>
                <a:gd name="T32" fmla="*/ 6 w 89"/>
                <a:gd name="T33" fmla="*/ 79 h 93"/>
                <a:gd name="T34" fmla="*/ 0 w 89"/>
                <a:gd name="T35" fmla="*/ 72 h 93"/>
                <a:gd name="T36" fmla="*/ 6 w 89"/>
                <a:gd name="T37" fmla="*/ 65 h 93"/>
                <a:gd name="T38" fmla="*/ 6 w 89"/>
                <a:gd name="T39" fmla="*/ 57 h 93"/>
                <a:gd name="T40" fmla="*/ 12 w 89"/>
                <a:gd name="T41" fmla="*/ 43 h 93"/>
                <a:gd name="T42" fmla="*/ 19 w 89"/>
                <a:gd name="T43" fmla="*/ 36 h 93"/>
                <a:gd name="T44" fmla="*/ 19 w 89"/>
                <a:gd name="T45" fmla="*/ 29 h 93"/>
                <a:gd name="T46" fmla="*/ 19 w 89"/>
                <a:gd name="T47" fmla="*/ 21 h 93"/>
                <a:gd name="T48" fmla="*/ 25 w 89"/>
                <a:gd name="T49" fmla="*/ 21 h 93"/>
                <a:gd name="T50" fmla="*/ 38 w 89"/>
                <a:gd name="T51" fmla="*/ 14 h 93"/>
                <a:gd name="T52" fmla="*/ 44 w 89"/>
                <a:gd name="T53" fmla="*/ 7 h 93"/>
                <a:gd name="T54" fmla="*/ 63 w 89"/>
                <a:gd name="T55" fmla="*/ 7 h 93"/>
                <a:gd name="T56" fmla="*/ 76 w 89"/>
                <a:gd name="T57" fmla="*/ 0 h 93"/>
                <a:gd name="T58" fmla="*/ 89 w 89"/>
                <a:gd name="T59" fmla="*/ 0 h 93"/>
                <a:gd name="T60" fmla="*/ 89 w 89"/>
                <a:gd name="T61" fmla="*/ 7 h 93"/>
                <a:gd name="T62" fmla="*/ 82 w 89"/>
                <a:gd name="T63" fmla="*/ 7 h 93"/>
                <a:gd name="T64" fmla="*/ 76 w 89"/>
                <a:gd name="T65" fmla="*/ 7 h 93"/>
                <a:gd name="T66" fmla="*/ 63 w 89"/>
                <a:gd name="T67" fmla="*/ 14 h 93"/>
                <a:gd name="T68" fmla="*/ 57 w 89"/>
                <a:gd name="T69" fmla="*/ 21 h 93"/>
                <a:gd name="T70" fmla="*/ 50 w 89"/>
                <a:gd name="T71" fmla="*/ 29 h 93"/>
                <a:gd name="T72" fmla="*/ 50 w 89"/>
                <a:gd name="T73" fmla="*/ 29 h 93"/>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89"/>
                <a:gd name="T112" fmla="*/ 0 h 93"/>
                <a:gd name="T113" fmla="*/ 89 w 89"/>
                <a:gd name="T114" fmla="*/ 93 h 93"/>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89" h="93">
                  <a:moveTo>
                    <a:pt x="50" y="29"/>
                  </a:moveTo>
                  <a:lnTo>
                    <a:pt x="44" y="29"/>
                  </a:lnTo>
                  <a:lnTo>
                    <a:pt x="44" y="36"/>
                  </a:lnTo>
                  <a:lnTo>
                    <a:pt x="38" y="36"/>
                  </a:lnTo>
                  <a:lnTo>
                    <a:pt x="38" y="43"/>
                  </a:lnTo>
                  <a:lnTo>
                    <a:pt x="31" y="50"/>
                  </a:lnTo>
                  <a:lnTo>
                    <a:pt x="25" y="50"/>
                  </a:lnTo>
                  <a:lnTo>
                    <a:pt x="25" y="79"/>
                  </a:lnTo>
                  <a:lnTo>
                    <a:pt x="31" y="86"/>
                  </a:lnTo>
                  <a:lnTo>
                    <a:pt x="38" y="93"/>
                  </a:lnTo>
                  <a:lnTo>
                    <a:pt x="12" y="93"/>
                  </a:lnTo>
                  <a:lnTo>
                    <a:pt x="12" y="79"/>
                  </a:lnTo>
                  <a:lnTo>
                    <a:pt x="6" y="79"/>
                  </a:lnTo>
                  <a:lnTo>
                    <a:pt x="0" y="72"/>
                  </a:lnTo>
                  <a:lnTo>
                    <a:pt x="6" y="65"/>
                  </a:lnTo>
                  <a:lnTo>
                    <a:pt x="6" y="57"/>
                  </a:lnTo>
                  <a:lnTo>
                    <a:pt x="12" y="43"/>
                  </a:lnTo>
                  <a:lnTo>
                    <a:pt x="19" y="36"/>
                  </a:lnTo>
                  <a:lnTo>
                    <a:pt x="19" y="29"/>
                  </a:lnTo>
                  <a:lnTo>
                    <a:pt x="19" y="21"/>
                  </a:lnTo>
                  <a:lnTo>
                    <a:pt x="25" y="21"/>
                  </a:lnTo>
                  <a:lnTo>
                    <a:pt x="38" y="14"/>
                  </a:lnTo>
                  <a:lnTo>
                    <a:pt x="44" y="7"/>
                  </a:lnTo>
                  <a:lnTo>
                    <a:pt x="63" y="7"/>
                  </a:lnTo>
                  <a:lnTo>
                    <a:pt x="76" y="0"/>
                  </a:lnTo>
                  <a:lnTo>
                    <a:pt x="89" y="0"/>
                  </a:lnTo>
                  <a:lnTo>
                    <a:pt x="89" y="7"/>
                  </a:lnTo>
                  <a:lnTo>
                    <a:pt x="82" y="7"/>
                  </a:lnTo>
                  <a:lnTo>
                    <a:pt x="76" y="7"/>
                  </a:lnTo>
                  <a:lnTo>
                    <a:pt x="63" y="14"/>
                  </a:lnTo>
                  <a:lnTo>
                    <a:pt x="57" y="21"/>
                  </a:lnTo>
                  <a:lnTo>
                    <a:pt x="50" y="29"/>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24" name="Freeform 78"/>
            <p:cNvSpPr>
              <a:spLocks/>
            </p:cNvSpPr>
            <p:nvPr/>
          </p:nvSpPr>
          <p:spPr bwMode="auto">
            <a:xfrm>
              <a:off x="4646" y="94"/>
              <a:ext cx="89" cy="93"/>
            </a:xfrm>
            <a:custGeom>
              <a:avLst/>
              <a:gdLst>
                <a:gd name="T0" fmla="*/ 50 w 89"/>
                <a:gd name="T1" fmla="*/ 29 h 93"/>
                <a:gd name="T2" fmla="*/ 44 w 89"/>
                <a:gd name="T3" fmla="*/ 29 h 93"/>
                <a:gd name="T4" fmla="*/ 44 w 89"/>
                <a:gd name="T5" fmla="*/ 36 h 93"/>
                <a:gd name="T6" fmla="*/ 38 w 89"/>
                <a:gd name="T7" fmla="*/ 36 h 93"/>
                <a:gd name="T8" fmla="*/ 38 w 89"/>
                <a:gd name="T9" fmla="*/ 43 h 93"/>
                <a:gd name="T10" fmla="*/ 31 w 89"/>
                <a:gd name="T11" fmla="*/ 50 h 93"/>
                <a:gd name="T12" fmla="*/ 25 w 89"/>
                <a:gd name="T13" fmla="*/ 50 h 93"/>
                <a:gd name="T14" fmla="*/ 25 w 89"/>
                <a:gd name="T15" fmla="*/ 79 h 93"/>
                <a:gd name="T16" fmla="*/ 31 w 89"/>
                <a:gd name="T17" fmla="*/ 86 h 93"/>
                <a:gd name="T18" fmla="*/ 38 w 89"/>
                <a:gd name="T19" fmla="*/ 93 h 93"/>
                <a:gd name="T20" fmla="*/ 12 w 89"/>
                <a:gd name="T21" fmla="*/ 93 h 93"/>
                <a:gd name="T22" fmla="*/ 12 w 89"/>
                <a:gd name="T23" fmla="*/ 79 h 93"/>
                <a:gd name="T24" fmla="*/ 6 w 89"/>
                <a:gd name="T25" fmla="*/ 79 h 93"/>
                <a:gd name="T26" fmla="*/ 0 w 89"/>
                <a:gd name="T27" fmla="*/ 72 h 93"/>
                <a:gd name="T28" fmla="*/ 6 w 89"/>
                <a:gd name="T29" fmla="*/ 65 h 93"/>
                <a:gd name="T30" fmla="*/ 6 w 89"/>
                <a:gd name="T31" fmla="*/ 57 h 93"/>
                <a:gd name="T32" fmla="*/ 12 w 89"/>
                <a:gd name="T33" fmla="*/ 43 h 93"/>
                <a:gd name="T34" fmla="*/ 19 w 89"/>
                <a:gd name="T35" fmla="*/ 36 h 93"/>
                <a:gd name="T36" fmla="*/ 19 w 89"/>
                <a:gd name="T37" fmla="*/ 29 h 93"/>
                <a:gd name="T38" fmla="*/ 19 w 89"/>
                <a:gd name="T39" fmla="*/ 21 h 93"/>
                <a:gd name="T40" fmla="*/ 25 w 89"/>
                <a:gd name="T41" fmla="*/ 21 h 93"/>
                <a:gd name="T42" fmla="*/ 38 w 89"/>
                <a:gd name="T43" fmla="*/ 14 h 93"/>
                <a:gd name="T44" fmla="*/ 44 w 89"/>
                <a:gd name="T45" fmla="*/ 7 h 93"/>
                <a:gd name="T46" fmla="*/ 63 w 89"/>
                <a:gd name="T47" fmla="*/ 7 h 93"/>
                <a:gd name="T48" fmla="*/ 76 w 89"/>
                <a:gd name="T49" fmla="*/ 0 h 93"/>
                <a:gd name="T50" fmla="*/ 89 w 89"/>
                <a:gd name="T51" fmla="*/ 0 h 93"/>
                <a:gd name="T52" fmla="*/ 89 w 89"/>
                <a:gd name="T53" fmla="*/ 7 h 93"/>
                <a:gd name="T54" fmla="*/ 82 w 89"/>
                <a:gd name="T55" fmla="*/ 7 h 93"/>
                <a:gd name="T56" fmla="*/ 76 w 89"/>
                <a:gd name="T57" fmla="*/ 7 h 93"/>
                <a:gd name="T58" fmla="*/ 63 w 89"/>
                <a:gd name="T59" fmla="*/ 14 h 93"/>
                <a:gd name="T60" fmla="*/ 57 w 89"/>
                <a:gd name="T61" fmla="*/ 21 h 93"/>
                <a:gd name="T62" fmla="*/ 50 w 89"/>
                <a:gd name="T63" fmla="*/ 29 h 9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89"/>
                <a:gd name="T97" fmla="*/ 0 h 93"/>
                <a:gd name="T98" fmla="*/ 89 w 89"/>
                <a:gd name="T99" fmla="*/ 93 h 9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89" h="93">
                  <a:moveTo>
                    <a:pt x="50" y="29"/>
                  </a:moveTo>
                  <a:lnTo>
                    <a:pt x="44" y="29"/>
                  </a:lnTo>
                  <a:lnTo>
                    <a:pt x="44" y="36"/>
                  </a:lnTo>
                  <a:lnTo>
                    <a:pt x="38" y="36"/>
                  </a:lnTo>
                  <a:lnTo>
                    <a:pt x="38" y="43"/>
                  </a:lnTo>
                  <a:lnTo>
                    <a:pt x="31" y="50"/>
                  </a:lnTo>
                  <a:lnTo>
                    <a:pt x="25" y="50"/>
                  </a:lnTo>
                  <a:lnTo>
                    <a:pt x="25" y="79"/>
                  </a:lnTo>
                  <a:lnTo>
                    <a:pt x="31" y="86"/>
                  </a:lnTo>
                  <a:lnTo>
                    <a:pt x="38" y="93"/>
                  </a:lnTo>
                  <a:lnTo>
                    <a:pt x="12" y="93"/>
                  </a:lnTo>
                  <a:lnTo>
                    <a:pt x="12" y="79"/>
                  </a:lnTo>
                  <a:lnTo>
                    <a:pt x="6" y="79"/>
                  </a:lnTo>
                  <a:lnTo>
                    <a:pt x="0" y="72"/>
                  </a:lnTo>
                  <a:lnTo>
                    <a:pt x="6" y="65"/>
                  </a:lnTo>
                  <a:lnTo>
                    <a:pt x="6" y="57"/>
                  </a:lnTo>
                  <a:lnTo>
                    <a:pt x="12" y="43"/>
                  </a:lnTo>
                  <a:lnTo>
                    <a:pt x="19" y="36"/>
                  </a:lnTo>
                  <a:lnTo>
                    <a:pt x="19" y="29"/>
                  </a:lnTo>
                  <a:lnTo>
                    <a:pt x="19" y="21"/>
                  </a:lnTo>
                  <a:lnTo>
                    <a:pt x="25" y="21"/>
                  </a:lnTo>
                  <a:lnTo>
                    <a:pt x="38" y="14"/>
                  </a:lnTo>
                  <a:lnTo>
                    <a:pt x="44" y="7"/>
                  </a:lnTo>
                  <a:lnTo>
                    <a:pt x="63" y="7"/>
                  </a:lnTo>
                  <a:lnTo>
                    <a:pt x="76" y="0"/>
                  </a:lnTo>
                  <a:lnTo>
                    <a:pt x="89" y="0"/>
                  </a:lnTo>
                  <a:lnTo>
                    <a:pt x="89" y="7"/>
                  </a:lnTo>
                  <a:lnTo>
                    <a:pt x="82" y="7"/>
                  </a:lnTo>
                  <a:lnTo>
                    <a:pt x="76" y="7"/>
                  </a:lnTo>
                  <a:lnTo>
                    <a:pt x="63" y="14"/>
                  </a:lnTo>
                  <a:lnTo>
                    <a:pt x="57" y="21"/>
                  </a:lnTo>
                  <a:lnTo>
                    <a:pt x="50" y="29"/>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25" name="Freeform 79"/>
            <p:cNvSpPr>
              <a:spLocks/>
            </p:cNvSpPr>
            <p:nvPr/>
          </p:nvSpPr>
          <p:spPr bwMode="auto">
            <a:xfrm>
              <a:off x="3452" y="404"/>
              <a:ext cx="13" cy="21"/>
            </a:xfrm>
            <a:custGeom>
              <a:avLst/>
              <a:gdLst>
                <a:gd name="T0" fmla="*/ 0 w 13"/>
                <a:gd name="T1" fmla="*/ 0 h 21"/>
                <a:gd name="T2" fmla="*/ 7 w 13"/>
                <a:gd name="T3" fmla="*/ 14 h 21"/>
                <a:gd name="T4" fmla="*/ 7 w 13"/>
                <a:gd name="T5" fmla="*/ 14 h 21"/>
                <a:gd name="T6" fmla="*/ 7 w 13"/>
                <a:gd name="T7" fmla="*/ 21 h 21"/>
                <a:gd name="T8" fmla="*/ 7 w 13"/>
                <a:gd name="T9" fmla="*/ 14 h 21"/>
                <a:gd name="T10" fmla="*/ 13 w 13"/>
                <a:gd name="T11" fmla="*/ 0 h 21"/>
                <a:gd name="T12" fmla="*/ 7 w 13"/>
                <a:gd name="T13" fmla="*/ 0 h 21"/>
                <a:gd name="T14" fmla="*/ 0 w 13"/>
                <a:gd name="T15" fmla="*/ 0 h 21"/>
                <a:gd name="T16" fmla="*/ 0 w 13"/>
                <a:gd name="T17" fmla="*/ 0 h 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
                <a:gd name="T28" fmla="*/ 0 h 21"/>
                <a:gd name="T29" fmla="*/ 13 w 13"/>
                <a:gd name="T30" fmla="*/ 21 h 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 h="21">
                  <a:moveTo>
                    <a:pt x="0" y="0"/>
                  </a:moveTo>
                  <a:lnTo>
                    <a:pt x="7" y="14"/>
                  </a:lnTo>
                  <a:lnTo>
                    <a:pt x="7" y="21"/>
                  </a:lnTo>
                  <a:lnTo>
                    <a:pt x="7" y="14"/>
                  </a:lnTo>
                  <a:lnTo>
                    <a:pt x="13" y="0"/>
                  </a:lnTo>
                  <a:lnTo>
                    <a:pt x="7" y="0"/>
                  </a:lnTo>
                  <a:lnTo>
                    <a:pt x="0"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26" name="Freeform 80"/>
            <p:cNvSpPr>
              <a:spLocks/>
            </p:cNvSpPr>
            <p:nvPr/>
          </p:nvSpPr>
          <p:spPr bwMode="auto">
            <a:xfrm>
              <a:off x="3452" y="404"/>
              <a:ext cx="13" cy="21"/>
            </a:xfrm>
            <a:custGeom>
              <a:avLst/>
              <a:gdLst>
                <a:gd name="T0" fmla="*/ 0 w 13"/>
                <a:gd name="T1" fmla="*/ 0 h 21"/>
                <a:gd name="T2" fmla="*/ 7 w 13"/>
                <a:gd name="T3" fmla="*/ 14 h 21"/>
                <a:gd name="T4" fmla="*/ 7 w 13"/>
                <a:gd name="T5" fmla="*/ 21 h 21"/>
                <a:gd name="T6" fmla="*/ 7 w 13"/>
                <a:gd name="T7" fmla="*/ 14 h 21"/>
                <a:gd name="T8" fmla="*/ 13 w 13"/>
                <a:gd name="T9" fmla="*/ 0 h 21"/>
                <a:gd name="T10" fmla="*/ 7 w 13"/>
                <a:gd name="T11" fmla="*/ 0 h 21"/>
                <a:gd name="T12" fmla="*/ 0 w 13"/>
                <a:gd name="T13" fmla="*/ 0 h 21"/>
                <a:gd name="T14" fmla="*/ 0 60000 65536"/>
                <a:gd name="T15" fmla="*/ 0 60000 65536"/>
                <a:gd name="T16" fmla="*/ 0 60000 65536"/>
                <a:gd name="T17" fmla="*/ 0 60000 65536"/>
                <a:gd name="T18" fmla="*/ 0 60000 65536"/>
                <a:gd name="T19" fmla="*/ 0 60000 65536"/>
                <a:gd name="T20" fmla="*/ 0 60000 65536"/>
                <a:gd name="T21" fmla="*/ 0 w 13"/>
                <a:gd name="T22" fmla="*/ 0 h 21"/>
                <a:gd name="T23" fmla="*/ 13 w 13"/>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 h="21">
                  <a:moveTo>
                    <a:pt x="0" y="0"/>
                  </a:moveTo>
                  <a:lnTo>
                    <a:pt x="7" y="14"/>
                  </a:lnTo>
                  <a:lnTo>
                    <a:pt x="7" y="21"/>
                  </a:lnTo>
                  <a:lnTo>
                    <a:pt x="7" y="14"/>
                  </a:lnTo>
                  <a:lnTo>
                    <a:pt x="13" y="0"/>
                  </a:lnTo>
                  <a:lnTo>
                    <a:pt x="7" y="0"/>
                  </a:lnTo>
                  <a:lnTo>
                    <a:pt x="0"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27" name="Freeform 81"/>
            <p:cNvSpPr>
              <a:spLocks/>
            </p:cNvSpPr>
            <p:nvPr/>
          </p:nvSpPr>
          <p:spPr bwMode="auto">
            <a:xfrm>
              <a:off x="3928" y="1435"/>
              <a:ext cx="13" cy="14"/>
            </a:xfrm>
            <a:custGeom>
              <a:avLst/>
              <a:gdLst>
                <a:gd name="T0" fmla="*/ 13 w 13"/>
                <a:gd name="T1" fmla="*/ 0 h 14"/>
                <a:gd name="T2" fmla="*/ 7 w 13"/>
                <a:gd name="T3" fmla="*/ 0 h 14"/>
                <a:gd name="T4" fmla="*/ 0 w 13"/>
                <a:gd name="T5" fmla="*/ 14 h 14"/>
                <a:gd name="T6" fmla="*/ 7 w 13"/>
                <a:gd name="T7" fmla="*/ 14 h 14"/>
                <a:gd name="T8" fmla="*/ 7 w 13"/>
                <a:gd name="T9" fmla="*/ 7 h 14"/>
                <a:gd name="T10" fmla="*/ 13 w 13"/>
                <a:gd name="T11" fmla="*/ 0 h 14"/>
                <a:gd name="T12" fmla="*/ 13 w 13"/>
                <a:gd name="T13" fmla="*/ 0 h 14"/>
                <a:gd name="T14" fmla="*/ 0 60000 65536"/>
                <a:gd name="T15" fmla="*/ 0 60000 65536"/>
                <a:gd name="T16" fmla="*/ 0 60000 65536"/>
                <a:gd name="T17" fmla="*/ 0 60000 65536"/>
                <a:gd name="T18" fmla="*/ 0 60000 65536"/>
                <a:gd name="T19" fmla="*/ 0 60000 65536"/>
                <a:gd name="T20" fmla="*/ 0 60000 65536"/>
                <a:gd name="T21" fmla="*/ 0 w 13"/>
                <a:gd name="T22" fmla="*/ 0 h 14"/>
                <a:gd name="T23" fmla="*/ 13 w 13"/>
                <a:gd name="T24" fmla="*/ 14 h 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 h="14">
                  <a:moveTo>
                    <a:pt x="13" y="0"/>
                  </a:moveTo>
                  <a:lnTo>
                    <a:pt x="7" y="0"/>
                  </a:lnTo>
                  <a:lnTo>
                    <a:pt x="0" y="14"/>
                  </a:lnTo>
                  <a:lnTo>
                    <a:pt x="7" y="14"/>
                  </a:lnTo>
                  <a:lnTo>
                    <a:pt x="7" y="7"/>
                  </a:lnTo>
                  <a:lnTo>
                    <a:pt x="13"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28" name="Freeform 82"/>
            <p:cNvSpPr>
              <a:spLocks/>
            </p:cNvSpPr>
            <p:nvPr/>
          </p:nvSpPr>
          <p:spPr bwMode="auto">
            <a:xfrm>
              <a:off x="3928" y="1435"/>
              <a:ext cx="13" cy="14"/>
            </a:xfrm>
            <a:custGeom>
              <a:avLst/>
              <a:gdLst>
                <a:gd name="T0" fmla="*/ 13 w 13"/>
                <a:gd name="T1" fmla="*/ 0 h 14"/>
                <a:gd name="T2" fmla="*/ 7 w 13"/>
                <a:gd name="T3" fmla="*/ 0 h 14"/>
                <a:gd name="T4" fmla="*/ 0 w 13"/>
                <a:gd name="T5" fmla="*/ 14 h 14"/>
                <a:gd name="T6" fmla="*/ 7 w 13"/>
                <a:gd name="T7" fmla="*/ 14 h 14"/>
                <a:gd name="T8" fmla="*/ 7 w 13"/>
                <a:gd name="T9" fmla="*/ 7 h 14"/>
                <a:gd name="T10" fmla="*/ 13 w 13"/>
                <a:gd name="T11" fmla="*/ 0 h 14"/>
                <a:gd name="T12" fmla="*/ 0 60000 65536"/>
                <a:gd name="T13" fmla="*/ 0 60000 65536"/>
                <a:gd name="T14" fmla="*/ 0 60000 65536"/>
                <a:gd name="T15" fmla="*/ 0 60000 65536"/>
                <a:gd name="T16" fmla="*/ 0 60000 65536"/>
                <a:gd name="T17" fmla="*/ 0 60000 65536"/>
                <a:gd name="T18" fmla="*/ 0 w 13"/>
                <a:gd name="T19" fmla="*/ 0 h 14"/>
                <a:gd name="T20" fmla="*/ 13 w 13"/>
                <a:gd name="T21" fmla="*/ 14 h 14"/>
              </a:gdLst>
              <a:ahLst/>
              <a:cxnLst>
                <a:cxn ang="T12">
                  <a:pos x="T0" y="T1"/>
                </a:cxn>
                <a:cxn ang="T13">
                  <a:pos x="T2" y="T3"/>
                </a:cxn>
                <a:cxn ang="T14">
                  <a:pos x="T4" y="T5"/>
                </a:cxn>
                <a:cxn ang="T15">
                  <a:pos x="T6" y="T7"/>
                </a:cxn>
                <a:cxn ang="T16">
                  <a:pos x="T8" y="T9"/>
                </a:cxn>
                <a:cxn ang="T17">
                  <a:pos x="T10" y="T11"/>
                </a:cxn>
              </a:cxnLst>
              <a:rect l="T18" t="T19" r="T20" b="T21"/>
              <a:pathLst>
                <a:path w="13" h="14">
                  <a:moveTo>
                    <a:pt x="13" y="0"/>
                  </a:moveTo>
                  <a:lnTo>
                    <a:pt x="7" y="0"/>
                  </a:lnTo>
                  <a:lnTo>
                    <a:pt x="0" y="14"/>
                  </a:lnTo>
                  <a:lnTo>
                    <a:pt x="7" y="14"/>
                  </a:lnTo>
                  <a:lnTo>
                    <a:pt x="7" y="7"/>
                  </a:lnTo>
                  <a:lnTo>
                    <a:pt x="13"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29" name="Freeform 83"/>
            <p:cNvSpPr>
              <a:spLocks/>
            </p:cNvSpPr>
            <p:nvPr/>
          </p:nvSpPr>
          <p:spPr bwMode="auto">
            <a:xfrm>
              <a:off x="3859" y="764"/>
              <a:ext cx="6" cy="7"/>
            </a:xfrm>
            <a:custGeom>
              <a:avLst/>
              <a:gdLst>
                <a:gd name="T0" fmla="*/ 0 w 6"/>
                <a:gd name="T1" fmla="*/ 0 h 7"/>
                <a:gd name="T2" fmla="*/ 0 w 6"/>
                <a:gd name="T3" fmla="*/ 7 h 7"/>
                <a:gd name="T4" fmla="*/ 6 w 6"/>
                <a:gd name="T5" fmla="*/ 7 h 7"/>
                <a:gd name="T6" fmla="*/ 6 w 6"/>
                <a:gd name="T7" fmla="*/ 0 h 7"/>
                <a:gd name="T8" fmla="*/ 0 w 6"/>
                <a:gd name="T9" fmla="*/ 0 h 7"/>
                <a:gd name="T10" fmla="*/ 0 w 6"/>
                <a:gd name="T11" fmla="*/ 0 h 7"/>
                <a:gd name="T12" fmla="*/ 0 60000 65536"/>
                <a:gd name="T13" fmla="*/ 0 60000 65536"/>
                <a:gd name="T14" fmla="*/ 0 60000 65536"/>
                <a:gd name="T15" fmla="*/ 0 60000 65536"/>
                <a:gd name="T16" fmla="*/ 0 60000 65536"/>
                <a:gd name="T17" fmla="*/ 0 60000 65536"/>
                <a:gd name="T18" fmla="*/ 0 w 6"/>
                <a:gd name="T19" fmla="*/ 0 h 7"/>
                <a:gd name="T20" fmla="*/ 6 w 6"/>
                <a:gd name="T21" fmla="*/ 7 h 7"/>
              </a:gdLst>
              <a:ahLst/>
              <a:cxnLst>
                <a:cxn ang="T12">
                  <a:pos x="T0" y="T1"/>
                </a:cxn>
                <a:cxn ang="T13">
                  <a:pos x="T2" y="T3"/>
                </a:cxn>
                <a:cxn ang="T14">
                  <a:pos x="T4" y="T5"/>
                </a:cxn>
                <a:cxn ang="T15">
                  <a:pos x="T6" y="T7"/>
                </a:cxn>
                <a:cxn ang="T16">
                  <a:pos x="T8" y="T9"/>
                </a:cxn>
                <a:cxn ang="T17">
                  <a:pos x="T10" y="T11"/>
                </a:cxn>
              </a:cxnLst>
              <a:rect l="T18" t="T19" r="T20" b="T21"/>
              <a:pathLst>
                <a:path w="6" h="7">
                  <a:moveTo>
                    <a:pt x="0" y="0"/>
                  </a:moveTo>
                  <a:lnTo>
                    <a:pt x="0" y="7"/>
                  </a:lnTo>
                  <a:lnTo>
                    <a:pt x="6" y="7"/>
                  </a:lnTo>
                  <a:lnTo>
                    <a:pt x="6" y="0"/>
                  </a:lnTo>
                  <a:lnTo>
                    <a:pt x="0"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30" name="Rectangle 84"/>
            <p:cNvSpPr>
              <a:spLocks noChangeArrowheads="1"/>
            </p:cNvSpPr>
            <p:nvPr/>
          </p:nvSpPr>
          <p:spPr bwMode="auto">
            <a:xfrm>
              <a:off x="3862" y="767"/>
              <a:ext cx="1" cy="1"/>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华文中宋" panose="02010600040101010101" pitchFamily="2" charset="-122"/>
                  <a:ea typeface="华文中宋" panose="02010600040101010101" pitchFamily="2" charset="-122"/>
                </a:defRPr>
              </a:lvl1pPr>
              <a:lvl2pPr marL="742950" indent="-285750">
                <a:defRPr sz="2400" b="1">
                  <a:solidFill>
                    <a:schemeClr val="tx1"/>
                  </a:solidFill>
                  <a:latin typeface="华文中宋" panose="02010600040101010101" pitchFamily="2" charset="-122"/>
                  <a:ea typeface="华文中宋" panose="02010600040101010101" pitchFamily="2" charset="-122"/>
                </a:defRPr>
              </a:lvl2pPr>
              <a:lvl3pPr marL="1143000" indent="-228600">
                <a:defRPr sz="2400" b="1">
                  <a:solidFill>
                    <a:schemeClr val="tx1"/>
                  </a:solidFill>
                  <a:latin typeface="华文中宋" panose="02010600040101010101" pitchFamily="2" charset="-122"/>
                  <a:ea typeface="华文中宋" panose="02010600040101010101" pitchFamily="2" charset="-122"/>
                </a:defRPr>
              </a:lvl3pPr>
              <a:lvl4pPr marL="1600200" indent="-228600">
                <a:defRPr sz="2400" b="1">
                  <a:solidFill>
                    <a:schemeClr val="tx1"/>
                  </a:solidFill>
                  <a:latin typeface="华文中宋" panose="02010600040101010101" pitchFamily="2" charset="-122"/>
                  <a:ea typeface="华文中宋" panose="02010600040101010101" pitchFamily="2" charset="-122"/>
                </a:defRPr>
              </a:lvl4pPr>
              <a:lvl5pPr marL="2057400" indent="-228600">
                <a:defRPr sz="2400" b="1">
                  <a:solidFill>
                    <a:schemeClr val="tx1"/>
                  </a:solidFill>
                  <a:latin typeface="华文中宋" panose="02010600040101010101" pitchFamily="2" charset="-122"/>
                  <a:ea typeface="华文中宋" panose="02010600040101010101" pitchFamily="2" charset="-122"/>
                </a:defRPr>
              </a:lvl5pPr>
              <a:lvl6pPr marL="2514600" indent="-228600" eaLnBrk="0" fontAlgn="base" hangingPunct="0">
                <a:spcBef>
                  <a:spcPct val="0"/>
                </a:spcBef>
                <a:spcAft>
                  <a:spcPct val="0"/>
                </a:spcAft>
                <a:defRPr sz="2400" b="1">
                  <a:solidFill>
                    <a:schemeClr val="tx1"/>
                  </a:solidFill>
                  <a:latin typeface="华文中宋" panose="02010600040101010101" pitchFamily="2" charset="-122"/>
                  <a:ea typeface="华文中宋" panose="02010600040101010101" pitchFamily="2" charset="-122"/>
                </a:defRPr>
              </a:lvl6pPr>
              <a:lvl7pPr marL="2971800" indent="-228600" eaLnBrk="0" fontAlgn="base" hangingPunct="0">
                <a:spcBef>
                  <a:spcPct val="0"/>
                </a:spcBef>
                <a:spcAft>
                  <a:spcPct val="0"/>
                </a:spcAft>
                <a:defRPr sz="2400" b="1">
                  <a:solidFill>
                    <a:schemeClr val="tx1"/>
                  </a:solidFill>
                  <a:latin typeface="华文中宋" panose="02010600040101010101" pitchFamily="2" charset="-122"/>
                  <a:ea typeface="华文中宋" panose="02010600040101010101" pitchFamily="2" charset="-122"/>
                </a:defRPr>
              </a:lvl7pPr>
              <a:lvl8pPr marL="3429000" indent="-228600" eaLnBrk="0" fontAlgn="base" hangingPunct="0">
                <a:spcBef>
                  <a:spcPct val="0"/>
                </a:spcBef>
                <a:spcAft>
                  <a:spcPct val="0"/>
                </a:spcAft>
                <a:defRPr sz="2400" b="1">
                  <a:solidFill>
                    <a:schemeClr val="tx1"/>
                  </a:solidFill>
                  <a:latin typeface="华文中宋" panose="02010600040101010101" pitchFamily="2" charset="-122"/>
                  <a:ea typeface="华文中宋" panose="02010600040101010101" pitchFamily="2" charset="-122"/>
                </a:defRPr>
              </a:lvl8pPr>
              <a:lvl9pPr marL="3886200" indent="-228600" eaLnBrk="0" fontAlgn="base" hangingPunct="0">
                <a:spcBef>
                  <a:spcPct val="0"/>
                </a:spcBef>
                <a:spcAft>
                  <a:spcPct val="0"/>
                </a:spcAft>
                <a:defRPr sz="2400" b="1">
                  <a:solidFill>
                    <a:schemeClr val="tx1"/>
                  </a:solidFill>
                  <a:latin typeface="华文中宋" panose="02010600040101010101" pitchFamily="2" charset="-122"/>
                  <a:ea typeface="华文中宋" panose="02010600040101010101" pitchFamily="2" charset="-122"/>
                </a:defRPr>
              </a:lvl9pPr>
            </a:lstStyle>
            <a:p>
              <a:pPr eaLnBrk="1" hangingPunct="1">
                <a:lnSpc>
                  <a:spcPct val="120000"/>
                </a:lnSpc>
                <a:spcBef>
                  <a:spcPct val="20000"/>
                </a:spcBef>
              </a:pPr>
              <a:endParaRPr lang="zh-CN" altLang="en-US" b="0"/>
            </a:p>
          </p:txBody>
        </p:sp>
        <p:sp>
          <p:nvSpPr>
            <p:cNvPr id="83031" name="Freeform 85"/>
            <p:cNvSpPr>
              <a:spLocks/>
            </p:cNvSpPr>
            <p:nvPr/>
          </p:nvSpPr>
          <p:spPr bwMode="auto">
            <a:xfrm>
              <a:off x="3821" y="750"/>
              <a:ext cx="25" cy="29"/>
            </a:xfrm>
            <a:custGeom>
              <a:avLst/>
              <a:gdLst>
                <a:gd name="T0" fmla="*/ 19 w 25"/>
                <a:gd name="T1" fmla="*/ 21 h 29"/>
                <a:gd name="T2" fmla="*/ 25 w 25"/>
                <a:gd name="T3" fmla="*/ 14 h 29"/>
                <a:gd name="T4" fmla="*/ 25 w 25"/>
                <a:gd name="T5" fmla="*/ 14 h 29"/>
                <a:gd name="T6" fmla="*/ 19 w 25"/>
                <a:gd name="T7" fmla="*/ 0 h 29"/>
                <a:gd name="T8" fmla="*/ 6 w 25"/>
                <a:gd name="T9" fmla="*/ 0 h 29"/>
                <a:gd name="T10" fmla="*/ 0 w 25"/>
                <a:gd name="T11" fmla="*/ 7 h 29"/>
                <a:gd name="T12" fmla="*/ 0 w 25"/>
                <a:gd name="T13" fmla="*/ 21 h 29"/>
                <a:gd name="T14" fmla="*/ 6 w 25"/>
                <a:gd name="T15" fmla="*/ 29 h 29"/>
                <a:gd name="T16" fmla="*/ 6 w 25"/>
                <a:gd name="T17" fmla="*/ 21 h 29"/>
                <a:gd name="T18" fmla="*/ 19 w 25"/>
                <a:gd name="T19" fmla="*/ 21 h 29"/>
                <a:gd name="T20" fmla="*/ 19 w 25"/>
                <a:gd name="T21" fmla="*/ 21 h 2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
                <a:gd name="T34" fmla="*/ 0 h 29"/>
                <a:gd name="T35" fmla="*/ 25 w 25"/>
                <a:gd name="T36" fmla="*/ 29 h 2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 h="29">
                  <a:moveTo>
                    <a:pt x="19" y="21"/>
                  </a:moveTo>
                  <a:lnTo>
                    <a:pt x="25" y="14"/>
                  </a:lnTo>
                  <a:lnTo>
                    <a:pt x="19" y="0"/>
                  </a:lnTo>
                  <a:lnTo>
                    <a:pt x="6" y="0"/>
                  </a:lnTo>
                  <a:lnTo>
                    <a:pt x="0" y="7"/>
                  </a:lnTo>
                  <a:lnTo>
                    <a:pt x="0" y="21"/>
                  </a:lnTo>
                  <a:lnTo>
                    <a:pt x="6" y="29"/>
                  </a:lnTo>
                  <a:lnTo>
                    <a:pt x="6" y="21"/>
                  </a:lnTo>
                  <a:lnTo>
                    <a:pt x="19" y="21"/>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32" name="Freeform 86"/>
            <p:cNvSpPr>
              <a:spLocks/>
            </p:cNvSpPr>
            <p:nvPr/>
          </p:nvSpPr>
          <p:spPr bwMode="auto">
            <a:xfrm>
              <a:off x="3821" y="750"/>
              <a:ext cx="25" cy="29"/>
            </a:xfrm>
            <a:custGeom>
              <a:avLst/>
              <a:gdLst>
                <a:gd name="T0" fmla="*/ 19 w 25"/>
                <a:gd name="T1" fmla="*/ 21 h 29"/>
                <a:gd name="T2" fmla="*/ 25 w 25"/>
                <a:gd name="T3" fmla="*/ 14 h 29"/>
                <a:gd name="T4" fmla="*/ 19 w 25"/>
                <a:gd name="T5" fmla="*/ 0 h 29"/>
                <a:gd name="T6" fmla="*/ 6 w 25"/>
                <a:gd name="T7" fmla="*/ 0 h 29"/>
                <a:gd name="T8" fmla="*/ 0 w 25"/>
                <a:gd name="T9" fmla="*/ 7 h 29"/>
                <a:gd name="T10" fmla="*/ 0 w 25"/>
                <a:gd name="T11" fmla="*/ 21 h 29"/>
                <a:gd name="T12" fmla="*/ 6 w 25"/>
                <a:gd name="T13" fmla="*/ 29 h 29"/>
                <a:gd name="T14" fmla="*/ 6 w 25"/>
                <a:gd name="T15" fmla="*/ 21 h 29"/>
                <a:gd name="T16" fmla="*/ 19 w 25"/>
                <a:gd name="T17" fmla="*/ 21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5"/>
                <a:gd name="T28" fmla="*/ 0 h 29"/>
                <a:gd name="T29" fmla="*/ 25 w 25"/>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5" h="29">
                  <a:moveTo>
                    <a:pt x="19" y="21"/>
                  </a:moveTo>
                  <a:lnTo>
                    <a:pt x="25" y="14"/>
                  </a:lnTo>
                  <a:lnTo>
                    <a:pt x="19" y="0"/>
                  </a:lnTo>
                  <a:lnTo>
                    <a:pt x="6" y="0"/>
                  </a:lnTo>
                  <a:lnTo>
                    <a:pt x="0" y="7"/>
                  </a:lnTo>
                  <a:lnTo>
                    <a:pt x="0" y="21"/>
                  </a:lnTo>
                  <a:lnTo>
                    <a:pt x="6" y="29"/>
                  </a:lnTo>
                  <a:lnTo>
                    <a:pt x="6" y="21"/>
                  </a:lnTo>
                  <a:lnTo>
                    <a:pt x="19" y="21"/>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33" name="Freeform 87"/>
            <p:cNvSpPr>
              <a:spLocks/>
            </p:cNvSpPr>
            <p:nvPr/>
          </p:nvSpPr>
          <p:spPr bwMode="auto">
            <a:xfrm>
              <a:off x="3802" y="750"/>
              <a:ext cx="19" cy="21"/>
            </a:xfrm>
            <a:custGeom>
              <a:avLst/>
              <a:gdLst>
                <a:gd name="T0" fmla="*/ 19 w 19"/>
                <a:gd name="T1" fmla="*/ 21 h 21"/>
                <a:gd name="T2" fmla="*/ 6 w 19"/>
                <a:gd name="T3" fmla="*/ 21 h 21"/>
                <a:gd name="T4" fmla="*/ 6 w 19"/>
                <a:gd name="T5" fmla="*/ 21 h 21"/>
                <a:gd name="T6" fmla="*/ 0 w 19"/>
                <a:gd name="T7" fmla="*/ 14 h 21"/>
                <a:gd name="T8" fmla="*/ 6 w 19"/>
                <a:gd name="T9" fmla="*/ 14 h 21"/>
                <a:gd name="T10" fmla="*/ 12 w 19"/>
                <a:gd name="T11" fmla="*/ 14 h 21"/>
                <a:gd name="T12" fmla="*/ 12 w 19"/>
                <a:gd name="T13" fmla="*/ 0 h 21"/>
                <a:gd name="T14" fmla="*/ 19 w 19"/>
                <a:gd name="T15" fmla="*/ 7 h 21"/>
                <a:gd name="T16" fmla="*/ 19 w 19"/>
                <a:gd name="T17" fmla="*/ 7 h 21"/>
                <a:gd name="T18" fmla="*/ 19 w 19"/>
                <a:gd name="T19" fmla="*/ 21 h 21"/>
                <a:gd name="T20" fmla="*/ 19 w 19"/>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
                <a:gd name="T34" fmla="*/ 0 h 21"/>
                <a:gd name="T35" fmla="*/ 19 w 19"/>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 h="21">
                  <a:moveTo>
                    <a:pt x="19" y="21"/>
                  </a:moveTo>
                  <a:lnTo>
                    <a:pt x="6" y="21"/>
                  </a:lnTo>
                  <a:lnTo>
                    <a:pt x="0" y="14"/>
                  </a:lnTo>
                  <a:lnTo>
                    <a:pt x="6" y="14"/>
                  </a:lnTo>
                  <a:lnTo>
                    <a:pt x="12" y="14"/>
                  </a:lnTo>
                  <a:lnTo>
                    <a:pt x="12" y="0"/>
                  </a:lnTo>
                  <a:lnTo>
                    <a:pt x="19" y="7"/>
                  </a:lnTo>
                  <a:lnTo>
                    <a:pt x="19" y="21"/>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34" name="Freeform 88"/>
            <p:cNvSpPr>
              <a:spLocks/>
            </p:cNvSpPr>
            <p:nvPr/>
          </p:nvSpPr>
          <p:spPr bwMode="auto">
            <a:xfrm>
              <a:off x="3802" y="750"/>
              <a:ext cx="19" cy="21"/>
            </a:xfrm>
            <a:custGeom>
              <a:avLst/>
              <a:gdLst>
                <a:gd name="T0" fmla="*/ 19 w 19"/>
                <a:gd name="T1" fmla="*/ 21 h 21"/>
                <a:gd name="T2" fmla="*/ 6 w 19"/>
                <a:gd name="T3" fmla="*/ 21 h 21"/>
                <a:gd name="T4" fmla="*/ 0 w 19"/>
                <a:gd name="T5" fmla="*/ 14 h 21"/>
                <a:gd name="T6" fmla="*/ 6 w 19"/>
                <a:gd name="T7" fmla="*/ 14 h 21"/>
                <a:gd name="T8" fmla="*/ 12 w 19"/>
                <a:gd name="T9" fmla="*/ 14 h 21"/>
                <a:gd name="T10" fmla="*/ 12 w 19"/>
                <a:gd name="T11" fmla="*/ 0 h 21"/>
                <a:gd name="T12" fmla="*/ 19 w 19"/>
                <a:gd name="T13" fmla="*/ 7 h 21"/>
                <a:gd name="T14" fmla="*/ 19 w 19"/>
                <a:gd name="T15" fmla="*/ 21 h 21"/>
                <a:gd name="T16" fmla="*/ 0 60000 65536"/>
                <a:gd name="T17" fmla="*/ 0 60000 65536"/>
                <a:gd name="T18" fmla="*/ 0 60000 65536"/>
                <a:gd name="T19" fmla="*/ 0 60000 65536"/>
                <a:gd name="T20" fmla="*/ 0 60000 65536"/>
                <a:gd name="T21" fmla="*/ 0 60000 65536"/>
                <a:gd name="T22" fmla="*/ 0 60000 65536"/>
                <a:gd name="T23" fmla="*/ 0 60000 65536"/>
                <a:gd name="T24" fmla="*/ 0 w 19"/>
                <a:gd name="T25" fmla="*/ 0 h 21"/>
                <a:gd name="T26" fmla="*/ 19 w 19"/>
                <a:gd name="T27" fmla="*/ 21 h 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 h="21">
                  <a:moveTo>
                    <a:pt x="19" y="21"/>
                  </a:moveTo>
                  <a:lnTo>
                    <a:pt x="6" y="21"/>
                  </a:lnTo>
                  <a:lnTo>
                    <a:pt x="0" y="14"/>
                  </a:lnTo>
                  <a:lnTo>
                    <a:pt x="6" y="14"/>
                  </a:lnTo>
                  <a:lnTo>
                    <a:pt x="12" y="14"/>
                  </a:lnTo>
                  <a:lnTo>
                    <a:pt x="12" y="0"/>
                  </a:lnTo>
                  <a:lnTo>
                    <a:pt x="19" y="7"/>
                  </a:lnTo>
                  <a:lnTo>
                    <a:pt x="19" y="21"/>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35" name="Freeform 89"/>
            <p:cNvSpPr>
              <a:spLocks/>
            </p:cNvSpPr>
            <p:nvPr/>
          </p:nvSpPr>
          <p:spPr bwMode="auto">
            <a:xfrm>
              <a:off x="3776" y="764"/>
              <a:ext cx="13" cy="7"/>
            </a:xfrm>
            <a:custGeom>
              <a:avLst/>
              <a:gdLst>
                <a:gd name="T0" fmla="*/ 0 w 13"/>
                <a:gd name="T1" fmla="*/ 0 h 7"/>
                <a:gd name="T2" fmla="*/ 7 w 13"/>
                <a:gd name="T3" fmla="*/ 7 h 7"/>
                <a:gd name="T4" fmla="*/ 13 w 13"/>
                <a:gd name="T5" fmla="*/ 7 h 7"/>
                <a:gd name="T6" fmla="*/ 13 w 13"/>
                <a:gd name="T7" fmla="*/ 7 h 7"/>
                <a:gd name="T8" fmla="*/ 13 w 13"/>
                <a:gd name="T9" fmla="*/ 0 h 7"/>
                <a:gd name="T10" fmla="*/ 0 w 13"/>
                <a:gd name="T11" fmla="*/ 0 h 7"/>
                <a:gd name="T12" fmla="*/ 0 w 13"/>
                <a:gd name="T13" fmla="*/ 0 h 7"/>
                <a:gd name="T14" fmla="*/ 0 w 13"/>
                <a:gd name="T15" fmla="*/ 0 h 7"/>
                <a:gd name="T16" fmla="*/ 0 60000 65536"/>
                <a:gd name="T17" fmla="*/ 0 60000 65536"/>
                <a:gd name="T18" fmla="*/ 0 60000 65536"/>
                <a:gd name="T19" fmla="*/ 0 60000 65536"/>
                <a:gd name="T20" fmla="*/ 0 60000 65536"/>
                <a:gd name="T21" fmla="*/ 0 60000 65536"/>
                <a:gd name="T22" fmla="*/ 0 60000 65536"/>
                <a:gd name="T23" fmla="*/ 0 60000 65536"/>
                <a:gd name="T24" fmla="*/ 0 w 13"/>
                <a:gd name="T25" fmla="*/ 0 h 7"/>
                <a:gd name="T26" fmla="*/ 13 w 13"/>
                <a:gd name="T27" fmla="*/ 7 h 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 h="7">
                  <a:moveTo>
                    <a:pt x="0" y="0"/>
                  </a:moveTo>
                  <a:lnTo>
                    <a:pt x="7" y="7"/>
                  </a:lnTo>
                  <a:lnTo>
                    <a:pt x="13" y="7"/>
                  </a:lnTo>
                  <a:lnTo>
                    <a:pt x="13" y="0"/>
                  </a:lnTo>
                  <a:lnTo>
                    <a:pt x="0"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36" name="Freeform 90"/>
            <p:cNvSpPr>
              <a:spLocks/>
            </p:cNvSpPr>
            <p:nvPr/>
          </p:nvSpPr>
          <p:spPr bwMode="auto">
            <a:xfrm>
              <a:off x="3776" y="764"/>
              <a:ext cx="13" cy="7"/>
            </a:xfrm>
            <a:custGeom>
              <a:avLst/>
              <a:gdLst>
                <a:gd name="T0" fmla="*/ 0 w 13"/>
                <a:gd name="T1" fmla="*/ 0 h 7"/>
                <a:gd name="T2" fmla="*/ 7 w 13"/>
                <a:gd name="T3" fmla="*/ 7 h 7"/>
                <a:gd name="T4" fmla="*/ 13 w 13"/>
                <a:gd name="T5" fmla="*/ 7 h 7"/>
                <a:gd name="T6" fmla="*/ 13 w 13"/>
                <a:gd name="T7" fmla="*/ 0 h 7"/>
                <a:gd name="T8" fmla="*/ 0 w 13"/>
                <a:gd name="T9" fmla="*/ 0 h 7"/>
                <a:gd name="T10" fmla="*/ 0 60000 65536"/>
                <a:gd name="T11" fmla="*/ 0 60000 65536"/>
                <a:gd name="T12" fmla="*/ 0 60000 65536"/>
                <a:gd name="T13" fmla="*/ 0 60000 65536"/>
                <a:gd name="T14" fmla="*/ 0 60000 65536"/>
                <a:gd name="T15" fmla="*/ 0 w 13"/>
                <a:gd name="T16" fmla="*/ 0 h 7"/>
                <a:gd name="T17" fmla="*/ 13 w 13"/>
                <a:gd name="T18" fmla="*/ 7 h 7"/>
              </a:gdLst>
              <a:ahLst/>
              <a:cxnLst>
                <a:cxn ang="T10">
                  <a:pos x="T0" y="T1"/>
                </a:cxn>
                <a:cxn ang="T11">
                  <a:pos x="T2" y="T3"/>
                </a:cxn>
                <a:cxn ang="T12">
                  <a:pos x="T4" y="T5"/>
                </a:cxn>
                <a:cxn ang="T13">
                  <a:pos x="T6" y="T7"/>
                </a:cxn>
                <a:cxn ang="T14">
                  <a:pos x="T8" y="T9"/>
                </a:cxn>
              </a:cxnLst>
              <a:rect l="T15" t="T16" r="T17" b="T18"/>
              <a:pathLst>
                <a:path w="13" h="7">
                  <a:moveTo>
                    <a:pt x="0" y="0"/>
                  </a:moveTo>
                  <a:lnTo>
                    <a:pt x="7" y="7"/>
                  </a:lnTo>
                  <a:lnTo>
                    <a:pt x="13" y="7"/>
                  </a:lnTo>
                  <a:lnTo>
                    <a:pt x="13" y="0"/>
                  </a:lnTo>
                  <a:lnTo>
                    <a:pt x="0"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37" name="Freeform 91"/>
            <p:cNvSpPr>
              <a:spLocks/>
            </p:cNvSpPr>
            <p:nvPr/>
          </p:nvSpPr>
          <p:spPr bwMode="auto">
            <a:xfrm>
              <a:off x="3941" y="1435"/>
              <a:ext cx="7" cy="7"/>
            </a:xfrm>
            <a:custGeom>
              <a:avLst/>
              <a:gdLst>
                <a:gd name="T0" fmla="*/ 0 w 7"/>
                <a:gd name="T1" fmla="*/ 0 h 7"/>
                <a:gd name="T2" fmla="*/ 7 w 7"/>
                <a:gd name="T3" fmla="*/ 7 h 7"/>
                <a:gd name="T4" fmla="*/ 7 w 7"/>
                <a:gd name="T5" fmla="*/ 7 h 7"/>
                <a:gd name="T6" fmla="*/ 0 w 7"/>
                <a:gd name="T7" fmla="*/ 7 h 7"/>
                <a:gd name="T8" fmla="*/ 0 w 7"/>
                <a:gd name="T9" fmla="*/ 0 h 7"/>
                <a:gd name="T10" fmla="*/ 0 w 7"/>
                <a:gd name="T11" fmla="*/ 0 h 7"/>
                <a:gd name="T12" fmla="*/ 0 60000 65536"/>
                <a:gd name="T13" fmla="*/ 0 60000 65536"/>
                <a:gd name="T14" fmla="*/ 0 60000 65536"/>
                <a:gd name="T15" fmla="*/ 0 60000 65536"/>
                <a:gd name="T16" fmla="*/ 0 60000 65536"/>
                <a:gd name="T17" fmla="*/ 0 60000 65536"/>
                <a:gd name="T18" fmla="*/ 0 w 7"/>
                <a:gd name="T19" fmla="*/ 0 h 7"/>
                <a:gd name="T20" fmla="*/ 7 w 7"/>
                <a:gd name="T21" fmla="*/ 7 h 7"/>
              </a:gdLst>
              <a:ahLst/>
              <a:cxnLst>
                <a:cxn ang="T12">
                  <a:pos x="T0" y="T1"/>
                </a:cxn>
                <a:cxn ang="T13">
                  <a:pos x="T2" y="T3"/>
                </a:cxn>
                <a:cxn ang="T14">
                  <a:pos x="T4" y="T5"/>
                </a:cxn>
                <a:cxn ang="T15">
                  <a:pos x="T6" y="T7"/>
                </a:cxn>
                <a:cxn ang="T16">
                  <a:pos x="T8" y="T9"/>
                </a:cxn>
                <a:cxn ang="T17">
                  <a:pos x="T10" y="T11"/>
                </a:cxn>
              </a:cxnLst>
              <a:rect l="T18" t="T19" r="T20" b="T21"/>
              <a:pathLst>
                <a:path w="7" h="7">
                  <a:moveTo>
                    <a:pt x="0" y="0"/>
                  </a:moveTo>
                  <a:lnTo>
                    <a:pt x="7" y="7"/>
                  </a:lnTo>
                  <a:lnTo>
                    <a:pt x="0" y="7"/>
                  </a:lnTo>
                  <a:lnTo>
                    <a:pt x="0"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38" name="Freeform 92"/>
            <p:cNvSpPr>
              <a:spLocks/>
            </p:cNvSpPr>
            <p:nvPr/>
          </p:nvSpPr>
          <p:spPr bwMode="auto">
            <a:xfrm>
              <a:off x="3941" y="1435"/>
              <a:ext cx="7" cy="7"/>
            </a:xfrm>
            <a:custGeom>
              <a:avLst/>
              <a:gdLst>
                <a:gd name="T0" fmla="*/ 0 w 7"/>
                <a:gd name="T1" fmla="*/ 0 h 7"/>
                <a:gd name="T2" fmla="*/ 7 w 7"/>
                <a:gd name="T3" fmla="*/ 7 h 7"/>
                <a:gd name="T4" fmla="*/ 0 w 7"/>
                <a:gd name="T5" fmla="*/ 7 h 7"/>
                <a:gd name="T6" fmla="*/ 0 w 7"/>
                <a:gd name="T7" fmla="*/ 0 h 7"/>
                <a:gd name="T8" fmla="*/ 0 60000 65536"/>
                <a:gd name="T9" fmla="*/ 0 60000 65536"/>
                <a:gd name="T10" fmla="*/ 0 60000 65536"/>
                <a:gd name="T11" fmla="*/ 0 60000 65536"/>
                <a:gd name="T12" fmla="*/ 0 w 7"/>
                <a:gd name="T13" fmla="*/ 0 h 7"/>
                <a:gd name="T14" fmla="*/ 7 w 7"/>
                <a:gd name="T15" fmla="*/ 7 h 7"/>
              </a:gdLst>
              <a:ahLst/>
              <a:cxnLst>
                <a:cxn ang="T8">
                  <a:pos x="T0" y="T1"/>
                </a:cxn>
                <a:cxn ang="T9">
                  <a:pos x="T2" y="T3"/>
                </a:cxn>
                <a:cxn ang="T10">
                  <a:pos x="T4" y="T5"/>
                </a:cxn>
                <a:cxn ang="T11">
                  <a:pos x="T6" y="T7"/>
                </a:cxn>
              </a:cxnLst>
              <a:rect l="T12" t="T13" r="T14" b="T15"/>
              <a:pathLst>
                <a:path w="7" h="7">
                  <a:moveTo>
                    <a:pt x="0" y="0"/>
                  </a:moveTo>
                  <a:lnTo>
                    <a:pt x="7" y="7"/>
                  </a:lnTo>
                  <a:lnTo>
                    <a:pt x="0" y="7"/>
                  </a:lnTo>
                  <a:lnTo>
                    <a:pt x="0"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39" name="Freeform 93"/>
            <p:cNvSpPr>
              <a:spLocks/>
            </p:cNvSpPr>
            <p:nvPr/>
          </p:nvSpPr>
          <p:spPr bwMode="auto">
            <a:xfrm>
              <a:off x="3738" y="728"/>
              <a:ext cx="70" cy="22"/>
            </a:xfrm>
            <a:custGeom>
              <a:avLst/>
              <a:gdLst>
                <a:gd name="T0" fmla="*/ 19 w 70"/>
                <a:gd name="T1" fmla="*/ 15 h 22"/>
                <a:gd name="T2" fmla="*/ 25 w 70"/>
                <a:gd name="T3" fmla="*/ 15 h 22"/>
                <a:gd name="T4" fmla="*/ 32 w 70"/>
                <a:gd name="T5" fmla="*/ 15 h 22"/>
                <a:gd name="T6" fmla="*/ 38 w 70"/>
                <a:gd name="T7" fmla="*/ 15 h 22"/>
                <a:gd name="T8" fmla="*/ 51 w 70"/>
                <a:gd name="T9" fmla="*/ 22 h 22"/>
                <a:gd name="T10" fmla="*/ 51 w 70"/>
                <a:gd name="T11" fmla="*/ 22 h 22"/>
                <a:gd name="T12" fmla="*/ 64 w 70"/>
                <a:gd name="T13" fmla="*/ 22 h 22"/>
                <a:gd name="T14" fmla="*/ 70 w 70"/>
                <a:gd name="T15" fmla="*/ 22 h 22"/>
                <a:gd name="T16" fmla="*/ 57 w 70"/>
                <a:gd name="T17" fmla="*/ 15 h 22"/>
                <a:gd name="T18" fmla="*/ 45 w 70"/>
                <a:gd name="T19" fmla="*/ 15 h 22"/>
                <a:gd name="T20" fmla="*/ 25 w 70"/>
                <a:gd name="T21" fmla="*/ 7 h 22"/>
                <a:gd name="T22" fmla="*/ 25 w 70"/>
                <a:gd name="T23" fmla="*/ 0 h 22"/>
                <a:gd name="T24" fmla="*/ 13 w 70"/>
                <a:gd name="T25" fmla="*/ 0 h 22"/>
                <a:gd name="T26" fmla="*/ 0 w 70"/>
                <a:gd name="T27" fmla="*/ 0 h 22"/>
                <a:gd name="T28" fmla="*/ 0 w 70"/>
                <a:gd name="T29" fmla="*/ 15 h 22"/>
                <a:gd name="T30" fmla="*/ 0 w 70"/>
                <a:gd name="T31" fmla="*/ 7 h 22"/>
                <a:gd name="T32" fmla="*/ 6 w 70"/>
                <a:gd name="T33" fmla="*/ 7 h 22"/>
                <a:gd name="T34" fmla="*/ 13 w 70"/>
                <a:gd name="T35" fmla="*/ 7 h 22"/>
                <a:gd name="T36" fmla="*/ 19 w 70"/>
                <a:gd name="T37" fmla="*/ 15 h 22"/>
                <a:gd name="T38" fmla="*/ 19 w 70"/>
                <a:gd name="T39" fmla="*/ 15 h 2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70"/>
                <a:gd name="T61" fmla="*/ 0 h 22"/>
                <a:gd name="T62" fmla="*/ 70 w 70"/>
                <a:gd name="T63" fmla="*/ 22 h 2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70" h="22">
                  <a:moveTo>
                    <a:pt x="19" y="15"/>
                  </a:moveTo>
                  <a:lnTo>
                    <a:pt x="25" y="15"/>
                  </a:lnTo>
                  <a:lnTo>
                    <a:pt x="32" y="15"/>
                  </a:lnTo>
                  <a:lnTo>
                    <a:pt x="38" y="15"/>
                  </a:lnTo>
                  <a:lnTo>
                    <a:pt x="51" y="22"/>
                  </a:lnTo>
                  <a:lnTo>
                    <a:pt x="64" y="22"/>
                  </a:lnTo>
                  <a:lnTo>
                    <a:pt x="70" y="22"/>
                  </a:lnTo>
                  <a:lnTo>
                    <a:pt x="57" y="15"/>
                  </a:lnTo>
                  <a:lnTo>
                    <a:pt x="45" y="15"/>
                  </a:lnTo>
                  <a:lnTo>
                    <a:pt x="25" y="7"/>
                  </a:lnTo>
                  <a:lnTo>
                    <a:pt x="25" y="0"/>
                  </a:lnTo>
                  <a:lnTo>
                    <a:pt x="13" y="0"/>
                  </a:lnTo>
                  <a:lnTo>
                    <a:pt x="0" y="0"/>
                  </a:lnTo>
                  <a:lnTo>
                    <a:pt x="0" y="15"/>
                  </a:lnTo>
                  <a:lnTo>
                    <a:pt x="0" y="7"/>
                  </a:lnTo>
                  <a:lnTo>
                    <a:pt x="6" y="7"/>
                  </a:lnTo>
                  <a:lnTo>
                    <a:pt x="13" y="7"/>
                  </a:lnTo>
                  <a:lnTo>
                    <a:pt x="19" y="15"/>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40" name="Freeform 94"/>
            <p:cNvSpPr>
              <a:spLocks/>
            </p:cNvSpPr>
            <p:nvPr/>
          </p:nvSpPr>
          <p:spPr bwMode="auto">
            <a:xfrm>
              <a:off x="3738" y="728"/>
              <a:ext cx="70" cy="22"/>
            </a:xfrm>
            <a:custGeom>
              <a:avLst/>
              <a:gdLst>
                <a:gd name="T0" fmla="*/ 19 w 70"/>
                <a:gd name="T1" fmla="*/ 15 h 22"/>
                <a:gd name="T2" fmla="*/ 25 w 70"/>
                <a:gd name="T3" fmla="*/ 15 h 22"/>
                <a:gd name="T4" fmla="*/ 32 w 70"/>
                <a:gd name="T5" fmla="*/ 15 h 22"/>
                <a:gd name="T6" fmla="*/ 38 w 70"/>
                <a:gd name="T7" fmla="*/ 15 h 22"/>
                <a:gd name="T8" fmla="*/ 51 w 70"/>
                <a:gd name="T9" fmla="*/ 22 h 22"/>
                <a:gd name="T10" fmla="*/ 64 w 70"/>
                <a:gd name="T11" fmla="*/ 22 h 22"/>
                <a:gd name="T12" fmla="*/ 70 w 70"/>
                <a:gd name="T13" fmla="*/ 22 h 22"/>
                <a:gd name="T14" fmla="*/ 57 w 70"/>
                <a:gd name="T15" fmla="*/ 15 h 22"/>
                <a:gd name="T16" fmla="*/ 45 w 70"/>
                <a:gd name="T17" fmla="*/ 15 h 22"/>
                <a:gd name="T18" fmla="*/ 25 w 70"/>
                <a:gd name="T19" fmla="*/ 7 h 22"/>
                <a:gd name="T20" fmla="*/ 25 w 70"/>
                <a:gd name="T21" fmla="*/ 0 h 22"/>
                <a:gd name="T22" fmla="*/ 13 w 70"/>
                <a:gd name="T23" fmla="*/ 0 h 22"/>
                <a:gd name="T24" fmla="*/ 0 w 70"/>
                <a:gd name="T25" fmla="*/ 0 h 22"/>
                <a:gd name="T26" fmla="*/ 0 w 70"/>
                <a:gd name="T27" fmla="*/ 15 h 22"/>
                <a:gd name="T28" fmla="*/ 0 w 70"/>
                <a:gd name="T29" fmla="*/ 7 h 22"/>
                <a:gd name="T30" fmla="*/ 6 w 70"/>
                <a:gd name="T31" fmla="*/ 7 h 22"/>
                <a:gd name="T32" fmla="*/ 13 w 70"/>
                <a:gd name="T33" fmla="*/ 7 h 22"/>
                <a:gd name="T34" fmla="*/ 19 w 70"/>
                <a:gd name="T35" fmla="*/ 15 h 2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0"/>
                <a:gd name="T55" fmla="*/ 0 h 22"/>
                <a:gd name="T56" fmla="*/ 70 w 70"/>
                <a:gd name="T57" fmla="*/ 22 h 2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0" h="22">
                  <a:moveTo>
                    <a:pt x="19" y="15"/>
                  </a:moveTo>
                  <a:lnTo>
                    <a:pt x="25" y="15"/>
                  </a:lnTo>
                  <a:lnTo>
                    <a:pt x="32" y="15"/>
                  </a:lnTo>
                  <a:lnTo>
                    <a:pt x="38" y="15"/>
                  </a:lnTo>
                  <a:lnTo>
                    <a:pt x="51" y="22"/>
                  </a:lnTo>
                  <a:lnTo>
                    <a:pt x="64" y="22"/>
                  </a:lnTo>
                  <a:lnTo>
                    <a:pt x="70" y="22"/>
                  </a:lnTo>
                  <a:lnTo>
                    <a:pt x="57" y="15"/>
                  </a:lnTo>
                  <a:lnTo>
                    <a:pt x="45" y="15"/>
                  </a:lnTo>
                  <a:lnTo>
                    <a:pt x="25" y="7"/>
                  </a:lnTo>
                  <a:lnTo>
                    <a:pt x="25" y="0"/>
                  </a:lnTo>
                  <a:lnTo>
                    <a:pt x="13" y="0"/>
                  </a:lnTo>
                  <a:lnTo>
                    <a:pt x="0" y="0"/>
                  </a:lnTo>
                  <a:lnTo>
                    <a:pt x="0" y="15"/>
                  </a:lnTo>
                  <a:lnTo>
                    <a:pt x="0" y="7"/>
                  </a:lnTo>
                  <a:lnTo>
                    <a:pt x="6" y="7"/>
                  </a:lnTo>
                  <a:lnTo>
                    <a:pt x="13" y="7"/>
                  </a:lnTo>
                  <a:lnTo>
                    <a:pt x="19" y="15"/>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41" name="Freeform 95"/>
            <p:cNvSpPr>
              <a:spLocks/>
            </p:cNvSpPr>
            <p:nvPr/>
          </p:nvSpPr>
          <p:spPr bwMode="auto">
            <a:xfrm>
              <a:off x="3326" y="368"/>
              <a:ext cx="12" cy="7"/>
            </a:xfrm>
            <a:custGeom>
              <a:avLst/>
              <a:gdLst>
                <a:gd name="T0" fmla="*/ 0 w 12"/>
                <a:gd name="T1" fmla="*/ 0 h 7"/>
                <a:gd name="T2" fmla="*/ 0 w 12"/>
                <a:gd name="T3" fmla="*/ 0 h 7"/>
                <a:gd name="T4" fmla="*/ 12 w 12"/>
                <a:gd name="T5" fmla="*/ 0 h 7"/>
                <a:gd name="T6" fmla="*/ 12 w 12"/>
                <a:gd name="T7" fmla="*/ 0 h 7"/>
                <a:gd name="T8" fmla="*/ 6 w 12"/>
                <a:gd name="T9" fmla="*/ 7 h 7"/>
                <a:gd name="T10" fmla="*/ 0 w 12"/>
                <a:gd name="T11" fmla="*/ 7 h 7"/>
                <a:gd name="T12" fmla="*/ 0 w 12"/>
                <a:gd name="T13" fmla="*/ 0 h 7"/>
                <a:gd name="T14" fmla="*/ 0 w 12"/>
                <a:gd name="T15" fmla="*/ 0 h 7"/>
                <a:gd name="T16" fmla="*/ 0 60000 65536"/>
                <a:gd name="T17" fmla="*/ 0 60000 65536"/>
                <a:gd name="T18" fmla="*/ 0 60000 65536"/>
                <a:gd name="T19" fmla="*/ 0 60000 65536"/>
                <a:gd name="T20" fmla="*/ 0 60000 65536"/>
                <a:gd name="T21" fmla="*/ 0 60000 65536"/>
                <a:gd name="T22" fmla="*/ 0 60000 65536"/>
                <a:gd name="T23" fmla="*/ 0 60000 65536"/>
                <a:gd name="T24" fmla="*/ 0 w 12"/>
                <a:gd name="T25" fmla="*/ 0 h 7"/>
                <a:gd name="T26" fmla="*/ 12 w 12"/>
                <a:gd name="T27" fmla="*/ 7 h 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2" h="7">
                  <a:moveTo>
                    <a:pt x="0" y="0"/>
                  </a:moveTo>
                  <a:lnTo>
                    <a:pt x="0" y="0"/>
                  </a:lnTo>
                  <a:lnTo>
                    <a:pt x="12" y="0"/>
                  </a:lnTo>
                  <a:lnTo>
                    <a:pt x="6" y="7"/>
                  </a:lnTo>
                  <a:lnTo>
                    <a:pt x="0" y="7"/>
                  </a:lnTo>
                  <a:lnTo>
                    <a:pt x="0"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42" name="Freeform 96"/>
            <p:cNvSpPr>
              <a:spLocks/>
            </p:cNvSpPr>
            <p:nvPr/>
          </p:nvSpPr>
          <p:spPr bwMode="auto">
            <a:xfrm>
              <a:off x="3326" y="368"/>
              <a:ext cx="12" cy="7"/>
            </a:xfrm>
            <a:custGeom>
              <a:avLst/>
              <a:gdLst>
                <a:gd name="T0" fmla="*/ 0 w 12"/>
                <a:gd name="T1" fmla="*/ 0 h 7"/>
                <a:gd name="T2" fmla="*/ 12 w 12"/>
                <a:gd name="T3" fmla="*/ 0 h 7"/>
                <a:gd name="T4" fmla="*/ 6 w 12"/>
                <a:gd name="T5" fmla="*/ 7 h 7"/>
                <a:gd name="T6" fmla="*/ 0 w 12"/>
                <a:gd name="T7" fmla="*/ 7 h 7"/>
                <a:gd name="T8" fmla="*/ 0 w 12"/>
                <a:gd name="T9" fmla="*/ 0 h 7"/>
                <a:gd name="T10" fmla="*/ 0 60000 65536"/>
                <a:gd name="T11" fmla="*/ 0 60000 65536"/>
                <a:gd name="T12" fmla="*/ 0 60000 65536"/>
                <a:gd name="T13" fmla="*/ 0 60000 65536"/>
                <a:gd name="T14" fmla="*/ 0 60000 65536"/>
                <a:gd name="T15" fmla="*/ 0 w 12"/>
                <a:gd name="T16" fmla="*/ 0 h 7"/>
                <a:gd name="T17" fmla="*/ 12 w 12"/>
                <a:gd name="T18" fmla="*/ 7 h 7"/>
              </a:gdLst>
              <a:ahLst/>
              <a:cxnLst>
                <a:cxn ang="T10">
                  <a:pos x="T0" y="T1"/>
                </a:cxn>
                <a:cxn ang="T11">
                  <a:pos x="T2" y="T3"/>
                </a:cxn>
                <a:cxn ang="T12">
                  <a:pos x="T4" y="T5"/>
                </a:cxn>
                <a:cxn ang="T13">
                  <a:pos x="T6" y="T7"/>
                </a:cxn>
                <a:cxn ang="T14">
                  <a:pos x="T8" y="T9"/>
                </a:cxn>
              </a:cxnLst>
              <a:rect l="T15" t="T16" r="T17" b="T18"/>
              <a:pathLst>
                <a:path w="12" h="7">
                  <a:moveTo>
                    <a:pt x="0" y="0"/>
                  </a:moveTo>
                  <a:lnTo>
                    <a:pt x="12" y="0"/>
                  </a:lnTo>
                  <a:lnTo>
                    <a:pt x="6" y="7"/>
                  </a:lnTo>
                  <a:lnTo>
                    <a:pt x="0" y="7"/>
                  </a:lnTo>
                  <a:lnTo>
                    <a:pt x="0"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43" name="Freeform 97"/>
            <p:cNvSpPr>
              <a:spLocks/>
            </p:cNvSpPr>
            <p:nvPr/>
          </p:nvSpPr>
          <p:spPr bwMode="auto">
            <a:xfrm>
              <a:off x="3249" y="389"/>
              <a:ext cx="32" cy="15"/>
            </a:xfrm>
            <a:custGeom>
              <a:avLst/>
              <a:gdLst>
                <a:gd name="T0" fmla="*/ 0 w 32"/>
                <a:gd name="T1" fmla="*/ 15 h 15"/>
                <a:gd name="T2" fmla="*/ 13 w 32"/>
                <a:gd name="T3" fmla="*/ 7 h 15"/>
                <a:gd name="T4" fmla="*/ 19 w 32"/>
                <a:gd name="T5" fmla="*/ 7 h 15"/>
                <a:gd name="T6" fmla="*/ 32 w 32"/>
                <a:gd name="T7" fmla="*/ 0 h 15"/>
                <a:gd name="T8" fmla="*/ 32 w 32"/>
                <a:gd name="T9" fmla="*/ 0 h 15"/>
                <a:gd name="T10" fmla="*/ 26 w 32"/>
                <a:gd name="T11" fmla="*/ 0 h 15"/>
                <a:gd name="T12" fmla="*/ 19 w 32"/>
                <a:gd name="T13" fmla="*/ 0 h 15"/>
                <a:gd name="T14" fmla="*/ 13 w 32"/>
                <a:gd name="T15" fmla="*/ 7 h 15"/>
                <a:gd name="T16" fmla="*/ 0 w 32"/>
                <a:gd name="T17" fmla="*/ 15 h 15"/>
                <a:gd name="T18" fmla="*/ 0 w 32"/>
                <a:gd name="T19" fmla="*/ 15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2"/>
                <a:gd name="T31" fmla="*/ 0 h 15"/>
                <a:gd name="T32" fmla="*/ 32 w 32"/>
                <a:gd name="T33" fmla="*/ 15 h 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2" h="15">
                  <a:moveTo>
                    <a:pt x="0" y="15"/>
                  </a:moveTo>
                  <a:lnTo>
                    <a:pt x="13" y="7"/>
                  </a:lnTo>
                  <a:lnTo>
                    <a:pt x="19" y="7"/>
                  </a:lnTo>
                  <a:lnTo>
                    <a:pt x="32" y="0"/>
                  </a:lnTo>
                  <a:lnTo>
                    <a:pt x="26" y="0"/>
                  </a:lnTo>
                  <a:lnTo>
                    <a:pt x="19" y="0"/>
                  </a:lnTo>
                  <a:lnTo>
                    <a:pt x="13" y="7"/>
                  </a:lnTo>
                  <a:lnTo>
                    <a:pt x="0" y="15"/>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44" name="Freeform 98"/>
            <p:cNvSpPr>
              <a:spLocks/>
            </p:cNvSpPr>
            <p:nvPr/>
          </p:nvSpPr>
          <p:spPr bwMode="auto">
            <a:xfrm>
              <a:off x="3249" y="389"/>
              <a:ext cx="32" cy="15"/>
            </a:xfrm>
            <a:custGeom>
              <a:avLst/>
              <a:gdLst>
                <a:gd name="T0" fmla="*/ 0 w 32"/>
                <a:gd name="T1" fmla="*/ 15 h 15"/>
                <a:gd name="T2" fmla="*/ 13 w 32"/>
                <a:gd name="T3" fmla="*/ 7 h 15"/>
                <a:gd name="T4" fmla="*/ 19 w 32"/>
                <a:gd name="T5" fmla="*/ 7 h 15"/>
                <a:gd name="T6" fmla="*/ 32 w 32"/>
                <a:gd name="T7" fmla="*/ 0 h 15"/>
                <a:gd name="T8" fmla="*/ 26 w 32"/>
                <a:gd name="T9" fmla="*/ 0 h 15"/>
                <a:gd name="T10" fmla="*/ 19 w 32"/>
                <a:gd name="T11" fmla="*/ 0 h 15"/>
                <a:gd name="T12" fmla="*/ 13 w 32"/>
                <a:gd name="T13" fmla="*/ 7 h 15"/>
                <a:gd name="T14" fmla="*/ 0 w 32"/>
                <a:gd name="T15" fmla="*/ 15 h 15"/>
                <a:gd name="T16" fmla="*/ 0 60000 65536"/>
                <a:gd name="T17" fmla="*/ 0 60000 65536"/>
                <a:gd name="T18" fmla="*/ 0 60000 65536"/>
                <a:gd name="T19" fmla="*/ 0 60000 65536"/>
                <a:gd name="T20" fmla="*/ 0 60000 65536"/>
                <a:gd name="T21" fmla="*/ 0 60000 65536"/>
                <a:gd name="T22" fmla="*/ 0 60000 65536"/>
                <a:gd name="T23" fmla="*/ 0 60000 65536"/>
                <a:gd name="T24" fmla="*/ 0 w 32"/>
                <a:gd name="T25" fmla="*/ 0 h 15"/>
                <a:gd name="T26" fmla="*/ 32 w 32"/>
                <a:gd name="T27" fmla="*/ 15 h 1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2" h="15">
                  <a:moveTo>
                    <a:pt x="0" y="15"/>
                  </a:moveTo>
                  <a:lnTo>
                    <a:pt x="13" y="7"/>
                  </a:lnTo>
                  <a:lnTo>
                    <a:pt x="19" y="7"/>
                  </a:lnTo>
                  <a:lnTo>
                    <a:pt x="32" y="0"/>
                  </a:lnTo>
                  <a:lnTo>
                    <a:pt x="26" y="0"/>
                  </a:lnTo>
                  <a:lnTo>
                    <a:pt x="19" y="0"/>
                  </a:lnTo>
                  <a:lnTo>
                    <a:pt x="13" y="7"/>
                  </a:lnTo>
                  <a:lnTo>
                    <a:pt x="0" y="15"/>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45" name="Freeform 99"/>
            <p:cNvSpPr>
              <a:spLocks/>
            </p:cNvSpPr>
            <p:nvPr/>
          </p:nvSpPr>
          <p:spPr bwMode="auto">
            <a:xfrm>
              <a:off x="3249" y="332"/>
              <a:ext cx="13" cy="7"/>
            </a:xfrm>
            <a:custGeom>
              <a:avLst/>
              <a:gdLst>
                <a:gd name="T0" fmla="*/ 0 w 13"/>
                <a:gd name="T1" fmla="*/ 0 h 7"/>
                <a:gd name="T2" fmla="*/ 13 w 13"/>
                <a:gd name="T3" fmla="*/ 0 h 7"/>
                <a:gd name="T4" fmla="*/ 7 w 13"/>
                <a:gd name="T5" fmla="*/ 7 h 7"/>
                <a:gd name="T6" fmla="*/ 7 w 13"/>
                <a:gd name="T7" fmla="*/ 7 h 7"/>
                <a:gd name="T8" fmla="*/ 0 w 13"/>
                <a:gd name="T9" fmla="*/ 0 h 7"/>
                <a:gd name="T10" fmla="*/ 0 w 13"/>
                <a:gd name="T11" fmla="*/ 0 h 7"/>
                <a:gd name="T12" fmla="*/ 0 60000 65536"/>
                <a:gd name="T13" fmla="*/ 0 60000 65536"/>
                <a:gd name="T14" fmla="*/ 0 60000 65536"/>
                <a:gd name="T15" fmla="*/ 0 60000 65536"/>
                <a:gd name="T16" fmla="*/ 0 60000 65536"/>
                <a:gd name="T17" fmla="*/ 0 60000 65536"/>
                <a:gd name="T18" fmla="*/ 0 w 13"/>
                <a:gd name="T19" fmla="*/ 0 h 7"/>
                <a:gd name="T20" fmla="*/ 13 w 13"/>
                <a:gd name="T21" fmla="*/ 7 h 7"/>
              </a:gdLst>
              <a:ahLst/>
              <a:cxnLst>
                <a:cxn ang="T12">
                  <a:pos x="T0" y="T1"/>
                </a:cxn>
                <a:cxn ang="T13">
                  <a:pos x="T2" y="T3"/>
                </a:cxn>
                <a:cxn ang="T14">
                  <a:pos x="T4" y="T5"/>
                </a:cxn>
                <a:cxn ang="T15">
                  <a:pos x="T6" y="T7"/>
                </a:cxn>
                <a:cxn ang="T16">
                  <a:pos x="T8" y="T9"/>
                </a:cxn>
                <a:cxn ang="T17">
                  <a:pos x="T10" y="T11"/>
                </a:cxn>
              </a:cxnLst>
              <a:rect l="T18" t="T19" r="T20" b="T21"/>
              <a:pathLst>
                <a:path w="13" h="7">
                  <a:moveTo>
                    <a:pt x="0" y="0"/>
                  </a:moveTo>
                  <a:lnTo>
                    <a:pt x="13" y="0"/>
                  </a:lnTo>
                  <a:lnTo>
                    <a:pt x="7" y="7"/>
                  </a:lnTo>
                  <a:lnTo>
                    <a:pt x="0"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46" name="Freeform 100"/>
            <p:cNvSpPr>
              <a:spLocks/>
            </p:cNvSpPr>
            <p:nvPr/>
          </p:nvSpPr>
          <p:spPr bwMode="auto">
            <a:xfrm>
              <a:off x="3249" y="332"/>
              <a:ext cx="13" cy="7"/>
            </a:xfrm>
            <a:custGeom>
              <a:avLst/>
              <a:gdLst>
                <a:gd name="T0" fmla="*/ 0 w 13"/>
                <a:gd name="T1" fmla="*/ 0 h 7"/>
                <a:gd name="T2" fmla="*/ 13 w 13"/>
                <a:gd name="T3" fmla="*/ 0 h 7"/>
                <a:gd name="T4" fmla="*/ 7 w 13"/>
                <a:gd name="T5" fmla="*/ 7 h 7"/>
                <a:gd name="T6" fmla="*/ 0 w 13"/>
                <a:gd name="T7" fmla="*/ 0 h 7"/>
                <a:gd name="T8" fmla="*/ 0 60000 65536"/>
                <a:gd name="T9" fmla="*/ 0 60000 65536"/>
                <a:gd name="T10" fmla="*/ 0 60000 65536"/>
                <a:gd name="T11" fmla="*/ 0 60000 65536"/>
                <a:gd name="T12" fmla="*/ 0 w 13"/>
                <a:gd name="T13" fmla="*/ 0 h 7"/>
                <a:gd name="T14" fmla="*/ 13 w 13"/>
                <a:gd name="T15" fmla="*/ 7 h 7"/>
              </a:gdLst>
              <a:ahLst/>
              <a:cxnLst>
                <a:cxn ang="T8">
                  <a:pos x="T0" y="T1"/>
                </a:cxn>
                <a:cxn ang="T9">
                  <a:pos x="T2" y="T3"/>
                </a:cxn>
                <a:cxn ang="T10">
                  <a:pos x="T4" y="T5"/>
                </a:cxn>
                <a:cxn ang="T11">
                  <a:pos x="T6" y="T7"/>
                </a:cxn>
              </a:cxnLst>
              <a:rect l="T12" t="T13" r="T14" b="T15"/>
              <a:pathLst>
                <a:path w="13" h="7">
                  <a:moveTo>
                    <a:pt x="0" y="0"/>
                  </a:moveTo>
                  <a:lnTo>
                    <a:pt x="13" y="0"/>
                  </a:lnTo>
                  <a:lnTo>
                    <a:pt x="7" y="7"/>
                  </a:lnTo>
                  <a:lnTo>
                    <a:pt x="0"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47" name="Freeform 101"/>
            <p:cNvSpPr>
              <a:spLocks/>
            </p:cNvSpPr>
            <p:nvPr/>
          </p:nvSpPr>
          <p:spPr bwMode="auto">
            <a:xfrm>
              <a:off x="3243" y="288"/>
              <a:ext cx="6" cy="8"/>
            </a:xfrm>
            <a:custGeom>
              <a:avLst/>
              <a:gdLst>
                <a:gd name="T0" fmla="*/ 0 w 6"/>
                <a:gd name="T1" fmla="*/ 8 h 8"/>
                <a:gd name="T2" fmla="*/ 0 w 6"/>
                <a:gd name="T3" fmla="*/ 0 h 8"/>
                <a:gd name="T4" fmla="*/ 0 w 6"/>
                <a:gd name="T5" fmla="*/ 0 h 8"/>
                <a:gd name="T6" fmla="*/ 6 w 6"/>
                <a:gd name="T7" fmla="*/ 8 h 8"/>
                <a:gd name="T8" fmla="*/ 6 w 6"/>
                <a:gd name="T9" fmla="*/ 8 h 8"/>
                <a:gd name="T10" fmla="*/ 0 w 6"/>
                <a:gd name="T11" fmla="*/ 8 h 8"/>
                <a:gd name="T12" fmla="*/ 0 w 6"/>
                <a:gd name="T13" fmla="*/ 8 h 8"/>
                <a:gd name="T14" fmla="*/ 0 60000 65536"/>
                <a:gd name="T15" fmla="*/ 0 60000 65536"/>
                <a:gd name="T16" fmla="*/ 0 60000 65536"/>
                <a:gd name="T17" fmla="*/ 0 60000 65536"/>
                <a:gd name="T18" fmla="*/ 0 60000 65536"/>
                <a:gd name="T19" fmla="*/ 0 60000 65536"/>
                <a:gd name="T20" fmla="*/ 0 60000 65536"/>
                <a:gd name="T21" fmla="*/ 0 w 6"/>
                <a:gd name="T22" fmla="*/ 0 h 8"/>
                <a:gd name="T23" fmla="*/ 6 w 6"/>
                <a:gd name="T24" fmla="*/ 8 h 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 h="8">
                  <a:moveTo>
                    <a:pt x="0" y="8"/>
                  </a:moveTo>
                  <a:lnTo>
                    <a:pt x="0" y="0"/>
                  </a:lnTo>
                  <a:lnTo>
                    <a:pt x="6" y="8"/>
                  </a:lnTo>
                  <a:lnTo>
                    <a:pt x="0" y="8"/>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48" name="Freeform 102"/>
            <p:cNvSpPr>
              <a:spLocks/>
            </p:cNvSpPr>
            <p:nvPr/>
          </p:nvSpPr>
          <p:spPr bwMode="auto">
            <a:xfrm>
              <a:off x="3243" y="288"/>
              <a:ext cx="6" cy="8"/>
            </a:xfrm>
            <a:custGeom>
              <a:avLst/>
              <a:gdLst>
                <a:gd name="T0" fmla="*/ 0 w 6"/>
                <a:gd name="T1" fmla="*/ 8 h 8"/>
                <a:gd name="T2" fmla="*/ 0 w 6"/>
                <a:gd name="T3" fmla="*/ 0 h 8"/>
                <a:gd name="T4" fmla="*/ 6 w 6"/>
                <a:gd name="T5" fmla="*/ 8 h 8"/>
                <a:gd name="T6" fmla="*/ 0 w 6"/>
                <a:gd name="T7" fmla="*/ 8 h 8"/>
                <a:gd name="T8" fmla="*/ 0 60000 65536"/>
                <a:gd name="T9" fmla="*/ 0 60000 65536"/>
                <a:gd name="T10" fmla="*/ 0 60000 65536"/>
                <a:gd name="T11" fmla="*/ 0 60000 65536"/>
                <a:gd name="T12" fmla="*/ 0 w 6"/>
                <a:gd name="T13" fmla="*/ 0 h 8"/>
                <a:gd name="T14" fmla="*/ 6 w 6"/>
                <a:gd name="T15" fmla="*/ 8 h 8"/>
              </a:gdLst>
              <a:ahLst/>
              <a:cxnLst>
                <a:cxn ang="T8">
                  <a:pos x="T0" y="T1"/>
                </a:cxn>
                <a:cxn ang="T9">
                  <a:pos x="T2" y="T3"/>
                </a:cxn>
                <a:cxn ang="T10">
                  <a:pos x="T4" y="T5"/>
                </a:cxn>
                <a:cxn ang="T11">
                  <a:pos x="T6" y="T7"/>
                </a:cxn>
              </a:cxnLst>
              <a:rect l="T12" t="T13" r="T14" b="T15"/>
              <a:pathLst>
                <a:path w="6" h="8">
                  <a:moveTo>
                    <a:pt x="0" y="8"/>
                  </a:moveTo>
                  <a:lnTo>
                    <a:pt x="0" y="0"/>
                  </a:lnTo>
                  <a:lnTo>
                    <a:pt x="6" y="8"/>
                  </a:lnTo>
                  <a:lnTo>
                    <a:pt x="0" y="8"/>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49" name="Freeform 103"/>
            <p:cNvSpPr>
              <a:spLocks/>
            </p:cNvSpPr>
            <p:nvPr/>
          </p:nvSpPr>
          <p:spPr bwMode="auto">
            <a:xfrm>
              <a:off x="3484" y="447"/>
              <a:ext cx="19" cy="22"/>
            </a:xfrm>
            <a:custGeom>
              <a:avLst/>
              <a:gdLst>
                <a:gd name="T0" fmla="*/ 7 w 19"/>
                <a:gd name="T1" fmla="*/ 0 h 22"/>
                <a:gd name="T2" fmla="*/ 0 w 19"/>
                <a:gd name="T3" fmla="*/ 0 h 22"/>
                <a:gd name="T4" fmla="*/ 0 w 19"/>
                <a:gd name="T5" fmla="*/ 0 h 22"/>
                <a:gd name="T6" fmla="*/ 0 w 19"/>
                <a:gd name="T7" fmla="*/ 7 h 22"/>
                <a:gd name="T8" fmla="*/ 13 w 19"/>
                <a:gd name="T9" fmla="*/ 14 h 22"/>
                <a:gd name="T10" fmla="*/ 19 w 19"/>
                <a:gd name="T11" fmla="*/ 22 h 22"/>
                <a:gd name="T12" fmla="*/ 19 w 19"/>
                <a:gd name="T13" fmla="*/ 22 h 22"/>
                <a:gd name="T14" fmla="*/ 19 w 19"/>
                <a:gd name="T15" fmla="*/ 14 h 22"/>
                <a:gd name="T16" fmla="*/ 13 w 19"/>
                <a:gd name="T17" fmla="*/ 7 h 22"/>
                <a:gd name="T18" fmla="*/ 7 w 19"/>
                <a:gd name="T19" fmla="*/ 0 h 22"/>
                <a:gd name="T20" fmla="*/ 7 w 19"/>
                <a:gd name="T21" fmla="*/ 0 h 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
                <a:gd name="T34" fmla="*/ 0 h 22"/>
                <a:gd name="T35" fmla="*/ 19 w 19"/>
                <a:gd name="T36" fmla="*/ 22 h 2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 h="22">
                  <a:moveTo>
                    <a:pt x="7" y="0"/>
                  </a:moveTo>
                  <a:lnTo>
                    <a:pt x="0" y="0"/>
                  </a:lnTo>
                  <a:lnTo>
                    <a:pt x="0" y="7"/>
                  </a:lnTo>
                  <a:lnTo>
                    <a:pt x="13" y="14"/>
                  </a:lnTo>
                  <a:lnTo>
                    <a:pt x="19" y="22"/>
                  </a:lnTo>
                  <a:lnTo>
                    <a:pt x="19" y="14"/>
                  </a:lnTo>
                  <a:lnTo>
                    <a:pt x="13" y="7"/>
                  </a:lnTo>
                  <a:lnTo>
                    <a:pt x="7"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50" name="Freeform 104"/>
            <p:cNvSpPr>
              <a:spLocks/>
            </p:cNvSpPr>
            <p:nvPr/>
          </p:nvSpPr>
          <p:spPr bwMode="auto">
            <a:xfrm>
              <a:off x="3484" y="447"/>
              <a:ext cx="19" cy="22"/>
            </a:xfrm>
            <a:custGeom>
              <a:avLst/>
              <a:gdLst>
                <a:gd name="T0" fmla="*/ 7 w 19"/>
                <a:gd name="T1" fmla="*/ 0 h 22"/>
                <a:gd name="T2" fmla="*/ 0 w 19"/>
                <a:gd name="T3" fmla="*/ 0 h 22"/>
                <a:gd name="T4" fmla="*/ 0 w 19"/>
                <a:gd name="T5" fmla="*/ 7 h 22"/>
                <a:gd name="T6" fmla="*/ 13 w 19"/>
                <a:gd name="T7" fmla="*/ 14 h 22"/>
                <a:gd name="T8" fmla="*/ 19 w 19"/>
                <a:gd name="T9" fmla="*/ 22 h 22"/>
                <a:gd name="T10" fmla="*/ 19 w 19"/>
                <a:gd name="T11" fmla="*/ 14 h 22"/>
                <a:gd name="T12" fmla="*/ 13 w 19"/>
                <a:gd name="T13" fmla="*/ 7 h 22"/>
                <a:gd name="T14" fmla="*/ 7 w 19"/>
                <a:gd name="T15" fmla="*/ 0 h 22"/>
                <a:gd name="T16" fmla="*/ 0 60000 65536"/>
                <a:gd name="T17" fmla="*/ 0 60000 65536"/>
                <a:gd name="T18" fmla="*/ 0 60000 65536"/>
                <a:gd name="T19" fmla="*/ 0 60000 65536"/>
                <a:gd name="T20" fmla="*/ 0 60000 65536"/>
                <a:gd name="T21" fmla="*/ 0 60000 65536"/>
                <a:gd name="T22" fmla="*/ 0 60000 65536"/>
                <a:gd name="T23" fmla="*/ 0 60000 65536"/>
                <a:gd name="T24" fmla="*/ 0 w 19"/>
                <a:gd name="T25" fmla="*/ 0 h 22"/>
                <a:gd name="T26" fmla="*/ 19 w 19"/>
                <a:gd name="T27" fmla="*/ 22 h 2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 h="22">
                  <a:moveTo>
                    <a:pt x="7" y="0"/>
                  </a:moveTo>
                  <a:lnTo>
                    <a:pt x="0" y="0"/>
                  </a:lnTo>
                  <a:lnTo>
                    <a:pt x="0" y="7"/>
                  </a:lnTo>
                  <a:lnTo>
                    <a:pt x="13" y="14"/>
                  </a:lnTo>
                  <a:lnTo>
                    <a:pt x="19" y="22"/>
                  </a:lnTo>
                  <a:lnTo>
                    <a:pt x="19" y="14"/>
                  </a:lnTo>
                  <a:lnTo>
                    <a:pt x="13" y="7"/>
                  </a:lnTo>
                  <a:lnTo>
                    <a:pt x="7"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51" name="Freeform 105"/>
            <p:cNvSpPr>
              <a:spLocks/>
            </p:cNvSpPr>
            <p:nvPr/>
          </p:nvSpPr>
          <p:spPr bwMode="auto">
            <a:xfrm>
              <a:off x="5230" y="526"/>
              <a:ext cx="57" cy="87"/>
            </a:xfrm>
            <a:custGeom>
              <a:avLst/>
              <a:gdLst>
                <a:gd name="T0" fmla="*/ 0 w 57"/>
                <a:gd name="T1" fmla="*/ 80 h 87"/>
                <a:gd name="T2" fmla="*/ 12 w 57"/>
                <a:gd name="T3" fmla="*/ 80 h 87"/>
                <a:gd name="T4" fmla="*/ 6 w 57"/>
                <a:gd name="T5" fmla="*/ 87 h 87"/>
                <a:gd name="T6" fmla="*/ 12 w 57"/>
                <a:gd name="T7" fmla="*/ 87 h 87"/>
                <a:gd name="T8" fmla="*/ 25 w 57"/>
                <a:gd name="T9" fmla="*/ 80 h 87"/>
                <a:gd name="T10" fmla="*/ 25 w 57"/>
                <a:gd name="T11" fmla="*/ 80 h 87"/>
                <a:gd name="T12" fmla="*/ 25 w 57"/>
                <a:gd name="T13" fmla="*/ 72 h 87"/>
                <a:gd name="T14" fmla="*/ 25 w 57"/>
                <a:gd name="T15" fmla="*/ 72 h 87"/>
                <a:gd name="T16" fmla="*/ 25 w 57"/>
                <a:gd name="T17" fmla="*/ 72 h 87"/>
                <a:gd name="T18" fmla="*/ 31 w 57"/>
                <a:gd name="T19" fmla="*/ 80 h 87"/>
                <a:gd name="T20" fmla="*/ 38 w 57"/>
                <a:gd name="T21" fmla="*/ 72 h 87"/>
                <a:gd name="T22" fmla="*/ 38 w 57"/>
                <a:gd name="T23" fmla="*/ 72 h 87"/>
                <a:gd name="T24" fmla="*/ 44 w 57"/>
                <a:gd name="T25" fmla="*/ 72 h 87"/>
                <a:gd name="T26" fmla="*/ 50 w 57"/>
                <a:gd name="T27" fmla="*/ 65 h 87"/>
                <a:gd name="T28" fmla="*/ 57 w 57"/>
                <a:gd name="T29" fmla="*/ 58 h 87"/>
                <a:gd name="T30" fmla="*/ 57 w 57"/>
                <a:gd name="T31" fmla="*/ 29 h 87"/>
                <a:gd name="T32" fmla="*/ 57 w 57"/>
                <a:gd name="T33" fmla="*/ 22 h 87"/>
                <a:gd name="T34" fmla="*/ 57 w 57"/>
                <a:gd name="T35" fmla="*/ 15 h 87"/>
                <a:gd name="T36" fmla="*/ 50 w 57"/>
                <a:gd name="T37" fmla="*/ 0 h 87"/>
                <a:gd name="T38" fmla="*/ 44 w 57"/>
                <a:gd name="T39" fmla="*/ 7 h 87"/>
                <a:gd name="T40" fmla="*/ 44 w 57"/>
                <a:gd name="T41" fmla="*/ 15 h 87"/>
                <a:gd name="T42" fmla="*/ 44 w 57"/>
                <a:gd name="T43" fmla="*/ 22 h 87"/>
                <a:gd name="T44" fmla="*/ 38 w 57"/>
                <a:gd name="T45" fmla="*/ 36 h 87"/>
                <a:gd name="T46" fmla="*/ 38 w 57"/>
                <a:gd name="T47" fmla="*/ 43 h 87"/>
                <a:gd name="T48" fmla="*/ 38 w 57"/>
                <a:gd name="T49" fmla="*/ 51 h 87"/>
                <a:gd name="T50" fmla="*/ 38 w 57"/>
                <a:gd name="T51" fmla="*/ 43 h 87"/>
                <a:gd name="T52" fmla="*/ 25 w 57"/>
                <a:gd name="T53" fmla="*/ 58 h 87"/>
                <a:gd name="T54" fmla="*/ 25 w 57"/>
                <a:gd name="T55" fmla="*/ 58 h 87"/>
                <a:gd name="T56" fmla="*/ 12 w 57"/>
                <a:gd name="T57" fmla="*/ 58 h 87"/>
                <a:gd name="T58" fmla="*/ 0 w 57"/>
                <a:gd name="T59" fmla="*/ 65 h 87"/>
                <a:gd name="T60" fmla="*/ 0 w 57"/>
                <a:gd name="T61" fmla="*/ 72 h 87"/>
                <a:gd name="T62" fmla="*/ 0 w 57"/>
                <a:gd name="T63" fmla="*/ 80 h 87"/>
                <a:gd name="T64" fmla="*/ 0 w 57"/>
                <a:gd name="T65" fmla="*/ 80 h 8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57"/>
                <a:gd name="T100" fmla="*/ 0 h 87"/>
                <a:gd name="T101" fmla="*/ 57 w 57"/>
                <a:gd name="T102" fmla="*/ 87 h 8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57" h="87">
                  <a:moveTo>
                    <a:pt x="0" y="80"/>
                  </a:moveTo>
                  <a:lnTo>
                    <a:pt x="12" y="80"/>
                  </a:lnTo>
                  <a:lnTo>
                    <a:pt x="6" y="87"/>
                  </a:lnTo>
                  <a:lnTo>
                    <a:pt x="12" y="87"/>
                  </a:lnTo>
                  <a:lnTo>
                    <a:pt x="25" y="80"/>
                  </a:lnTo>
                  <a:lnTo>
                    <a:pt x="25" y="72"/>
                  </a:lnTo>
                  <a:lnTo>
                    <a:pt x="31" y="80"/>
                  </a:lnTo>
                  <a:lnTo>
                    <a:pt x="38" y="72"/>
                  </a:lnTo>
                  <a:lnTo>
                    <a:pt x="44" y="72"/>
                  </a:lnTo>
                  <a:lnTo>
                    <a:pt x="50" y="65"/>
                  </a:lnTo>
                  <a:lnTo>
                    <a:pt x="57" y="58"/>
                  </a:lnTo>
                  <a:lnTo>
                    <a:pt x="57" y="29"/>
                  </a:lnTo>
                  <a:lnTo>
                    <a:pt x="57" y="22"/>
                  </a:lnTo>
                  <a:lnTo>
                    <a:pt x="57" y="15"/>
                  </a:lnTo>
                  <a:lnTo>
                    <a:pt x="50" y="0"/>
                  </a:lnTo>
                  <a:lnTo>
                    <a:pt x="44" y="7"/>
                  </a:lnTo>
                  <a:lnTo>
                    <a:pt x="44" y="15"/>
                  </a:lnTo>
                  <a:lnTo>
                    <a:pt x="44" y="22"/>
                  </a:lnTo>
                  <a:lnTo>
                    <a:pt x="38" y="36"/>
                  </a:lnTo>
                  <a:lnTo>
                    <a:pt x="38" y="43"/>
                  </a:lnTo>
                  <a:lnTo>
                    <a:pt x="38" y="51"/>
                  </a:lnTo>
                  <a:lnTo>
                    <a:pt x="38" y="43"/>
                  </a:lnTo>
                  <a:lnTo>
                    <a:pt x="25" y="58"/>
                  </a:lnTo>
                  <a:lnTo>
                    <a:pt x="12" y="58"/>
                  </a:lnTo>
                  <a:lnTo>
                    <a:pt x="0" y="65"/>
                  </a:lnTo>
                  <a:lnTo>
                    <a:pt x="0" y="72"/>
                  </a:lnTo>
                  <a:lnTo>
                    <a:pt x="0" y="8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52" name="Freeform 106"/>
            <p:cNvSpPr>
              <a:spLocks/>
            </p:cNvSpPr>
            <p:nvPr/>
          </p:nvSpPr>
          <p:spPr bwMode="auto">
            <a:xfrm>
              <a:off x="5230" y="526"/>
              <a:ext cx="57" cy="87"/>
            </a:xfrm>
            <a:custGeom>
              <a:avLst/>
              <a:gdLst>
                <a:gd name="T0" fmla="*/ 0 w 57"/>
                <a:gd name="T1" fmla="*/ 80 h 87"/>
                <a:gd name="T2" fmla="*/ 12 w 57"/>
                <a:gd name="T3" fmla="*/ 80 h 87"/>
                <a:gd name="T4" fmla="*/ 6 w 57"/>
                <a:gd name="T5" fmla="*/ 87 h 87"/>
                <a:gd name="T6" fmla="*/ 12 w 57"/>
                <a:gd name="T7" fmla="*/ 87 h 87"/>
                <a:gd name="T8" fmla="*/ 25 w 57"/>
                <a:gd name="T9" fmla="*/ 80 h 87"/>
                <a:gd name="T10" fmla="*/ 25 w 57"/>
                <a:gd name="T11" fmla="*/ 72 h 87"/>
                <a:gd name="T12" fmla="*/ 31 w 57"/>
                <a:gd name="T13" fmla="*/ 80 h 87"/>
                <a:gd name="T14" fmla="*/ 38 w 57"/>
                <a:gd name="T15" fmla="*/ 72 h 87"/>
                <a:gd name="T16" fmla="*/ 44 w 57"/>
                <a:gd name="T17" fmla="*/ 72 h 87"/>
                <a:gd name="T18" fmla="*/ 50 w 57"/>
                <a:gd name="T19" fmla="*/ 65 h 87"/>
                <a:gd name="T20" fmla="*/ 57 w 57"/>
                <a:gd name="T21" fmla="*/ 58 h 87"/>
                <a:gd name="T22" fmla="*/ 57 w 57"/>
                <a:gd name="T23" fmla="*/ 29 h 87"/>
                <a:gd name="T24" fmla="*/ 57 w 57"/>
                <a:gd name="T25" fmla="*/ 22 h 87"/>
                <a:gd name="T26" fmla="*/ 57 w 57"/>
                <a:gd name="T27" fmla="*/ 15 h 87"/>
                <a:gd name="T28" fmla="*/ 50 w 57"/>
                <a:gd name="T29" fmla="*/ 0 h 87"/>
                <a:gd name="T30" fmla="*/ 44 w 57"/>
                <a:gd name="T31" fmla="*/ 7 h 87"/>
                <a:gd name="T32" fmla="*/ 44 w 57"/>
                <a:gd name="T33" fmla="*/ 15 h 87"/>
                <a:gd name="T34" fmla="*/ 44 w 57"/>
                <a:gd name="T35" fmla="*/ 22 h 87"/>
                <a:gd name="T36" fmla="*/ 38 w 57"/>
                <a:gd name="T37" fmla="*/ 36 h 87"/>
                <a:gd name="T38" fmla="*/ 38 w 57"/>
                <a:gd name="T39" fmla="*/ 43 h 87"/>
                <a:gd name="T40" fmla="*/ 38 w 57"/>
                <a:gd name="T41" fmla="*/ 51 h 87"/>
                <a:gd name="T42" fmla="*/ 38 w 57"/>
                <a:gd name="T43" fmla="*/ 43 h 87"/>
                <a:gd name="T44" fmla="*/ 25 w 57"/>
                <a:gd name="T45" fmla="*/ 58 h 87"/>
                <a:gd name="T46" fmla="*/ 12 w 57"/>
                <a:gd name="T47" fmla="*/ 58 h 87"/>
                <a:gd name="T48" fmla="*/ 0 w 57"/>
                <a:gd name="T49" fmla="*/ 65 h 87"/>
                <a:gd name="T50" fmla="*/ 0 w 57"/>
                <a:gd name="T51" fmla="*/ 72 h 87"/>
                <a:gd name="T52" fmla="*/ 0 w 57"/>
                <a:gd name="T53" fmla="*/ 80 h 8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57"/>
                <a:gd name="T82" fmla="*/ 0 h 87"/>
                <a:gd name="T83" fmla="*/ 57 w 57"/>
                <a:gd name="T84" fmla="*/ 87 h 87"/>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57" h="87">
                  <a:moveTo>
                    <a:pt x="0" y="80"/>
                  </a:moveTo>
                  <a:lnTo>
                    <a:pt x="12" y="80"/>
                  </a:lnTo>
                  <a:lnTo>
                    <a:pt x="6" y="87"/>
                  </a:lnTo>
                  <a:lnTo>
                    <a:pt x="12" y="87"/>
                  </a:lnTo>
                  <a:lnTo>
                    <a:pt x="25" y="80"/>
                  </a:lnTo>
                  <a:lnTo>
                    <a:pt x="25" y="72"/>
                  </a:lnTo>
                  <a:lnTo>
                    <a:pt x="31" y="80"/>
                  </a:lnTo>
                  <a:lnTo>
                    <a:pt x="38" y="72"/>
                  </a:lnTo>
                  <a:lnTo>
                    <a:pt x="44" y="72"/>
                  </a:lnTo>
                  <a:lnTo>
                    <a:pt x="50" y="65"/>
                  </a:lnTo>
                  <a:lnTo>
                    <a:pt x="57" y="58"/>
                  </a:lnTo>
                  <a:lnTo>
                    <a:pt x="57" y="29"/>
                  </a:lnTo>
                  <a:lnTo>
                    <a:pt x="57" y="22"/>
                  </a:lnTo>
                  <a:lnTo>
                    <a:pt x="57" y="15"/>
                  </a:lnTo>
                  <a:lnTo>
                    <a:pt x="50" y="0"/>
                  </a:lnTo>
                  <a:lnTo>
                    <a:pt x="44" y="7"/>
                  </a:lnTo>
                  <a:lnTo>
                    <a:pt x="44" y="15"/>
                  </a:lnTo>
                  <a:lnTo>
                    <a:pt x="44" y="22"/>
                  </a:lnTo>
                  <a:lnTo>
                    <a:pt x="38" y="36"/>
                  </a:lnTo>
                  <a:lnTo>
                    <a:pt x="38" y="43"/>
                  </a:lnTo>
                  <a:lnTo>
                    <a:pt x="38" y="51"/>
                  </a:lnTo>
                  <a:lnTo>
                    <a:pt x="38" y="43"/>
                  </a:lnTo>
                  <a:lnTo>
                    <a:pt x="25" y="58"/>
                  </a:lnTo>
                  <a:lnTo>
                    <a:pt x="12" y="58"/>
                  </a:lnTo>
                  <a:lnTo>
                    <a:pt x="0" y="65"/>
                  </a:lnTo>
                  <a:lnTo>
                    <a:pt x="0" y="72"/>
                  </a:lnTo>
                  <a:lnTo>
                    <a:pt x="0" y="8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53" name="Freeform 107"/>
            <p:cNvSpPr>
              <a:spLocks/>
            </p:cNvSpPr>
            <p:nvPr/>
          </p:nvSpPr>
          <p:spPr bwMode="auto">
            <a:xfrm>
              <a:off x="5268" y="483"/>
              <a:ext cx="31" cy="43"/>
            </a:xfrm>
            <a:custGeom>
              <a:avLst/>
              <a:gdLst>
                <a:gd name="T0" fmla="*/ 0 w 31"/>
                <a:gd name="T1" fmla="*/ 29 h 43"/>
                <a:gd name="T2" fmla="*/ 0 w 31"/>
                <a:gd name="T3" fmla="*/ 22 h 43"/>
                <a:gd name="T4" fmla="*/ 6 w 31"/>
                <a:gd name="T5" fmla="*/ 22 h 43"/>
                <a:gd name="T6" fmla="*/ 6 w 31"/>
                <a:gd name="T7" fmla="*/ 14 h 43"/>
                <a:gd name="T8" fmla="*/ 6 w 31"/>
                <a:gd name="T9" fmla="*/ 7 h 43"/>
                <a:gd name="T10" fmla="*/ 6 w 31"/>
                <a:gd name="T11" fmla="*/ 0 h 43"/>
                <a:gd name="T12" fmla="*/ 6 w 31"/>
                <a:gd name="T13" fmla="*/ 0 h 43"/>
                <a:gd name="T14" fmla="*/ 12 w 31"/>
                <a:gd name="T15" fmla="*/ 0 h 43"/>
                <a:gd name="T16" fmla="*/ 19 w 31"/>
                <a:gd name="T17" fmla="*/ 7 h 43"/>
                <a:gd name="T18" fmla="*/ 31 w 31"/>
                <a:gd name="T19" fmla="*/ 14 h 43"/>
                <a:gd name="T20" fmla="*/ 31 w 31"/>
                <a:gd name="T21" fmla="*/ 22 h 43"/>
                <a:gd name="T22" fmla="*/ 25 w 31"/>
                <a:gd name="T23" fmla="*/ 29 h 43"/>
                <a:gd name="T24" fmla="*/ 19 w 31"/>
                <a:gd name="T25" fmla="*/ 36 h 43"/>
                <a:gd name="T26" fmla="*/ 19 w 31"/>
                <a:gd name="T27" fmla="*/ 29 h 43"/>
                <a:gd name="T28" fmla="*/ 6 w 31"/>
                <a:gd name="T29" fmla="*/ 29 h 43"/>
                <a:gd name="T30" fmla="*/ 6 w 31"/>
                <a:gd name="T31" fmla="*/ 36 h 43"/>
                <a:gd name="T32" fmla="*/ 0 w 31"/>
                <a:gd name="T33" fmla="*/ 43 h 43"/>
                <a:gd name="T34" fmla="*/ 0 w 31"/>
                <a:gd name="T35" fmla="*/ 36 h 43"/>
                <a:gd name="T36" fmla="*/ 0 w 31"/>
                <a:gd name="T37" fmla="*/ 36 h 43"/>
                <a:gd name="T38" fmla="*/ 0 w 31"/>
                <a:gd name="T39" fmla="*/ 36 h 43"/>
                <a:gd name="T40" fmla="*/ 0 w 31"/>
                <a:gd name="T41" fmla="*/ 29 h 43"/>
                <a:gd name="T42" fmla="*/ 0 w 31"/>
                <a:gd name="T43" fmla="*/ 29 h 43"/>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1"/>
                <a:gd name="T67" fmla="*/ 0 h 43"/>
                <a:gd name="T68" fmla="*/ 31 w 31"/>
                <a:gd name="T69" fmla="*/ 43 h 43"/>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1" h="43">
                  <a:moveTo>
                    <a:pt x="0" y="29"/>
                  </a:moveTo>
                  <a:lnTo>
                    <a:pt x="0" y="22"/>
                  </a:lnTo>
                  <a:lnTo>
                    <a:pt x="6" y="22"/>
                  </a:lnTo>
                  <a:lnTo>
                    <a:pt x="6" y="14"/>
                  </a:lnTo>
                  <a:lnTo>
                    <a:pt x="6" y="7"/>
                  </a:lnTo>
                  <a:lnTo>
                    <a:pt x="6" y="0"/>
                  </a:lnTo>
                  <a:lnTo>
                    <a:pt x="12" y="0"/>
                  </a:lnTo>
                  <a:lnTo>
                    <a:pt x="19" y="7"/>
                  </a:lnTo>
                  <a:lnTo>
                    <a:pt x="31" y="14"/>
                  </a:lnTo>
                  <a:lnTo>
                    <a:pt x="31" y="22"/>
                  </a:lnTo>
                  <a:lnTo>
                    <a:pt x="25" y="29"/>
                  </a:lnTo>
                  <a:lnTo>
                    <a:pt x="19" y="36"/>
                  </a:lnTo>
                  <a:lnTo>
                    <a:pt x="19" y="29"/>
                  </a:lnTo>
                  <a:lnTo>
                    <a:pt x="6" y="29"/>
                  </a:lnTo>
                  <a:lnTo>
                    <a:pt x="6" y="36"/>
                  </a:lnTo>
                  <a:lnTo>
                    <a:pt x="0" y="43"/>
                  </a:lnTo>
                  <a:lnTo>
                    <a:pt x="0" y="36"/>
                  </a:lnTo>
                  <a:lnTo>
                    <a:pt x="0" y="29"/>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54" name="Freeform 108"/>
            <p:cNvSpPr>
              <a:spLocks/>
            </p:cNvSpPr>
            <p:nvPr/>
          </p:nvSpPr>
          <p:spPr bwMode="auto">
            <a:xfrm>
              <a:off x="5268" y="483"/>
              <a:ext cx="31" cy="43"/>
            </a:xfrm>
            <a:custGeom>
              <a:avLst/>
              <a:gdLst>
                <a:gd name="T0" fmla="*/ 0 w 31"/>
                <a:gd name="T1" fmla="*/ 29 h 43"/>
                <a:gd name="T2" fmla="*/ 0 w 31"/>
                <a:gd name="T3" fmla="*/ 22 h 43"/>
                <a:gd name="T4" fmla="*/ 6 w 31"/>
                <a:gd name="T5" fmla="*/ 22 h 43"/>
                <a:gd name="T6" fmla="*/ 6 w 31"/>
                <a:gd name="T7" fmla="*/ 14 h 43"/>
                <a:gd name="T8" fmla="*/ 6 w 31"/>
                <a:gd name="T9" fmla="*/ 7 h 43"/>
                <a:gd name="T10" fmla="*/ 6 w 31"/>
                <a:gd name="T11" fmla="*/ 0 h 43"/>
                <a:gd name="T12" fmla="*/ 12 w 31"/>
                <a:gd name="T13" fmla="*/ 0 h 43"/>
                <a:gd name="T14" fmla="*/ 19 w 31"/>
                <a:gd name="T15" fmla="*/ 7 h 43"/>
                <a:gd name="T16" fmla="*/ 31 w 31"/>
                <a:gd name="T17" fmla="*/ 14 h 43"/>
                <a:gd name="T18" fmla="*/ 31 w 31"/>
                <a:gd name="T19" fmla="*/ 22 h 43"/>
                <a:gd name="T20" fmla="*/ 25 w 31"/>
                <a:gd name="T21" fmla="*/ 29 h 43"/>
                <a:gd name="T22" fmla="*/ 19 w 31"/>
                <a:gd name="T23" fmla="*/ 36 h 43"/>
                <a:gd name="T24" fmla="*/ 19 w 31"/>
                <a:gd name="T25" fmla="*/ 29 h 43"/>
                <a:gd name="T26" fmla="*/ 6 w 31"/>
                <a:gd name="T27" fmla="*/ 29 h 43"/>
                <a:gd name="T28" fmla="*/ 6 w 31"/>
                <a:gd name="T29" fmla="*/ 36 h 43"/>
                <a:gd name="T30" fmla="*/ 0 w 31"/>
                <a:gd name="T31" fmla="*/ 43 h 43"/>
                <a:gd name="T32" fmla="*/ 0 w 31"/>
                <a:gd name="T33" fmla="*/ 36 h 43"/>
                <a:gd name="T34" fmla="*/ 0 w 31"/>
                <a:gd name="T35" fmla="*/ 29 h 4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1"/>
                <a:gd name="T55" fmla="*/ 0 h 43"/>
                <a:gd name="T56" fmla="*/ 31 w 31"/>
                <a:gd name="T57" fmla="*/ 43 h 4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1" h="43">
                  <a:moveTo>
                    <a:pt x="0" y="29"/>
                  </a:moveTo>
                  <a:lnTo>
                    <a:pt x="0" y="22"/>
                  </a:lnTo>
                  <a:lnTo>
                    <a:pt x="6" y="22"/>
                  </a:lnTo>
                  <a:lnTo>
                    <a:pt x="6" y="14"/>
                  </a:lnTo>
                  <a:lnTo>
                    <a:pt x="6" y="7"/>
                  </a:lnTo>
                  <a:lnTo>
                    <a:pt x="6" y="0"/>
                  </a:lnTo>
                  <a:lnTo>
                    <a:pt x="12" y="0"/>
                  </a:lnTo>
                  <a:lnTo>
                    <a:pt x="19" y="7"/>
                  </a:lnTo>
                  <a:lnTo>
                    <a:pt x="31" y="14"/>
                  </a:lnTo>
                  <a:lnTo>
                    <a:pt x="31" y="22"/>
                  </a:lnTo>
                  <a:lnTo>
                    <a:pt x="25" y="29"/>
                  </a:lnTo>
                  <a:lnTo>
                    <a:pt x="19" y="36"/>
                  </a:lnTo>
                  <a:lnTo>
                    <a:pt x="19" y="29"/>
                  </a:lnTo>
                  <a:lnTo>
                    <a:pt x="6" y="29"/>
                  </a:lnTo>
                  <a:lnTo>
                    <a:pt x="6" y="36"/>
                  </a:lnTo>
                  <a:lnTo>
                    <a:pt x="0" y="43"/>
                  </a:lnTo>
                  <a:lnTo>
                    <a:pt x="0" y="36"/>
                  </a:lnTo>
                  <a:lnTo>
                    <a:pt x="0" y="29"/>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55" name="Freeform 109"/>
            <p:cNvSpPr>
              <a:spLocks/>
            </p:cNvSpPr>
            <p:nvPr/>
          </p:nvSpPr>
          <p:spPr bwMode="auto">
            <a:xfrm>
              <a:off x="4290" y="346"/>
              <a:ext cx="51" cy="94"/>
            </a:xfrm>
            <a:custGeom>
              <a:avLst/>
              <a:gdLst>
                <a:gd name="T0" fmla="*/ 13 w 51"/>
                <a:gd name="T1" fmla="*/ 94 h 94"/>
                <a:gd name="T2" fmla="*/ 38 w 51"/>
                <a:gd name="T3" fmla="*/ 94 h 94"/>
                <a:gd name="T4" fmla="*/ 45 w 51"/>
                <a:gd name="T5" fmla="*/ 87 h 94"/>
                <a:gd name="T6" fmla="*/ 51 w 51"/>
                <a:gd name="T7" fmla="*/ 65 h 94"/>
                <a:gd name="T8" fmla="*/ 45 w 51"/>
                <a:gd name="T9" fmla="*/ 65 h 94"/>
                <a:gd name="T10" fmla="*/ 45 w 51"/>
                <a:gd name="T11" fmla="*/ 58 h 94"/>
                <a:gd name="T12" fmla="*/ 45 w 51"/>
                <a:gd name="T13" fmla="*/ 65 h 94"/>
                <a:gd name="T14" fmla="*/ 45 w 51"/>
                <a:gd name="T15" fmla="*/ 65 h 94"/>
                <a:gd name="T16" fmla="*/ 45 w 51"/>
                <a:gd name="T17" fmla="*/ 50 h 94"/>
                <a:gd name="T18" fmla="*/ 32 w 51"/>
                <a:gd name="T19" fmla="*/ 43 h 94"/>
                <a:gd name="T20" fmla="*/ 32 w 51"/>
                <a:gd name="T21" fmla="*/ 29 h 94"/>
                <a:gd name="T22" fmla="*/ 26 w 51"/>
                <a:gd name="T23" fmla="*/ 29 h 94"/>
                <a:gd name="T24" fmla="*/ 26 w 51"/>
                <a:gd name="T25" fmla="*/ 14 h 94"/>
                <a:gd name="T26" fmla="*/ 26 w 51"/>
                <a:gd name="T27" fmla="*/ 7 h 94"/>
                <a:gd name="T28" fmla="*/ 13 w 51"/>
                <a:gd name="T29" fmla="*/ 7 h 94"/>
                <a:gd name="T30" fmla="*/ 13 w 51"/>
                <a:gd name="T31" fmla="*/ 0 h 94"/>
                <a:gd name="T32" fmla="*/ 7 w 51"/>
                <a:gd name="T33" fmla="*/ 0 h 94"/>
                <a:gd name="T34" fmla="*/ 0 w 51"/>
                <a:gd name="T35" fmla="*/ 14 h 94"/>
                <a:gd name="T36" fmla="*/ 0 w 51"/>
                <a:gd name="T37" fmla="*/ 22 h 94"/>
                <a:gd name="T38" fmla="*/ 7 w 51"/>
                <a:gd name="T39" fmla="*/ 29 h 94"/>
                <a:gd name="T40" fmla="*/ 7 w 51"/>
                <a:gd name="T41" fmla="*/ 29 h 94"/>
                <a:gd name="T42" fmla="*/ 13 w 51"/>
                <a:gd name="T43" fmla="*/ 36 h 94"/>
                <a:gd name="T44" fmla="*/ 13 w 51"/>
                <a:gd name="T45" fmla="*/ 43 h 94"/>
                <a:gd name="T46" fmla="*/ 13 w 51"/>
                <a:gd name="T47" fmla="*/ 43 h 94"/>
                <a:gd name="T48" fmla="*/ 19 w 51"/>
                <a:gd name="T49" fmla="*/ 43 h 94"/>
                <a:gd name="T50" fmla="*/ 19 w 51"/>
                <a:gd name="T51" fmla="*/ 50 h 94"/>
                <a:gd name="T52" fmla="*/ 19 w 51"/>
                <a:gd name="T53" fmla="*/ 50 h 94"/>
                <a:gd name="T54" fmla="*/ 19 w 51"/>
                <a:gd name="T55" fmla="*/ 58 h 94"/>
                <a:gd name="T56" fmla="*/ 13 w 51"/>
                <a:gd name="T57" fmla="*/ 65 h 94"/>
                <a:gd name="T58" fmla="*/ 13 w 51"/>
                <a:gd name="T59" fmla="*/ 72 h 94"/>
                <a:gd name="T60" fmla="*/ 7 w 51"/>
                <a:gd name="T61" fmla="*/ 79 h 94"/>
                <a:gd name="T62" fmla="*/ 13 w 51"/>
                <a:gd name="T63" fmla="*/ 87 h 94"/>
                <a:gd name="T64" fmla="*/ 13 w 51"/>
                <a:gd name="T65" fmla="*/ 94 h 94"/>
                <a:gd name="T66" fmla="*/ 13 w 51"/>
                <a:gd name="T67" fmla="*/ 94 h 9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
                <a:gd name="T103" fmla="*/ 0 h 94"/>
                <a:gd name="T104" fmla="*/ 51 w 51"/>
                <a:gd name="T105" fmla="*/ 94 h 9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 h="94">
                  <a:moveTo>
                    <a:pt x="13" y="94"/>
                  </a:moveTo>
                  <a:lnTo>
                    <a:pt x="38" y="94"/>
                  </a:lnTo>
                  <a:lnTo>
                    <a:pt x="45" y="87"/>
                  </a:lnTo>
                  <a:lnTo>
                    <a:pt x="51" y="65"/>
                  </a:lnTo>
                  <a:lnTo>
                    <a:pt x="45" y="65"/>
                  </a:lnTo>
                  <a:lnTo>
                    <a:pt x="45" y="58"/>
                  </a:lnTo>
                  <a:lnTo>
                    <a:pt x="45" y="65"/>
                  </a:lnTo>
                  <a:lnTo>
                    <a:pt x="45" y="50"/>
                  </a:lnTo>
                  <a:lnTo>
                    <a:pt x="32" y="43"/>
                  </a:lnTo>
                  <a:lnTo>
                    <a:pt x="32" y="29"/>
                  </a:lnTo>
                  <a:lnTo>
                    <a:pt x="26" y="29"/>
                  </a:lnTo>
                  <a:lnTo>
                    <a:pt x="26" y="14"/>
                  </a:lnTo>
                  <a:lnTo>
                    <a:pt x="26" y="7"/>
                  </a:lnTo>
                  <a:lnTo>
                    <a:pt x="13" y="7"/>
                  </a:lnTo>
                  <a:lnTo>
                    <a:pt x="13" y="0"/>
                  </a:lnTo>
                  <a:lnTo>
                    <a:pt x="7" y="0"/>
                  </a:lnTo>
                  <a:lnTo>
                    <a:pt x="0" y="14"/>
                  </a:lnTo>
                  <a:lnTo>
                    <a:pt x="0" y="22"/>
                  </a:lnTo>
                  <a:lnTo>
                    <a:pt x="7" y="29"/>
                  </a:lnTo>
                  <a:lnTo>
                    <a:pt x="13" y="36"/>
                  </a:lnTo>
                  <a:lnTo>
                    <a:pt x="13" y="43"/>
                  </a:lnTo>
                  <a:lnTo>
                    <a:pt x="19" y="43"/>
                  </a:lnTo>
                  <a:lnTo>
                    <a:pt x="19" y="50"/>
                  </a:lnTo>
                  <a:lnTo>
                    <a:pt x="19" y="58"/>
                  </a:lnTo>
                  <a:lnTo>
                    <a:pt x="13" y="65"/>
                  </a:lnTo>
                  <a:lnTo>
                    <a:pt x="13" y="72"/>
                  </a:lnTo>
                  <a:lnTo>
                    <a:pt x="7" y="79"/>
                  </a:lnTo>
                  <a:lnTo>
                    <a:pt x="13" y="87"/>
                  </a:lnTo>
                  <a:lnTo>
                    <a:pt x="13" y="94"/>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56" name="Freeform 110"/>
            <p:cNvSpPr>
              <a:spLocks/>
            </p:cNvSpPr>
            <p:nvPr/>
          </p:nvSpPr>
          <p:spPr bwMode="auto">
            <a:xfrm>
              <a:off x="4290" y="346"/>
              <a:ext cx="51" cy="94"/>
            </a:xfrm>
            <a:custGeom>
              <a:avLst/>
              <a:gdLst>
                <a:gd name="T0" fmla="*/ 13 w 51"/>
                <a:gd name="T1" fmla="*/ 94 h 94"/>
                <a:gd name="T2" fmla="*/ 38 w 51"/>
                <a:gd name="T3" fmla="*/ 94 h 94"/>
                <a:gd name="T4" fmla="*/ 45 w 51"/>
                <a:gd name="T5" fmla="*/ 87 h 94"/>
                <a:gd name="T6" fmla="*/ 51 w 51"/>
                <a:gd name="T7" fmla="*/ 65 h 94"/>
                <a:gd name="T8" fmla="*/ 45 w 51"/>
                <a:gd name="T9" fmla="*/ 65 h 94"/>
                <a:gd name="T10" fmla="*/ 45 w 51"/>
                <a:gd name="T11" fmla="*/ 58 h 94"/>
                <a:gd name="T12" fmla="*/ 45 w 51"/>
                <a:gd name="T13" fmla="*/ 65 h 94"/>
                <a:gd name="T14" fmla="*/ 45 w 51"/>
                <a:gd name="T15" fmla="*/ 50 h 94"/>
                <a:gd name="T16" fmla="*/ 32 w 51"/>
                <a:gd name="T17" fmla="*/ 43 h 94"/>
                <a:gd name="T18" fmla="*/ 32 w 51"/>
                <a:gd name="T19" fmla="*/ 29 h 94"/>
                <a:gd name="T20" fmla="*/ 26 w 51"/>
                <a:gd name="T21" fmla="*/ 29 h 94"/>
                <a:gd name="T22" fmla="*/ 26 w 51"/>
                <a:gd name="T23" fmla="*/ 14 h 94"/>
                <a:gd name="T24" fmla="*/ 26 w 51"/>
                <a:gd name="T25" fmla="*/ 7 h 94"/>
                <a:gd name="T26" fmla="*/ 13 w 51"/>
                <a:gd name="T27" fmla="*/ 7 h 94"/>
                <a:gd name="T28" fmla="*/ 13 w 51"/>
                <a:gd name="T29" fmla="*/ 0 h 94"/>
                <a:gd name="T30" fmla="*/ 7 w 51"/>
                <a:gd name="T31" fmla="*/ 0 h 94"/>
                <a:gd name="T32" fmla="*/ 0 w 51"/>
                <a:gd name="T33" fmla="*/ 14 h 94"/>
                <a:gd name="T34" fmla="*/ 0 w 51"/>
                <a:gd name="T35" fmla="*/ 22 h 94"/>
                <a:gd name="T36" fmla="*/ 7 w 51"/>
                <a:gd name="T37" fmla="*/ 29 h 94"/>
                <a:gd name="T38" fmla="*/ 13 w 51"/>
                <a:gd name="T39" fmla="*/ 36 h 94"/>
                <a:gd name="T40" fmla="*/ 13 w 51"/>
                <a:gd name="T41" fmla="*/ 43 h 94"/>
                <a:gd name="T42" fmla="*/ 19 w 51"/>
                <a:gd name="T43" fmla="*/ 43 h 94"/>
                <a:gd name="T44" fmla="*/ 19 w 51"/>
                <a:gd name="T45" fmla="*/ 50 h 94"/>
                <a:gd name="T46" fmla="*/ 19 w 51"/>
                <a:gd name="T47" fmla="*/ 58 h 94"/>
                <a:gd name="T48" fmla="*/ 13 w 51"/>
                <a:gd name="T49" fmla="*/ 65 h 94"/>
                <a:gd name="T50" fmla="*/ 13 w 51"/>
                <a:gd name="T51" fmla="*/ 72 h 94"/>
                <a:gd name="T52" fmla="*/ 7 w 51"/>
                <a:gd name="T53" fmla="*/ 79 h 94"/>
                <a:gd name="T54" fmla="*/ 13 w 51"/>
                <a:gd name="T55" fmla="*/ 87 h 94"/>
                <a:gd name="T56" fmla="*/ 13 w 51"/>
                <a:gd name="T57" fmla="*/ 94 h 9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1"/>
                <a:gd name="T88" fmla="*/ 0 h 94"/>
                <a:gd name="T89" fmla="*/ 51 w 51"/>
                <a:gd name="T90" fmla="*/ 94 h 94"/>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1" h="94">
                  <a:moveTo>
                    <a:pt x="13" y="94"/>
                  </a:moveTo>
                  <a:lnTo>
                    <a:pt x="38" y="94"/>
                  </a:lnTo>
                  <a:lnTo>
                    <a:pt x="45" y="87"/>
                  </a:lnTo>
                  <a:lnTo>
                    <a:pt x="51" y="65"/>
                  </a:lnTo>
                  <a:lnTo>
                    <a:pt x="45" y="65"/>
                  </a:lnTo>
                  <a:lnTo>
                    <a:pt x="45" y="58"/>
                  </a:lnTo>
                  <a:lnTo>
                    <a:pt x="45" y="65"/>
                  </a:lnTo>
                  <a:lnTo>
                    <a:pt x="45" y="50"/>
                  </a:lnTo>
                  <a:lnTo>
                    <a:pt x="32" y="43"/>
                  </a:lnTo>
                  <a:lnTo>
                    <a:pt x="32" y="29"/>
                  </a:lnTo>
                  <a:lnTo>
                    <a:pt x="26" y="29"/>
                  </a:lnTo>
                  <a:lnTo>
                    <a:pt x="26" y="14"/>
                  </a:lnTo>
                  <a:lnTo>
                    <a:pt x="26" y="7"/>
                  </a:lnTo>
                  <a:lnTo>
                    <a:pt x="13" y="7"/>
                  </a:lnTo>
                  <a:lnTo>
                    <a:pt x="13" y="0"/>
                  </a:lnTo>
                  <a:lnTo>
                    <a:pt x="7" y="0"/>
                  </a:lnTo>
                  <a:lnTo>
                    <a:pt x="0" y="14"/>
                  </a:lnTo>
                  <a:lnTo>
                    <a:pt x="0" y="22"/>
                  </a:lnTo>
                  <a:lnTo>
                    <a:pt x="7" y="29"/>
                  </a:lnTo>
                  <a:lnTo>
                    <a:pt x="13" y="36"/>
                  </a:lnTo>
                  <a:lnTo>
                    <a:pt x="13" y="43"/>
                  </a:lnTo>
                  <a:lnTo>
                    <a:pt x="19" y="43"/>
                  </a:lnTo>
                  <a:lnTo>
                    <a:pt x="19" y="50"/>
                  </a:lnTo>
                  <a:lnTo>
                    <a:pt x="19" y="58"/>
                  </a:lnTo>
                  <a:lnTo>
                    <a:pt x="13" y="65"/>
                  </a:lnTo>
                  <a:lnTo>
                    <a:pt x="13" y="72"/>
                  </a:lnTo>
                  <a:lnTo>
                    <a:pt x="7" y="79"/>
                  </a:lnTo>
                  <a:lnTo>
                    <a:pt x="13" y="87"/>
                  </a:lnTo>
                  <a:lnTo>
                    <a:pt x="13" y="94"/>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57" name="Freeform 111"/>
            <p:cNvSpPr>
              <a:spLocks/>
            </p:cNvSpPr>
            <p:nvPr/>
          </p:nvSpPr>
          <p:spPr bwMode="auto">
            <a:xfrm>
              <a:off x="4265" y="382"/>
              <a:ext cx="32" cy="43"/>
            </a:xfrm>
            <a:custGeom>
              <a:avLst/>
              <a:gdLst>
                <a:gd name="T0" fmla="*/ 0 w 32"/>
                <a:gd name="T1" fmla="*/ 43 h 43"/>
                <a:gd name="T2" fmla="*/ 0 w 32"/>
                <a:gd name="T3" fmla="*/ 36 h 43"/>
                <a:gd name="T4" fmla="*/ 0 w 32"/>
                <a:gd name="T5" fmla="*/ 29 h 43"/>
                <a:gd name="T6" fmla="*/ 0 w 32"/>
                <a:gd name="T7" fmla="*/ 22 h 43"/>
                <a:gd name="T8" fmla="*/ 6 w 32"/>
                <a:gd name="T9" fmla="*/ 14 h 43"/>
                <a:gd name="T10" fmla="*/ 13 w 32"/>
                <a:gd name="T11" fmla="*/ 7 h 43"/>
                <a:gd name="T12" fmla="*/ 13 w 32"/>
                <a:gd name="T13" fmla="*/ 7 h 43"/>
                <a:gd name="T14" fmla="*/ 13 w 32"/>
                <a:gd name="T15" fmla="*/ 0 h 43"/>
                <a:gd name="T16" fmla="*/ 25 w 32"/>
                <a:gd name="T17" fmla="*/ 0 h 43"/>
                <a:gd name="T18" fmla="*/ 32 w 32"/>
                <a:gd name="T19" fmla="*/ 14 h 43"/>
                <a:gd name="T20" fmla="*/ 25 w 32"/>
                <a:gd name="T21" fmla="*/ 14 h 43"/>
                <a:gd name="T22" fmla="*/ 25 w 32"/>
                <a:gd name="T23" fmla="*/ 36 h 43"/>
                <a:gd name="T24" fmla="*/ 13 w 32"/>
                <a:gd name="T25" fmla="*/ 43 h 43"/>
                <a:gd name="T26" fmla="*/ 0 w 32"/>
                <a:gd name="T27" fmla="*/ 43 h 43"/>
                <a:gd name="T28" fmla="*/ 0 w 32"/>
                <a:gd name="T29" fmla="*/ 43 h 43"/>
                <a:gd name="T30" fmla="*/ 0 w 32"/>
                <a:gd name="T31" fmla="*/ 43 h 4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2"/>
                <a:gd name="T49" fmla="*/ 0 h 43"/>
                <a:gd name="T50" fmla="*/ 32 w 32"/>
                <a:gd name="T51" fmla="*/ 43 h 4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2" h="43">
                  <a:moveTo>
                    <a:pt x="0" y="43"/>
                  </a:moveTo>
                  <a:lnTo>
                    <a:pt x="0" y="36"/>
                  </a:lnTo>
                  <a:lnTo>
                    <a:pt x="0" y="29"/>
                  </a:lnTo>
                  <a:lnTo>
                    <a:pt x="0" y="22"/>
                  </a:lnTo>
                  <a:lnTo>
                    <a:pt x="6" y="14"/>
                  </a:lnTo>
                  <a:lnTo>
                    <a:pt x="13" y="7"/>
                  </a:lnTo>
                  <a:lnTo>
                    <a:pt x="13" y="0"/>
                  </a:lnTo>
                  <a:lnTo>
                    <a:pt x="25" y="0"/>
                  </a:lnTo>
                  <a:lnTo>
                    <a:pt x="32" y="14"/>
                  </a:lnTo>
                  <a:lnTo>
                    <a:pt x="25" y="14"/>
                  </a:lnTo>
                  <a:lnTo>
                    <a:pt x="25" y="36"/>
                  </a:lnTo>
                  <a:lnTo>
                    <a:pt x="13" y="43"/>
                  </a:lnTo>
                  <a:lnTo>
                    <a:pt x="0" y="43"/>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58" name="Freeform 112"/>
            <p:cNvSpPr>
              <a:spLocks/>
            </p:cNvSpPr>
            <p:nvPr/>
          </p:nvSpPr>
          <p:spPr bwMode="auto">
            <a:xfrm>
              <a:off x="4265" y="382"/>
              <a:ext cx="32" cy="43"/>
            </a:xfrm>
            <a:custGeom>
              <a:avLst/>
              <a:gdLst>
                <a:gd name="T0" fmla="*/ 0 w 32"/>
                <a:gd name="T1" fmla="*/ 43 h 43"/>
                <a:gd name="T2" fmla="*/ 0 w 32"/>
                <a:gd name="T3" fmla="*/ 36 h 43"/>
                <a:gd name="T4" fmla="*/ 0 w 32"/>
                <a:gd name="T5" fmla="*/ 29 h 43"/>
                <a:gd name="T6" fmla="*/ 0 w 32"/>
                <a:gd name="T7" fmla="*/ 22 h 43"/>
                <a:gd name="T8" fmla="*/ 6 w 32"/>
                <a:gd name="T9" fmla="*/ 14 h 43"/>
                <a:gd name="T10" fmla="*/ 13 w 32"/>
                <a:gd name="T11" fmla="*/ 7 h 43"/>
                <a:gd name="T12" fmla="*/ 13 w 32"/>
                <a:gd name="T13" fmla="*/ 0 h 43"/>
                <a:gd name="T14" fmla="*/ 25 w 32"/>
                <a:gd name="T15" fmla="*/ 0 h 43"/>
                <a:gd name="T16" fmla="*/ 32 w 32"/>
                <a:gd name="T17" fmla="*/ 14 h 43"/>
                <a:gd name="T18" fmla="*/ 25 w 32"/>
                <a:gd name="T19" fmla="*/ 14 h 43"/>
                <a:gd name="T20" fmla="*/ 25 w 32"/>
                <a:gd name="T21" fmla="*/ 36 h 43"/>
                <a:gd name="T22" fmla="*/ 13 w 32"/>
                <a:gd name="T23" fmla="*/ 43 h 43"/>
                <a:gd name="T24" fmla="*/ 0 w 32"/>
                <a:gd name="T25" fmla="*/ 43 h 4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2"/>
                <a:gd name="T40" fmla="*/ 0 h 43"/>
                <a:gd name="T41" fmla="*/ 32 w 32"/>
                <a:gd name="T42" fmla="*/ 43 h 4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2" h="43">
                  <a:moveTo>
                    <a:pt x="0" y="43"/>
                  </a:moveTo>
                  <a:lnTo>
                    <a:pt x="0" y="36"/>
                  </a:lnTo>
                  <a:lnTo>
                    <a:pt x="0" y="29"/>
                  </a:lnTo>
                  <a:lnTo>
                    <a:pt x="0" y="22"/>
                  </a:lnTo>
                  <a:lnTo>
                    <a:pt x="6" y="14"/>
                  </a:lnTo>
                  <a:lnTo>
                    <a:pt x="13" y="7"/>
                  </a:lnTo>
                  <a:lnTo>
                    <a:pt x="13" y="0"/>
                  </a:lnTo>
                  <a:lnTo>
                    <a:pt x="25" y="0"/>
                  </a:lnTo>
                  <a:lnTo>
                    <a:pt x="32" y="14"/>
                  </a:lnTo>
                  <a:lnTo>
                    <a:pt x="25" y="14"/>
                  </a:lnTo>
                  <a:lnTo>
                    <a:pt x="25" y="36"/>
                  </a:lnTo>
                  <a:lnTo>
                    <a:pt x="13" y="43"/>
                  </a:lnTo>
                  <a:lnTo>
                    <a:pt x="0" y="43"/>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59" name="Freeform 113"/>
            <p:cNvSpPr>
              <a:spLocks/>
            </p:cNvSpPr>
            <p:nvPr/>
          </p:nvSpPr>
          <p:spPr bwMode="auto">
            <a:xfrm>
              <a:off x="5223" y="606"/>
              <a:ext cx="13" cy="21"/>
            </a:xfrm>
            <a:custGeom>
              <a:avLst/>
              <a:gdLst>
                <a:gd name="T0" fmla="*/ 0 w 13"/>
                <a:gd name="T1" fmla="*/ 7 h 21"/>
                <a:gd name="T2" fmla="*/ 7 w 13"/>
                <a:gd name="T3" fmla="*/ 0 h 21"/>
                <a:gd name="T4" fmla="*/ 7 w 13"/>
                <a:gd name="T5" fmla="*/ 0 h 21"/>
                <a:gd name="T6" fmla="*/ 13 w 13"/>
                <a:gd name="T7" fmla="*/ 7 h 21"/>
                <a:gd name="T8" fmla="*/ 7 w 13"/>
                <a:gd name="T9" fmla="*/ 14 h 21"/>
                <a:gd name="T10" fmla="*/ 7 w 13"/>
                <a:gd name="T11" fmla="*/ 21 h 21"/>
                <a:gd name="T12" fmla="*/ 0 w 13"/>
                <a:gd name="T13" fmla="*/ 7 h 21"/>
                <a:gd name="T14" fmla="*/ 0 w 13"/>
                <a:gd name="T15" fmla="*/ 7 h 21"/>
                <a:gd name="T16" fmla="*/ 0 60000 65536"/>
                <a:gd name="T17" fmla="*/ 0 60000 65536"/>
                <a:gd name="T18" fmla="*/ 0 60000 65536"/>
                <a:gd name="T19" fmla="*/ 0 60000 65536"/>
                <a:gd name="T20" fmla="*/ 0 60000 65536"/>
                <a:gd name="T21" fmla="*/ 0 60000 65536"/>
                <a:gd name="T22" fmla="*/ 0 60000 65536"/>
                <a:gd name="T23" fmla="*/ 0 60000 65536"/>
                <a:gd name="T24" fmla="*/ 0 w 13"/>
                <a:gd name="T25" fmla="*/ 0 h 21"/>
                <a:gd name="T26" fmla="*/ 13 w 13"/>
                <a:gd name="T27" fmla="*/ 21 h 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 h="21">
                  <a:moveTo>
                    <a:pt x="0" y="7"/>
                  </a:moveTo>
                  <a:lnTo>
                    <a:pt x="7" y="0"/>
                  </a:lnTo>
                  <a:lnTo>
                    <a:pt x="13" y="7"/>
                  </a:lnTo>
                  <a:lnTo>
                    <a:pt x="7" y="14"/>
                  </a:lnTo>
                  <a:lnTo>
                    <a:pt x="7" y="21"/>
                  </a:lnTo>
                  <a:lnTo>
                    <a:pt x="0" y="7"/>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60" name="Freeform 114"/>
            <p:cNvSpPr>
              <a:spLocks/>
            </p:cNvSpPr>
            <p:nvPr/>
          </p:nvSpPr>
          <p:spPr bwMode="auto">
            <a:xfrm>
              <a:off x="5223" y="606"/>
              <a:ext cx="13" cy="21"/>
            </a:xfrm>
            <a:custGeom>
              <a:avLst/>
              <a:gdLst>
                <a:gd name="T0" fmla="*/ 0 w 13"/>
                <a:gd name="T1" fmla="*/ 7 h 21"/>
                <a:gd name="T2" fmla="*/ 7 w 13"/>
                <a:gd name="T3" fmla="*/ 0 h 21"/>
                <a:gd name="T4" fmla="*/ 13 w 13"/>
                <a:gd name="T5" fmla="*/ 7 h 21"/>
                <a:gd name="T6" fmla="*/ 7 w 13"/>
                <a:gd name="T7" fmla="*/ 14 h 21"/>
                <a:gd name="T8" fmla="*/ 7 w 13"/>
                <a:gd name="T9" fmla="*/ 21 h 21"/>
                <a:gd name="T10" fmla="*/ 0 w 13"/>
                <a:gd name="T11" fmla="*/ 7 h 21"/>
                <a:gd name="T12" fmla="*/ 0 60000 65536"/>
                <a:gd name="T13" fmla="*/ 0 60000 65536"/>
                <a:gd name="T14" fmla="*/ 0 60000 65536"/>
                <a:gd name="T15" fmla="*/ 0 60000 65536"/>
                <a:gd name="T16" fmla="*/ 0 60000 65536"/>
                <a:gd name="T17" fmla="*/ 0 60000 65536"/>
                <a:gd name="T18" fmla="*/ 0 w 13"/>
                <a:gd name="T19" fmla="*/ 0 h 21"/>
                <a:gd name="T20" fmla="*/ 13 w 13"/>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13" h="21">
                  <a:moveTo>
                    <a:pt x="0" y="7"/>
                  </a:moveTo>
                  <a:lnTo>
                    <a:pt x="7" y="0"/>
                  </a:lnTo>
                  <a:lnTo>
                    <a:pt x="13" y="7"/>
                  </a:lnTo>
                  <a:lnTo>
                    <a:pt x="7" y="14"/>
                  </a:lnTo>
                  <a:lnTo>
                    <a:pt x="7" y="21"/>
                  </a:lnTo>
                  <a:lnTo>
                    <a:pt x="0" y="7"/>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61" name="Freeform 115"/>
            <p:cNvSpPr>
              <a:spLocks/>
            </p:cNvSpPr>
            <p:nvPr/>
          </p:nvSpPr>
          <p:spPr bwMode="auto">
            <a:xfrm>
              <a:off x="5261" y="382"/>
              <a:ext cx="26" cy="94"/>
            </a:xfrm>
            <a:custGeom>
              <a:avLst/>
              <a:gdLst>
                <a:gd name="T0" fmla="*/ 13 w 26"/>
                <a:gd name="T1" fmla="*/ 94 h 94"/>
                <a:gd name="T2" fmla="*/ 7 w 26"/>
                <a:gd name="T3" fmla="*/ 79 h 94"/>
                <a:gd name="T4" fmla="*/ 7 w 26"/>
                <a:gd name="T5" fmla="*/ 72 h 94"/>
                <a:gd name="T6" fmla="*/ 7 w 26"/>
                <a:gd name="T7" fmla="*/ 72 h 94"/>
                <a:gd name="T8" fmla="*/ 7 w 26"/>
                <a:gd name="T9" fmla="*/ 36 h 94"/>
                <a:gd name="T10" fmla="*/ 7 w 26"/>
                <a:gd name="T11" fmla="*/ 29 h 94"/>
                <a:gd name="T12" fmla="*/ 0 w 26"/>
                <a:gd name="T13" fmla="*/ 22 h 94"/>
                <a:gd name="T14" fmla="*/ 0 w 26"/>
                <a:gd name="T15" fmla="*/ 0 h 94"/>
                <a:gd name="T16" fmla="*/ 7 w 26"/>
                <a:gd name="T17" fmla="*/ 7 h 94"/>
                <a:gd name="T18" fmla="*/ 7 w 26"/>
                <a:gd name="T19" fmla="*/ 14 h 94"/>
                <a:gd name="T20" fmla="*/ 7 w 26"/>
                <a:gd name="T21" fmla="*/ 29 h 94"/>
                <a:gd name="T22" fmla="*/ 19 w 26"/>
                <a:gd name="T23" fmla="*/ 58 h 94"/>
                <a:gd name="T24" fmla="*/ 19 w 26"/>
                <a:gd name="T25" fmla="*/ 58 h 94"/>
                <a:gd name="T26" fmla="*/ 19 w 26"/>
                <a:gd name="T27" fmla="*/ 65 h 94"/>
                <a:gd name="T28" fmla="*/ 26 w 26"/>
                <a:gd name="T29" fmla="*/ 65 h 94"/>
                <a:gd name="T30" fmla="*/ 19 w 26"/>
                <a:gd name="T31" fmla="*/ 65 h 94"/>
                <a:gd name="T32" fmla="*/ 13 w 26"/>
                <a:gd name="T33" fmla="*/ 58 h 94"/>
                <a:gd name="T34" fmla="*/ 7 w 26"/>
                <a:gd name="T35" fmla="*/ 65 h 94"/>
                <a:gd name="T36" fmla="*/ 13 w 26"/>
                <a:gd name="T37" fmla="*/ 72 h 94"/>
                <a:gd name="T38" fmla="*/ 13 w 26"/>
                <a:gd name="T39" fmla="*/ 79 h 94"/>
                <a:gd name="T40" fmla="*/ 19 w 26"/>
                <a:gd name="T41" fmla="*/ 87 h 94"/>
                <a:gd name="T42" fmla="*/ 13 w 26"/>
                <a:gd name="T43" fmla="*/ 94 h 94"/>
                <a:gd name="T44" fmla="*/ 13 w 26"/>
                <a:gd name="T45" fmla="*/ 94 h 9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6"/>
                <a:gd name="T70" fmla="*/ 0 h 94"/>
                <a:gd name="T71" fmla="*/ 26 w 26"/>
                <a:gd name="T72" fmla="*/ 94 h 9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6" h="94">
                  <a:moveTo>
                    <a:pt x="13" y="94"/>
                  </a:moveTo>
                  <a:lnTo>
                    <a:pt x="7" y="79"/>
                  </a:lnTo>
                  <a:lnTo>
                    <a:pt x="7" y="72"/>
                  </a:lnTo>
                  <a:lnTo>
                    <a:pt x="7" y="36"/>
                  </a:lnTo>
                  <a:lnTo>
                    <a:pt x="7" y="29"/>
                  </a:lnTo>
                  <a:lnTo>
                    <a:pt x="0" y="22"/>
                  </a:lnTo>
                  <a:lnTo>
                    <a:pt x="0" y="0"/>
                  </a:lnTo>
                  <a:lnTo>
                    <a:pt x="7" y="7"/>
                  </a:lnTo>
                  <a:lnTo>
                    <a:pt x="7" y="14"/>
                  </a:lnTo>
                  <a:lnTo>
                    <a:pt x="7" y="29"/>
                  </a:lnTo>
                  <a:lnTo>
                    <a:pt x="19" y="58"/>
                  </a:lnTo>
                  <a:lnTo>
                    <a:pt x="19" y="65"/>
                  </a:lnTo>
                  <a:lnTo>
                    <a:pt x="26" y="65"/>
                  </a:lnTo>
                  <a:lnTo>
                    <a:pt x="19" y="65"/>
                  </a:lnTo>
                  <a:lnTo>
                    <a:pt x="13" y="58"/>
                  </a:lnTo>
                  <a:lnTo>
                    <a:pt x="7" y="65"/>
                  </a:lnTo>
                  <a:lnTo>
                    <a:pt x="13" y="72"/>
                  </a:lnTo>
                  <a:lnTo>
                    <a:pt x="13" y="79"/>
                  </a:lnTo>
                  <a:lnTo>
                    <a:pt x="19" y="87"/>
                  </a:lnTo>
                  <a:lnTo>
                    <a:pt x="13" y="94"/>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62" name="Freeform 116"/>
            <p:cNvSpPr>
              <a:spLocks/>
            </p:cNvSpPr>
            <p:nvPr/>
          </p:nvSpPr>
          <p:spPr bwMode="auto">
            <a:xfrm>
              <a:off x="5261" y="382"/>
              <a:ext cx="26" cy="94"/>
            </a:xfrm>
            <a:custGeom>
              <a:avLst/>
              <a:gdLst>
                <a:gd name="T0" fmla="*/ 13 w 26"/>
                <a:gd name="T1" fmla="*/ 94 h 94"/>
                <a:gd name="T2" fmla="*/ 7 w 26"/>
                <a:gd name="T3" fmla="*/ 79 h 94"/>
                <a:gd name="T4" fmla="*/ 7 w 26"/>
                <a:gd name="T5" fmla="*/ 72 h 94"/>
                <a:gd name="T6" fmla="*/ 7 w 26"/>
                <a:gd name="T7" fmla="*/ 36 h 94"/>
                <a:gd name="T8" fmla="*/ 7 w 26"/>
                <a:gd name="T9" fmla="*/ 29 h 94"/>
                <a:gd name="T10" fmla="*/ 0 w 26"/>
                <a:gd name="T11" fmla="*/ 22 h 94"/>
                <a:gd name="T12" fmla="*/ 0 w 26"/>
                <a:gd name="T13" fmla="*/ 0 h 94"/>
                <a:gd name="T14" fmla="*/ 7 w 26"/>
                <a:gd name="T15" fmla="*/ 7 h 94"/>
                <a:gd name="T16" fmla="*/ 7 w 26"/>
                <a:gd name="T17" fmla="*/ 14 h 94"/>
                <a:gd name="T18" fmla="*/ 7 w 26"/>
                <a:gd name="T19" fmla="*/ 29 h 94"/>
                <a:gd name="T20" fmla="*/ 19 w 26"/>
                <a:gd name="T21" fmla="*/ 58 h 94"/>
                <a:gd name="T22" fmla="*/ 19 w 26"/>
                <a:gd name="T23" fmla="*/ 65 h 94"/>
                <a:gd name="T24" fmla="*/ 26 w 26"/>
                <a:gd name="T25" fmla="*/ 65 h 94"/>
                <a:gd name="T26" fmla="*/ 19 w 26"/>
                <a:gd name="T27" fmla="*/ 65 h 94"/>
                <a:gd name="T28" fmla="*/ 13 w 26"/>
                <a:gd name="T29" fmla="*/ 58 h 94"/>
                <a:gd name="T30" fmla="*/ 7 w 26"/>
                <a:gd name="T31" fmla="*/ 65 h 94"/>
                <a:gd name="T32" fmla="*/ 13 w 26"/>
                <a:gd name="T33" fmla="*/ 72 h 94"/>
                <a:gd name="T34" fmla="*/ 13 w 26"/>
                <a:gd name="T35" fmla="*/ 79 h 94"/>
                <a:gd name="T36" fmla="*/ 19 w 26"/>
                <a:gd name="T37" fmla="*/ 87 h 94"/>
                <a:gd name="T38" fmla="*/ 13 w 26"/>
                <a:gd name="T39" fmla="*/ 94 h 9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6"/>
                <a:gd name="T61" fmla="*/ 0 h 94"/>
                <a:gd name="T62" fmla="*/ 26 w 26"/>
                <a:gd name="T63" fmla="*/ 94 h 9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6" h="94">
                  <a:moveTo>
                    <a:pt x="13" y="94"/>
                  </a:moveTo>
                  <a:lnTo>
                    <a:pt x="7" y="79"/>
                  </a:lnTo>
                  <a:lnTo>
                    <a:pt x="7" y="72"/>
                  </a:lnTo>
                  <a:lnTo>
                    <a:pt x="7" y="36"/>
                  </a:lnTo>
                  <a:lnTo>
                    <a:pt x="7" y="29"/>
                  </a:lnTo>
                  <a:lnTo>
                    <a:pt x="0" y="22"/>
                  </a:lnTo>
                  <a:lnTo>
                    <a:pt x="0" y="0"/>
                  </a:lnTo>
                  <a:lnTo>
                    <a:pt x="7" y="7"/>
                  </a:lnTo>
                  <a:lnTo>
                    <a:pt x="7" y="14"/>
                  </a:lnTo>
                  <a:lnTo>
                    <a:pt x="7" y="29"/>
                  </a:lnTo>
                  <a:lnTo>
                    <a:pt x="19" y="58"/>
                  </a:lnTo>
                  <a:lnTo>
                    <a:pt x="19" y="65"/>
                  </a:lnTo>
                  <a:lnTo>
                    <a:pt x="26" y="65"/>
                  </a:lnTo>
                  <a:lnTo>
                    <a:pt x="19" y="65"/>
                  </a:lnTo>
                  <a:lnTo>
                    <a:pt x="13" y="58"/>
                  </a:lnTo>
                  <a:lnTo>
                    <a:pt x="7" y="65"/>
                  </a:lnTo>
                  <a:lnTo>
                    <a:pt x="13" y="72"/>
                  </a:lnTo>
                  <a:lnTo>
                    <a:pt x="13" y="79"/>
                  </a:lnTo>
                  <a:lnTo>
                    <a:pt x="19" y="87"/>
                  </a:lnTo>
                  <a:lnTo>
                    <a:pt x="13" y="94"/>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63" name="Freeform 117"/>
            <p:cNvSpPr>
              <a:spLocks/>
            </p:cNvSpPr>
            <p:nvPr/>
          </p:nvSpPr>
          <p:spPr bwMode="auto">
            <a:xfrm>
              <a:off x="4417" y="569"/>
              <a:ext cx="19" cy="15"/>
            </a:xfrm>
            <a:custGeom>
              <a:avLst/>
              <a:gdLst>
                <a:gd name="T0" fmla="*/ 19 w 19"/>
                <a:gd name="T1" fmla="*/ 0 h 15"/>
                <a:gd name="T2" fmla="*/ 0 w 19"/>
                <a:gd name="T3" fmla="*/ 0 h 15"/>
                <a:gd name="T4" fmla="*/ 13 w 19"/>
                <a:gd name="T5" fmla="*/ 15 h 15"/>
                <a:gd name="T6" fmla="*/ 19 w 19"/>
                <a:gd name="T7" fmla="*/ 15 h 15"/>
                <a:gd name="T8" fmla="*/ 19 w 19"/>
                <a:gd name="T9" fmla="*/ 0 h 15"/>
                <a:gd name="T10" fmla="*/ 19 w 19"/>
                <a:gd name="T11" fmla="*/ 0 h 15"/>
                <a:gd name="T12" fmla="*/ 0 60000 65536"/>
                <a:gd name="T13" fmla="*/ 0 60000 65536"/>
                <a:gd name="T14" fmla="*/ 0 60000 65536"/>
                <a:gd name="T15" fmla="*/ 0 60000 65536"/>
                <a:gd name="T16" fmla="*/ 0 60000 65536"/>
                <a:gd name="T17" fmla="*/ 0 60000 65536"/>
                <a:gd name="T18" fmla="*/ 0 w 19"/>
                <a:gd name="T19" fmla="*/ 0 h 15"/>
                <a:gd name="T20" fmla="*/ 19 w 19"/>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9" h="15">
                  <a:moveTo>
                    <a:pt x="19" y="0"/>
                  </a:moveTo>
                  <a:lnTo>
                    <a:pt x="0" y="0"/>
                  </a:lnTo>
                  <a:lnTo>
                    <a:pt x="13" y="15"/>
                  </a:lnTo>
                  <a:lnTo>
                    <a:pt x="19" y="15"/>
                  </a:lnTo>
                  <a:lnTo>
                    <a:pt x="19"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64" name="Freeform 118"/>
            <p:cNvSpPr>
              <a:spLocks/>
            </p:cNvSpPr>
            <p:nvPr/>
          </p:nvSpPr>
          <p:spPr bwMode="auto">
            <a:xfrm>
              <a:off x="4417" y="569"/>
              <a:ext cx="19" cy="15"/>
            </a:xfrm>
            <a:custGeom>
              <a:avLst/>
              <a:gdLst>
                <a:gd name="T0" fmla="*/ 19 w 19"/>
                <a:gd name="T1" fmla="*/ 0 h 15"/>
                <a:gd name="T2" fmla="*/ 0 w 19"/>
                <a:gd name="T3" fmla="*/ 0 h 15"/>
                <a:gd name="T4" fmla="*/ 13 w 19"/>
                <a:gd name="T5" fmla="*/ 15 h 15"/>
                <a:gd name="T6" fmla="*/ 19 w 19"/>
                <a:gd name="T7" fmla="*/ 15 h 15"/>
                <a:gd name="T8" fmla="*/ 19 w 19"/>
                <a:gd name="T9" fmla="*/ 0 h 15"/>
                <a:gd name="T10" fmla="*/ 0 60000 65536"/>
                <a:gd name="T11" fmla="*/ 0 60000 65536"/>
                <a:gd name="T12" fmla="*/ 0 60000 65536"/>
                <a:gd name="T13" fmla="*/ 0 60000 65536"/>
                <a:gd name="T14" fmla="*/ 0 60000 65536"/>
                <a:gd name="T15" fmla="*/ 0 w 19"/>
                <a:gd name="T16" fmla="*/ 0 h 15"/>
                <a:gd name="T17" fmla="*/ 19 w 19"/>
                <a:gd name="T18" fmla="*/ 15 h 15"/>
              </a:gdLst>
              <a:ahLst/>
              <a:cxnLst>
                <a:cxn ang="T10">
                  <a:pos x="T0" y="T1"/>
                </a:cxn>
                <a:cxn ang="T11">
                  <a:pos x="T2" y="T3"/>
                </a:cxn>
                <a:cxn ang="T12">
                  <a:pos x="T4" y="T5"/>
                </a:cxn>
                <a:cxn ang="T13">
                  <a:pos x="T6" y="T7"/>
                </a:cxn>
                <a:cxn ang="T14">
                  <a:pos x="T8" y="T9"/>
                </a:cxn>
              </a:cxnLst>
              <a:rect l="T15" t="T16" r="T17" b="T18"/>
              <a:pathLst>
                <a:path w="19" h="15">
                  <a:moveTo>
                    <a:pt x="19" y="0"/>
                  </a:moveTo>
                  <a:lnTo>
                    <a:pt x="0" y="0"/>
                  </a:lnTo>
                  <a:lnTo>
                    <a:pt x="13" y="15"/>
                  </a:lnTo>
                  <a:lnTo>
                    <a:pt x="19" y="15"/>
                  </a:lnTo>
                  <a:lnTo>
                    <a:pt x="19"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65" name="Freeform 119"/>
            <p:cNvSpPr>
              <a:spLocks/>
            </p:cNvSpPr>
            <p:nvPr/>
          </p:nvSpPr>
          <p:spPr bwMode="auto">
            <a:xfrm>
              <a:off x="5515" y="1240"/>
              <a:ext cx="32" cy="65"/>
            </a:xfrm>
            <a:custGeom>
              <a:avLst/>
              <a:gdLst>
                <a:gd name="T0" fmla="*/ 13 w 32"/>
                <a:gd name="T1" fmla="*/ 22 h 65"/>
                <a:gd name="T2" fmla="*/ 7 w 32"/>
                <a:gd name="T3" fmla="*/ 36 h 65"/>
                <a:gd name="T4" fmla="*/ 0 w 32"/>
                <a:gd name="T5" fmla="*/ 43 h 65"/>
                <a:gd name="T6" fmla="*/ 7 w 32"/>
                <a:gd name="T7" fmla="*/ 58 h 65"/>
                <a:gd name="T8" fmla="*/ 7 w 32"/>
                <a:gd name="T9" fmla="*/ 65 h 65"/>
                <a:gd name="T10" fmla="*/ 26 w 32"/>
                <a:gd name="T11" fmla="*/ 36 h 65"/>
                <a:gd name="T12" fmla="*/ 32 w 32"/>
                <a:gd name="T13" fmla="*/ 29 h 65"/>
                <a:gd name="T14" fmla="*/ 19 w 32"/>
                <a:gd name="T15" fmla="*/ 29 h 65"/>
                <a:gd name="T16" fmla="*/ 19 w 32"/>
                <a:gd name="T17" fmla="*/ 14 h 65"/>
                <a:gd name="T18" fmla="*/ 13 w 32"/>
                <a:gd name="T19" fmla="*/ 14 h 65"/>
                <a:gd name="T20" fmla="*/ 13 w 32"/>
                <a:gd name="T21" fmla="*/ 0 h 65"/>
                <a:gd name="T22" fmla="*/ 0 w 32"/>
                <a:gd name="T23" fmla="*/ 0 h 65"/>
                <a:gd name="T24" fmla="*/ 13 w 32"/>
                <a:gd name="T25" fmla="*/ 22 h 65"/>
                <a:gd name="T26" fmla="*/ 13 w 32"/>
                <a:gd name="T27" fmla="*/ 22 h 6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2"/>
                <a:gd name="T43" fmla="*/ 0 h 65"/>
                <a:gd name="T44" fmla="*/ 32 w 32"/>
                <a:gd name="T45" fmla="*/ 65 h 6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2" h="65">
                  <a:moveTo>
                    <a:pt x="13" y="22"/>
                  </a:moveTo>
                  <a:lnTo>
                    <a:pt x="7" y="36"/>
                  </a:lnTo>
                  <a:lnTo>
                    <a:pt x="0" y="43"/>
                  </a:lnTo>
                  <a:lnTo>
                    <a:pt x="7" y="58"/>
                  </a:lnTo>
                  <a:lnTo>
                    <a:pt x="7" y="65"/>
                  </a:lnTo>
                  <a:lnTo>
                    <a:pt x="26" y="36"/>
                  </a:lnTo>
                  <a:lnTo>
                    <a:pt x="32" y="29"/>
                  </a:lnTo>
                  <a:lnTo>
                    <a:pt x="19" y="29"/>
                  </a:lnTo>
                  <a:lnTo>
                    <a:pt x="19" y="14"/>
                  </a:lnTo>
                  <a:lnTo>
                    <a:pt x="13" y="14"/>
                  </a:lnTo>
                  <a:lnTo>
                    <a:pt x="13" y="0"/>
                  </a:lnTo>
                  <a:lnTo>
                    <a:pt x="0" y="0"/>
                  </a:lnTo>
                  <a:lnTo>
                    <a:pt x="13" y="22"/>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66" name="Freeform 120"/>
            <p:cNvSpPr>
              <a:spLocks/>
            </p:cNvSpPr>
            <p:nvPr/>
          </p:nvSpPr>
          <p:spPr bwMode="auto">
            <a:xfrm>
              <a:off x="5515" y="1240"/>
              <a:ext cx="32" cy="65"/>
            </a:xfrm>
            <a:custGeom>
              <a:avLst/>
              <a:gdLst>
                <a:gd name="T0" fmla="*/ 13 w 32"/>
                <a:gd name="T1" fmla="*/ 22 h 65"/>
                <a:gd name="T2" fmla="*/ 7 w 32"/>
                <a:gd name="T3" fmla="*/ 36 h 65"/>
                <a:gd name="T4" fmla="*/ 0 w 32"/>
                <a:gd name="T5" fmla="*/ 43 h 65"/>
                <a:gd name="T6" fmla="*/ 7 w 32"/>
                <a:gd name="T7" fmla="*/ 58 h 65"/>
                <a:gd name="T8" fmla="*/ 7 w 32"/>
                <a:gd name="T9" fmla="*/ 65 h 65"/>
                <a:gd name="T10" fmla="*/ 26 w 32"/>
                <a:gd name="T11" fmla="*/ 36 h 65"/>
                <a:gd name="T12" fmla="*/ 32 w 32"/>
                <a:gd name="T13" fmla="*/ 29 h 65"/>
                <a:gd name="T14" fmla="*/ 19 w 32"/>
                <a:gd name="T15" fmla="*/ 29 h 65"/>
                <a:gd name="T16" fmla="*/ 19 w 32"/>
                <a:gd name="T17" fmla="*/ 14 h 65"/>
                <a:gd name="T18" fmla="*/ 13 w 32"/>
                <a:gd name="T19" fmla="*/ 14 h 65"/>
                <a:gd name="T20" fmla="*/ 13 w 32"/>
                <a:gd name="T21" fmla="*/ 0 h 65"/>
                <a:gd name="T22" fmla="*/ 0 w 32"/>
                <a:gd name="T23" fmla="*/ 0 h 65"/>
                <a:gd name="T24" fmla="*/ 13 w 32"/>
                <a:gd name="T25" fmla="*/ 22 h 6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2"/>
                <a:gd name="T40" fmla="*/ 0 h 65"/>
                <a:gd name="T41" fmla="*/ 32 w 32"/>
                <a:gd name="T42" fmla="*/ 65 h 6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2" h="65">
                  <a:moveTo>
                    <a:pt x="13" y="22"/>
                  </a:moveTo>
                  <a:lnTo>
                    <a:pt x="7" y="36"/>
                  </a:lnTo>
                  <a:lnTo>
                    <a:pt x="0" y="43"/>
                  </a:lnTo>
                  <a:lnTo>
                    <a:pt x="7" y="58"/>
                  </a:lnTo>
                  <a:lnTo>
                    <a:pt x="7" y="65"/>
                  </a:lnTo>
                  <a:lnTo>
                    <a:pt x="26" y="36"/>
                  </a:lnTo>
                  <a:lnTo>
                    <a:pt x="32" y="29"/>
                  </a:lnTo>
                  <a:lnTo>
                    <a:pt x="19" y="29"/>
                  </a:lnTo>
                  <a:lnTo>
                    <a:pt x="19" y="14"/>
                  </a:lnTo>
                  <a:lnTo>
                    <a:pt x="13" y="14"/>
                  </a:lnTo>
                  <a:lnTo>
                    <a:pt x="13" y="0"/>
                  </a:lnTo>
                  <a:lnTo>
                    <a:pt x="0" y="0"/>
                  </a:lnTo>
                  <a:lnTo>
                    <a:pt x="13" y="22"/>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67" name="Freeform 121"/>
            <p:cNvSpPr>
              <a:spLocks/>
            </p:cNvSpPr>
            <p:nvPr/>
          </p:nvSpPr>
          <p:spPr bwMode="auto">
            <a:xfrm>
              <a:off x="5477" y="1103"/>
              <a:ext cx="19" cy="22"/>
            </a:xfrm>
            <a:custGeom>
              <a:avLst/>
              <a:gdLst>
                <a:gd name="T0" fmla="*/ 0 w 19"/>
                <a:gd name="T1" fmla="*/ 0 h 22"/>
                <a:gd name="T2" fmla="*/ 7 w 19"/>
                <a:gd name="T3" fmla="*/ 0 h 22"/>
                <a:gd name="T4" fmla="*/ 13 w 19"/>
                <a:gd name="T5" fmla="*/ 14 h 22"/>
                <a:gd name="T6" fmla="*/ 19 w 19"/>
                <a:gd name="T7" fmla="*/ 22 h 22"/>
                <a:gd name="T8" fmla="*/ 19 w 19"/>
                <a:gd name="T9" fmla="*/ 22 h 22"/>
                <a:gd name="T10" fmla="*/ 13 w 19"/>
                <a:gd name="T11" fmla="*/ 14 h 22"/>
                <a:gd name="T12" fmla="*/ 13 w 19"/>
                <a:gd name="T13" fmla="*/ 14 h 22"/>
                <a:gd name="T14" fmla="*/ 0 w 19"/>
                <a:gd name="T15" fmla="*/ 7 h 22"/>
                <a:gd name="T16" fmla="*/ 0 w 19"/>
                <a:gd name="T17" fmla="*/ 0 h 22"/>
                <a:gd name="T18" fmla="*/ 0 w 19"/>
                <a:gd name="T19" fmla="*/ 0 h 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
                <a:gd name="T31" fmla="*/ 0 h 22"/>
                <a:gd name="T32" fmla="*/ 19 w 19"/>
                <a:gd name="T33" fmla="*/ 22 h 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 h="22">
                  <a:moveTo>
                    <a:pt x="0" y="0"/>
                  </a:moveTo>
                  <a:lnTo>
                    <a:pt x="7" y="0"/>
                  </a:lnTo>
                  <a:lnTo>
                    <a:pt x="13" y="14"/>
                  </a:lnTo>
                  <a:lnTo>
                    <a:pt x="19" y="22"/>
                  </a:lnTo>
                  <a:lnTo>
                    <a:pt x="13" y="14"/>
                  </a:lnTo>
                  <a:lnTo>
                    <a:pt x="0" y="7"/>
                  </a:lnTo>
                  <a:lnTo>
                    <a:pt x="0"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68" name="Freeform 122"/>
            <p:cNvSpPr>
              <a:spLocks/>
            </p:cNvSpPr>
            <p:nvPr/>
          </p:nvSpPr>
          <p:spPr bwMode="auto">
            <a:xfrm>
              <a:off x="5477" y="1103"/>
              <a:ext cx="19" cy="22"/>
            </a:xfrm>
            <a:custGeom>
              <a:avLst/>
              <a:gdLst>
                <a:gd name="T0" fmla="*/ 0 w 19"/>
                <a:gd name="T1" fmla="*/ 0 h 22"/>
                <a:gd name="T2" fmla="*/ 7 w 19"/>
                <a:gd name="T3" fmla="*/ 0 h 22"/>
                <a:gd name="T4" fmla="*/ 13 w 19"/>
                <a:gd name="T5" fmla="*/ 14 h 22"/>
                <a:gd name="T6" fmla="*/ 19 w 19"/>
                <a:gd name="T7" fmla="*/ 22 h 22"/>
                <a:gd name="T8" fmla="*/ 13 w 19"/>
                <a:gd name="T9" fmla="*/ 14 h 22"/>
                <a:gd name="T10" fmla="*/ 0 w 19"/>
                <a:gd name="T11" fmla="*/ 7 h 22"/>
                <a:gd name="T12" fmla="*/ 0 w 19"/>
                <a:gd name="T13" fmla="*/ 0 h 22"/>
                <a:gd name="T14" fmla="*/ 0 60000 65536"/>
                <a:gd name="T15" fmla="*/ 0 60000 65536"/>
                <a:gd name="T16" fmla="*/ 0 60000 65536"/>
                <a:gd name="T17" fmla="*/ 0 60000 65536"/>
                <a:gd name="T18" fmla="*/ 0 60000 65536"/>
                <a:gd name="T19" fmla="*/ 0 60000 65536"/>
                <a:gd name="T20" fmla="*/ 0 60000 65536"/>
                <a:gd name="T21" fmla="*/ 0 w 19"/>
                <a:gd name="T22" fmla="*/ 0 h 22"/>
                <a:gd name="T23" fmla="*/ 19 w 19"/>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 h="22">
                  <a:moveTo>
                    <a:pt x="0" y="0"/>
                  </a:moveTo>
                  <a:lnTo>
                    <a:pt x="7" y="0"/>
                  </a:lnTo>
                  <a:lnTo>
                    <a:pt x="13" y="14"/>
                  </a:lnTo>
                  <a:lnTo>
                    <a:pt x="19" y="22"/>
                  </a:lnTo>
                  <a:lnTo>
                    <a:pt x="13" y="14"/>
                  </a:lnTo>
                  <a:lnTo>
                    <a:pt x="0" y="7"/>
                  </a:lnTo>
                  <a:lnTo>
                    <a:pt x="0"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69" name="Freeform 123"/>
            <p:cNvSpPr>
              <a:spLocks/>
            </p:cNvSpPr>
            <p:nvPr/>
          </p:nvSpPr>
          <p:spPr bwMode="auto">
            <a:xfrm>
              <a:off x="5312" y="1305"/>
              <a:ext cx="26" cy="29"/>
            </a:xfrm>
            <a:custGeom>
              <a:avLst/>
              <a:gdLst>
                <a:gd name="T0" fmla="*/ 0 w 26"/>
                <a:gd name="T1" fmla="*/ 7 h 29"/>
                <a:gd name="T2" fmla="*/ 0 w 26"/>
                <a:gd name="T3" fmla="*/ 0 h 29"/>
                <a:gd name="T4" fmla="*/ 13 w 26"/>
                <a:gd name="T5" fmla="*/ 0 h 29"/>
                <a:gd name="T6" fmla="*/ 26 w 26"/>
                <a:gd name="T7" fmla="*/ 0 h 29"/>
                <a:gd name="T8" fmla="*/ 26 w 26"/>
                <a:gd name="T9" fmla="*/ 14 h 29"/>
                <a:gd name="T10" fmla="*/ 7 w 26"/>
                <a:gd name="T11" fmla="*/ 29 h 29"/>
                <a:gd name="T12" fmla="*/ 7 w 26"/>
                <a:gd name="T13" fmla="*/ 29 h 29"/>
                <a:gd name="T14" fmla="*/ 0 w 26"/>
                <a:gd name="T15" fmla="*/ 14 h 29"/>
                <a:gd name="T16" fmla="*/ 0 w 26"/>
                <a:gd name="T17" fmla="*/ 7 h 29"/>
                <a:gd name="T18" fmla="*/ 0 w 26"/>
                <a:gd name="T19" fmla="*/ 7 h 2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6"/>
                <a:gd name="T31" fmla="*/ 0 h 29"/>
                <a:gd name="T32" fmla="*/ 26 w 26"/>
                <a:gd name="T33" fmla="*/ 29 h 2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6" h="29">
                  <a:moveTo>
                    <a:pt x="0" y="7"/>
                  </a:moveTo>
                  <a:lnTo>
                    <a:pt x="0" y="0"/>
                  </a:lnTo>
                  <a:lnTo>
                    <a:pt x="13" y="0"/>
                  </a:lnTo>
                  <a:lnTo>
                    <a:pt x="26" y="0"/>
                  </a:lnTo>
                  <a:lnTo>
                    <a:pt x="26" y="14"/>
                  </a:lnTo>
                  <a:lnTo>
                    <a:pt x="7" y="29"/>
                  </a:lnTo>
                  <a:lnTo>
                    <a:pt x="0" y="14"/>
                  </a:lnTo>
                  <a:lnTo>
                    <a:pt x="0" y="7"/>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70" name="Freeform 124"/>
            <p:cNvSpPr>
              <a:spLocks/>
            </p:cNvSpPr>
            <p:nvPr/>
          </p:nvSpPr>
          <p:spPr bwMode="auto">
            <a:xfrm>
              <a:off x="5312" y="1305"/>
              <a:ext cx="26" cy="29"/>
            </a:xfrm>
            <a:custGeom>
              <a:avLst/>
              <a:gdLst>
                <a:gd name="T0" fmla="*/ 0 w 26"/>
                <a:gd name="T1" fmla="*/ 7 h 29"/>
                <a:gd name="T2" fmla="*/ 0 w 26"/>
                <a:gd name="T3" fmla="*/ 0 h 29"/>
                <a:gd name="T4" fmla="*/ 13 w 26"/>
                <a:gd name="T5" fmla="*/ 0 h 29"/>
                <a:gd name="T6" fmla="*/ 26 w 26"/>
                <a:gd name="T7" fmla="*/ 0 h 29"/>
                <a:gd name="T8" fmla="*/ 26 w 26"/>
                <a:gd name="T9" fmla="*/ 14 h 29"/>
                <a:gd name="T10" fmla="*/ 7 w 26"/>
                <a:gd name="T11" fmla="*/ 29 h 29"/>
                <a:gd name="T12" fmla="*/ 0 w 26"/>
                <a:gd name="T13" fmla="*/ 14 h 29"/>
                <a:gd name="T14" fmla="*/ 0 w 26"/>
                <a:gd name="T15" fmla="*/ 7 h 29"/>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29"/>
                <a:gd name="T26" fmla="*/ 26 w 26"/>
                <a:gd name="T27" fmla="*/ 29 h 2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29">
                  <a:moveTo>
                    <a:pt x="0" y="7"/>
                  </a:moveTo>
                  <a:lnTo>
                    <a:pt x="0" y="0"/>
                  </a:lnTo>
                  <a:lnTo>
                    <a:pt x="13" y="0"/>
                  </a:lnTo>
                  <a:lnTo>
                    <a:pt x="26" y="0"/>
                  </a:lnTo>
                  <a:lnTo>
                    <a:pt x="26" y="14"/>
                  </a:lnTo>
                  <a:lnTo>
                    <a:pt x="7" y="29"/>
                  </a:lnTo>
                  <a:lnTo>
                    <a:pt x="0" y="14"/>
                  </a:lnTo>
                  <a:lnTo>
                    <a:pt x="0" y="7"/>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71" name="Freeform 125"/>
            <p:cNvSpPr>
              <a:spLocks/>
            </p:cNvSpPr>
            <p:nvPr/>
          </p:nvSpPr>
          <p:spPr bwMode="auto">
            <a:xfrm>
              <a:off x="5261" y="923"/>
              <a:ext cx="127" cy="93"/>
            </a:xfrm>
            <a:custGeom>
              <a:avLst/>
              <a:gdLst>
                <a:gd name="T0" fmla="*/ 127 w 127"/>
                <a:gd name="T1" fmla="*/ 93 h 93"/>
                <a:gd name="T2" fmla="*/ 121 w 127"/>
                <a:gd name="T3" fmla="*/ 93 h 93"/>
                <a:gd name="T4" fmla="*/ 108 w 127"/>
                <a:gd name="T5" fmla="*/ 86 h 93"/>
                <a:gd name="T6" fmla="*/ 96 w 127"/>
                <a:gd name="T7" fmla="*/ 72 h 93"/>
                <a:gd name="T8" fmla="*/ 89 w 127"/>
                <a:gd name="T9" fmla="*/ 65 h 93"/>
                <a:gd name="T10" fmla="*/ 77 w 127"/>
                <a:gd name="T11" fmla="*/ 79 h 93"/>
                <a:gd name="T12" fmla="*/ 58 w 127"/>
                <a:gd name="T13" fmla="*/ 79 h 93"/>
                <a:gd name="T14" fmla="*/ 45 w 127"/>
                <a:gd name="T15" fmla="*/ 72 h 93"/>
                <a:gd name="T16" fmla="*/ 38 w 127"/>
                <a:gd name="T17" fmla="*/ 72 h 93"/>
                <a:gd name="T18" fmla="*/ 38 w 127"/>
                <a:gd name="T19" fmla="*/ 72 h 93"/>
                <a:gd name="T20" fmla="*/ 45 w 127"/>
                <a:gd name="T21" fmla="*/ 57 h 93"/>
                <a:gd name="T22" fmla="*/ 45 w 127"/>
                <a:gd name="T23" fmla="*/ 57 h 93"/>
                <a:gd name="T24" fmla="*/ 32 w 127"/>
                <a:gd name="T25" fmla="*/ 43 h 93"/>
                <a:gd name="T26" fmla="*/ 13 w 127"/>
                <a:gd name="T27" fmla="*/ 36 h 93"/>
                <a:gd name="T28" fmla="*/ 7 w 127"/>
                <a:gd name="T29" fmla="*/ 36 h 93"/>
                <a:gd name="T30" fmla="*/ 7 w 127"/>
                <a:gd name="T31" fmla="*/ 29 h 93"/>
                <a:gd name="T32" fmla="*/ 7 w 127"/>
                <a:gd name="T33" fmla="*/ 21 h 93"/>
                <a:gd name="T34" fmla="*/ 7 w 127"/>
                <a:gd name="T35" fmla="*/ 14 h 93"/>
                <a:gd name="T36" fmla="*/ 0 w 127"/>
                <a:gd name="T37" fmla="*/ 14 h 93"/>
                <a:gd name="T38" fmla="*/ 0 w 127"/>
                <a:gd name="T39" fmla="*/ 7 h 93"/>
                <a:gd name="T40" fmla="*/ 7 w 127"/>
                <a:gd name="T41" fmla="*/ 0 h 93"/>
                <a:gd name="T42" fmla="*/ 7 w 127"/>
                <a:gd name="T43" fmla="*/ 0 h 93"/>
                <a:gd name="T44" fmla="*/ 13 w 127"/>
                <a:gd name="T45" fmla="*/ 7 h 93"/>
                <a:gd name="T46" fmla="*/ 13 w 127"/>
                <a:gd name="T47" fmla="*/ 14 h 93"/>
                <a:gd name="T48" fmla="*/ 19 w 127"/>
                <a:gd name="T49" fmla="*/ 21 h 93"/>
                <a:gd name="T50" fmla="*/ 32 w 127"/>
                <a:gd name="T51" fmla="*/ 14 h 93"/>
                <a:gd name="T52" fmla="*/ 38 w 127"/>
                <a:gd name="T53" fmla="*/ 7 h 93"/>
                <a:gd name="T54" fmla="*/ 89 w 127"/>
                <a:gd name="T55" fmla="*/ 29 h 93"/>
                <a:gd name="T56" fmla="*/ 89 w 127"/>
                <a:gd name="T57" fmla="*/ 36 h 93"/>
                <a:gd name="T58" fmla="*/ 96 w 127"/>
                <a:gd name="T59" fmla="*/ 36 h 93"/>
                <a:gd name="T60" fmla="*/ 96 w 127"/>
                <a:gd name="T61" fmla="*/ 43 h 93"/>
                <a:gd name="T62" fmla="*/ 102 w 127"/>
                <a:gd name="T63" fmla="*/ 50 h 93"/>
                <a:gd name="T64" fmla="*/ 108 w 127"/>
                <a:gd name="T65" fmla="*/ 57 h 93"/>
                <a:gd name="T66" fmla="*/ 102 w 127"/>
                <a:gd name="T67" fmla="*/ 65 h 93"/>
                <a:gd name="T68" fmla="*/ 115 w 127"/>
                <a:gd name="T69" fmla="*/ 79 h 93"/>
                <a:gd name="T70" fmla="*/ 121 w 127"/>
                <a:gd name="T71" fmla="*/ 79 h 93"/>
                <a:gd name="T72" fmla="*/ 127 w 127"/>
                <a:gd name="T73" fmla="*/ 86 h 93"/>
                <a:gd name="T74" fmla="*/ 127 w 127"/>
                <a:gd name="T75" fmla="*/ 93 h 93"/>
                <a:gd name="T76" fmla="*/ 127 w 127"/>
                <a:gd name="T77" fmla="*/ 93 h 93"/>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27"/>
                <a:gd name="T118" fmla="*/ 0 h 93"/>
                <a:gd name="T119" fmla="*/ 127 w 127"/>
                <a:gd name="T120" fmla="*/ 93 h 93"/>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27" h="93">
                  <a:moveTo>
                    <a:pt x="127" y="93"/>
                  </a:moveTo>
                  <a:lnTo>
                    <a:pt x="121" y="93"/>
                  </a:lnTo>
                  <a:lnTo>
                    <a:pt x="108" y="86"/>
                  </a:lnTo>
                  <a:lnTo>
                    <a:pt x="96" y="72"/>
                  </a:lnTo>
                  <a:lnTo>
                    <a:pt x="89" y="65"/>
                  </a:lnTo>
                  <a:lnTo>
                    <a:pt x="77" y="79"/>
                  </a:lnTo>
                  <a:lnTo>
                    <a:pt x="58" y="79"/>
                  </a:lnTo>
                  <a:lnTo>
                    <a:pt x="45" y="72"/>
                  </a:lnTo>
                  <a:lnTo>
                    <a:pt x="38" y="72"/>
                  </a:lnTo>
                  <a:lnTo>
                    <a:pt x="45" y="57"/>
                  </a:lnTo>
                  <a:lnTo>
                    <a:pt x="32" y="43"/>
                  </a:lnTo>
                  <a:lnTo>
                    <a:pt x="13" y="36"/>
                  </a:lnTo>
                  <a:lnTo>
                    <a:pt x="7" y="36"/>
                  </a:lnTo>
                  <a:lnTo>
                    <a:pt x="7" y="29"/>
                  </a:lnTo>
                  <a:lnTo>
                    <a:pt x="7" y="21"/>
                  </a:lnTo>
                  <a:lnTo>
                    <a:pt x="7" y="14"/>
                  </a:lnTo>
                  <a:lnTo>
                    <a:pt x="0" y="14"/>
                  </a:lnTo>
                  <a:lnTo>
                    <a:pt x="0" y="7"/>
                  </a:lnTo>
                  <a:lnTo>
                    <a:pt x="7" y="0"/>
                  </a:lnTo>
                  <a:lnTo>
                    <a:pt x="13" y="7"/>
                  </a:lnTo>
                  <a:lnTo>
                    <a:pt x="13" y="14"/>
                  </a:lnTo>
                  <a:lnTo>
                    <a:pt x="19" y="21"/>
                  </a:lnTo>
                  <a:lnTo>
                    <a:pt x="32" y="14"/>
                  </a:lnTo>
                  <a:lnTo>
                    <a:pt x="38" y="7"/>
                  </a:lnTo>
                  <a:lnTo>
                    <a:pt x="89" y="29"/>
                  </a:lnTo>
                  <a:lnTo>
                    <a:pt x="89" y="36"/>
                  </a:lnTo>
                  <a:lnTo>
                    <a:pt x="96" y="36"/>
                  </a:lnTo>
                  <a:lnTo>
                    <a:pt x="96" y="43"/>
                  </a:lnTo>
                  <a:lnTo>
                    <a:pt x="102" y="50"/>
                  </a:lnTo>
                  <a:lnTo>
                    <a:pt x="108" y="57"/>
                  </a:lnTo>
                  <a:lnTo>
                    <a:pt x="102" y="65"/>
                  </a:lnTo>
                  <a:lnTo>
                    <a:pt x="115" y="79"/>
                  </a:lnTo>
                  <a:lnTo>
                    <a:pt x="121" y="79"/>
                  </a:lnTo>
                  <a:lnTo>
                    <a:pt x="127" y="86"/>
                  </a:lnTo>
                  <a:lnTo>
                    <a:pt x="127" y="93"/>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72" name="Freeform 126"/>
            <p:cNvSpPr>
              <a:spLocks/>
            </p:cNvSpPr>
            <p:nvPr/>
          </p:nvSpPr>
          <p:spPr bwMode="auto">
            <a:xfrm>
              <a:off x="5261" y="923"/>
              <a:ext cx="127" cy="93"/>
            </a:xfrm>
            <a:custGeom>
              <a:avLst/>
              <a:gdLst>
                <a:gd name="T0" fmla="*/ 127 w 127"/>
                <a:gd name="T1" fmla="*/ 93 h 93"/>
                <a:gd name="T2" fmla="*/ 121 w 127"/>
                <a:gd name="T3" fmla="*/ 93 h 93"/>
                <a:gd name="T4" fmla="*/ 108 w 127"/>
                <a:gd name="T5" fmla="*/ 86 h 93"/>
                <a:gd name="T6" fmla="*/ 96 w 127"/>
                <a:gd name="T7" fmla="*/ 72 h 93"/>
                <a:gd name="T8" fmla="*/ 89 w 127"/>
                <a:gd name="T9" fmla="*/ 65 h 93"/>
                <a:gd name="T10" fmla="*/ 77 w 127"/>
                <a:gd name="T11" fmla="*/ 79 h 93"/>
                <a:gd name="T12" fmla="*/ 58 w 127"/>
                <a:gd name="T13" fmla="*/ 79 h 93"/>
                <a:gd name="T14" fmla="*/ 45 w 127"/>
                <a:gd name="T15" fmla="*/ 72 h 93"/>
                <a:gd name="T16" fmla="*/ 38 w 127"/>
                <a:gd name="T17" fmla="*/ 72 h 93"/>
                <a:gd name="T18" fmla="*/ 45 w 127"/>
                <a:gd name="T19" fmla="*/ 57 h 93"/>
                <a:gd name="T20" fmla="*/ 32 w 127"/>
                <a:gd name="T21" fmla="*/ 43 h 93"/>
                <a:gd name="T22" fmla="*/ 13 w 127"/>
                <a:gd name="T23" fmla="*/ 36 h 93"/>
                <a:gd name="T24" fmla="*/ 7 w 127"/>
                <a:gd name="T25" fmla="*/ 36 h 93"/>
                <a:gd name="T26" fmla="*/ 7 w 127"/>
                <a:gd name="T27" fmla="*/ 29 h 93"/>
                <a:gd name="T28" fmla="*/ 7 w 127"/>
                <a:gd name="T29" fmla="*/ 21 h 93"/>
                <a:gd name="T30" fmla="*/ 7 w 127"/>
                <a:gd name="T31" fmla="*/ 14 h 93"/>
                <a:gd name="T32" fmla="*/ 0 w 127"/>
                <a:gd name="T33" fmla="*/ 14 h 93"/>
                <a:gd name="T34" fmla="*/ 0 w 127"/>
                <a:gd name="T35" fmla="*/ 7 h 93"/>
                <a:gd name="T36" fmla="*/ 7 w 127"/>
                <a:gd name="T37" fmla="*/ 0 h 93"/>
                <a:gd name="T38" fmla="*/ 13 w 127"/>
                <a:gd name="T39" fmla="*/ 7 h 93"/>
                <a:gd name="T40" fmla="*/ 13 w 127"/>
                <a:gd name="T41" fmla="*/ 14 h 93"/>
                <a:gd name="T42" fmla="*/ 19 w 127"/>
                <a:gd name="T43" fmla="*/ 21 h 93"/>
                <a:gd name="T44" fmla="*/ 32 w 127"/>
                <a:gd name="T45" fmla="*/ 14 h 93"/>
                <a:gd name="T46" fmla="*/ 38 w 127"/>
                <a:gd name="T47" fmla="*/ 7 h 93"/>
                <a:gd name="T48" fmla="*/ 89 w 127"/>
                <a:gd name="T49" fmla="*/ 29 h 93"/>
                <a:gd name="T50" fmla="*/ 89 w 127"/>
                <a:gd name="T51" fmla="*/ 36 h 93"/>
                <a:gd name="T52" fmla="*/ 96 w 127"/>
                <a:gd name="T53" fmla="*/ 36 h 93"/>
                <a:gd name="T54" fmla="*/ 96 w 127"/>
                <a:gd name="T55" fmla="*/ 43 h 93"/>
                <a:gd name="T56" fmla="*/ 102 w 127"/>
                <a:gd name="T57" fmla="*/ 50 h 93"/>
                <a:gd name="T58" fmla="*/ 108 w 127"/>
                <a:gd name="T59" fmla="*/ 57 h 93"/>
                <a:gd name="T60" fmla="*/ 102 w 127"/>
                <a:gd name="T61" fmla="*/ 65 h 93"/>
                <a:gd name="T62" fmla="*/ 115 w 127"/>
                <a:gd name="T63" fmla="*/ 79 h 93"/>
                <a:gd name="T64" fmla="*/ 121 w 127"/>
                <a:gd name="T65" fmla="*/ 79 h 93"/>
                <a:gd name="T66" fmla="*/ 127 w 127"/>
                <a:gd name="T67" fmla="*/ 86 h 93"/>
                <a:gd name="T68" fmla="*/ 127 w 127"/>
                <a:gd name="T69" fmla="*/ 93 h 9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27"/>
                <a:gd name="T106" fmla="*/ 0 h 93"/>
                <a:gd name="T107" fmla="*/ 127 w 127"/>
                <a:gd name="T108" fmla="*/ 93 h 9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27" h="93">
                  <a:moveTo>
                    <a:pt x="127" y="93"/>
                  </a:moveTo>
                  <a:lnTo>
                    <a:pt x="121" y="93"/>
                  </a:lnTo>
                  <a:lnTo>
                    <a:pt x="108" y="86"/>
                  </a:lnTo>
                  <a:lnTo>
                    <a:pt x="96" y="72"/>
                  </a:lnTo>
                  <a:lnTo>
                    <a:pt x="89" y="65"/>
                  </a:lnTo>
                  <a:lnTo>
                    <a:pt x="77" y="79"/>
                  </a:lnTo>
                  <a:lnTo>
                    <a:pt x="58" y="79"/>
                  </a:lnTo>
                  <a:lnTo>
                    <a:pt x="45" y="72"/>
                  </a:lnTo>
                  <a:lnTo>
                    <a:pt x="38" y="72"/>
                  </a:lnTo>
                  <a:lnTo>
                    <a:pt x="45" y="57"/>
                  </a:lnTo>
                  <a:lnTo>
                    <a:pt x="32" y="43"/>
                  </a:lnTo>
                  <a:lnTo>
                    <a:pt x="13" y="36"/>
                  </a:lnTo>
                  <a:lnTo>
                    <a:pt x="7" y="36"/>
                  </a:lnTo>
                  <a:lnTo>
                    <a:pt x="7" y="29"/>
                  </a:lnTo>
                  <a:lnTo>
                    <a:pt x="7" y="21"/>
                  </a:lnTo>
                  <a:lnTo>
                    <a:pt x="7" y="14"/>
                  </a:lnTo>
                  <a:lnTo>
                    <a:pt x="0" y="14"/>
                  </a:lnTo>
                  <a:lnTo>
                    <a:pt x="0" y="7"/>
                  </a:lnTo>
                  <a:lnTo>
                    <a:pt x="7" y="0"/>
                  </a:lnTo>
                  <a:lnTo>
                    <a:pt x="13" y="7"/>
                  </a:lnTo>
                  <a:lnTo>
                    <a:pt x="13" y="14"/>
                  </a:lnTo>
                  <a:lnTo>
                    <a:pt x="19" y="21"/>
                  </a:lnTo>
                  <a:lnTo>
                    <a:pt x="32" y="14"/>
                  </a:lnTo>
                  <a:lnTo>
                    <a:pt x="38" y="7"/>
                  </a:lnTo>
                  <a:lnTo>
                    <a:pt x="89" y="29"/>
                  </a:lnTo>
                  <a:lnTo>
                    <a:pt x="89" y="36"/>
                  </a:lnTo>
                  <a:lnTo>
                    <a:pt x="96" y="36"/>
                  </a:lnTo>
                  <a:lnTo>
                    <a:pt x="96" y="43"/>
                  </a:lnTo>
                  <a:lnTo>
                    <a:pt x="102" y="50"/>
                  </a:lnTo>
                  <a:lnTo>
                    <a:pt x="108" y="57"/>
                  </a:lnTo>
                  <a:lnTo>
                    <a:pt x="102" y="65"/>
                  </a:lnTo>
                  <a:lnTo>
                    <a:pt x="115" y="79"/>
                  </a:lnTo>
                  <a:lnTo>
                    <a:pt x="121" y="79"/>
                  </a:lnTo>
                  <a:lnTo>
                    <a:pt x="127" y="86"/>
                  </a:lnTo>
                  <a:lnTo>
                    <a:pt x="127" y="93"/>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73" name="Freeform 127"/>
            <p:cNvSpPr>
              <a:spLocks/>
            </p:cNvSpPr>
            <p:nvPr/>
          </p:nvSpPr>
          <p:spPr bwMode="auto">
            <a:xfrm>
              <a:off x="5376" y="966"/>
              <a:ext cx="25" cy="7"/>
            </a:xfrm>
            <a:custGeom>
              <a:avLst/>
              <a:gdLst>
                <a:gd name="T0" fmla="*/ 0 w 25"/>
                <a:gd name="T1" fmla="*/ 7 h 7"/>
                <a:gd name="T2" fmla="*/ 0 w 25"/>
                <a:gd name="T3" fmla="*/ 0 h 7"/>
                <a:gd name="T4" fmla="*/ 12 w 25"/>
                <a:gd name="T5" fmla="*/ 7 h 7"/>
                <a:gd name="T6" fmla="*/ 19 w 25"/>
                <a:gd name="T7" fmla="*/ 0 h 7"/>
                <a:gd name="T8" fmla="*/ 25 w 25"/>
                <a:gd name="T9" fmla="*/ 0 h 7"/>
                <a:gd name="T10" fmla="*/ 25 w 25"/>
                <a:gd name="T11" fmla="*/ 0 h 7"/>
                <a:gd name="T12" fmla="*/ 25 w 25"/>
                <a:gd name="T13" fmla="*/ 7 h 7"/>
                <a:gd name="T14" fmla="*/ 12 w 25"/>
                <a:gd name="T15" fmla="*/ 7 h 7"/>
                <a:gd name="T16" fmla="*/ 0 w 25"/>
                <a:gd name="T17" fmla="*/ 7 h 7"/>
                <a:gd name="T18" fmla="*/ 0 w 25"/>
                <a:gd name="T19" fmla="*/ 7 h 7"/>
                <a:gd name="T20" fmla="*/ 0 w 25"/>
                <a:gd name="T21" fmla="*/ 7 h 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
                <a:gd name="T34" fmla="*/ 0 h 7"/>
                <a:gd name="T35" fmla="*/ 25 w 25"/>
                <a:gd name="T36" fmla="*/ 7 h 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 h="7">
                  <a:moveTo>
                    <a:pt x="0" y="7"/>
                  </a:moveTo>
                  <a:lnTo>
                    <a:pt x="0" y="0"/>
                  </a:lnTo>
                  <a:lnTo>
                    <a:pt x="12" y="7"/>
                  </a:lnTo>
                  <a:lnTo>
                    <a:pt x="19" y="0"/>
                  </a:lnTo>
                  <a:lnTo>
                    <a:pt x="25" y="0"/>
                  </a:lnTo>
                  <a:lnTo>
                    <a:pt x="25" y="7"/>
                  </a:lnTo>
                  <a:lnTo>
                    <a:pt x="12" y="7"/>
                  </a:lnTo>
                  <a:lnTo>
                    <a:pt x="0" y="7"/>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74" name="Freeform 128"/>
            <p:cNvSpPr>
              <a:spLocks/>
            </p:cNvSpPr>
            <p:nvPr/>
          </p:nvSpPr>
          <p:spPr bwMode="auto">
            <a:xfrm>
              <a:off x="5376" y="966"/>
              <a:ext cx="25" cy="7"/>
            </a:xfrm>
            <a:custGeom>
              <a:avLst/>
              <a:gdLst>
                <a:gd name="T0" fmla="*/ 0 w 25"/>
                <a:gd name="T1" fmla="*/ 7 h 7"/>
                <a:gd name="T2" fmla="*/ 0 w 25"/>
                <a:gd name="T3" fmla="*/ 0 h 7"/>
                <a:gd name="T4" fmla="*/ 12 w 25"/>
                <a:gd name="T5" fmla="*/ 7 h 7"/>
                <a:gd name="T6" fmla="*/ 19 w 25"/>
                <a:gd name="T7" fmla="*/ 0 h 7"/>
                <a:gd name="T8" fmla="*/ 25 w 25"/>
                <a:gd name="T9" fmla="*/ 0 h 7"/>
                <a:gd name="T10" fmla="*/ 25 w 25"/>
                <a:gd name="T11" fmla="*/ 7 h 7"/>
                <a:gd name="T12" fmla="*/ 12 w 25"/>
                <a:gd name="T13" fmla="*/ 7 h 7"/>
                <a:gd name="T14" fmla="*/ 0 w 25"/>
                <a:gd name="T15" fmla="*/ 7 h 7"/>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7"/>
                <a:gd name="T26" fmla="*/ 25 w 25"/>
                <a:gd name="T27" fmla="*/ 7 h 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7">
                  <a:moveTo>
                    <a:pt x="0" y="7"/>
                  </a:moveTo>
                  <a:lnTo>
                    <a:pt x="0" y="0"/>
                  </a:lnTo>
                  <a:lnTo>
                    <a:pt x="12" y="7"/>
                  </a:lnTo>
                  <a:lnTo>
                    <a:pt x="19" y="0"/>
                  </a:lnTo>
                  <a:lnTo>
                    <a:pt x="25" y="0"/>
                  </a:lnTo>
                  <a:lnTo>
                    <a:pt x="25" y="7"/>
                  </a:lnTo>
                  <a:lnTo>
                    <a:pt x="12" y="7"/>
                  </a:lnTo>
                  <a:lnTo>
                    <a:pt x="0" y="7"/>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75" name="Freeform 129"/>
            <p:cNvSpPr>
              <a:spLocks/>
            </p:cNvSpPr>
            <p:nvPr/>
          </p:nvSpPr>
          <p:spPr bwMode="auto">
            <a:xfrm>
              <a:off x="5204" y="995"/>
              <a:ext cx="26" cy="21"/>
            </a:xfrm>
            <a:custGeom>
              <a:avLst/>
              <a:gdLst>
                <a:gd name="T0" fmla="*/ 26 w 26"/>
                <a:gd name="T1" fmla="*/ 0 h 21"/>
                <a:gd name="T2" fmla="*/ 19 w 26"/>
                <a:gd name="T3" fmla="*/ 7 h 21"/>
                <a:gd name="T4" fmla="*/ 13 w 26"/>
                <a:gd name="T5" fmla="*/ 14 h 21"/>
                <a:gd name="T6" fmla="*/ 7 w 26"/>
                <a:gd name="T7" fmla="*/ 14 h 21"/>
                <a:gd name="T8" fmla="*/ 0 w 26"/>
                <a:gd name="T9" fmla="*/ 21 h 21"/>
                <a:gd name="T10" fmla="*/ 0 w 26"/>
                <a:gd name="T11" fmla="*/ 14 h 21"/>
                <a:gd name="T12" fmla="*/ 13 w 26"/>
                <a:gd name="T13" fmla="*/ 7 h 21"/>
                <a:gd name="T14" fmla="*/ 26 w 26"/>
                <a:gd name="T15" fmla="*/ 0 h 21"/>
                <a:gd name="T16" fmla="*/ 26 w 26"/>
                <a:gd name="T17" fmla="*/ 0 h 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6"/>
                <a:gd name="T28" fmla="*/ 0 h 21"/>
                <a:gd name="T29" fmla="*/ 26 w 26"/>
                <a:gd name="T30" fmla="*/ 21 h 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6" h="21">
                  <a:moveTo>
                    <a:pt x="26" y="0"/>
                  </a:moveTo>
                  <a:lnTo>
                    <a:pt x="19" y="7"/>
                  </a:lnTo>
                  <a:lnTo>
                    <a:pt x="13" y="14"/>
                  </a:lnTo>
                  <a:lnTo>
                    <a:pt x="7" y="14"/>
                  </a:lnTo>
                  <a:lnTo>
                    <a:pt x="0" y="21"/>
                  </a:lnTo>
                  <a:lnTo>
                    <a:pt x="0" y="14"/>
                  </a:lnTo>
                  <a:lnTo>
                    <a:pt x="13" y="7"/>
                  </a:lnTo>
                  <a:lnTo>
                    <a:pt x="26"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76" name="Freeform 130"/>
            <p:cNvSpPr>
              <a:spLocks/>
            </p:cNvSpPr>
            <p:nvPr/>
          </p:nvSpPr>
          <p:spPr bwMode="auto">
            <a:xfrm>
              <a:off x="5204" y="995"/>
              <a:ext cx="26" cy="21"/>
            </a:xfrm>
            <a:custGeom>
              <a:avLst/>
              <a:gdLst>
                <a:gd name="T0" fmla="*/ 26 w 26"/>
                <a:gd name="T1" fmla="*/ 0 h 21"/>
                <a:gd name="T2" fmla="*/ 19 w 26"/>
                <a:gd name="T3" fmla="*/ 7 h 21"/>
                <a:gd name="T4" fmla="*/ 13 w 26"/>
                <a:gd name="T5" fmla="*/ 14 h 21"/>
                <a:gd name="T6" fmla="*/ 7 w 26"/>
                <a:gd name="T7" fmla="*/ 14 h 21"/>
                <a:gd name="T8" fmla="*/ 0 w 26"/>
                <a:gd name="T9" fmla="*/ 21 h 21"/>
                <a:gd name="T10" fmla="*/ 0 w 26"/>
                <a:gd name="T11" fmla="*/ 14 h 21"/>
                <a:gd name="T12" fmla="*/ 13 w 26"/>
                <a:gd name="T13" fmla="*/ 7 h 21"/>
                <a:gd name="T14" fmla="*/ 26 w 26"/>
                <a:gd name="T15" fmla="*/ 0 h 21"/>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21"/>
                <a:gd name="T26" fmla="*/ 26 w 26"/>
                <a:gd name="T27" fmla="*/ 21 h 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21">
                  <a:moveTo>
                    <a:pt x="26" y="0"/>
                  </a:moveTo>
                  <a:lnTo>
                    <a:pt x="19" y="7"/>
                  </a:lnTo>
                  <a:lnTo>
                    <a:pt x="13" y="14"/>
                  </a:lnTo>
                  <a:lnTo>
                    <a:pt x="7" y="14"/>
                  </a:lnTo>
                  <a:lnTo>
                    <a:pt x="0" y="21"/>
                  </a:lnTo>
                  <a:lnTo>
                    <a:pt x="0" y="14"/>
                  </a:lnTo>
                  <a:lnTo>
                    <a:pt x="13" y="7"/>
                  </a:lnTo>
                  <a:lnTo>
                    <a:pt x="26"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77" name="Freeform 131"/>
            <p:cNvSpPr>
              <a:spLocks/>
            </p:cNvSpPr>
            <p:nvPr/>
          </p:nvSpPr>
          <p:spPr bwMode="auto">
            <a:xfrm>
              <a:off x="5153" y="995"/>
              <a:ext cx="20" cy="7"/>
            </a:xfrm>
            <a:custGeom>
              <a:avLst/>
              <a:gdLst>
                <a:gd name="T0" fmla="*/ 20 w 20"/>
                <a:gd name="T1" fmla="*/ 0 h 7"/>
                <a:gd name="T2" fmla="*/ 0 w 20"/>
                <a:gd name="T3" fmla="*/ 7 h 7"/>
                <a:gd name="T4" fmla="*/ 7 w 20"/>
                <a:gd name="T5" fmla="*/ 7 h 7"/>
                <a:gd name="T6" fmla="*/ 7 w 20"/>
                <a:gd name="T7" fmla="*/ 7 h 7"/>
                <a:gd name="T8" fmla="*/ 13 w 20"/>
                <a:gd name="T9" fmla="*/ 7 h 7"/>
                <a:gd name="T10" fmla="*/ 20 w 20"/>
                <a:gd name="T11" fmla="*/ 0 h 7"/>
                <a:gd name="T12" fmla="*/ 20 w 20"/>
                <a:gd name="T13" fmla="*/ 0 h 7"/>
                <a:gd name="T14" fmla="*/ 0 60000 65536"/>
                <a:gd name="T15" fmla="*/ 0 60000 65536"/>
                <a:gd name="T16" fmla="*/ 0 60000 65536"/>
                <a:gd name="T17" fmla="*/ 0 60000 65536"/>
                <a:gd name="T18" fmla="*/ 0 60000 65536"/>
                <a:gd name="T19" fmla="*/ 0 60000 65536"/>
                <a:gd name="T20" fmla="*/ 0 60000 65536"/>
                <a:gd name="T21" fmla="*/ 0 w 20"/>
                <a:gd name="T22" fmla="*/ 0 h 7"/>
                <a:gd name="T23" fmla="*/ 20 w 20"/>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 h="7">
                  <a:moveTo>
                    <a:pt x="20" y="0"/>
                  </a:moveTo>
                  <a:lnTo>
                    <a:pt x="0" y="7"/>
                  </a:lnTo>
                  <a:lnTo>
                    <a:pt x="7" y="7"/>
                  </a:lnTo>
                  <a:lnTo>
                    <a:pt x="13" y="7"/>
                  </a:lnTo>
                  <a:lnTo>
                    <a:pt x="20"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78" name="Freeform 132"/>
            <p:cNvSpPr>
              <a:spLocks/>
            </p:cNvSpPr>
            <p:nvPr/>
          </p:nvSpPr>
          <p:spPr bwMode="auto">
            <a:xfrm>
              <a:off x="5153" y="995"/>
              <a:ext cx="20" cy="7"/>
            </a:xfrm>
            <a:custGeom>
              <a:avLst/>
              <a:gdLst>
                <a:gd name="T0" fmla="*/ 20 w 20"/>
                <a:gd name="T1" fmla="*/ 0 h 7"/>
                <a:gd name="T2" fmla="*/ 0 w 20"/>
                <a:gd name="T3" fmla="*/ 7 h 7"/>
                <a:gd name="T4" fmla="*/ 7 w 20"/>
                <a:gd name="T5" fmla="*/ 7 h 7"/>
                <a:gd name="T6" fmla="*/ 13 w 20"/>
                <a:gd name="T7" fmla="*/ 7 h 7"/>
                <a:gd name="T8" fmla="*/ 20 w 20"/>
                <a:gd name="T9" fmla="*/ 0 h 7"/>
                <a:gd name="T10" fmla="*/ 0 60000 65536"/>
                <a:gd name="T11" fmla="*/ 0 60000 65536"/>
                <a:gd name="T12" fmla="*/ 0 60000 65536"/>
                <a:gd name="T13" fmla="*/ 0 60000 65536"/>
                <a:gd name="T14" fmla="*/ 0 60000 65536"/>
                <a:gd name="T15" fmla="*/ 0 w 20"/>
                <a:gd name="T16" fmla="*/ 0 h 7"/>
                <a:gd name="T17" fmla="*/ 20 w 20"/>
                <a:gd name="T18" fmla="*/ 7 h 7"/>
              </a:gdLst>
              <a:ahLst/>
              <a:cxnLst>
                <a:cxn ang="T10">
                  <a:pos x="T0" y="T1"/>
                </a:cxn>
                <a:cxn ang="T11">
                  <a:pos x="T2" y="T3"/>
                </a:cxn>
                <a:cxn ang="T12">
                  <a:pos x="T4" y="T5"/>
                </a:cxn>
                <a:cxn ang="T13">
                  <a:pos x="T6" y="T7"/>
                </a:cxn>
                <a:cxn ang="T14">
                  <a:pos x="T8" y="T9"/>
                </a:cxn>
              </a:cxnLst>
              <a:rect l="T15" t="T16" r="T17" b="T18"/>
              <a:pathLst>
                <a:path w="20" h="7">
                  <a:moveTo>
                    <a:pt x="20" y="0"/>
                  </a:moveTo>
                  <a:lnTo>
                    <a:pt x="0" y="7"/>
                  </a:lnTo>
                  <a:lnTo>
                    <a:pt x="7" y="7"/>
                  </a:lnTo>
                  <a:lnTo>
                    <a:pt x="13" y="7"/>
                  </a:lnTo>
                  <a:lnTo>
                    <a:pt x="20"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79" name="Freeform 133"/>
            <p:cNvSpPr>
              <a:spLocks/>
            </p:cNvSpPr>
            <p:nvPr/>
          </p:nvSpPr>
          <p:spPr bwMode="auto">
            <a:xfrm>
              <a:off x="5395" y="944"/>
              <a:ext cx="12" cy="15"/>
            </a:xfrm>
            <a:custGeom>
              <a:avLst/>
              <a:gdLst>
                <a:gd name="T0" fmla="*/ 0 w 12"/>
                <a:gd name="T1" fmla="*/ 0 h 15"/>
                <a:gd name="T2" fmla="*/ 6 w 12"/>
                <a:gd name="T3" fmla="*/ 0 h 15"/>
                <a:gd name="T4" fmla="*/ 12 w 12"/>
                <a:gd name="T5" fmla="*/ 8 h 15"/>
                <a:gd name="T6" fmla="*/ 12 w 12"/>
                <a:gd name="T7" fmla="*/ 15 h 15"/>
                <a:gd name="T8" fmla="*/ 6 w 12"/>
                <a:gd name="T9" fmla="*/ 8 h 15"/>
                <a:gd name="T10" fmla="*/ 0 w 12"/>
                <a:gd name="T11" fmla="*/ 0 h 15"/>
                <a:gd name="T12" fmla="*/ 0 w 12"/>
                <a:gd name="T13" fmla="*/ 0 h 15"/>
                <a:gd name="T14" fmla="*/ 0 60000 65536"/>
                <a:gd name="T15" fmla="*/ 0 60000 65536"/>
                <a:gd name="T16" fmla="*/ 0 60000 65536"/>
                <a:gd name="T17" fmla="*/ 0 60000 65536"/>
                <a:gd name="T18" fmla="*/ 0 60000 65536"/>
                <a:gd name="T19" fmla="*/ 0 60000 65536"/>
                <a:gd name="T20" fmla="*/ 0 60000 65536"/>
                <a:gd name="T21" fmla="*/ 0 w 12"/>
                <a:gd name="T22" fmla="*/ 0 h 15"/>
                <a:gd name="T23" fmla="*/ 12 w 12"/>
                <a:gd name="T24" fmla="*/ 15 h 1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 h="15">
                  <a:moveTo>
                    <a:pt x="0" y="0"/>
                  </a:moveTo>
                  <a:lnTo>
                    <a:pt x="6" y="0"/>
                  </a:lnTo>
                  <a:lnTo>
                    <a:pt x="12" y="8"/>
                  </a:lnTo>
                  <a:lnTo>
                    <a:pt x="12" y="15"/>
                  </a:lnTo>
                  <a:lnTo>
                    <a:pt x="6" y="8"/>
                  </a:lnTo>
                  <a:lnTo>
                    <a:pt x="0"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80" name="Freeform 134"/>
            <p:cNvSpPr>
              <a:spLocks/>
            </p:cNvSpPr>
            <p:nvPr/>
          </p:nvSpPr>
          <p:spPr bwMode="auto">
            <a:xfrm>
              <a:off x="5395" y="944"/>
              <a:ext cx="12" cy="15"/>
            </a:xfrm>
            <a:custGeom>
              <a:avLst/>
              <a:gdLst>
                <a:gd name="T0" fmla="*/ 0 w 12"/>
                <a:gd name="T1" fmla="*/ 0 h 15"/>
                <a:gd name="T2" fmla="*/ 6 w 12"/>
                <a:gd name="T3" fmla="*/ 0 h 15"/>
                <a:gd name="T4" fmla="*/ 12 w 12"/>
                <a:gd name="T5" fmla="*/ 8 h 15"/>
                <a:gd name="T6" fmla="*/ 12 w 12"/>
                <a:gd name="T7" fmla="*/ 15 h 15"/>
                <a:gd name="T8" fmla="*/ 6 w 12"/>
                <a:gd name="T9" fmla="*/ 8 h 15"/>
                <a:gd name="T10" fmla="*/ 0 w 12"/>
                <a:gd name="T11" fmla="*/ 0 h 15"/>
                <a:gd name="T12" fmla="*/ 0 60000 65536"/>
                <a:gd name="T13" fmla="*/ 0 60000 65536"/>
                <a:gd name="T14" fmla="*/ 0 60000 65536"/>
                <a:gd name="T15" fmla="*/ 0 60000 65536"/>
                <a:gd name="T16" fmla="*/ 0 60000 65536"/>
                <a:gd name="T17" fmla="*/ 0 60000 65536"/>
                <a:gd name="T18" fmla="*/ 0 w 12"/>
                <a:gd name="T19" fmla="*/ 0 h 15"/>
                <a:gd name="T20" fmla="*/ 12 w 12"/>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2" h="15">
                  <a:moveTo>
                    <a:pt x="0" y="0"/>
                  </a:moveTo>
                  <a:lnTo>
                    <a:pt x="6" y="0"/>
                  </a:lnTo>
                  <a:lnTo>
                    <a:pt x="12" y="8"/>
                  </a:lnTo>
                  <a:lnTo>
                    <a:pt x="12" y="15"/>
                  </a:lnTo>
                  <a:lnTo>
                    <a:pt x="6" y="8"/>
                  </a:lnTo>
                  <a:lnTo>
                    <a:pt x="0"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81" name="Freeform 135"/>
            <p:cNvSpPr>
              <a:spLocks/>
            </p:cNvSpPr>
            <p:nvPr/>
          </p:nvSpPr>
          <p:spPr bwMode="auto">
            <a:xfrm>
              <a:off x="5242" y="944"/>
              <a:ext cx="13" cy="8"/>
            </a:xfrm>
            <a:custGeom>
              <a:avLst/>
              <a:gdLst>
                <a:gd name="T0" fmla="*/ 13 w 13"/>
                <a:gd name="T1" fmla="*/ 8 h 8"/>
                <a:gd name="T2" fmla="*/ 7 w 13"/>
                <a:gd name="T3" fmla="*/ 0 h 8"/>
                <a:gd name="T4" fmla="*/ 0 w 13"/>
                <a:gd name="T5" fmla="*/ 0 h 8"/>
                <a:gd name="T6" fmla="*/ 0 w 13"/>
                <a:gd name="T7" fmla="*/ 0 h 8"/>
                <a:gd name="T8" fmla="*/ 0 w 13"/>
                <a:gd name="T9" fmla="*/ 8 h 8"/>
                <a:gd name="T10" fmla="*/ 0 w 13"/>
                <a:gd name="T11" fmla="*/ 8 h 8"/>
                <a:gd name="T12" fmla="*/ 13 w 13"/>
                <a:gd name="T13" fmla="*/ 8 h 8"/>
                <a:gd name="T14" fmla="*/ 13 w 13"/>
                <a:gd name="T15" fmla="*/ 8 h 8"/>
                <a:gd name="T16" fmla="*/ 0 60000 65536"/>
                <a:gd name="T17" fmla="*/ 0 60000 65536"/>
                <a:gd name="T18" fmla="*/ 0 60000 65536"/>
                <a:gd name="T19" fmla="*/ 0 60000 65536"/>
                <a:gd name="T20" fmla="*/ 0 60000 65536"/>
                <a:gd name="T21" fmla="*/ 0 60000 65536"/>
                <a:gd name="T22" fmla="*/ 0 60000 65536"/>
                <a:gd name="T23" fmla="*/ 0 60000 65536"/>
                <a:gd name="T24" fmla="*/ 0 w 13"/>
                <a:gd name="T25" fmla="*/ 0 h 8"/>
                <a:gd name="T26" fmla="*/ 13 w 13"/>
                <a:gd name="T27" fmla="*/ 8 h 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 h="8">
                  <a:moveTo>
                    <a:pt x="13" y="8"/>
                  </a:moveTo>
                  <a:lnTo>
                    <a:pt x="7" y="0"/>
                  </a:lnTo>
                  <a:lnTo>
                    <a:pt x="0" y="0"/>
                  </a:lnTo>
                  <a:lnTo>
                    <a:pt x="0" y="8"/>
                  </a:lnTo>
                  <a:lnTo>
                    <a:pt x="13" y="8"/>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82" name="Freeform 136"/>
            <p:cNvSpPr>
              <a:spLocks/>
            </p:cNvSpPr>
            <p:nvPr/>
          </p:nvSpPr>
          <p:spPr bwMode="auto">
            <a:xfrm>
              <a:off x="5242" y="944"/>
              <a:ext cx="13" cy="8"/>
            </a:xfrm>
            <a:custGeom>
              <a:avLst/>
              <a:gdLst>
                <a:gd name="T0" fmla="*/ 13 w 13"/>
                <a:gd name="T1" fmla="*/ 8 h 8"/>
                <a:gd name="T2" fmla="*/ 7 w 13"/>
                <a:gd name="T3" fmla="*/ 0 h 8"/>
                <a:gd name="T4" fmla="*/ 0 w 13"/>
                <a:gd name="T5" fmla="*/ 0 h 8"/>
                <a:gd name="T6" fmla="*/ 0 w 13"/>
                <a:gd name="T7" fmla="*/ 8 h 8"/>
                <a:gd name="T8" fmla="*/ 13 w 13"/>
                <a:gd name="T9" fmla="*/ 8 h 8"/>
                <a:gd name="T10" fmla="*/ 0 60000 65536"/>
                <a:gd name="T11" fmla="*/ 0 60000 65536"/>
                <a:gd name="T12" fmla="*/ 0 60000 65536"/>
                <a:gd name="T13" fmla="*/ 0 60000 65536"/>
                <a:gd name="T14" fmla="*/ 0 60000 65536"/>
                <a:gd name="T15" fmla="*/ 0 w 13"/>
                <a:gd name="T16" fmla="*/ 0 h 8"/>
                <a:gd name="T17" fmla="*/ 13 w 13"/>
                <a:gd name="T18" fmla="*/ 8 h 8"/>
              </a:gdLst>
              <a:ahLst/>
              <a:cxnLst>
                <a:cxn ang="T10">
                  <a:pos x="T0" y="T1"/>
                </a:cxn>
                <a:cxn ang="T11">
                  <a:pos x="T2" y="T3"/>
                </a:cxn>
                <a:cxn ang="T12">
                  <a:pos x="T4" y="T5"/>
                </a:cxn>
                <a:cxn ang="T13">
                  <a:pos x="T6" y="T7"/>
                </a:cxn>
                <a:cxn ang="T14">
                  <a:pos x="T8" y="T9"/>
                </a:cxn>
              </a:cxnLst>
              <a:rect l="T15" t="T16" r="T17" b="T18"/>
              <a:pathLst>
                <a:path w="13" h="8">
                  <a:moveTo>
                    <a:pt x="13" y="8"/>
                  </a:moveTo>
                  <a:lnTo>
                    <a:pt x="7" y="0"/>
                  </a:lnTo>
                  <a:lnTo>
                    <a:pt x="0" y="0"/>
                  </a:lnTo>
                  <a:lnTo>
                    <a:pt x="0" y="8"/>
                  </a:lnTo>
                  <a:lnTo>
                    <a:pt x="13" y="8"/>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83" name="Freeform 137"/>
            <p:cNvSpPr>
              <a:spLocks/>
            </p:cNvSpPr>
            <p:nvPr/>
          </p:nvSpPr>
          <p:spPr bwMode="auto">
            <a:xfrm>
              <a:off x="5236" y="901"/>
              <a:ext cx="6" cy="22"/>
            </a:xfrm>
            <a:custGeom>
              <a:avLst/>
              <a:gdLst>
                <a:gd name="T0" fmla="*/ 0 w 6"/>
                <a:gd name="T1" fmla="*/ 22 h 22"/>
                <a:gd name="T2" fmla="*/ 0 w 6"/>
                <a:gd name="T3" fmla="*/ 0 h 22"/>
                <a:gd name="T4" fmla="*/ 0 w 6"/>
                <a:gd name="T5" fmla="*/ 7 h 22"/>
                <a:gd name="T6" fmla="*/ 6 w 6"/>
                <a:gd name="T7" fmla="*/ 7 h 22"/>
                <a:gd name="T8" fmla="*/ 0 w 6"/>
                <a:gd name="T9" fmla="*/ 22 h 22"/>
                <a:gd name="T10" fmla="*/ 0 w 6"/>
                <a:gd name="T11" fmla="*/ 22 h 22"/>
                <a:gd name="T12" fmla="*/ 0 60000 65536"/>
                <a:gd name="T13" fmla="*/ 0 60000 65536"/>
                <a:gd name="T14" fmla="*/ 0 60000 65536"/>
                <a:gd name="T15" fmla="*/ 0 60000 65536"/>
                <a:gd name="T16" fmla="*/ 0 60000 65536"/>
                <a:gd name="T17" fmla="*/ 0 60000 65536"/>
                <a:gd name="T18" fmla="*/ 0 w 6"/>
                <a:gd name="T19" fmla="*/ 0 h 22"/>
                <a:gd name="T20" fmla="*/ 6 w 6"/>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6" h="22">
                  <a:moveTo>
                    <a:pt x="0" y="22"/>
                  </a:moveTo>
                  <a:lnTo>
                    <a:pt x="0" y="0"/>
                  </a:lnTo>
                  <a:lnTo>
                    <a:pt x="0" y="7"/>
                  </a:lnTo>
                  <a:lnTo>
                    <a:pt x="6" y="7"/>
                  </a:lnTo>
                  <a:lnTo>
                    <a:pt x="0" y="22"/>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84" name="Freeform 138"/>
            <p:cNvSpPr>
              <a:spLocks/>
            </p:cNvSpPr>
            <p:nvPr/>
          </p:nvSpPr>
          <p:spPr bwMode="auto">
            <a:xfrm>
              <a:off x="5236" y="901"/>
              <a:ext cx="6" cy="22"/>
            </a:xfrm>
            <a:custGeom>
              <a:avLst/>
              <a:gdLst>
                <a:gd name="T0" fmla="*/ 0 w 6"/>
                <a:gd name="T1" fmla="*/ 22 h 22"/>
                <a:gd name="T2" fmla="*/ 0 w 6"/>
                <a:gd name="T3" fmla="*/ 0 h 22"/>
                <a:gd name="T4" fmla="*/ 0 w 6"/>
                <a:gd name="T5" fmla="*/ 7 h 22"/>
                <a:gd name="T6" fmla="*/ 6 w 6"/>
                <a:gd name="T7" fmla="*/ 7 h 22"/>
                <a:gd name="T8" fmla="*/ 0 w 6"/>
                <a:gd name="T9" fmla="*/ 22 h 22"/>
                <a:gd name="T10" fmla="*/ 0 60000 65536"/>
                <a:gd name="T11" fmla="*/ 0 60000 65536"/>
                <a:gd name="T12" fmla="*/ 0 60000 65536"/>
                <a:gd name="T13" fmla="*/ 0 60000 65536"/>
                <a:gd name="T14" fmla="*/ 0 60000 65536"/>
                <a:gd name="T15" fmla="*/ 0 w 6"/>
                <a:gd name="T16" fmla="*/ 0 h 22"/>
                <a:gd name="T17" fmla="*/ 6 w 6"/>
                <a:gd name="T18" fmla="*/ 22 h 22"/>
              </a:gdLst>
              <a:ahLst/>
              <a:cxnLst>
                <a:cxn ang="T10">
                  <a:pos x="T0" y="T1"/>
                </a:cxn>
                <a:cxn ang="T11">
                  <a:pos x="T2" y="T3"/>
                </a:cxn>
                <a:cxn ang="T12">
                  <a:pos x="T4" y="T5"/>
                </a:cxn>
                <a:cxn ang="T13">
                  <a:pos x="T6" y="T7"/>
                </a:cxn>
                <a:cxn ang="T14">
                  <a:pos x="T8" y="T9"/>
                </a:cxn>
              </a:cxnLst>
              <a:rect l="T15" t="T16" r="T17" b="T18"/>
              <a:pathLst>
                <a:path w="6" h="22">
                  <a:moveTo>
                    <a:pt x="0" y="22"/>
                  </a:moveTo>
                  <a:lnTo>
                    <a:pt x="0" y="0"/>
                  </a:lnTo>
                  <a:lnTo>
                    <a:pt x="0" y="7"/>
                  </a:lnTo>
                  <a:lnTo>
                    <a:pt x="6" y="7"/>
                  </a:lnTo>
                  <a:lnTo>
                    <a:pt x="0" y="22"/>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85" name="Freeform 139"/>
            <p:cNvSpPr>
              <a:spLocks/>
            </p:cNvSpPr>
            <p:nvPr/>
          </p:nvSpPr>
          <p:spPr bwMode="auto">
            <a:xfrm>
              <a:off x="5173" y="901"/>
              <a:ext cx="44" cy="72"/>
            </a:xfrm>
            <a:custGeom>
              <a:avLst/>
              <a:gdLst>
                <a:gd name="T0" fmla="*/ 12 w 44"/>
                <a:gd name="T1" fmla="*/ 43 h 72"/>
                <a:gd name="T2" fmla="*/ 19 w 44"/>
                <a:gd name="T3" fmla="*/ 51 h 72"/>
                <a:gd name="T4" fmla="*/ 19 w 44"/>
                <a:gd name="T5" fmla="*/ 51 h 72"/>
                <a:gd name="T6" fmla="*/ 19 w 44"/>
                <a:gd name="T7" fmla="*/ 65 h 72"/>
                <a:gd name="T8" fmla="*/ 25 w 44"/>
                <a:gd name="T9" fmla="*/ 65 h 72"/>
                <a:gd name="T10" fmla="*/ 25 w 44"/>
                <a:gd name="T11" fmla="*/ 58 h 72"/>
                <a:gd name="T12" fmla="*/ 25 w 44"/>
                <a:gd name="T13" fmla="*/ 51 h 72"/>
                <a:gd name="T14" fmla="*/ 19 w 44"/>
                <a:gd name="T15" fmla="*/ 43 h 72"/>
                <a:gd name="T16" fmla="*/ 19 w 44"/>
                <a:gd name="T17" fmla="*/ 36 h 72"/>
                <a:gd name="T18" fmla="*/ 31 w 44"/>
                <a:gd name="T19" fmla="*/ 29 h 72"/>
                <a:gd name="T20" fmla="*/ 31 w 44"/>
                <a:gd name="T21" fmla="*/ 22 h 72"/>
                <a:gd name="T22" fmla="*/ 25 w 44"/>
                <a:gd name="T23" fmla="*/ 22 h 72"/>
                <a:gd name="T24" fmla="*/ 12 w 44"/>
                <a:gd name="T25" fmla="*/ 29 h 72"/>
                <a:gd name="T26" fmla="*/ 12 w 44"/>
                <a:gd name="T27" fmla="*/ 22 h 72"/>
                <a:gd name="T28" fmla="*/ 19 w 44"/>
                <a:gd name="T29" fmla="*/ 15 h 72"/>
                <a:gd name="T30" fmla="*/ 38 w 44"/>
                <a:gd name="T31" fmla="*/ 15 h 72"/>
                <a:gd name="T32" fmla="*/ 44 w 44"/>
                <a:gd name="T33" fmla="*/ 7 h 72"/>
                <a:gd name="T34" fmla="*/ 44 w 44"/>
                <a:gd name="T35" fmla="*/ 7 h 72"/>
                <a:gd name="T36" fmla="*/ 31 w 44"/>
                <a:gd name="T37" fmla="*/ 7 h 72"/>
                <a:gd name="T38" fmla="*/ 19 w 44"/>
                <a:gd name="T39" fmla="*/ 0 h 72"/>
                <a:gd name="T40" fmla="*/ 12 w 44"/>
                <a:gd name="T41" fmla="*/ 7 h 72"/>
                <a:gd name="T42" fmla="*/ 6 w 44"/>
                <a:gd name="T43" fmla="*/ 15 h 72"/>
                <a:gd name="T44" fmla="*/ 6 w 44"/>
                <a:gd name="T45" fmla="*/ 22 h 72"/>
                <a:gd name="T46" fmla="*/ 6 w 44"/>
                <a:gd name="T47" fmla="*/ 29 h 72"/>
                <a:gd name="T48" fmla="*/ 0 w 44"/>
                <a:gd name="T49" fmla="*/ 36 h 72"/>
                <a:gd name="T50" fmla="*/ 0 w 44"/>
                <a:gd name="T51" fmla="*/ 43 h 72"/>
                <a:gd name="T52" fmla="*/ 6 w 44"/>
                <a:gd name="T53" fmla="*/ 51 h 72"/>
                <a:gd name="T54" fmla="*/ 6 w 44"/>
                <a:gd name="T55" fmla="*/ 65 h 72"/>
                <a:gd name="T56" fmla="*/ 6 w 44"/>
                <a:gd name="T57" fmla="*/ 72 h 72"/>
                <a:gd name="T58" fmla="*/ 12 w 44"/>
                <a:gd name="T59" fmla="*/ 65 h 72"/>
                <a:gd name="T60" fmla="*/ 12 w 44"/>
                <a:gd name="T61" fmla="*/ 43 h 72"/>
                <a:gd name="T62" fmla="*/ 12 w 44"/>
                <a:gd name="T63" fmla="*/ 43 h 7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4"/>
                <a:gd name="T97" fmla="*/ 0 h 72"/>
                <a:gd name="T98" fmla="*/ 44 w 44"/>
                <a:gd name="T99" fmla="*/ 72 h 7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4" h="72">
                  <a:moveTo>
                    <a:pt x="12" y="43"/>
                  </a:moveTo>
                  <a:lnTo>
                    <a:pt x="19" y="51"/>
                  </a:lnTo>
                  <a:lnTo>
                    <a:pt x="19" y="65"/>
                  </a:lnTo>
                  <a:lnTo>
                    <a:pt x="25" y="65"/>
                  </a:lnTo>
                  <a:lnTo>
                    <a:pt x="25" y="58"/>
                  </a:lnTo>
                  <a:lnTo>
                    <a:pt x="25" y="51"/>
                  </a:lnTo>
                  <a:lnTo>
                    <a:pt x="19" y="43"/>
                  </a:lnTo>
                  <a:lnTo>
                    <a:pt x="19" y="36"/>
                  </a:lnTo>
                  <a:lnTo>
                    <a:pt x="31" y="29"/>
                  </a:lnTo>
                  <a:lnTo>
                    <a:pt x="31" y="22"/>
                  </a:lnTo>
                  <a:lnTo>
                    <a:pt x="25" y="22"/>
                  </a:lnTo>
                  <a:lnTo>
                    <a:pt x="12" y="29"/>
                  </a:lnTo>
                  <a:lnTo>
                    <a:pt x="12" y="22"/>
                  </a:lnTo>
                  <a:lnTo>
                    <a:pt x="19" y="15"/>
                  </a:lnTo>
                  <a:lnTo>
                    <a:pt x="38" y="15"/>
                  </a:lnTo>
                  <a:lnTo>
                    <a:pt x="44" y="7"/>
                  </a:lnTo>
                  <a:lnTo>
                    <a:pt x="31" y="7"/>
                  </a:lnTo>
                  <a:lnTo>
                    <a:pt x="19" y="0"/>
                  </a:lnTo>
                  <a:lnTo>
                    <a:pt x="12" y="7"/>
                  </a:lnTo>
                  <a:lnTo>
                    <a:pt x="6" y="15"/>
                  </a:lnTo>
                  <a:lnTo>
                    <a:pt x="6" y="22"/>
                  </a:lnTo>
                  <a:lnTo>
                    <a:pt x="6" y="29"/>
                  </a:lnTo>
                  <a:lnTo>
                    <a:pt x="0" y="36"/>
                  </a:lnTo>
                  <a:lnTo>
                    <a:pt x="0" y="43"/>
                  </a:lnTo>
                  <a:lnTo>
                    <a:pt x="6" y="51"/>
                  </a:lnTo>
                  <a:lnTo>
                    <a:pt x="6" y="65"/>
                  </a:lnTo>
                  <a:lnTo>
                    <a:pt x="6" y="72"/>
                  </a:lnTo>
                  <a:lnTo>
                    <a:pt x="12" y="65"/>
                  </a:lnTo>
                  <a:lnTo>
                    <a:pt x="12" y="43"/>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86" name="Freeform 140"/>
            <p:cNvSpPr>
              <a:spLocks/>
            </p:cNvSpPr>
            <p:nvPr/>
          </p:nvSpPr>
          <p:spPr bwMode="auto">
            <a:xfrm>
              <a:off x="5173" y="901"/>
              <a:ext cx="44" cy="72"/>
            </a:xfrm>
            <a:custGeom>
              <a:avLst/>
              <a:gdLst>
                <a:gd name="T0" fmla="*/ 12 w 44"/>
                <a:gd name="T1" fmla="*/ 43 h 72"/>
                <a:gd name="T2" fmla="*/ 19 w 44"/>
                <a:gd name="T3" fmla="*/ 51 h 72"/>
                <a:gd name="T4" fmla="*/ 19 w 44"/>
                <a:gd name="T5" fmla="*/ 65 h 72"/>
                <a:gd name="T6" fmla="*/ 25 w 44"/>
                <a:gd name="T7" fmla="*/ 65 h 72"/>
                <a:gd name="T8" fmla="*/ 25 w 44"/>
                <a:gd name="T9" fmla="*/ 58 h 72"/>
                <a:gd name="T10" fmla="*/ 25 w 44"/>
                <a:gd name="T11" fmla="*/ 51 h 72"/>
                <a:gd name="T12" fmla="*/ 19 w 44"/>
                <a:gd name="T13" fmla="*/ 43 h 72"/>
                <a:gd name="T14" fmla="*/ 19 w 44"/>
                <a:gd name="T15" fmla="*/ 36 h 72"/>
                <a:gd name="T16" fmla="*/ 31 w 44"/>
                <a:gd name="T17" fmla="*/ 29 h 72"/>
                <a:gd name="T18" fmla="*/ 31 w 44"/>
                <a:gd name="T19" fmla="*/ 22 h 72"/>
                <a:gd name="T20" fmla="*/ 25 w 44"/>
                <a:gd name="T21" fmla="*/ 22 h 72"/>
                <a:gd name="T22" fmla="*/ 12 w 44"/>
                <a:gd name="T23" fmla="*/ 29 h 72"/>
                <a:gd name="T24" fmla="*/ 12 w 44"/>
                <a:gd name="T25" fmla="*/ 22 h 72"/>
                <a:gd name="T26" fmla="*/ 19 w 44"/>
                <a:gd name="T27" fmla="*/ 15 h 72"/>
                <a:gd name="T28" fmla="*/ 38 w 44"/>
                <a:gd name="T29" fmla="*/ 15 h 72"/>
                <a:gd name="T30" fmla="*/ 44 w 44"/>
                <a:gd name="T31" fmla="*/ 7 h 72"/>
                <a:gd name="T32" fmla="*/ 31 w 44"/>
                <a:gd name="T33" fmla="*/ 7 h 72"/>
                <a:gd name="T34" fmla="*/ 19 w 44"/>
                <a:gd name="T35" fmla="*/ 0 h 72"/>
                <a:gd name="T36" fmla="*/ 12 w 44"/>
                <a:gd name="T37" fmla="*/ 7 h 72"/>
                <a:gd name="T38" fmla="*/ 6 w 44"/>
                <a:gd name="T39" fmla="*/ 15 h 72"/>
                <a:gd name="T40" fmla="*/ 6 w 44"/>
                <a:gd name="T41" fmla="*/ 22 h 72"/>
                <a:gd name="T42" fmla="*/ 6 w 44"/>
                <a:gd name="T43" fmla="*/ 29 h 72"/>
                <a:gd name="T44" fmla="*/ 0 w 44"/>
                <a:gd name="T45" fmla="*/ 36 h 72"/>
                <a:gd name="T46" fmla="*/ 0 w 44"/>
                <a:gd name="T47" fmla="*/ 43 h 72"/>
                <a:gd name="T48" fmla="*/ 6 w 44"/>
                <a:gd name="T49" fmla="*/ 51 h 72"/>
                <a:gd name="T50" fmla="*/ 6 w 44"/>
                <a:gd name="T51" fmla="*/ 65 h 72"/>
                <a:gd name="T52" fmla="*/ 6 w 44"/>
                <a:gd name="T53" fmla="*/ 72 h 72"/>
                <a:gd name="T54" fmla="*/ 12 w 44"/>
                <a:gd name="T55" fmla="*/ 65 h 72"/>
                <a:gd name="T56" fmla="*/ 12 w 44"/>
                <a:gd name="T57" fmla="*/ 43 h 7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4"/>
                <a:gd name="T88" fmla="*/ 0 h 72"/>
                <a:gd name="T89" fmla="*/ 44 w 44"/>
                <a:gd name="T90" fmla="*/ 72 h 7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4" h="72">
                  <a:moveTo>
                    <a:pt x="12" y="43"/>
                  </a:moveTo>
                  <a:lnTo>
                    <a:pt x="19" y="51"/>
                  </a:lnTo>
                  <a:lnTo>
                    <a:pt x="19" y="65"/>
                  </a:lnTo>
                  <a:lnTo>
                    <a:pt x="25" y="65"/>
                  </a:lnTo>
                  <a:lnTo>
                    <a:pt x="25" y="58"/>
                  </a:lnTo>
                  <a:lnTo>
                    <a:pt x="25" y="51"/>
                  </a:lnTo>
                  <a:lnTo>
                    <a:pt x="19" y="43"/>
                  </a:lnTo>
                  <a:lnTo>
                    <a:pt x="19" y="36"/>
                  </a:lnTo>
                  <a:lnTo>
                    <a:pt x="31" y="29"/>
                  </a:lnTo>
                  <a:lnTo>
                    <a:pt x="31" y="22"/>
                  </a:lnTo>
                  <a:lnTo>
                    <a:pt x="25" y="22"/>
                  </a:lnTo>
                  <a:lnTo>
                    <a:pt x="12" y="29"/>
                  </a:lnTo>
                  <a:lnTo>
                    <a:pt x="12" y="22"/>
                  </a:lnTo>
                  <a:lnTo>
                    <a:pt x="19" y="15"/>
                  </a:lnTo>
                  <a:lnTo>
                    <a:pt x="38" y="15"/>
                  </a:lnTo>
                  <a:lnTo>
                    <a:pt x="44" y="7"/>
                  </a:lnTo>
                  <a:lnTo>
                    <a:pt x="31" y="7"/>
                  </a:lnTo>
                  <a:lnTo>
                    <a:pt x="19" y="0"/>
                  </a:lnTo>
                  <a:lnTo>
                    <a:pt x="12" y="7"/>
                  </a:lnTo>
                  <a:lnTo>
                    <a:pt x="6" y="15"/>
                  </a:lnTo>
                  <a:lnTo>
                    <a:pt x="6" y="22"/>
                  </a:lnTo>
                  <a:lnTo>
                    <a:pt x="6" y="29"/>
                  </a:lnTo>
                  <a:lnTo>
                    <a:pt x="0" y="36"/>
                  </a:lnTo>
                  <a:lnTo>
                    <a:pt x="0" y="43"/>
                  </a:lnTo>
                  <a:lnTo>
                    <a:pt x="6" y="51"/>
                  </a:lnTo>
                  <a:lnTo>
                    <a:pt x="6" y="65"/>
                  </a:lnTo>
                  <a:lnTo>
                    <a:pt x="6" y="72"/>
                  </a:lnTo>
                  <a:lnTo>
                    <a:pt x="12" y="65"/>
                  </a:lnTo>
                  <a:lnTo>
                    <a:pt x="12" y="43"/>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87" name="Freeform 141"/>
            <p:cNvSpPr>
              <a:spLocks/>
            </p:cNvSpPr>
            <p:nvPr/>
          </p:nvSpPr>
          <p:spPr bwMode="auto">
            <a:xfrm>
              <a:off x="5160" y="822"/>
              <a:ext cx="13" cy="21"/>
            </a:xfrm>
            <a:custGeom>
              <a:avLst/>
              <a:gdLst>
                <a:gd name="T0" fmla="*/ 0 w 13"/>
                <a:gd name="T1" fmla="*/ 21 h 21"/>
                <a:gd name="T2" fmla="*/ 13 w 13"/>
                <a:gd name="T3" fmla="*/ 0 h 21"/>
                <a:gd name="T4" fmla="*/ 13 w 13"/>
                <a:gd name="T5" fmla="*/ 0 h 21"/>
                <a:gd name="T6" fmla="*/ 6 w 13"/>
                <a:gd name="T7" fmla="*/ 7 h 21"/>
                <a:gd name="T8" fmla="*/ 0 w 13"/>
                <a:gd name="T9" fmla="*/ 21 h 21"/>
                <a:gd name="T10" fmla="*/ 0 w 13"/>
                <a:gd name="T11" fmla="*/ 21 h 21"/>
                <a:gd name="T12" fmla="*/ 0 60000 65536"/>
                <a:gd name="T13" fmla="*/ 0 60000 65536"/>
                <a:gd name="T14" fmla="*/ 0 60000 65536"/>
                <a:gd name="T15" fmla="*/ 0 60000 65536"/>
                <a:gd name="T16" fmla="*/ 0 60000 65536"/>
                <a:gd name="T17" fmla="*/ 0 60000 65536"/>
                <a:gd name="T18" fmla="*/ 0 w 13"/>
                <a:gd name="T19" fmla="*/ 0 h 21"/>
                <a:gd name="T20" fmla="*/ 13 w 13"/>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13" h="21">
                  <a:moveTo>
                    <a:pt x="0" y="21"/>
                  </a:moveTo>
                  <a:lnTo>
                    <a:pt x="13" y="0"/>
                  </a:lnTo>
                  <a:lnTo>
                    <a:pt x="6" y="7"/>
                  </a:lnTo>
                  <a:lnTo>
                    <a:pt x="0" y="21"/>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88" name="Freeform 142"/>
            <p:cNvSpPr>
              <a:spLocks/>
            </p:cNvSpPr>
            <p:nvPr/>
          </p:nvSpPr>
          <p:spPr bwMode="auto">
            <a:xfrm>
              <a:off x="5160" y="822"/>
              <a:ext cx="13" cy="21"/>
            </a:xfrm>
            <a:custGeom>
              <a:avLst/>
              <a:gdLst>
                <a:gd name="T0" fmla="*/ 0 w 13"/>
                <a:gd name="T1" fmla="*/ 21 h 21"/>
                <a:gd name="T2" fmla="*/ 13 w 13"/>
                <a:gd name="T3" fmla="*/ 0 h 21"/>
                <a:gd name="T4" fmla="*/ 6 w 13"/>
                <a:gd name="T5" fmla="*/ 7 h 21"/>
                <a:gd name="T6" fmla="*/ 0 w 13"/>
                <a:gd name="T7" fmla="*/ 21 h 21"/>
                <a:gd name="T8" fmla="*/ 0 60000 65536"/>
                <a:gd name="T9" fmla="*/ 0 60000 65536"/>
                <a:gd name="T10" fmla="*/ 0 60000 65536"/>
                <a:gd name="T11" fmla="*/ 0 60000 65536"/>
                <a:gd name="T12" fmla="*/ 0 w 13"/>
                <a:gd name="T13" fmla="*/ 0 h 21"/>
                <a:gd name="T14" fmla="*/ 13 w 13"/>
                <a:gd name="T15" fmla="*/ 21 h 21"/>
              </a:gdLst>
              <a:ahLst/>
              <a:cxnLst>
                <a:cxn ang="T8">
                  <a:pos x="T0" y="T1"/>
                </a:cxn>
                <a:cxn ang="T9">
                  <a:pos x="T2" y="T3"/>
                </a:cxn>
                <a:cxn ang="T10">
                  <a:pos x="T4" y="T5"/>
                </a:cxn>
                <a:cxn ang="T11">
                  <a:pos x="T6" y="T7"/>
                </a:cxn>
              </a:cxnLst>
              <a:rect l="T12" t="T13" r="T14" b="T15"/>
              <a:pathLst>
                <a:path w="13" h="21">
                  <a:moveTo>
                    <a:pt x="0" y="21"/>
                  </a:moveTo>
                  <a:lnTo>
                    <a:pt x="13" y="0"/>
                  </a:lnTo>
                  <a:lnTo>
                    <a:pt x="6" y="7"/>
                  </a:lnTo>
                  <a:lnTo>
                    <a:pt x="0" y="21"/>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89" name="Freeform 143"/>
            <p:cNvSpPr>
              <a:spLocks/>
            </p:cNvSpPr>
            <p:nvPr/>
          </p:nvSpPr>
          <p:spPr bwMode="auto">
            <a:xfrm>
              <a:off x="5211" y="800"/>
              <a:ext cx="6" cy="22"/>
            </a:xfrm>
            <a:custGeom>
              <a:avLst/>
              <a:gdLst>
                <a:gd name="T0" fmla="*/ 6 w 6"/>
                <a:gd name="T1" fmla="*/ 22 h 22"/>
                <a:gd name="T2" fmla="*/ 6 w 6"/>
                <a:gd name="T3" fmla="*/ 15 h 22"/>
                <a:gd name="T4" fmla="*/ 6 w 6"/>
                <a:gd name="T5" fmla="*/ 7 h 22"/>
                <a:gd name="T6" fmla="*/ 6 w 6"/>
                <a:gd name="T7" fmla="*/ 0 h 22"/>
                <a:gd name="T8" fmla="*/ 0 w 6"/>
                <a:gd name="T9" fmla="*/ 7 h 22"/>
                <a:gd name="T10" fmla="*/ 0 w 6"/>
                <a:gd name="T11" fmla="*/ 15 h 22"/>
                <a:gd name="T12" fmla="*/ 6 w 6"/>
                <a:gd name="T13" fmla="*/ 22 h 22"/>
                <a:gd name="T14" fmla="*/ 6 w 6"/>
                <a:gd name="T15" fmla="*/ 22 h 22"/>
                <a:gd name="T16" fmla="*/ 0 60000 65536"/>
                <a:gd name="T17" fmla="*/ 0 60000 65536"/>
                <a:gd name="T18" fmla="*/ 0 60000 65536"/>
                <a:gd name="T19" fmla="*/ 0 60000 65536"/>
                <a:gd name="T20" fmla="*/ 0 60000 65536"/>
                <a:gd name="T21" fmla="*/ 0 60000 65536"/>
                <a:gd name="T22" fmla="*/ 0 60000 65536"/>
                <a:gd name="T23" fmla="*/ 0 60000 65536"/>
                <a:gd name="T24" fmla="*/ 0 w 6"/>
                <a:gd name="T25" fmla="*/ 0 h 22"/>
                <a:gd name="T26" fmla="*/ 6 w 6"/>
                <a:gd name="T27" fmla="*/ 22 h 2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 h="22">
                  <a:moveTo>
                    <a:pt x="6" y="22"/>
                  </a:moveTo>
                  <a:lnTo>
                    <a:pt x="6" y="15"/>
                  </a:lnTo>
                  <a:lnTo>
                    <a:pt x="6" y="7"/>
                  </a:lnTo>
                  <a:lnTo>
                    <a:pt x="6" y="0"/>
                  </a:lnTo>
                  <a:lnTo>
                    <a:pt x="0" y="7"/>
                  </a:lnTo>
                  <a:lnTo>
                    <a:pt x="0" y="15"/>
                  </a:lnTo>
                  <a:lnTo>
                    <a:pt x="6" y="22"/>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90" name="Freeform 144"/>
            <p:cNvSpPr>
              <a:spLocks/>
            </p:cNvSpPr>
            <p:nvPr/>
          </p:nvSpPr>
          <p:spPr bwMode="auto">
            <a:xfrm>
              <a:off x="5211" y="800"/>
              <a:ext cx="6" cy="22"/>
            </a:xfrm>
            <a:custGeom>
              <a:avLst/>
              <a:gdLst>
                <a:gd name="T0" fmla="*/ 6 w 6"/>
                <a:gd name="T1" fmla="*/ 22 h 22"/>
                <a:gd name="T2" fmla="*/ 6 w 6"/>
                <a:gd name="T3" fmla="*/ 15 h 22"/>
                <a:gd name="T4" fmla="*/ 6 w 6"/>
                <a:gd name="T5" fmla="*/ 7 h 22"/>
                <a:gd name="T6" fmla="*/ 6 w 6"/>
                <a:gd name="T7" fmla="*/ 0 h 22"/>
                <a:gd name="T8" fmla="*/ 0 w 6"/>
                <a:gd name="T9" fmla="*/ 7 h 22"/>
                <a:gd name="T10" fmla="*/ 0 w 6"/>
                <a:gd name="T11" fmla="*/ 15 h 22"/>
                <a:gd name="T12" fmla="*/ 6 w 6"/>
                <a:gd name="T13" fmla="*/ 22 h 22"/>
                <a:gd name="T14" fmla="*/ 0 60000 65536"/>
                <a:gd name="T15" fmla="*/ 0 60000 65536"/>
                <a:gd name="T16" fmla="*/ 0 60000 65536"/>
                <a:gd name="T17" fmla="*/ 0 60000 65536"/>
                <a:gd name="T18" fmla="*/ 0 60000 65536"/>
                <a:gd name="T19" fmla="*/ 0 60000 65536"/>
                <a:gd name="T20" fmla="*/ 0 60000 65536"/>
                <a:gd name="T21" fmla="*/ 0 w 6"/>
                <a:gd name="T22" fmla="*/ 0 h 22"/>
                <a:gd name="T23" fmla="*/ 6 w 6"/>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 h="22">
                  <a:moveTo>
                    <a:pt x="6" y="22"/>
                  </a:moveTo>
                  <a:lnTo>
                    <a:pt x="6" y="15"/>
                  </a:lnTo>
                  <a:lnTo>
                    <a:pt x="6" y="7"/>
                  </a:lnTo>
                  <a:lnTo>
                    <a:pt x="6" y="0"/>
                  </a:lnTo>
                  <a:lnTo>
                    <a:pt x="0" y="7"/>
                  </a:lnTo>
                  <a:lnTo>
                    <a:pt x="0" y="15"/>
                  </a:lnTo>
                  <a:lnTo>
                    <a:pt x="6" y="22"/>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91" name="Freeform 145"/>
            <p:cNvSpPr>
              <a:spLocks/>
            </p:cNvSpPr>
            <p:nvPr/>
          </p:nvSpPr>
          <p:spPr bwMode="auto">
            <a:xfrm>
              <a:off x="5192" y="829"/>
              <a:ext cx="31" cy="36"/>
            </a:xfrm>
            <a:custGeom>
              <a:avLst/>
              <a:gdLst>
                <a:gd name="T0" fmla="*/ 6 w 31"/>
                <a:gd name="T1" fmla="*/ 14 h 36"/>
                <a:gd name="T2" fmla="*/ 19 w 31"/>
                <a:gd name="T3" fmla="*/ 14 h 36"/>
                <a:gd name="T4" fmla="*/ 25 w 31"/>
                <a:gd name="T5" fmla="*/ 7 h 36"/>
                <a:gd name="T6" fmla="*/ 25 w 31"/>
                <a:gd name="T7" fmla="*/ 0 h 36"/>
                <a:gd name="T8" fmla="*/ 31 w 31"/>
                <a:gd name="T9" fmla="*/ 14 h 36"/>
                <a:gd name="T10" fmla="*/ 31 w 31"/>
                <a:gd name="T11" fmla="*/ 29 h 36"/>
                <a:gd name="T12" fmla="*/ 25 w 31"/>
                <a:gd name="T13" fmla="*/ 29 h 36"/>
                <a:gd name="T14" fmla="*/ 25 w 31"/>
                <a:gd name="T15" fmla="*/ 36 h 36"/>
                <a:gd name="T16" fmla="*/ 25 w 31"/>
                <a:gd name="T17" fmla="*/ 36 h 36"/>
                <a:gd name="T18" fmla="*/ 19 w 31"/>
                <a:gd name="T19" fmla="*/ 29 h 36"/>
                <a:gd name="T20" fmla="*/ 19 w 31"/>
                <a:gd name="T21" fmla="*/ 22 h 36"/>
                <a:gd name="T22" fmla="*/ 12 w 31"/>
                <a:gd name="T23" fmla="*/ 22 h 36"/>
                <a:gd name="T24" fmla="*/ 12 w 31"/>
                <a:gd name="T25" fmla="*/ 22 h 36"/>
                <a:gd name="T26" fmla="*/ 0 w 31"/>
                <a:gd name="T27" fmla="*/ 22 h 36"/>
                <a:gd name="T28" fmla="*/ 6 w 31"/>
                <a:gd name="T29" fmla="*/ 14 h 36"/>
                <a:gd name="T30" fmla="*/ 6 w 31"/>
                <a:gd name="T31" fmla="*/ 14 h 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1"/>
                <a:gd name="T49" fmla="*/ 0 h 36"/>
                <a:gd name="T50" fmla="*/ 31 w 31"/>
                <a:gd name="T51" fmla="*/ 36 h 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1" h="36">
                  <a:moveTo>
                    <a:pt x="6" y="14"/>
                  </a:moveTo>
                  <a:lnTo>
                    <a:pt x="19" y="14"/>
                  </a:lnTo>
                  <a:lnTo>
                    <a:pt x="25" y="7"/>
                  </a:lnTo>
                  <a:lnTo>
                    <a:pt x="25" y="0"/>
                  </a:lnTo>
                  <a:lnTo>
                    <a:pt x="31" y="14"/>
                  </a:lnTo>
                  <a:lnTo>
                    <a:pt x="31" y="29"/>
                  </a:lnTo>
                  <a:lnTo>
                    <a:pt x="25" y="29"/>
                  </a:lnTo>
                  <a:lnTo>
                    <a:pt x="25" y="36"/>
                  </a:lnTo>
                  <a:lnTo>
                    <a:pt x="19" y="29"/>
                  </a:lnTo>
                  <a:lnTo>
                    <a:pt x="19" y="22"/>
                  </a:lnTo>
                  <a:lnTo>
                    <a:pt x="12" y="22"/>
                  </a:lnTo>
                  <a:lnTo>
                    <a:pt x="0" y="22"/>
                  </a:lnTo>
                  <a:lnTo>
                    <a:pt x="6" y="14"/>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92" name="Freeform 146"/>
            <p:cNvSpPr>
              <a:spLocks/>
            </p:cNvSpPr>
            <p:nvPr/>
          </p:nvSpPr>
          <p:spPr bwMode="auto">
            <a:xfrm>
              <a:off x="5192" y="829"/>
              <a:ext cx="31" cy="36"/>
            </a:xfrm>
            <a:custGeom>
              <a:avLst/>
              <a:gdLst>
                <a:gd name="T0" fmla="*/ 6 w 31"/>
                <a:gd name="T1" fmla="*/ 14 h 36"/>
                <a:gd name="T2" fmla="*/ 19 w 31"/>
                <a:gd name="T3" fmla="*/ 14 h 36"/>
                <a:gd name="T4" fmla="*/ 25 w 31"/>
                <a:gd name="T5" fmla="*/ 7 h 36"/>
                <a:gd name="T6" fmla="*/ 25 w 31"/>
                <a:gd name="T7" fmla="*/ 0 h 36"/>
                <a:gd name="T8" fmla="*/ 31 w 31"/>
                <a:gd name="T9" fmla="*/ 14 h 36"/>
                <a:gd name="T10" fmla="*/ 31 w 31"/>
                <a:gd name="T11" fmla="*/ 29 h 36"/>
                <a:gd name="T12" fmla="*/ 25 w 31"/>
                <a:gd name="T13" fmla="*/ 29 h 36"/>
                <a:gd name="T14" fmla="*/ 25 w 31"/>
                <a:gd name="T15" fmla="*/ 36 h 36"/>
                <a:gd name="T16" fmla="*/ 19 w 31"/>
                <a:gd name="T17" fmla="*/ 29 h 36"/>
                <a:gd name="T18" fmla="*/ 19 w 31"/>
                <a:gd name="T19" fmla="*/ 22 h 36"/>
                <a:gd name="T20" fmla="*/ 12 w 31"/>
                <a:gd name="T21" fmla="*/ 22 h 36"/>
                <a:gd name="T22" fmla="*/ 0 w 31"/>
                <a:gd name="T23" fmla="*/ 22 h 36"/>
                <a:gd name="T24" fmla="*/ 6 w 31"/>
                <a:gd name="T25" fmla="*/ 14 h 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
                <a:gd name="T40" fmla="*/ 0 h 36"/>
                <a:gd name="T41" fmla="*/ 31 w 31"/>
                <a:gd name="T42" fmla="*/ 36 h 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 h="36">
                  <a:moveTo>
                    <a:pt x="6" y="14"/>
                  </a:moveTo>
                  <a:lnTo>
                    <a:pt x="19" y="14"/>
                  </a:lnTo>
                  <a:lnTo>
                    <a:pt x="25" y="7"/>
                  </a:lnTo>
                  <a:lnTo>
                    <a:pt x="25" y="0"/>
                  </a:lnTo>
                  <a:lnTo>
                    <a:pt x="31" y="14"/>
                  </a:lnTo>
                  <a:lnTo>
                    <a:pt x="31" y="29"/>
                  </a:lnTo>
                  <a:lnTo>
                    <a:pt x="25" y="29"/>
                  </a:lnTo>
                  <a:lnTo>
                    <a:pt x="25" y="36"/>
                  </a:lnTo>
                  <a:lnTo>
                    <a:pt x="19" y="29"/>
                  </a:lnTo>
                  <a:lnTo>
                    <a:pt x="19" y="22"/>
                  </a:lnTo>
                  <a:lnTo>
                    <a:pt x="12" y="22"/>
                  </a:lnTo>
                  <a:lnTo>
                    <a:pt x="0" y="22"/>
                  </a:lnTo>
                  <a:lnTo>
                    <a:pt x="6" y="14"/>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93" name="Freeform 147"/>
            <p:cNvSpPr>
              <a:spLocks/>
            </p:cNvSpPr>
            <p:nvPr/>
          </p:nvSpPr>
          <p:spPr bwMode="auto">
            <a:xfrm>
              <a:off x="5192" y="815"/>
              <a:ext cx="12" cy="14"/>
            </a:xfrm>
            <a:custGeom>
              <a:avLst/>
              <a:gdLst>
                <a:gd name="T0" fmla="*/ 12 w 12"/>
                <a:gd name="T1" fmla="*/ 14 h 14"/>
                <a:gd name="T2" fmla="*/ 6 w 12"/>
                <a:gd name="T3" fmla="*/ 14 h 14"/>
                <a:gd name="T4" fmla="*/ 6 w 12"/>
                <a:gd name="T5" fmla="*/ 7 h 14"/>
                <a:gd name="T6" fmla="*/ 0 w 12"/>
                <a:gd name="T7" fmla="*/ 7 h 14"/>
                <a:gd name="T8" fmla="*/ 0 w 12"/>
                <a:gd name="T9" fmla="*/ 0 h 14"/>
                <a:gd name="T10" fmla="*/ 6 w 12"/>
                <a:gd name="T11" fmla="*/ 0 h 14"/>
                <a:gd name="T12" fmla="*/ 12 w 12"/>
                <a:gd name="T13" fmla="*/ 14 h 14"/>
                <a:gd name="T14" fmla="*/ 12 w 12"/>
                <a:gd name="T15" fmla="*/ 14 h 14"/>
                <a:gd name="T16" fmla="*/ 0 60000 65536"/>
                <a:gd name="T17" fmla="*/ 0 60000 65536"/>
                <a:gd name="T18" fmla="*/ 0 60000 65536"/>
                <a:gd name="T19" fmla="*/ 0 60000 65536"/>
                <a:gd name="T20" fmla="*/ 0 60000 65536"/>
                <a:gd name="T21" fmla="*/ 0 60000 65536"/>
                <a:gd name="T22" fmla="*/ 0 60000 65536"/>
                <a:gd name="T23" fmla="*/ 0 60000 65536"/>
                <a:gd name="T24" fmla="*/ 0 w 12"/>
                <a:gd name="T25" fmla="*/ 0 h 14"/>
                <a:gd name="T26" fmla="*/ 12 w 12"/>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2" h="14">
                  <a:moveTo>
                    <a:pt x="12" y="14"/>
                  </a:moveTo>
                  <a:lnTo>
                    <a:pt x="6" y="14"/>
                  </a:lnTo>
                  <a:lnTo>
                    <a:pt x="6" y="7"/>
                  </a:lnTo>
                  <a:lnTo>
                    <a:pt x="0" y="7"/>
                  </a:lnTo>
                  <a:lnTo>
                    <a:pt x="0" y="0"/>
                  </a:lnTo>
                  <a:lnTo>
                    <a:pt x="6" y="0"/>
                  </a:lnTo>
                  <a:lnTo>
                    <a:pt x="12" y="14"/>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94" name="Freeform 148"/>
            <p:cNvSpPr>
              <a:spLocks/>
            </p:cNvSpPr>
            <p:nvPr/>
          </p:nvSpPr>
          <p:spPr bwMode="auto">
            <a:xfrm>
              <a:off x="5192" y="815"/>
              <a:ext cx="12" cy="14"/>
            </a:xfrm>
            <a:custGeom>
              <a:avLst/>
              <a:gdLst>
                <a:gd name="T0" fmla="*/ 12 w 12"/>
                <a:gd name="T1" fmla="*/ 14 h 14"/>
                <a:gd name="T2" fmla="*/ 6 w 12"/>
                <a:gd name="T3" fmla="*/ 14 h 14"/>
                <a:gd name="T4" fmla="*/ 6 w 12"/>
                <a:gd name="T5" fmla="*/ 7 h 14"/>
                <a:gd name="T6" fmla="*/ 0 w 12"/>
                <a:gd name="T7" fmla="*/ 7 h 14"/>
                <a:gd name="T8" fmla="*/ 0 w 12"/>
                <a:gd name="T9" fmla="*/ 0 h 14"/>
                <a:gd name="T10" fmla="*/ 6 w 12"/>
                <a:gd name="T11" fmla="*/ 0 h 14"/>
                <a:gd name="T12" fmla="*/ 12 w 12"/>
                <a:gd name="T13" fmla="*/ 14 h 14"/>
                <a:gd name="T14" fmla="*/ 0 60000 65536"/>
                <a:gd name="T15" fmla="*/ 0 60000 65536"/>
                <a:gd name="T16" fmla="*/ 0 60000 65536"/>
                <a:gd name="T17" fmla="*/ 0 60000 65536"/>
                <a:gd name="T18" fmla="*/ 0 60000 65536"/>
                <a:gd name="T19" fmla="*/ 0 60000 65536"/>
                <a:gd name="T20" fmla="*/ 0 60000 65536"/>
                <a:gd name="T21" fmla="*/ 0 w 12"/>
                <a:gd name="T22" fmla="*/ 0 h 14"/>
                <a:gd name="T23" fmla="*/ 12 w 12"/>
                <a:gd name="T24" fmla="*/ 14 h 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 h="14">
                  <a:moveTo>
                    <a:pt x="12" y="14"/>
                  </a:moveTo>
                  <a:lnTo>
                    <a:pt x="6" y="14"/>
                  </a:lnTo>
                  <a:lnTo>
                    <a:pt x="6" y="7"/>
                  </a:lnTo>
                  <a:lnTo>
                    <a:pt x="0" y="7"/>
                  </a:lnTo>
                  <a:lnTo>
                    <a:pt x="0" y="0"/>
                  </a:lnTo>
                  <a:lnTo>
                    <a:pt x="6" y="0"/>
                  </a:lnTo>
                  <a:lnTo>
                    <a:pt x="12" y="14"/>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95" name="Freeform 149"/>
            <p:cNvSpPr>
              <a:spLocks/>
            </p:cNvSpPr>
            <p:nvPr/>
          </p:nvSpPr>
          <p:spPr bwMode="auto">
            <a:xfrm>
              <a:off x="5192" y="793"/>
              <a:ext cx="12" cy="7"/>
            </a:xfrm>
            <a:custGeom>
              <a:avLst/>
              <a:gdLst>
                <a:gd name="T0" fmla="*/ 0 w 12"/>
                <a:gd name="T1" fmla="*/ 0 h 7"/>
                <a:gd name="T2" fmla="*/ 6 w 12"/>
                <a:gd name="T3" fmla="*/ 0 h 7"/>
                <a:gd name="T4" fmla="*/ 6 w 12"/>
                <a:gd name="T5" fmla="*/ 0 h 7"/>
                <a:gd name="T6" fmla="*/ 12 w 12"/>
                <a:gd name="T7" fmla="*/ 7 h 7"/>
                <a:gd name="T8" fmla="*/ 12 w 12"/>
                <a:gd name="T9" fmla="*/ 0 h 7"/>
                <a:gd name="T10" fmla="*/ 12 w 12"/>
                <a:gd name="T11" fmla="*/ 0 h 7"/>
                <a:gd name="T12" fmla="*/ 0 w 12"/>
                <a:gd name="T13" fmla="*/ 0 h 7"/>
                <a:gd name="T14" fmla="*/ 0 w 12"/>
                <a:gd name="T15" fmla="*/ 0 h 7"/>
                <a:gd name="T16" fmla="*/ 0 60000 65536"/>
                <a:gd name="T17" fmla="*/ 0 60000 65536"/>
                <a:gd name="T18" fmla="*/ 0 60000 65536"/>
                <a:gd name="T19" fmla="*/ 0 60000 65536"/>
                <a:gd name="T20" fmla="*/ 0 60000 65536"/>
                <a:gd name="T21" fmla="*/ 0 60000 65536"/>
                <a:gd name="T22" fmla="*/ 0 60000 65536"/>
                <a:gd name="T23" fmla="*/ 0 60000 65536"/>
                <a:gd name="T24" fmla="*/ 0 w 12"/>
                <a:gd name="T25" fmla="*/ 0 h 7"/>
                <a:gd name="T26" fmla="*/ 12 w 12"/>
                <a:gd name="T27" fmla="*/ 7 h 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2" h="7">
                  <a:moveTo>
                    <a:pt x="0" y="0"/>
                  </a:moveTo>
                  <a:lnTo>
                    <a:pt x="6" y="0"/>
                  </a:lnTo>
                  <a:lnTo>
                    <a:pt x="12" y="7"/>
                  </a:lnTo>
                  <a:lnTo>
                    <a:pt x="12" y="0"/>
                  </a:lnTo>
                  <a:lnTo>
                    <a:pt x="0"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96" name="Freeform 150"/>
            <p:cNvSpPr>
              <a:spLocks/>
            </p:cNvSpPr>
            <p:nvPr/>
          </p:nvSpPr>
          <p:spPr bwMode="auto">
            <a:xfrm>
              <a:off x="5192" y="793"/>
              <a:ext cx="12" cy="7"/>
            </a:xfrm>
            <a:custGeom>
              <a:avLst/>
              <a:gdLst>
                <a:gd name="T0" fmla="*/ 0 w 12"/>
                <a:gd name="T1" fmla="*/ 0 h 7"/>
                <a:gd name="T2" fmla="*/ 6 w 12"/>
                <a:gd name="T3" fmla="*/ 0 h 7"/>
                <a:gd name="T4" fmla="*/ 12 w 12"/>
                <a:gd name="T5" fmla="*/ 7 h 7"/>
                <a:gd name="T6" fmla="*/ 12 w 12"/>
                <a:gd name="T7" fmla="*/ 0 h 7"/>
                <a:gd name="T8" fmla="*/ 0 w 12"/>
                <a:gd name="T9" fmla="*/ 0 h 7"/>
                <a:gd name="T10" fmla="*/ 0 60000 65536"/>
                <a:gd name="T11" fmla="*/ 0 60000 65536"/>
                <a:gd name="T12" fmla="*/ 0 60000 65536"/>
                <a:gd name="T13" fmla="*/ 0 60000 65536"/>
                <a:gd name="T14" fmla="*/ 0 60000 65536"/>
                <a:gd name="T15" fmla="*/ 0 w 12"/>
                <a:gd name="T16" fmla="*/ 0 h 7"/>
                <a:gd name="T17" fmla="*/ 12 w 12"/>
                <a:gd name="T18" fmla="*/ 7 h 7"/>
              </a:gdLst>
              <a:ahLst/>
              <a:cxnLst>
                <a:cxn ang="T10">
                  <a:pos x="T0" y="T1"/>
                </a:cxn>
                <a:cxn ang="T11">
                  <a:pos x="T2" y="T3"/>
                </a:cxn>
                <a:cxn ang="T12">
                  <a:pos x="T4" y="T5"/>
                </a:cxn>
                <a:cxn ang="T13">
                  <a:pos x="T6" y="T7"/>
                </a:cxn>
                <a:cxn ang="T14">
                  <a:pos x="T8" y="T9"/>
                </a:cxn>
              </a:cxnLst>
              <a:rect l="T15" t="T16" r="T17" b="T18"/>
              <a:pathLst>
                <a:path w="12" h="7">
                  <a:moveTo>
                    <a:pt x="0" y="0"/>
                  </a:moveTo>
                  <a:lnTo>
                    <a:pt x="6" y="0"/>
                  </a:lnTo>
                  <a:lnTo>
                    <a:pt x="12" y="7"/>
                  </a:lnTo>
                  <a:lnTo>
                    <a:pt x="12" y="0"/>
                  </a:lnTo>
                  <a:lnTo>
                    <a:pt x="0"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97" name="Freeform 151"/>
            <p:cNvSpPr>
              <a:spLocks/>
            </p:cNvSpPr>
            <p:nvPr/>
          </p:nvSpPr>
          <p:spPr bwMode="auto">
            <a:xfrm>
              <a:off x="5173" y="750"/>
              <a:ext cx="19" cy="50"/>
            </a:xfrm>
            <a:custGeom>
              <a:avLst/>
              <a:gdLst>
                <a:gd name="T0" fmla="*/ 0 w 19"/>
                <a:gd name="T1" fmla="*/ 21 h 50"/>
                <a:gd name="T2" fmla="*/ 6 w 19"/>
                <a:gd name="T3" fmla="*/ 21 h 50"/>
                <a:gd name="T4" fmla="*/ 6 w 19"/>
                <a:gd name="T5" fmla="*/ 0 h 50"/>
                <a:gd name="T6" fmla="*/ 6 w 19"/>
                <a:gd name="T7" fmla="*/ 0 h 50"/>
                <a:gd name="T8" fmla="*/ 12 w 19"/>
                <a:gd name="T9" fmla="*/ 0 h 50"/>
                <a:gd name="T10" fmla="*/ 12 w 19"/>
                <a:gd name="T11" fmla="*/ 0 h 50"/>
                <a:gd name="T12" fmla="*/ 19 w 19"/>
                <a:gd name="T13" fmla="*/ 14 h 50"/>
                <a:gd name="T14" fmla="*/ 12 w 19"/>
                <a:gd name="T15" fmla="*/ 29 h 50"/>
                <a:gd name="T16" fmla="*/ 12 w 19"/>
                <a:gd name="T17" fmla="*/ 43 h 50"/>
                <a:gd name="T18" fmla="*/ 19 w 19"/>
                <a:gd name="T19" fmla="*/ 43 h 50"/>
                <a:gd name="T20" fmla="*/ 12 w 19"/>
                <a:gd name="T21" fmla="*/ 50 h 50"/>
                <a:gd name="T22" fmla="*/ 12 w 19"/>
                <a:gd name="T23" fmla="*/ 50 h 50"/>
                <a:gd name="T24" fmla="*/ 12 w 19"/>
                <a:gd name="T25" fmla="*/ 50 h 50"/>
                <a:gd name="T26" fmla="*/ 6 w 19"/>
                <a:gd name="T27" fmla="*/ 36 h 50"/>
                <a:gd name="T28" fmla="*/ 0 w 19"/>
                <a:gd name="T29" fmla="*/ 21 h 50"/>
                <a:gd name="T30" fmla="*/ 0 w 19"/>
                <a:gd name="T31" fmla="*/ 21 h 5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
                <a:gd name="T49" fmla="*/ 0 h 50"/>
                <a:gd name="T50" fmla="*/ 19 w 19"/>
                <a:gd name="T51" fmla="*/ 50 h 5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 h="50">
                  <a:moveTo>
                    <a:pt x="0" y="21"/>
                  </a:moveTo>
                  <a:lnTo>
                    <a:pt x="6" y="21"/>
                  </a:lnTo>
                  <a:lnTo>
                    <a:pt x="6" y="0"/>
                  </a:lnTo>
                  <a:lnTo>
                    <a:pt x="12" y="0"/>
                  </a:lnTo>
                  <a:lnTo>
                    <a:pt x="19" y="14"/>
                  </a:lnTo>
                  <a:lnTo>
                    <a:pt x="12" y="29"/>
                  </a:lnTo>
                  <a:lnTo>
                    <a:pt x="12" y="43"/>
                  </a:lnTo>
                  <a:lnTo>
                    <a:pt x="19" y="43"/>
                  </a:lnTo>
                  <a:lnTo>
                    <a:pt x="12" y="50"/>
                  </a:lnTo>
                  <a:lnTo>
                    <a:pt x="6" y="36"/>
                  </a:lnTo>
                  <a:lnTo>
                    <a:pt x="0" y="21"/>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98" name="Freeform 152"/>
            <p:cNvSpPr>
              <a:spLocks/>
            </p:cNvSpPr>
            <p:nvPr/>
          </p:nvSpPr>
          <p:spPr bwMode="auto">
            <a:xfrm>
              <a:off x="5173" y="750"/>
              <a:ext cx="19" cy="50"/>
            </a:xfrm>
            <a:custGeom>
              <a:avLst/>
              <a:gdLst>
                <a:gd name="T0" fmla="*/ 0 w 19"/>
                <a:gd name="T1" fmla="*/ 21 h 50"/>
                <a:gd name="T2" fmla="*/ 6 w 19"/>
                <a:gd name="T3" fmla="*/ 21 h 50"/>
                <a:gd name="T4" fmla="*/ 6 w 19"/>
                <a:gd name="T5" fmla="*/ 0 h 50"/>
                <a:gd name="T6" fmla="*/ 12 w 19"/>
                <a:gd name="T7" fmla="*/ 0 h 50"/>
                <a:gd name="T8" fmla="*/ 19 w 19"/>
                <a:gd name="T9" fmla="*/ 14 h 50"/>
                <a:gd name="T10" fmla="*/ 12 w 19"/>
                <a:gd name="T11" fmla="*/ 29 h 50"/>
                <a:gd name="T12" fmla="*/ 12 w 19"/>
                <a:gd name="T13" fmla="*/ 43 h 50"/>
                <a:gd name="T14" fmla="*/ 19 w 19"/>
                <a:gd name="T15" fmla="*/ 43 h 50"/>
                <a:gd name="T16" fmla="*/ 12 w 19"/>
                <a:gd name="T17" fmla="*/ 50 h 50"/>
                <a:gd name="T18" fmla="*/ 6 w 19"/>
                <a:gd name="T19" fmla="*/ 36 h 50"/>
                <a:gd name="T20" fmla="*/ 0 w 19"/>
                <a:gd name="T21" fmla="*/ 21 h 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
                <a:gd name="T34" fmla="*/ 0 h 50"/>
                <a:gd name="T35" fmla="*/ 19 w 19"/>
                <a:gd name="T36" fmla="*/ 50 h 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 h="50">
                  <a:moveTo>
                    <a:pt x="0" y="21"/>
                  </a:moveTo>
                  <a:lnTo>
                    <a:pt x="6" y="21"/>
                  </a:lnTo>
                  <a:lnTo>
                    <a:pt x="6" y="0"/>
                  </a:lnTo>
                  <a:lnTo>
                    <a:pt x="12" y="0"/>
                  </a:lnTo>
                  <a:lnTo>
                    <a:pt x="19" y="14"/>
                  </a:lnTo>
                  <a:lnTo>
                    <a:pt x="12" y="29"/>
                  </a:lnTo>
                  <a:lnTo>
                    <a:pt x="12" y="43"/>
                  </a:lnTo>
                  <a:lnTo>
                    <a:pt x="19" y="43"/>
                  </a:lnTo>
                  <a:lnTo>
                    <a:pt x="12" y="50"/>
                  </a:lnTo>
                  <a:lnTo>
                    <a:pt x="6" y="36"/>
                  </a:lnTo>
                  <a:lnTo>
                    <a:pt x="0" y="21"/>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99" name="Freeform 153"/>
            <p:cNvSpPr>
              <a:spLocks/>
            </p:cNvSpPr>
            <p:nvPr/>
          </p:nvSpPr>
          <p:spPr bwMode="auto">
            <a:xfrm>
              <a:off x="5173" y="692"/>
              <a:ext cx="6" cy="29"/>
            </a:xfrm>
            <a:custGeom>
              <a:avLst/>
              <a:gdLst>
                <a:gd name="T0" fmla="*/ 6 w 6"/>
                <a:gd name="T1" fmla="*/ 29 h 29"/>
                <a:gd name="T2" fmla="*/ 0 w 6"/>
                <a:gd name="T3" fmla="*/ 22 h 29"/>
                <a:gd name="T4" fmla="*/ 0 w 6"/>
                <a:gd name="T5" fmla="*/ 22 h 29"/>
                <a:gd name="T6" fmla="*/ 0 w 6"/>
                <a:gd name="T7" fmla="*/ 0 h 29"/>
                <a:gd name="T8" fmla="*/ 6 w 6"/>
                <a:gd name="T9" fmla="*/ 0 h 29"/>
                <a:gd name="T10" fmla="*/ 6 w 6"/>
                <a:gd name="T11" fmla="*/ 0 h 29"/>
                <a:gd name="T12" fmla="*/ 6 w 6"/>
                <a:gd name="T13" fmla="*/ 22 h 29"/>
                <a:gd name="T14" fmla="*/ 6 w 6"/>
                <a:gd name="T15" fmla="*/ 29 h 29"/>
                <a:gd name="T16" fmla="*/ 6 w 6"/>
                <a:gd name="T17" fmla="*/ 29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
                <a:gd name="T28" fmla="*/ 0 h 29"/>
                <a:gd name="T29" fmla="*/ 6 w 6"/>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 h="29">
                  <a:moveTo>
                    <a:pt x="6" y="29"/>
                  </a:moveTo>
                  <a:lnTo>
                    <a:pt x="0" y="22"/>
                  </a:lnTo>
                  <a:lnTo>
                    <a:pt x="0" y="0"/>
                  </a:lnTo>
                  <a:lnTo>
                    <a:pt x="6" y="0"/>
                  </a:lnTo>
                  <a:lnTo>
                    <a:pt x="6" y="22"/>
                  </a:lnTo>
                  <a:lnTo>
                    <a:pt x="6" y="29"/>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100" name="Freeform 154"/>
            <p:cNvSpPr>
              <a:spLocks/>
            </p:cNvSpPr>
            <p:nvPr/>
          </p:nvSpPr>
          <p:spPr bwMode="auto">
            <a:xfrm>
              <a:off x="5173" y="692"/>
              <a:ext cx="6" cy="29"/>
            </a:xfrm>
            <a:custGeom>
              <a:avLst/>
              <a:gdLst>
                <a:gd name="T0" fmla="*/ 6 w 6"/>
                <a:gd name="T1" fmla="*/ 29 h 29"/>
                <a:gd name="T2" fmla="*/ 0 w 6"/>
                <a:gd name="T3" fmla="*/ 22 h 29"/>
                <a:gd name="T4" fmla="*/ 0 w 6"/>
                <a:gd name="T5" fmla="*/ 0 h 29"/>
                <a:gd name="T6" fmla="*/ 6 w 6"/>
                <a:gd name="T7" fmla="*/ 0 h 29"/>
                <a:gd name="T8" fmla="*/ 6 w 6"/>
                <a:gd name="T9" fmla="*/ 22 h 29"/>
                <a:gd name="T10" fmla="*/ 6 w 6"/>
                <a:gd name="T11" fmla="*/ 29 h 29"/>
                <a:gd name="T12" fmla="*/ 0 60000 65536"/>
                <a:gd name="T13" fmla="*/ 0 60000 65536"/>
                <a:gd name="T14" fmla="*/ 0 60000 65536"/>
                <a:gd name="T15" fmla="*/ 0 60000 65536"/>
                <a:gd name="T16" fmla="*/ 0 60000 65536"/>
                <a:gd name="T17" fmla="*/ 0 60000 65536"/>
                <a:gd name="T18" fmla="*/ 0 w 6"/>
                <a:gd name="T19" fmla="*/ 0 h 29"/>
                <a:gd name="T20" fmla="*/ 6 w 6"/>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6" h="29">
                  <a:moveTo>
                    <a:pt x="6" y="29"/>
                  </a:moveTo>
                  <a:lnTo>
                    <a:pt x="0" y="22"/>
                  </a:lnTo>
                  <a:lnTo>
                    <a:pt x="0" y="0"/>
                  </a:lnTo>
                  <a:lnTo>
                    <a:pt x="6" y="0"/>
                  </a:lnTo>
                  <a:lnTo>
                    <a:pt x="6" y="22"/>
                  </a:lnTo>
                  <a:lnTo>
                    <a:pt x="6" y="29"/>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101" name="Freeform 155"/>
            <p:cNvSpPr>
              <a:spLocks/>
            </p:cNvSpPr>
            <p:nvPr/>
          </p:nvSpPr>
          <p:spPr bwMode="auto">
            <a:xfrm>
              <a:off x="4646" y="1045"/>
              <a:ext cx="44" cy="123"/>
            </a:xfrm>
            <a:custGeom>
              <a:avLst/>
              <a:gdLst>
                <a:gd name="T0" fmla="*/ 0 w 44"/>
                <a:gd name="T1" fmla="*/ 108 h 123"/>
                <a:gd name="T2" fmla="*/ 0 w 44"/>
                <a:gd name="T3" fmla="*/ 87 h 123"/>
                <a:gd name="T4" fmla="*/ 0 w 44"/>
                <a:gd name="T5" fmla="*/ 80 h 123"/>
                <a:gd name="T6" fmla="*/ 6 w 44"/>
                <a:gd name="T7" fmla="*/ 65 h 123"/>
                <a:gd name="T8" fmla="*/ 6 w 44"/>
                <a:gd name="T9" fmla="*/ 44 h 123"/>
                <a:gd name="T10" fmla="*/ 6 w 44"/>
                <a:gd name="T11" fmla="*/ 36 h 123"/>
                <a:gd name="T12" fmla="*/ 19 w 44"/>
                <a:gd name="T13" fmla="*/ 29 h 123"/>
                <a:gd name="T14" fmla="*/ 19 w 44"/>
                <a:gd name="T15" fmla="*/ 29 h 123"/>
                <a:gd name="T16" fmla="*/ 25 w 44"/>
                <a:gd name="T17" fmla="*/ 22 h 123"/>
                <a:gd name="T18" fmla="*/ 31 w 44"/>
                <a:gd name="T19" fmla="*/ 15 h 123"/>
                <a:gd name="T20" fmla="*/ 38 w 44"/>
                <a:gd name="T21" fmla="*/ 7 h 123"/>
                <a:gd name="T22" fmla="*/ 44 w 44"/>
                <a:gd name="T23" fmla="*/ 0 h 123"/>
                <a:gd name="T24" fmla="*/ 44 w 44"/>
                <a:gd name="T25" fmla="*/ 15 h 123"/>
                <a:gd name="T26" fmla="*/ 44 w 44"/>
                <a:gd name="T27" fmla="*/ 29 h 123"/>
                <a:gd name="T28" fmla="*/ 44 w 44"/>
                <a:gd name="T29" fmla="*/ 36 h 123"/>
                <a:gd name="T30" fmla="*/ 44 w 44"/>
                <a:gd name="T31" fmla="*/ 51 h 123"/>
                <a:gd name="T32" fmla="*/ 38 w 44"/>
                <a:gd name="T33" fmla="*/ 72 h 123"/>
                <a:gd name="T34" fmla="*/ 31 w 44"/>
                <a:gd name="T35" fmla="*/ 94 h 123"/>
                <a:gd name="T36" fmla="*/ 25 w 44"/>
                <a:gd name="T37" fmla="*/ 116 h 123"/>
                <a:gd name="T38" fmla="*/ 12 w 44"/>
                <a:gd name="T39" fmla="*/ 123 h 123"/>
                <a:gd name="T40" fmla="*/ 6 w 44"/>
                <a:gd name="T41" fmla="*/ 116 h 123"/>
                <a:gd name="T42" fmla="*/ 0 w 44"/>
                <a:gd name="T43" fmla="*/ 108 h 123"/>
                <a:gd name="T44" fmla="*/ 0 w 44"/>
                <a:gd name="T45" fmla="*/ 108 h 123"/>
                <a:gd name="T46" fmla="*/ 0 w 44"/>
                <a:gd name="T47" fmla="*/ 108 h 12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4"/>
                <a:gd name="T73" fmla="*/ 0 h 123"/>
                <a:gd name="T74" fmla="*/ 44 w 44"/>
                <a:gd name="T75" fmla="*/ 123 h 12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4" h="123">
                  <a:moveTo>
                    <a:pt x="0" y="108"/>
                  </a:moveTo>
                  <a:lnTo>
                    <a:pt x="0" y="87"/>
                  </a:lnTo>
                  <a:lnTo>
                    <a:pt x="0" y="80"/>
                  </a:lnTo>
                  <a:lnTo>
                    <a:pt x="6" y="65"/>
                  </a:lnTo>
                  <a:lnTo>
                    <a:pt x="6" y="44"/>
                  </a:lnTo>
                  <a:lnTo>
                    <a:pt x="6" y="36"/>
                  </a:lnTo>
                  <a:lnTo>
                    <a:pt x="19" y="29"/>
                  </a:lnTo>
                  <a:lnTo>
                    <a:pt x="25" y="22"/>
                  </a:lnTo>
                  <a:lnTo>
                    <a:pt x="31" y="15"/>
                  </a:lnTo>
                  <a:lnTo>
                    <a:pt x="38" y="7"/>
                  </a:lnTo>
                  <a:lnTo>
                    <a:pt x="44" y="0"/>
                  </a:lnTo>
                  <a:lnTo>
                    <a:pt x="44" y="15"/>
                  </a:lnTo>
                  <a:lnTo>
                    <a:pt x="44" y="29"/>
                  </a:lnTo>
                  <a:lnTo>
                    <a:pt x="44" y="36"/>
                  </a:lnTo>
                  <a:lnTo>
                    <a:pt x="44" y="51"/>
                  </a:lnTo>
                  <a:lnTo>
                    <a:pt x="38" y="72"/>
                  </a:lnTo>
                  <a:lnTo>
                    <a:pt x="31" y="94"/>
                  </a:lnTo>
                  <a:lnTo>
                    <a:pt x="25" y="116"/>
                  </a:lnTo>
                  <a:lnTo>
                    <a:pt x="12" y="123"/>
                  </a:lnTo>
                  <a:lnTo>
                    <a:pt x="6" y="116"/>
                  </a:lnTo>
                  <a:lnTo>
                    <a:pt x="0" y="108"/>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102" name="Freeform 156"/>
            <p:cNvSpPr>
              <a:spLocks/>
            </p:cNvSpPr>
            <p:nvPr/>
          </p:nvSpPr>
          <p:spPr bwMode="auto">
            <a:xfrm>
              <a:off x="4646" y="1045"/>
              <a:ext cx="44" cy="123"/>
            </a:xfrm>
            <a:custGeom>
              <a:avLst/>
              <a:gdLst>
                <a:gd name="T0" fmla="*/ 0 w 44"/>
                <a:gd name="T1" fmla="*/ 108 h 123"/>
                <a:gd name="T2" fmla="*/ 0 w 44"/>
                <a:gd name="T3" fmla="*/ 87 h 123"/>
                <a:gd name="T4" fmla="*/ 0 w 44"/>
                <a:gd name="T5" fmla="*/ 80 h 123"/>
                <a:gd name="T6" fmla="*/ 6 w 44"/>
                <a:gd name="T7" fmla="*/ 65 h 123"/>
                <a:gd name="T8" fmla="*/ 6 w 44"/>
                <a:gd name="T9" fmla="*/ 44 h 123"/>
                <a:gd name="T10" fmla="*/ 6 w 44"/>
                <a:gd name="T11" fmla="*/ 36 h 123"/>
                <a:gd name="T12" fmla="*/ 19 w 44"/>
                <a:gd name="T13" fmla="*/ 29 h 123"/>
                <a:gd name="T14" fmla="*/ 25 w 44"/>
                <a:gd name="T15" fmla="*/ 22 h 123"/>
                <a:gd name="T16" fmla="*/ 31 w 44"/>
                <a:gd name="T17" fmla="*/ 15 h 123"/>
                <a:gd name="T18" fmla="*/ 38 w 44"/>
                <a:gd name="T19" fmla="*/ 7 h 123"/>
                <a:gd name="T20" fmla="*/ 44 w 44"/>
                <a:gd name="T21" fmla="*/ 0 h 123"/>
                <a:gd name="T22" fmla="*/ 44 w 44"/>
                <a:gd name="T23" fmla="*/ 15 h 123"/>
                <a:gd name="T24" fmla="*/ 44 w 44"/>
                <a:gd name="T25" fmla="*/ 29 h 123"/>
                <a:gd name="T26" fmla="*/ 44 w 44"/>
                <a:gd name="T27" fmla="*/ 36 h 123"/>
                <a:gd name="T28" fmla="*/ 44 w 44"/>
                <a:gd name="T29" fmla="*/ 51 h 123"/>
                <a:gd name="T30" fmla="*/ 38 w 44"/>
                <a:gd name="T31" fmla="*/ 72 h 123"/>
                <a:gd name="T32" fmla="*/ 31 w 44"/>
                <a:gd name="T33" fmla="*/ 94 h 123"/>
                <a:gd name="T34" fmla="*/ 25 w 44"/>
                <a:gd name="T35" fmla="*/ 116 h 123"/>
                <a:gd name="T36" fmla="*/ 12 w 44"/>
                <a:gd name="T37" fmla="*/ 123 h 123"/>
                <a:gd name="T38" fmla="*/ 6 w 44"/>
                <a:gd name="T39" fmla="*/ 116 h 123"/>
                <a:gd name="T40" fmla="*/ 0 w 44"/>
                <a:gd name="T41" fmla="*/ 108 h 12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4"/>
                <a:gd name="T64" fmla="*/ 0 h 123"/>
                <a:gd name="T65" fmla="*/ 44 w 44"/>
                <a:gd name="T66" fmla="*/ 123 h 12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4" h="123">
                  <a:moveTo>
                    <a:pt x="0" y="108"/>
                  </a:moveTo>
                  <a:lnTo>
                    <a:pt x="0" y="87"/>
                  </a:lnTo>
                  <a:lnTo>
                    <a:pt x="0" y="80"/>
                  </a:lnTo>
                  <a:lnTo>
                    <a:pt x="6" y="65"/>
                  </a:lnTo>
                  <a:lnTo>
                    <a:pt x="6" y="44"/>
                  </a:lnTo>
                  <a:lnTo>
                    <a:pt x="6" y="36"/>
                  </a:lnTo>
                  <a:lnTo>
                    <a:pt x="19" y="29"/>
                  </a:lnTo>
                  <a:lnTo>
                    <a:pt x="25" y="22"/>
                  </a:lnTo>
                  <a:lnTo>
                    <a:pt x="31" y="15"/>
                  </a:lnTo>
                  <a:lnTo>
                    <a:pt x="38" y="7"/>
                  </a:lnTo>
                  <a:lnTo>
                    <a:pt x="44" y="0"/>
                  </a:lnTo>
                  <a:lnTo>
                    <a:pt x="44" y="15"/>
                  </a:lnTo>
                  <a:lnTo>
                    <a:pt x="44" y="29"/>
                  </a:lnTo>
                  <a:lnTo>
                    <a:pt x="44" y="36"/>
                  </a:lnTo>
                  <a:lnTo>
                    <a:pt x="44" y="51"/>
                  </a:lnTo>
                  <a:lnTo>
                    <a:pt x="38" y="72"/>
                  </a:lnTo>
                  <a:lnTo>
                    <a:pt x="31" y="94"/>
                  </a:lnTo>
                  <a:lnTo>
                    <a:pt x="25" y="116"/>
                  </a:lnTo>
                  <a:lnTo>
                    <a:pt x="12" y="123"/>
                  </a:lnTo>
                  <a:lnTo>
                    <a:pt x="6" y="116"/>
                  </a:lnTo>
                  <a:lnTo>
                    <a:pt x="0" y="108"/>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103" name="Freeform 157"/>
            <p:cNvSpPr>
              <a:spLocks/>
            </p:cNvSpPr>
            <p:nvPr/>
          </p:nvSpPr>
          <p:spPr bwMode="auto">
            <a:xfrm>
              <a:off x="5103" y="858"/>
              <a:ext cx="76" cy="101"/>
            </a:xfrm>
            <a:custGeom>
              <a:avLst/>
              <a:gdLst>
                <a:gd name="T0" fmla="*/ 0 w 76"/>
                <a:gd name="T1" fmla="*/ 50 h 101"/>
                <a:gd name="T2" fmla="*/ 6 w 76"/>
                <a:gd name="T3" fmla="*/ 50 h 101"/>
                <a:gd name="T4" fmla="*/ 19 w 76"/>
                <a:gd name="T5" fmla="*/ 36 h 101"/>
                <a:gd name="T6" fmla="*/ 31 w 76"/>
                <a:gd name="T7" fmla="*/ 29 h 101"/>
                <a:gd name="T8" fmla="*/ 38 w 76"/>
                <a:gd name="T9" fmla="*/ 21 h 101"/>
                <a:gd name="T10" fmla="*/ 44 w 76"/>
                <a:gd name="T11" fmla="*/ 14 h 101"/>
                <a:gd name="T12" fmla="*/ 50 w 76"/>
                <a:gd name="T13" fmla="*/ 0 h 101"/>
                <a:gd name="T14" fmla="*/ 57 w 76"/>
                <a:gd name="T15" fmla="*/ 0 h 101"/>
                <a:gd name="T16" fmla="*/ 70 w 76"/>
                <a:gd name="T17" fmla="*/ 7 h 101"/>
                <a:gd name="T18" fmla="*/ 76 w 76"/>
                <a:gd name="T19" fmla="*/ 7 h 101"/>
                <a:gd name="T20" fmla="*/ 76 w 76"/>
                <a:gd name="T21" fmla="*/ 14 h 101"/>
                <a:gd name="T22" fmla="*/ 63 w 76"/>
                <a:gd name="T23" fmla="*/ 29 h 101"/>
                <a:gd name="T24" fmla="*/ 63 w 76"/>
                <a:gd name="T25" fmla="*/ 43 h 101"/>
                <a:gd name="T26" fmla="*/ 70 w 76"/>
                <a:gd name="T27" fmla="*/ 43 h 101"/>
                <a:gd name="T28" fmla="*/ 76 w 76"/>
                <a:gd name="T29" fmla="*/ 50 h 101"/>
                <a:gd name="T30" fmla="*/ 63 w 76"/>
                <a:gd name="T31" fmla="*/ 58 h 101"/>
                <a:gd name="T32" fmla="*/ 63 w 76"/>
                <a:gd name="T33" fmla="*/ 65 h 101"/>
                <a:gd name="T34" fmla="*/ 57 w 76"/>
                <a:gd name="T35" fmla="*/ 72 h 101"/>
                <a:gd name="T36" fmla="*/ 50 w 76"/>
                <a:gd name="T37" fmla="*/ 94 h 101"/>
                <a:gd name="T38" fmla="*/ 50 w 76"/>
                <a:gd name="T39" fmla="*/ 94 h 101"/>
                <a:gd name="T40" fmla="*/ 44 w 76"/>
                <a:gd name="T41" fmla="*/ 101 h 101"/>
                <a:gd name="T42" fmla="*/ 31 w 76"/>
                <a:gd name="T43" fmla="*/ 94 h 101"/>
                <a:gd name="T44" fmla="*/ 19 w 76"/>
                <a:gd name="T45" fmla="*/ 94 h 101"/>
                <a:gd name="T46" fmla="*/ 19 w 76"/>
                <a:gd name="T47" fmla="*/ 94 h 101"/>
                <a:gd name="T48" fmla="*/ 12 w 76"/>
                <a:gd name="T49" fmla="*/ 94 h 101"/>
                <a:gd name="T50" fmla="*/ 12 w 76"/>
                <a:gd name="T51" fmla="*/ 86 h 101"/>
                <a:gd name="T52" fmla="*/ 6 w 76"/>
                <a:gd name="T53" fmla="*/ 79 h 101"/>
                <a:gd name="T54" fmla="*/ 6 w 76"/>
                <a:gd name="T55" fmla="*/ 72 h 101"/>
                <a:gd name="T56" fmla="*/ 0 w 76"/>
                <a:gd name="T57" fmla="*/ 65 h 101"/>
                <a:gd name="T58" fmla="*/ 0 w 76"/>
                <a:gd name="T59" fmla="*/ 50 h 101"/>
                <a:gd name="T60" fmla="*/ 0 w 76"/>
                <a:gd name="T61" fmla="*/ 50 h 101"/>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76"/>
                <a:gd name="T94" fmla="*/ 0 h 101"/>
                <a:gd name="T95" fmla="*/ 76 w 76"/>
                <a:gd name="T96" fmla="*/ 101 h 101"/>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76" h="101">
                  <a:moveTo>
                    <a:pt x="0" y="50"/>
                  </a:moveTo>
                  <a:lnTo>
                    <a:pt x="6" y="50"/>
                  </a:lnTo>
                  <a:lnTo>
                    <a:pt x="19" y="36"/>
                  </a:lnTo>
                  <a:lnTo>
                    <a:pt x="31" y="29"/>
                  </a:lnTo>
                  <a:lnTo>
                    <a:pt x="38" y="21"/>
                  </a:lnTo>
                  <a:lnTo>
                    <a:pt x="44" y="14"/>
                  </a:lnTo>
                  <a:lnTo>
                    <a:pt x="50" y="0"/>
                  </a:lnTo>
                  <a:lnTo>
                    <a:pt x="57" y="0"/>
                  </a:lnTo>
                  <a:lnTo>
                    <a:pt x="70" y="7"/>
                  </a:lnTo>
                  <a:lnTo>
                    <a:pt x="76" y="7"/>
                  </a:lnTo>
                  <a:lnTo>
                    <a:pt x="76" y="14"/>
                  </a:lnTo>
                  <a:lnTo>
                    <a:pt x="63" y="29"/>
                  </a:lnTo>
                  <a:lnTo>
                    <a:pt x="63" y="43"/>
                  </a:lnTo>
                  <a:lnTo>
                    <a:pt x="70" y="43"/>
                  </a:lnTo>
                  <a:lnTo>
                    <a:pt x="76" y="50"/>
                  </a:lnTo>
                  <a:lnTo>
                    <a:pt x="63" y="58"/>
                  </a:lnTo>
                  <a:lnTo>
                    <a:pt x="63" y="65"/>
                  </a:lnTo>
                  <a:lnTo>
                    <a:pt x="57" y="72"/>
                  </a:lnTo>
                  <a:lnTo>
                    <a:pt x="50" y="94"/>
                  </a:lnTo>
                  <a:lnTo>
                    <a:pt x="44" y="101"/>
                  </a:lnTo>
                  <a:lnTo>
                    <a:pt x="31" y="94"/>
                  </a:lnTo>
                  <a:lnTo>
                    <a:pt x="19" y="94"/>
                  </a:lnTo>
                  <a:lnTo>
                    <a:pt x="12" y="94"/>
                  </a:lnTo>
                  <a:lnTo>
                    <a:pt x="12" y="86"/>
                  </a:lnTo>
                  <a:lnTo>
                    <a:pt x="6" y="79"/>
                  </a:lnTo>
                  <a:lnTo>
                    <a:pt x="6" y="72"/>
                  </a:lnTo>
                  <a:lnTo>
                    <a:pt x="0" y="65"/>
                  </a:lnTo>
                  <a:lnTo>
                    <a:pt x="0" y="5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104" name="Freeform 158"/>
            <p:cNvSpPr>
              <a:spLocks/>
            </p:cNvSpPr>
            <p:nvPr/>
          </p:nvSpPr>
          <p:spPr bwMode="auto">
            <a:xfrm>
              <a:off x="5103" y="858"/>
              <a:ext cx="76" cy="101"/>
            </a:xfrm>
            <a:custGeom>
              <a:avLst/>
              <a:gdLst>
                <a:gd name="T0" fmla="*/ 0 w 76"/>
                <a:gd name="T1" fmla="*/ 50 h 101"/>
                <a:gd name="T2" fmla="*/ 6 w 76"/>
                <a:gd name="T3" fmla="*/ 50 h 101"/>
                <a:gd name="T4" fmla="*/ 19 w 76"/>
                <a:gd name="T5" fmla="*/ 36 h 101"/>
                <a:gd name="T6" fmla="*/ 31 w 76"/>
                <a:gd name="T7" fmla="*/ 29 h 101"/>
                <a:gd name="T8" fmla="*/ 38 w 76"/>
                <a:gd name="T9" fmla="*/ 21 h 101"/>
                <a:gd name="T10" fmla="*/ 44 w 76"/>
                <a:gd name="T11" fmla="*/ 14 h 101"/>
                <a:gd name="T12" fmla="*/ 50 w 76"/>
                <a:gd name="T13" fmla="*/ 0 h 101"/>
                <a:gd name="T14" fmla="*/ 57 w 76"/>
                <a:gd name="T15" fmla="*/ 0 h 101"/>
                <a:gd name="T16" fmla="*/ 70 w 76"/>
                <a:gd name="T17" fmla="*/ 7 h 101"/>
                <a:gd name="T18" fmla="*/ 76 w 76"/>
                <a:gd name="T19" fmla="*/ 7 h 101"/>
                <a:gd name="T20" fmla="*/ 76 w 76"/>
                <a:gd name="T21" fmla="*/ 14 h 101"/>
                <a:gd name="T22" fmla="*/ 63 w 76"/>
                <a:gd name="T23" fmla="*/ 29 h 101"/>
                <a:gd name="T24" fmla="*/ 63 w 76"/>
                <a:gd name="T25" fmla="*/ 43 h 101"/>
                <a:gd name="T26" fmla="*/ 70 w 76"/>
                <a:gd name="T27" fmla="*/ 43 h 101"/>
                <a:gd name="T28" fmla="*/ 76 w 76"/>
                <a:gd name="T29" fmla="*/ 50 h 101"/>
                <a:gd name="T30" fmla="*/ 63 w 76"/>
                <a:gd name="T31" fmla="*/ 58 h 101"/>
                <a:gd name="T32" fmla="*/ 63 w 76"/>
                <a:gd name="T33" fmla="*/ 65 h 101"/>
                <a:gd name="T34" fmla="*/ 57 w 76"/>
                <a:gd name="T35" fmla="*/ 72 h 101"/>
                <a:gd name="T36" fmla="*/ 50 w 76"/>
                <a:gd name="T37" fmla="*/ 94 h 101"/>
                <a:gd name="T38" fmla="*/ 44 w 76"/>
                <a:gd name="T39" fmla="*/ 101 h 101"/>
                <a:gd name="T40" fmla="*/ 31 w 76"/>
                <a:gd name="T41" fmla="*/ 94 h 101"/>
                <a:gd name="T42" fmla="*/ 19 w 76"/>
                <a:gd name="T43" fmla="*/ 94 h 101"/>
                <a:gd name="T44" fmla="*/ 12 w 76"/>
                <a:gd name="T45" fmla="*/ 94 h 101"/>
                <a:gd name="T46" fmla="*/ 12 w 76"/>
                <a:gd name="T47" fmla="*/ 86 h 101"/>
                <a:gd name="T48" fmla="*/ 6 w 76"/>
                <a:gd name="T49" fmla="*/ 79 h 101"/>
                <a:gd name="T50" fmla="*/ 6 w 76"/>
                <a:gd name="T51" fmla="*/ 72 h 101"/>
                <a:gd name="T52" fmla="*/ 0 w 76"/>
                <a:gd name="T53" fmla="*/ 65 h 101"/>
                <a:gd name="T54" fmla="*/ 0 w 76"/>
                <a:gd name="T55" fmla="*/ 50 h 10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76"/>
                <a:gd name="T85" fmla="*/ 0 h 101"/>
                <a:gd name="T86" fmla="*/ 76 w 76"/>
                <a:gd name="T87" fmla="*/ 101 h 10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76" h="101">
                  <a:moveTo>
                    <a:pt x="0" y="50"/>
                  </a:moveTo>
                  <a:lnTo>
                    <a:pt x="6" y="50"/>
                  </a:lnTo>
                  <a:lnTo>
                    <a:pt x="19" y="36"/>
                  </a:lnTo>
                  <a:lnTo>
                    <a:pt x="31" y="29"/>
                  </a:lnTo>
                  <a:lnTo>
                    <a:pt x="38" y="21"/>
                  </a:lnTo>
                  <a:lnTo>
                    <a:pt x="44" y="14"/>
                  </a:lnTo>
                  <a:lnTo>
                    <a:pt x="50" y="0"/>
                  </a:lnTo>
                  <a:lnTo>
                    <a:pt x="57" y="0"/>
                  </a:lnTo>
                  <a:lnTo>
                    <a:pt x="70" y="7"/>
                  </a:lnTo>
                  <a:lnTo>
                    <a:pt x="76" y="7"/>
                  </a:lnTo>
                  <a:lnTo>
                    <a:pt x="76" y="14"/>
                  </a:lnTo>
                  <a:lnTo>
                    <a:pt x="63" y="29"/>
                  </a:lnTo>
                  <a:lnTo>
                    <a:pt x="63" y="43"/>
                  </a:lnTo>
                  <a:lnTo>
                    <a:pt x="70" y="43"/>
                  </a:lnTo>
                  <a:lnTo>
                    <a:pt x="76" y="50"/>
                  </a:lnTo>
                  <a:lnTo>
                    <a:pt x="63" y="58"/>
                  </a:lnTo>
                  <a:lnTo>
                    <a:pt x="63" y="65"/>
                  </a:lnTo>
                  <a:lnTo>
                    <a:pt x="57" y="72"/>
                  </a:lnTo>
                  <a:lnTo>
                    <a:pt x="50" y="94"/>
                  </a:lnTo>
                  <a:lnTo>
                    <a:pt x="44" y="101"/>
                  </a:lnTo>
                  <a:lnTo>
                    <a:pt x="31" y="94"/>
                  </a:lnTo>
                  <a:lnTo>
                    <a:pt x="19" y="94"/>
                  </a:lnTo>
                  <a:lnTo>
                    <a:pt x="12" y="94"/>
                  </a:lnTo>
                  <a:lnTo>
                    <a:pt x="12" y="86"/>
                  </a:lnTo>
                  <a:lnTo>
                    <a:pt x="6" y="79"/>
                  </a:lnTo>
                  <a:lnTo>
                    <a:pt x="6" y="72"/>
                  </a:lnTo>
                  <a:lnTo>
                    <a:pt x="0" y="65"/>
                  </a:lnTo>
                  <a:lnTo>
                    <a:pt x="0" y="5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105" name="Freeform 159"/>
            <p:cNvSpPr>
              <a:spLocks/>
            </p:cNvSpPr>
            <p:nvPr/>
          </p:nvSpPr>
          <p:spPr bwMode="auto">
            <a:xfrm>
              <a:off x="4893" y="836"/>
              <a:ext cx="19" cy="29"/>
            </a:xfrm>
            <a:custGeom>
              <a:avLst/>
              <a:gdLst>
                <a:gd name="T0" fmla="*/ 0 w 19"/>
                <a:gd name="T1" fmla="*/ 0 h 29"/>
                <a:gd name="T2" fmla="*/ 0 w 19"/>
                <a:gd name="T3" fmla="*/ 22 h 29"/>
                <a:gd name="T4" fmla="*/ 7 w 19"/>
                <a:gd name="T5" fmla="*/ 29 h 29"/>
                <a:gd name="T6" fmla="*/ 13 w 19"/>
                <a:gd name="T7" fmla="*/ 29 h 29"/>
                <a:gd name="T8" fmla="*/ 19 w 19"/>
                <a:gd name="T9" fmla="*/ 22 h 29"/>
                <a:gd name="T10" fmla="*/ 19 w 19"/>
                <a:gd name="T11" fmla="*/ 15 h 29"/>
                <a:gd name="T12" fmla="*/ 7 w 19"/>
                <a:gd name="T13" fmla="*/ 0 h 29"/>
                <a:gd name="T14" fmla="*/ 0 w 19"/>
                <a:gd name="T15" fmla="*/ 0 h 29"/>
                <a:gd name="T16" fmla="*/ 0 w 19"/>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
                <a:gd name="T28" fmla="*/ 0 h 29"/>
                <a:gd name="T29" fmla="*/ 19 w 19"/>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 h="29">
                  <a:moveTo>
                    <a:pt x="0" y="0"/>
                  </a:moveTo>
                  <a:lnTo>
                    <a:pt x="0" y="22"/>
                  </a:lnTo>
                  <a:lnTo>
                    <a:pt x="7" y="29"/>
                  </a:lnTo>
                  <a:lnTo>
                    <a:pt x="13" y="29"/>
                  </a:lnTo>
                  <a:lnTo>
                    <a:pt x="19" y="22"/>
                  </a:lnTo>
                  <a:lnTo>
                    <a:pt x="19" y="15"/>
                  </a:lnTo>
                  <a:lnTo>
                    <a:pt x="7" y="0"/>
                  </a:lnTo>
                  <a:lnTo>
                    <a:pt x="0"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106" name="Freeform 160"/>
            <p:cNvSpPr>
              <a:spLocks/>
            </p:cNvSpPr>
            <p:nvPr/>
          </p:nvSpPr>
          <p:spPr bwMode="auto">
            <a:xfrm>
              <a:off x="4893" y="836"/>
              <a:ext cx="19" cy="29"/>
            </a:xfrm>
            <a:custGeom>
              <a:avLst/>
              <a:gdLst>
                <a:gd name="T0" fmla="*/ 0 w 19"/>
                <a:gd name="T1" fmla="*/ 0 h 29"/>
                <a:gd name="T2" fmla="*/ 0 w 19"/>
                <a:gd name="T3" fmla="*/ 22 h 29"/>
                <a:gd name="T4" fmla="*/ 7 w 19"/>
                <a:gd name="T5" fmla="*/ 29 h 29"/>
                <a:gd name="T6" fmla="*/ 13 w 19"/>
                <a:gd name="T7" fmla="*/ 29 h 29"/>
                <a:gd name="T8" fmla="*/ 19 w 19"/>
                <a:gd name="T9" fmla="*/ 22 h 29"/>
                <a:gd name="T10" fmla="*/ 19 w 19"/>
                <a:gd name="T11" fmla="*/ 15 h 29"/>
                <a:gd name="T12" fmla="*/ 7 w 19"/>
                <a:gd name="T13" fmla="*/ 0 h 29"/>
                <a:gd name="T14" fmla="*/ 0 w 19"/>
                <a:gd name="T15" fmla="*/ 0 h 29"/>
                <a:gd name="T16" fmla="*/ 0 60000 65536"/>
                <a:gd name="T17" fmla="*/ 0 60000 65536"/>
                <a:gd name="T18" fmla="*/ 0 60000 65536"/>
                <a:gd name="T19" fmla="*/ 0 60000 65536"/>
                <a:gd name="T20" fmla="*/ 0 60000 65536"/>
                <a:gd name="T21" fmla="*/ 0 60000 65536"/>
                <a:gd name="T22" fmla="*/ 0 60000 65536"/>
                <a:gd name="T23" fmla="*/ 0 60000 65536"/>
                <a:gd name="T24" fmla="*/ 0 w 19"/>
                <a:gd name="T25" fmla="*/ 0 h 29"/>
                <a:gd name="T26" fmla="*/ 19 w 19"/>
                <a:gd name="T27" fmla="*/ 29 h 2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 h="29">
                  <a:moveTo>
                    <a:pt x="0" y="0"/>
                  </a:moveTo>
                  <a:lnTo>
                    <a:pt x="0" y="22"/>
                  </a:lnTo>
                  <a:lnTo>
                    <a:pt x="7" y="29"/>
                  </a:lnTo>
                  <a:lnTo>
                    <a:pt x="13" y="29"/>
                  </a:lnTo>
                  <a:lnTo>
                    <a:pt x="19" y="22"/>
                  </a:lnTo>
                  <a:lnTo>
                    <a:pt x="19" y="15"/>
                  </a:lnTo>
                  <a:lnTo>
                    <a:pt x="7" y="0"/>
                  </a:lnTo>
                  <a:lnTo>
                    <a:pt x="0"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107" name="Freeform 161"/>
            <p:cNvSpPr>
              <a:spLocks/>
            </p:cNvSpPr>
            <p:nvPr/>
          </p:nvSpPr>
          <p:spPr bwMode="auto">
            <a:xfrm>
              <a:off x="5414" y="966"/>
              <a:ext cx="6" cy="7"/>
            </a:xfrm>
            <a:custGeom>
              <a:avLst/>
              <a:gdLst>
                <a:gd name="T0" fmla="*/ 0 w 6"/>
                <a:gd name="T1" fmla="*/ 0 h 7"/>
                <a:gd name="T2" fmla="*/ 6 w 6"/>
                <a:gd name="T3" fmla="*/ 7 h 7"/>
                <a:gd name="T4" fmla="*/ 0 w 6"/>
                <a:gd name="T5" fmla="*/ 7 h 7"/>
                <a:gd name="T6" fmla="*/ 0 w 6"/>
                <a:gd name="T7" fmla="*/ 0 h 7"/>
                <a:gd name="T8" fmla="*/ 0 w 6"/>
                <a:gd name="T9" fmla="*/ 0 h 7"/>
                <a:gd name="T10" fmla="*/ 0 60000 65536"/>
                <a:gd name="T11" fmla="*/ 0 60000 65536"/>
                <a:gd name="T12" fmla="*/ 0 60000 65536"/>
                <a:gd name="T13" fmla="*/ 0 60000 65536"/>
                <a:gd name="T14" fmla="*/ 0 60000 65536"/>
                <a:gd name="T15" fmla="*/ 0 w 6"/>
                <a:gd name="T16" fmla="*/ 0 h 7"/>
                <a:gd name="T17" fmla="*/ 6 w 6"/>
                <a:gd name="T18" fmla="*/ 7 h 7"/>
              </a:gdLst>
              <a:ahLst/>
              <a:cxnLst>
                <a:cxn ang="T10">
                  <a:pos x="T0" y="T1"/>
                </a:cxn>
                <a:cxn ang="T11">
                  <a:pos x="T2" y="T3"/>
                </a:cxn>
                <a:cxn ang="T12">
                  <a:pos x="T4" y="T5"/>
                </a:cxn>
                <a:cxn ang="T13">
                  <a:pos x="T6" y="T7"/>
                </a:cxn>
                <a:cxn ang="T14">
                  <a:pos x="T8" y="T9"/>
                </a:cxn>
              </a:cxnLst>
              <a:rect l="T15" t="T16" r="T17" b="T18"/>
              <a:pathLst>
                <a:path w="6" h="7">
                  <a:moveTo>
                    <a:pt x="0" y="0"/>
                  </a:moveTo>
                  <a:lnTo>
                    <a:pt x="6" y="7"/>
                  </a:lnTo>
                  <a:lnTo>
                    <a:pt x="0" y="7"/>
                  </a:lnTo>
                  <a:lnTo>
                    <a:pt x="0"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108" name="Freeform 162"/>
            <p:cNvSpPr>
              <a:spLocks/>
            </p:cNvSpPr>
            <p:nvPr/>
          </p:nvSpPr>
          <p:spPr bwMode="auto">
            <a:xfrm>
              <a:off x="5414" y="966"/>
              <a:ext cx="6" cy="7"/>
            </a:xfrm>
            <a:custGeom>
              <a:avLst/>
              <a:gdLst>
                <a:gd name="T0" fmla="*/ 0 w 6"/>
                <a:gd name="T1" fmla="*/ 0 h 7"/>
                <a:gd name="T2" fmla="*/ 6 w 6"/>
                <a:gd name="T3" fmla="*/ 7 h 7"/>
                <a:gd name="T4" fmla="*/ 0 w 6"/>
                <a:gd name="T5" fmla="*/ 7 h 7"/>
                <a:gd name="T6" fmla="*/ 0 w 6"/>
                <a:gd name="T7" fmla="*/ 0 h 7"/>
                <a:gd name="T8" fmla="*/ 0 60000 65536"/>
                <a:gd name="T9" fmla="*/ 0 60000 65536"/>
                <a:gd name="T10" fmla="*/ 0 60000 65536"/>
                <a:gd name="T11" fmla="*/ 0 60000 65536"/>
                <a:gd name="T12" fmla="*/ 0 w 6"/>
                <a:gd name="T13" fmla="*/ 0 h 7"/>
                <a:gd name="T14" fmla="*/ 6 w 6"/>
                <a:gd name="T15" fmla="*/ 7 h 7"/>
              </a:gdLst>
              <a:ahLst/>
              <a:cxnLst>
                <a:cxn ang="T8">
                  <a:pos x="T0" y="T1"/>
                </a:cxn>
                <a:cxn ang="T9">
                  <a:pos x="T2" y="T3"/>
                </a:cxn>
                <a:cxn ang="T10">
                  <a:pos x="T4" y="T5"/>
                </a:cxn>
                <a:cxn ang="T11">
                  <a:pos x="T6" y="T7"/>
                </a:cxn>
              </a:cxnLst>
              <a:rect l="T12" t="T13" r="T14" b="T15"/>
              <a:pathLst>
                <a:path w="6" h="7">
                  <a:moveTo>
                    <a:pt x="0" y="0"/>
                  </a:moveTo>
                  <a:lnTo>
                    <a:pt x="6" y="7"/>
                  </a:lnTo>
                  <a:lnTo>
                    <a:pt x="0" y="7"/>
                  </a:lnTo>
                  <a:lnTo>
                    <a:pt x="0"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109" name="Freeform 163"/>
            <p:cNvSpPr>
              <a:spLocks/>
            </p:cNvSpPr>
            <p:nvPr/>
          </p:nvSpPr>
          <p:spPr bwMode="auto">
            <a:xfrm>
              <a:off x="5185" y="995"/>
              <a:ext cx="7" cy="7"/>
            </a:xfrm>
            <a:custGeom>
              <a:avLst/>
              <a:gdLst>
                <a:gd name="T0" fmla="*/ 0 w 7"/>
                <a:gd name="T1" fmla="*/ 0 h 7"/>
                <a:gd name="T2" fmla="*/ 7 w 7"/>
                <a:gd name="T3" fmla="*/ 7 h 7"/>
                <a:gd name="T4" fmla="*/ 0 w 7"/>
                <a:gd name="T5" fmla="*/ 7 h 7"/>
                <a:gd name="T6" fmla="*/ 0 w 7"/>
                <a:gd name="T7" fmla="*/ 7 h 7"/>
                <a:gd name="T8" fmla="*/ 0 w 7"/>
                <a:gd name="T9" fmla="*/ 0 h 7"/>
                <a:gd name="T10" fmla="*/ 0 w 7"/>
                <a:gd name="T11" fmla="*/ 0 h 7"/>
                <a:gd name="T12" fmla="*/ 0 60000 65536"/>
                <a:gd name="T13" fmla="*/ 0 60000 65536"/>
                <a:gd name="T14" fmla="*/ 0 60000 65536"/>
                <a:gd name="T15" fmla="*/ 0 60000 65536"/>
                <a:gd name="T16" fmla="*/ 0 60000 65536"/>
                <a:gd name="T17" fmla="*/ 0 60000 65536"/>
                <a:gd name="T18" fmla="*/ 0 w 7"/>
                <a:gd name="T19" fmla="*/ 0 h 7"/>
                <a:gd name="T20" fmla="*/ 7 w 7"/>
                <a:gd name="T21" fmla="*/ 7 h 7"/>
              </a:gdLst>
              <a:ahLst/>
              <a:cxnLst>
                <a:cxn ang="T12">
                  <a:pos x="T0" y="T1"/>
                </a:cxn>
                <a:cxn ang="T13">
                  <a:pos x="T2" y="T3"/>
                </a:cxn>
                <a:cxn ang="T14">
                  <a:pos x="T4" y="T5"/>
                </a:cxn>
                <a:cxn ang="T15">
                  <a:pos x="T6" y="T7"/>
                </a:cxn>
                <a:cxn ang="T16">
                  <a:pos x="T8" y="T9"/>
                </a:cxn>
                <a:cxn ang="T17">
                  <a:pos x="T10" y="T11"/>
                </a:cxn>
              </a:cxnLst>
              <a:rect l="T18" t="T19" r="T20" b="T21"/>
              <a:pathLst>
                <a:path w="7" h="7">
                  <a:moveTo>
                    <a:pt x="0" y="0"/>
                  </a:moveTo>
                  <a:lnTo>
                    <a:pt x="7" y="7"/>
                  </a:lnTo>
                  <a:lnTo>
                    <a:pt x="0" y="7"/>
                  </a:lnTo>
                  <a:lnTo>
                    <a:pt x="0"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110" name="Freeform 164"/>
            <p:cNvSpPr>
              <a:spLocks/>
            </p:cNvSpPr>
            <p:nvPr/>
          </p:nvSpPr>
          <p:spPr bwMode="auto">
            <a:xfrm>
              <a:off x="5185" y="995"/>
              <a:ext cx="7" cy="7"/>
            </a:xfrm>
            <a:custGeom>
              <a:avLst/>
              <a:gdLst>
                <a:gd name="T0" fmla="*/ 0 w 7"/>
                <a:gd name="T1" fmla="*/ 0 h 7"/>
                <a:gd name="T2" fmla="*/ 7 w 7"/>
                <a:gd name="T3" fmla="*/ 7 h 7"/>
                <a:gd name="T4" fmla="*/ 0 w 7"/>
                <a:gd name="T5" fmla="*/ 7 h 7"/>
                <a:gd name="T6" fmla="*/ 0 w 7"/>
                <a:gd name="T7" fmla="*/ 0 h 7"/>
                <a:gd name="T8" fmla="*/ 0 60000 65536"/>
                <a:gd name="T9" fmla="*/ 0 60000 65536"/>
                <a:gd name="T10" fmla="*/ 0 60000 65536"/>
                <a:gd name="T11" fmla="*/ 0 60000 65536"/>
                <a:gd name="T12" fmla="*/ 0 w 7"/>
                <a:gd name="T13" fmla="*/ 0 h 7"/>
                <a:gd name="T14" fmla="*/ 7 w 7"/>
                <a:gd name="T15" fmla="*/ 7 h 7"/>
              </a:gdLst>
              <a:ahLst/>
              <a:cxnLst>
                <a:cxn ang="T8">
                  <a:pos x="T0" y="T1"/>
                </a:cxn>
                <a:cxn ang="T9">
                  <a:pos x="T2" y="T3"/>
                </a:cxn>
                <a:cxn ang="T10">
                  <a:pos x="T4" y="T5"/>
                </a:cxn>
                <a:cxn ang="T11">
                  <a:pos x="T6" y="T7"/>
                </a:cxn>
              </a:cxnLst>
              <a:rect l="T12" t="T13" r="T14" b="T15"/>
              <a:pathLst>
                <a:path w="7" h="7">
                  <a:moveTo>
                    <a:pt x="0" y="0"/>
                  </a:moveTo>
                  <a:lnTo>
                    <a:pt x="7" y="7"/>
                  </a:lnTo>
                  <a:lnTo>
                    <a:pt x="0" y="7"/>
                  </a:lnTo>
                  <a:lnTo>
                    <a:pt x="0"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111" name="Freeform 165"/>
            <p:cNvSpPr>
              <a:spLocks/>
            </p:cNvSpPr>
            <p:nvPr/>
          </p:nvSpPr>
          <p:spPr bwMode="auto">
            <a:xfrm>
              <a:off x="5173" y="1009"/>
              <a:ext cx="12" cy="1"/>
            </a:xfrm>
            <a:custGeom>
              <a:avLst/>
              <a:gdLst>
                <a:gd name="T0" fmla="*/ 0 w 12"/>
                <a:gd name="T1" fmla="*/ 0 h 1"/>
                <a:gd name="T2" fmla="*/ 12 w 12"/>
                <a:gd name="T3" fmla="*/ 0 h 1"/>
                <a:gd name="T4" fmla="*/ 0 w 12"/>
                <a:gd name="T5" fmla="*/ 0 h 1"/>
                <a:gd name="T6" fmla="*/ 0 60000 65536"/>
                <a:gd name="T7" fmla="*/ 0 60000 65536"/>
                <a:gd name="T8" fmla="*/ 0 60000 65536"/>
                <a:gd name="T9" fmla="*/ 0 w 12"/>
                <a:gd name="T10" fmla="*/ 0 h 1"/>
                <a:gd name="T11" fmla="*/ 12 w 12"/>
                <a:gd name="T12" fmla="*/ 1 h 1"/>
              </a:gdLst>
              <a:ahLst/>
              <a:cxnLst>
                <a:cxn ang="T6">
                  <a:pos x="T0" y="T1"/>
                </a:cxn>
                <a:cxn ang="T7">
                  <a:pos x="T2" y="T3"/>
                </a:cxn>
                <a:cxn ang="T8">
                  <a:pos x="T4" y="T5"/>
                </a:cxn>
              </a:cxnLst>
              <a:rect l="T9" t="T10" r="T11" b="T12"/>
              <a:pathLst>
                <a:path w="12" h="1">
                  <a:moveTo>
                    <a:pt x="0" y="0"/>
                  </a:moveTo>
                  <a:lnTo>
                    <a:pt x="12" y="0"/>
                  </a:lnTo>
                  <a:lnTo>
                    <a:pt x="0" y="0"/>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112" name="Freeform 166"/>
            <p:cNvSpPr>
              <a:spLocks/>
            </p:cNvSpPr>
            <p:nvPr/>
          </p:nvSpPr>
          <p:spPr bwMode="auto">
            <a:xfrm>
              <a:off x="5452" y="1298"/>
              <a:ext cx="63" cy="64"/>
            </a:xfrm>
            <a:custGeom>
              <a:avLst/>
              <a:gdLst>
                <a:gd name="T0" fmla="*/ 6 w 63"/>
                <a:gd name="T1" fmla="*/ 43 h 64"/>
                <a:gd name="T2" fmla="*/ 12 w 63"/>
                <a:gd name="T3" fmla="*/ 43 h 64"/>
                <a:gd name="T4" fmla="*/ 12 w 63"/>
                <a:gd name="T5" fmla="*/ 36 h 64"/>
                <a:gd name="T6" fmla="*/ 19 w 63"/>
                <a:gd name="T7" fmla="*/ 36 h 64"/>
                <a:gd name="T8" fmla="*/ 25 w 63"/>
                <a:gd name="T9" fmla="*/ 36 h 64"/>
                <a:gd name="T10" fmla="*/ 25 w 63"/>
                <a:gd name="T11" fmla="*/ 28 h 64"/>
                <a:gd name="T12" fmla="*/ 44 w 63"/>
                <a:gd name="T13" fmla="*/ 7 h 64"/>
                <a:gd name="T14" fmla="*/ 51 w 63"/>
                <a:gd name="T15" fmla="*/ 0 h 64"/>
                <a:gd name="T16" fmla="*/ 63 w 63"/>
                <a:gd name="T17" fmla="*/ 7 h 64"/>
                <a:gd name="T18" fmla="*/ 63 w 63"/>
                <a:gd name="T19" fmla="*/ 7 h 64"/>
                <a:gd name="T20" fmla="*/ 63 w 63"/>
                <a:gd name="T21" fmla="*/ 14 h 64"/>
                <a:gd name="T22" fmla="*/ 51 w 63"/>
                <a:gd name="T23" fmla="*/ 28 h 64"/>
                <a:gd name="T24" fmla="*/ 44 w 63"/>
                <a:gd name="T25" fmla="*/ 36 h 64"/>
                <a:gd name="T26" fmla="*/ 38 w 63"/>
                <a:gd name="T27" fmla="*/ 36 h 64"/>
                <a:gd name="T28" fmla="*/ 25 w 63"/>
                <a:gd name="T29" fmla="*/ 50 h 64"/>
                <a:gd name="T30" fmla="*/ 19 w 63"/>
                <a:gd name="T31" fmla="*/ 57 h 64"/>
                <a:gd name="T32" fmla="*/ 12 w 63"/>
                <a:gd name="T33" fmla="*/ 64 h 64"/>
                <a:gd name="T34" fmla="*/ 6 w 63"/>
                <a:gd name="T35" fmla="*/ 64 h 64"/>
                <a:gd name="T36" fmla="*/ 0 w 63"/>
                <a:gd name="T37" fmla="*/ 57 h 64"/>
                <a:gd name="T38" fmla="*/ 0 w 63"/>
                <a:gd name="T39" fmla="*/ 57 h 64"/>
                <a:gd name="T40" fmla="*/ 0 w 63"/>
                <a:gd name="T41" fmla="*/ 50 h 64"/>
                <a:gd name="T42" fmla="*/ 6 w 63"/>
                <a:gd name="T43" fmla="*/ 43 h 64"/>
                <a:gd name="T44" fmla="*/ 6 w 63"/>
                <a:gd name="T45" fmla="*/ 43 h 6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63"/>
                <a:gd name="T70" fmla="*/ 0 h 64"/>
                <a:gd name="T71" fmla="*/ 63 w 63"/>
                <a:gd name="T72" fmla="*/ 64 h 6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63" h="64">
                  <a:moveTo>
                    <a:pt x="6" y="43"/>
                  </a:moveTo>
                  <a:lnTo>
                    <a:pt x="12" y="43"/>
                  </a:lnTo>
                  <a:lnTo>
                    <a:pt x="12" y="36"/>
                  </a:lnTo>
                  <a:lnTo>
                    <a:pt x="19" y="36"/>
                  </a:lnTo>
                  <a:lnTo>
                    <a:pt x="25" y="36"/>
                  </a:lnTo>
                  <a:lnTo>
                    <a:pt x="25" y="28"/>
                  </a:lnTo>
                  <a:lnTo>
                    <a:pt x="44" y="7"/>
                  </a:lnTo>
                  <a:lnTo>
                    <a:pt x="51" y="0"/>
                  </a:lnTo>
                  <a:lnTo>
                    <a:pt x="63" y="7"/>
                  </a:lnTo>
                  <a:lnTo>
                    <a:pt x="63" y="14"/>
                  </a:lnTo>
                  <a:lnTo>
                    <a:pt x="51" y="28"/>
                  </a:lnTo>
                  <a:lnTo>
                    <a:pt x="44" y="36"/>
                  </a:lnTo>
                  <a:lnTo>
                    <a:pt x="38" y="36"/>
                  </a:lnTo>
                  <a:lnTo>
                    <a:pt x="25" y="50"/>
                  </a:lnTo>
                  <a:lnTo>
                    <a:pt x="19" y="57"/>
                  </a:lnTo>
                  <a:lnTo>
                    <a:pt x="12" y="64"/>
                  </a:lnTo>
                  <a:lnTo>
                    <a:pt x="6" y="64"/>
                  </a:lnTo>
                  <a:lnTo>
                    <a:pt x="0" y="57"/>
                  </a:lnTo>
                  <a:lnTo>
                    <a:pt x="0" y="50"/>
                  </a:lnTo>
                  <a:lnTo>
                    <a:pt x="6" y="43"/>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113" name="Freeform 167"/>
            <p:cNvSpPr>
              <a:spLocks/>
            </p:cNvSpPr>
            <p:nvPr/>
          </p:nvSpPr>
          <p:spPr bwMode="auto">
            <a:xfrm>
              <a:off x="5452" y="1298"/>
              <a:ext cx="63" cy="64"/>
            </a:xfrm>
            <a:custGeom>
              <a:avLst/>
              <a:gdLst>
                <a:gd name="T0" fmla="*/ 6 w 63"/>
                <a:gd name="T1" fmla="*/ 43 h 64"/>
                <a:gd name="T2" fmla="*/ 12 w 63"/>
                <a:gd name="T3" fmla="*/ 43 h 64"/>
                <a:gd name="T4" fmla="*/ 12 w 63"/>
                <a:gd name="T5" fmla="*/ 36 h 64"/>
                <a:gd name="T6" fmla="*/ 19 w 63"/>
                <a:gd name="T7" fmla="*/ 36 h 64"/>
                <a:gd name="T8" fmla="*/ 25 w 63"/>
                <a:gd name="T9" fmla="*/ 36 h 64"/>
                <a:gd name="T10" fmla="*/ 25 w 63"/>
                <a:gd name="T11" fmla="*/ 28 h 64"/>
                <a:gd name="T12" fmla="*/ 44 w 63"/>
                <a:gd name="T13" fmla="*/ 7 h 64"/>
                <a:gd name="T14" fmla="*/ 51 w 63"/>
                <a:gd name="T15" fmla="*/ 0 h 64"/>
                <a:gd name="T16" fmla="*/ 63 w 63"/>
                <a:gd name="T17" fmla="*/ 7 h 64"/>
                <a:gd name="T18" fmla="*/ 63 w 63"/>
                <a:gd name="T19" fmla="*/ 14 h 64"/>
                <a:gd name="T20" fmla="*/ 51 w 63"/>
                <a:gd name="T21" fmla="*/ 28 h 64"/>
                <a:gd name="T22" fmla="*/ 44 w 63"/>
                <a:gd name="T23" fmla="*/ 36 h 64"/>
                <a:gd name="T24" fmla="*/ 38 w 63"/>
                <a:gd name="T25" fmla="*/ 36 h 64"/>
                <a:gd name="T26" fmla="*/ 25 w 63"/>
                <a:gd name="T27" fmla="*/ 50 h 64"/>
                <a:gd name="T28" fmla="*/ 19 w 63"/>
                <a:gd name="T29" fmla="*/ 57 h 64"/>
                <a:gd name="T30" fmla="*/ 12 w 63"/>
                <a:gd name="T31" fmla="*/ 64 h 64"/>
                <a:gd name="T32" fmla="*/ 6 w 63"/>
                <a:gd name="T33" fmla="*/ 64 h 64"/>
                <a:gd name="T34" fmla="*/ 0 w 63"/>
                <a:gd name="T35" fmla="*/ 57 h 64"/>
                <a:gd name="T36" fmla="*/ 0 w 63"/>
                <a:gd name="T37" fmla="*/ 50 h 64"/>
                <a:gd name="T38" fmla="*/ 6 w 63"/>
                <a:gd name="T39" fmla="*/ 43 h 6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63"/>
                <a:gd name="T61" fmla="*/ 0 h 64"/>
                <a:gd name="T62" fmla="*/ 63 w 63"/>
                <a:gd name="T63" fmla="*/ 64 h 6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63" h="64">
                  <a:moveTo>
                    <a:pt x="6" y="43"/>
                  </a:moveTo>
                  <a:lnTo>
                    <a:pt x="12" y="43"/>
                  </a:lnTo>
                  <a:lnTo>
                    <a:pt x="12" y="36"/>
                  </a:lnTo>
                  <a:lnTo>
                    <a:pt x="19" y="36"/>
                  </a:lnTo>
                  <a:lnTo>
                    <a:pt x="25" y="36"/>
                  </a:lnTo>
                  <a:lnTo>
                    <a:pt x="25" y="28"/>
                  </a:lnTo>
                  <a:lnTo>
                    <a:pt x="44" y="7"/>
                  </a:lnTo>
                  <a:lnTo>
                    <a:pt x="51" y="0"/>
                  </a:lnTo>
                  <a:lnTo>
                    <a:pt x="63" y="7"/>
                  </a:lnTo>
                  <a:lnTo>
                    <a:pt x="63" y="14"/>
                  </a:lnTo>
                  <a:lnTo>
                    <a:pt x="51" y="28"/>
                  </a:lnTo>
                  <a:lnTo>
                    <a:pt x="44" y="36"/>
                  </a:lnTo>
                  <a:lnTo>
                    <a:pt x="38" y="36"/>
                  </a:lnTo>
                  <a:lnTo>
                    <a:pt x="25" y="50"/>
                  </a:lnTo>
                  <a:lnTo>
                    <a:pt x="19" y="57"/>
                  </a:lnTo>
                  <a:lnTo>
                    <a:pt x="12" y="64"/>
                  </a:lnTo>
                  <a:lnTo>
                    <a:pt x="6" y="64"/>
                  </a:lnTo>
                  <a:lnTo>
                    <a:pt x="0" y="57"/>
                  </a:lnTo>
                  <a:lnTo>
                    <a:pt x="0" y="50"/>
                  </a:lnTo>
                  <a:lnTo>
                    <a:pt x="6" y="43"/>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114" name="Freeform 168"/>
            <p:cNvSpPr>
              <a:spLocks/>
            </p:cNvSpPr>
            <p:nvPr/>
          </p:nvSpPr>
          <p:spPr bwMode="auto">
            <a:xfrm>
              <a:off x="5122" y="1024"/>
              <a:ext cx="273" cy="259"/>
            </a:xfrm>
            <a:custGeom>
              <a:avLst/>
              <a:gdLst>
                <a:gd name="T0" fmla="*/ 266 w 273"/>
                <a:gd name="T1" fmla="*/ 180 h 259"/>
                <a:gd name="T2" fmla="*/ 273 w 273"/>
                <a:gd name="T3" fmla="*/ 151 h 259"/>
                <a:gd name="T4" fmla="*/ 260 w 273"/>
                <a:gd name="T5" fmla="*/ 101 h 259"/>
                <a:gd name="T6" fmla="*/ 247 w 273"/>
                <a:gd name="T7" fmla="*/ 86 h 259"/>
                <a:gd name="T8" fmla="*/ 228 w 273"/>
                <a:gd name="T9" fmla="*/ 57 h 259"/>
                <a:gd name="T10" fmla="*/ 228 w 273"/>
                <a:gd name="T11" fmla="*/ 36 h 259"/>
                <a:gd name="T12" fmla="*/ 216 w 273"/>
                <a:gd name="T13" fmla="*/ 28 h 259"/>
                <a:gd name="T14" fmla="*/ 209 w 273"/>
                <a:gd name="T15" fmla="*/ 7 h 259"/>
                <a:gd name="T16" fmla="*/ 203 w 273"/>
                <a:gd name="T17" fmla="*/ 36 h 259"/>
                <a:gd name="T18" fmla="*/ 171 w 273"/>
                <a:gd name="T19" fmla="*/ 43 h 259"/>
                <a:gd name="T20" fmla="*/ 158 w 273"/>
                <a:gd name="T21" fmla="*/ 28 h 259"/>
                <a:gd name="T22" fmla="*/ 165 w 273"/>
                <a:gd name="T23" fmla="*/ 7 h 259"/>
                <a:gd name="T24" fmla="*/ 146 w 273"/>
                <a:gd name="T25" fmla="*/ 0 h 259"/>
                <a:gd name="T26" fmla="*/ 127 w 273"/>
                <a:gd name="T27" fmla="*/ 14 h 259"/>
                <a:gd name="T28" fmla="*/ 127 w 273"/>
                <a:gd name="T29" fmla="*/ 36 h 259"/>
                <a:gd name="T30" fmla="*/ 114 w 273"/>
                <a:gd name="T31" fmla="*/ 36 h 259"/>
                <a:gd name="T32" fmla="*/ 108 w 273"/>
                <a:gd name="T33" fmla="*/ 28 h 259"/>
                <a:gd name="T34" fmla="*/ 95 w 273"/>
                <a:gd name="T35" fmla="*/ 28 h 259"/>
                <a:gd name="T36" fmla="*/ 82 w 273"/>
                <a:gd name="T37" fmla="*/ 50 h 259"/>
                <a:gd name="T38" fmla="*/ 70 w 273"/>
                <a:gd name="T39" fmla="*/ 57 h 259"/>
                <a:gd name="T40" fmla="*/ 63 w 273"/>
                <a:gd name="T41" fmla="*/ 79 h 259"/>
                <a:gd name="T42" fmla="*/ 19 w 273"/>
                <a:gd name="T43" fmla="*/ 101 h 259"/>
                <a:gd name="T44" fmla="*/ 6 w 273"/>
                <a:gd name="T45" fmla="*/ 101 h 259"/>
                <a:gd name="T46" fmla="*/ 0 w 273"/>
                <a:gd name="T47" fmla="*/ 144 h 259"/>
                <a:gd name="T48" fmla="*/ 6 w 273"/>
                <a:gd name="T49" fmla="*/ 165 h 259"/>
                <a:gd name="T50" fmla="*/ 6 w 273"/>
                <a:gd name="T51" fmla="*/ 216 h 259"/>
                <a:gd name="T52" fmla="*/ 25 w 273"/>
                <a:gd name="T53" fmla="*/ 223 h 259"/>
                <a:gd name="T54" fmla="*/ 38 w 273"/>
                <a:gd name="T55" fmla="*/ 216 h 259"/>
                <a:gd name="T56" fmla="*/ 95 w 273"/>
                <a:gd name="T57" fmla="*/ 194 h 259"/>
                <a:gd name="T58" fmla="*/ 139 w 273"/>
                <a:gd name="T59" fmla="*/ 201 h 259"/>
                <a:gd name="T60" fmla="*/ 146 w 273"/>
                <a:gd name="T61" fmla="*/ 223 h 259"/>
                <a:gd name="T62" fmla="*/ 152 w 273"/>
                <a:gd name="T63" fmla="*/ 216 h 259"/>
                <a:gd name="T64" fmla="*/ 158 w 273"/>
                <a:gd name="T65" fmla="*/ 216 h 259"/>
                <a:gd name="T66" fmla="*/ 158 w 273"/>
                <a:gd name="T67" fmla="*/ 223 h 259"/>
                <a:gd name="T68" fmla="*/ 165 w 273"/>
                <a:gd name="T69" fmla="*/ 238 h 259"/>
                <a:gd name="T70" fmla="*/ 171 w 273"/>
                <a:gd name="T71" fmla="*/ 252 h 259"/>
                <a:gd name="T72" fmla="*/ 184 w 273"/>
                <a:gd name="T73" fmla="*/ 259 h 259"/>
                <a:gd name="T74" fmla="*/ 197 w 273"/>
                <a:gd name="T75" fmla="*/ 252 h 259"/>
                <a:gd name="T76" fmla="*/ 216 w 273"/>
                <a:gd name="T77" fmla="*/ 252 h 259"/>
                <a:gd name="T78" fmla="*/ 228 w 273"/>
                <a:gd name="T79" fmla="*/ 245 h 259"/>
                <a:gd name="T80" fmla="*/ 241 w 273"/>
                <a:gd name="T81" fmla="*/ 216 h 259"/>
                <a:gd name="T82" fmla="*/ 266 w 273"/>
                <a:gd name="T83" fmla="*/ 194 h 25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73"/>
                <a:gd name="T127" fmla="*/ 0 h 259"/>
                <a:gd name="T128" fmla="*/ 273 w 273"/>
                <a:gd name="T129" fmla="*/ 259 h 25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73" h="259">
                  <a:moveTo>
                    <a:pt x="266" y="194"/>
                  </a:moveTo>
                  <a:lnTo>
                    <a:pt x="266" y="180"/>
                  </a:lnTo>
                  <a:lnTo>
                    <a:pt x="266" y="173"/>
                  </a:lnTo>
                  <a:lnTo>
                    <a:pt x="273" y="151"/>
                  </a:lnTo>
                  <a:lnTo>
                    <a:pt x="260" y="108"/>
                  </a:lnTo>
                  <a:lnTo>
                    <a:pt x="260" y="101"/>
                  </a:lnTo>
                  <a:lnTo>
                    <a:pt x="247" y="101"/>
                  </a:lnTo>
                  <a:lnTo>
                    <a:pt x="247" y="86"/>
                  </a:lnTo>
                  <a:lnTo>
                    <a:pt x="235" y="65"/>
                  </a:lnTo>
                  <a:lnTo>
                    <a:pt x="228" y="57"/>
                  </a:lnTo>
                  <a:lnTo>
                    <a:pt x="228" y="50"/>
                  </a:lnTo>
                  <a:lnTo>
                    <a:pt x="228" y="36"/>
                  </a:lnTo>
                  <a:lnTo>
                    <a:pt x="222" y="28"/>
                  </a:lnTo>
                  <a:lnTo>
                    <a:pt x="216" y="28"/>
                  </a:lnTo>
                  <a:lnTo>
                    <a:pt x="209" y="0"/>
                  </a:lnTo>
                  <a:lnTo>
                    <a:pt x="209" y="7"/>
                  </a:lnTo>
                  <a:lnTo>
                    <a:pt x="203" y="21"/>
                  </a:lnTo>
                  <a:lnTo>
                    <a:pt x="203" y="36"/>
                  </a:lnTo>
                  <a:lnTo>
                    <a:pt x="190" y="65"/>
                  </a:lnTo>
                  <a:lnTo>
                    <a:pt x="171" y="43"/>
                  </a:lnTo>
                  <a:lnTo>
                    <a:pt x="158" y="36"/>
                  </a:lnTo>
                  <a:lnTo>
                    <a:pt x="158" y="28"/>
                  </a:lnTo>
                  <a:lnTo>
                    <a:pt x="165" y="14"/>
                  </a:lnTo>
                  <a:lnTo>
                    <a:pt x="165" y="7"/>
                  </a:lnTo>
                  <a:lnTo>
                    <a:pt x="146" y="0"/>
                  </a:lnTo>
                  <a:lnTo>
                    <a:pt x="133" y="7"/>
                  </a:lnTo>
                  <a:lnTo>
                    <a:pt x="127" y="14"/>
                  </a:lnTo>
                  <a:lnTo>
                    <a:pt x="120" y="28"/>
                  </a:lnTo>
                  <a:lnTo>
                    <a:pt x="127" y="36"/>
                  </a:lnTo>
                  <a:lnTo>
                    <a:pt x="120" y="36"/>
                  </a:lnTo>
                  <a:lnTo>
                    <a:pt x="114" y="36"/>
                  </a:lnTo>
                  <a:lnTo>
                    <a:pt x="108" y="28"/>
                  </a:lnTo>
                  <a:lnTo>
                    <a:pt x="101" y="28"/>
                  </a:lnTo>
                  <a:lnTo>
                    <a:pt x="95" y="28"/>
                  </a:lnTo>
                  <a:lnTo>
                    <a:pt x="82" y="50"/>
                  </a:lnTo>
                  <a:lnTo>
                    <a:pt x="70" y="50"/>
                  </a:lnTo>
                  <a:lnTo>
                    <a:pt x="70" y="57"/>
                  </a:lnTo>
                  <a:lnTo>
                    <a:pt x="63" y="72"/>
                  </a:lnTo>
                  <a:lnTo>
                    <a:pt x="63" y="79"/>
                  </a:lnTo>
                  <a:lnTo>
                    <a:pt x="31" y="93"/>
                  </a:lnTo>
                  <a:lnTo>
                    <a:pt x="19" y="101"/>
                  </a:lnTo>
                  <a:lnTo>
                    <a:pt x="12" y="101"/>
                  </a:lnTo>
                  <a:lnTo>
                    <a:pt x="6" y="101"/>
                  </a:lnTo>
                  <a:lnTo>
                    <a:pt x="6" y="144"/>
                  </a:lnTo>
                  <a:lnTo>
                    <a:pt x="0" y="144"/>
                  </a:lnTo>
                  <a:lnTo>
                    <a:pt x="0" y="151"/>
                  </a:lnTo>
                  <a:lnTo>
                    <a:pt x="6" y="165"/>
                  </a:lnTo>
                  <a:lnTo>
                    <a:pt x="12" y="209"/>
                  </a:lnTo>
                  <a:lnTo>
                    <a:pt x="6" y="216"/>
                  </a:lnTo>
                  <a:lnTo>
                    <a:pt x="12" y="223"/>
                  </a:lnTo>
                  <a:lnTo>
                    <a:pt x="25" y="223"/>
                  </a:lnTo>
                  <a:lnTo>
                    <a:pt x="31" y="223"/>
                  </a:lnTo>
                  <a:lnTo>
                    <a:pt x="38" y="216"/>
                  </a:lnTo>
                  <a:lnTo>
                    <a:pt x="63" y="216"/>
                  </a:lnTo>
                  <a:lnTo>
                    <a:pt x="95" y="194"/>
                  </a:lnTo>
                  <a:lnTo>
                    <a:pt x="114" y="194"/>
                  </a:lnTo>
                  <a:lnTo>
                    <a:pt x="139" y="201"/>
                  </a:lnTo>
                  <a:lnTo>
                    <a:pt x="146" y="216"/>
                  </a:lnTo>
                  <a:lnTo>
                    <a:pt x="146" y="223"/>
                  </a:lnTo>
                  <a:lnTo>
                    <a:pt x="146" y="216"/>
                  </a:lnTo>
                  <a:lnTo>
                    <a:pt x="152" y="216"/>
                  </a:lnTo>
                  <a:lnTo>
                    <a:pt x="158" y="209"/>
                  </a:lnTo>
                  <a:lnTo>
                    <a:pt x="158" y="216"/>
                  </a:lnTo>
                  <a:lnTo>
                    <a:pt x="152" y="223"/>
                  </a:lnTo>
                  <a:lnTo>
                    <a:pt x="158" y="223"/>
                  </a:lnTo>
                  <a:lnTo>
                    <a:pt x="158" y="230"/>
                  </a:lnTo>
                  <a:lnTo>
                    <a:pt x="165" y="238"/>
                  </a:lnTo>
                  <a:lnTo>
                    <a:pt x="165" y="245"/>
                  </a:lnTo>
                  <a:lnTo>
                    <a:pt x="171" y="252"/>
                  </a:lnTo>
                  <a:lnTo>
                    <a:pt x="177" y="252"/>
                  </a:lnTo>
                  <a:lnTo>
                    <a:pt x="184" y="259"/>
                  </a:lnTo>
                  <a:lnTo>
                    <a:pt x="190" y="252"/>
                  </a:lnTo>
                  <a:lnTo>
                    <a:pt x="197" y="252"/>
                  </a:lnTo>
                  <a:lnTo>
                    <a:pt x="209" y="259"/>
                  </a:lnTo>
                  <a:lnTo>
                    <a:pt x="216" y="252"/>
                  </a:lnTo>
                  <a:lnTo>
                    <a:pt x="222" y="245"/>
                  </a:lnTo>
                  <a:lnTo>
                    <a:pt x="228" y="245"/>
                  </a:lnTo>
                  <a:lnTo>
                    <a:pt x="235" y="245"/>
                  </a:lnTo>
                  <a:lnTo>
                    <a:pt x="241" y="216"/>
                  </a:lnTo>
                  <a:lnTo>
                    <a:pt x="266" y="194"/>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115" name="Freeform 169"/>
            <p:cNvSpPr>
              <a:spLocks/>
            </p:cNvSpPr>
            <p:nvPr/>
          </p:nvSpPr>
          <p:spPr bwMode="auto">
            <a:xfrm>
              <a:off x="5122" y="1024"/>
              <a:ext cx="273" cy="259"/>
            </a:xfrm>
            <a:custGeom>
              <a:avLst/>
              <a:gdLst>
                <a:gd name="T0" fmla="*/ 266 w 273"/>
                <a:gd name="T1" fmla="*/ 180 h 259"/>
                <a:gd name="T2" fmla="*/ 273 w 273"/>
                <a:gd name="T3" fmla="*/ 151 h 259"/>
                <a:gd name="T4" fmla="*/ 260 w 273"/>
                <a:gd name="T5" fmla="*/ 101 h 259"/>
                <a:gd name="T6" fmla="*/ 247 w 273"/>
                <a:gd name="T7" fmla="*/ 86 h 259"/>
                <a:gd name="T8" fmla="*/ 228 w 273"/>
                <a:gd name="T9" fmla="*/ 57 h 259"/>
                <a:gd name="T10" fmla="*/ 228 w 273"/>
                <a:gd name="T11" fmla="*/ 36 h 259"/>
                <a:gd name="T12" fmla="*/ 216 w 273"/>
                <a:gd name="T13" fmla="*/ 28 h 259"/>
                <a:gd name="T14" fmla="*/ 209 w 273"/>
                <a:gd name="T15" fmla="*/ 7 h 259"/>
                <a:gd name="T16" fmla="*/ 203 w 273"/>
                <a:gd name="T17" fmla="*/ 36 h 259"/>
                <a:gd name="T18" fmla="*/ 171 w 273"/>
                <a:gd name="T19" fmla="*/ 43 h 259"/>
                <a:gd name="T20" fmla="*/ 158 w 273"/>
                <a:gd name="T21" fmla="*/ 28 h 259"/>
                <a:gd name="T22" fmla="*/ 165 w 273"/>
                <a:gd name="T23" fmla="*/ 7 h 259"/>
                <a:gd name="T24" fmla="*/ 133 w 273"/>
                <a:gd name="T25" fmla="*/ 7 h 259"/>
                <a:gd name="T26" fmla="*/ 120 w 273"/>
                <a:gd name="T27" fmla="*/ 28 h 259"/>
                <a:gd name="T28" fmla="*/ 120 w 273"/>
                <a:gd name="T29" fmla="*/ 36 h 259"/>
                <a:gd name="T30" fmla="*/ 108 w 273"/>
                <a:gd name="T31" fmla="*/ 28 h 259"/>
                <a:gd name="T32" fmla="*/ 95 w 273"/>
                <a:gd name="T33" fmla="*/ 28 h 259"/>
                <a:gd name="T34" fmla="*/ 70 w 273"/>
                <a:gd name="T35" fmla="*/ 50 h 259"/>
                <a:gd name="T36" fmla="*/ 63 w 273"/>
                <a:gd name="T37" fmla="*/ 72 h 259"/>
                <a:gd name="T38" fmla="*/ 31 w 273"/>
                <a:gd name="T39" fmla="*/ 93 h 259"/>
                <a:gd name="T40" fmla="*/ 12 w 273"/>
                <a:gd name="T41" fmla="*/ 101 h 259"/>
                <a:gd name="T42" fmla="*/ 6 w 273"/>
                <a:gd name="T43" fmla="*/ 144 h 259"/>
                <a:gd name="T44" fmla="*/ 0 w 273"/>
                <a:gd name="T45" fmla="*/ 151 h 259"/>
                <a:gd name="T46" fmla="*/ 12 w 273"/>
                <a:gd name="T47" fmla="*/ 209 h 259"/>
                <a:gd name="T48" fmla="*/ 12 w 273"/>
                <a:gd name="T49" fmla="*/ 223 h 259"/>
                <a:gd name="T50" fmla="*/ 31 w 273"/>
                <a:gd name="T51" fmla="*/ 223 h 259"/>
                <a:gd name="T52" fmla="*/ 63 w 273"/>
                <a:gd name="T53" fmla="*/ 216 h 259"/>
                <a:gd name="T54" fmla="*/ 114 w 273"/>
                <a:gd name="T55" fmla="*/ 194 h 259"/>
                <a:gd name="T56" fmla="*/ 146 w 273"/>
                <a:gd name="T57" fmla="*/ 216 h 259"/>
                <a:gd name="T58" fmla="*/ 146 w 273"/>
                <a:gd name="T59" fmla="*/ 216 h 259"/>
                <a:gd name="T60" fmla="*/ 158 w 273"/>
                <a:gd name="T61" fmla="*/ 209 h 259"/>
                <a:gd name="T62" fmla="*/ 152 w 273"/>
                <a:gd name="T63" fmla="*/ 223 h 259"/>
                <a:gd name="T64" fmla="*/ 158 w 273"/>
                <a:gd name="T65" fmla="*/ 230 h 259"/>
                <a:gd name="T66" fmla="*/ 165 w 273"/>
                <a:gd name="T67" fmla="*/ 245 h 259"/>
                <a:gd name="T68" fmla="*/ 177 w 273"/>
                <a:gd name="T69" fmla="*/ 252 h 259"/>
                <a:gd name="T70" fmla="*/ 190 w 273"/>
                <a:gd name="T71" fmla="*/ 252 h 259"/>
                <a:gd name="T72" fmla="*/ 209 w 273"/>
                <a:gd name="T73" fmla="*/ 259 h 259"/>
                <a:gd name="T74" fmla="*/ 222 w 273"/>
                <a:gd name="T75" fmla="*/ 245 h 259"/>
                <a:gd name="T76" fmla="*/ 235 w 273"/>
                <a:gd name="T77" fmla="*/ 245 h 259"/>
                <a:gd name="T78" fmla="*/ 266 w 273"/>
                <a:gd name="T79" fmla="*/ 194 h 25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273"/>
                <a:gd name="T121" fmla="*/ 0 h 259"/>
                <a:gd name="T122" fmla="*/ 273 w 273"/>
                <a:gd name="T123" fmla="*/ 259 h 259"/>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273" h="259">
                  <a:moveTo>
                    <a:pt x="266" y="194"/>
                  </a:moveTo>
                  <a:lnTo>
                    <a:pt x="266" y="180"/>
                  </a:lnTo>
                  <a:lnTo>
                    <a:pt x="266" y="173"/>
                  </a:lnTo>
                  <a:lnTo>
                    <a:pt x="273" y="151"/>
                  </a:lnTo>
                  <a:lnTo>
                    <a:pt x="260" y="108"/>
                  </a:lnTo>
                  <a:lnTo>
                    <a:pt x="260" y="101"/>
                  </a:lnTo>
                  <a:lnTo>
                    <a:pt x="247" y="101"/>
                  </a:lnTo>
                  <a:lnTo>
                    <a:pt x="247" y="86"/>
                  </a:lnTo>
                  <a:lnTo>
                    <a:pt x="235" y="65"/>
                  </a:lnTo>
                  <a:lnTo>
                    <a:pt x="228" y="57"/>
                  </a:lnTo>
                  <a:lnTo>
                    <a:pt x="228" y="50"/>
                  </a:lnTo>
                  <a:lnTo>
                    <a:pt x="228" y="36"/>
                  </a:lnTo>
                  <a:lnTo>
                    <a:pt x="222" y="28"/>
                  </a:lnTo>
                  <a:lnTo>
                    <a:pt x="216" y="28"/>
                  </a:lnTo>
                  <a:lnTo>
                    <a:pt x="209" y="0"/>
                  </a:lnTo>
                  <a:lnTo>
                    <a:pt x="209" y="7"/>
                  </a:lnTo>
                  <a:lnTo>
                    <a:pt x="203" y="21"/>
                  </a:lnTo>
                  <a:lnTo>
                    <a:pt x="203" y="36"/>
                  </a:lnTo>
                  <a:lnTo>
                    <a:pt x="190" y="65"/>
                  </a:lnTo>
                  <a:lnTo>
                    <a:pt x="171" y="43"/>
                  </a:lnTo>
                  <a:lnTo>
                    <a:pt x="158" y="36"/>
                  </a:lnTo>
                  <a:lnTo>
                    <a:pt x="158" y="28"/>
                  </a:lnTo>
                  <a:lnTo>
                    <a:pt x="165" y="14"/>
                  </a:lnTo>
                  <a:lnTo>
                    <a:pt x="165" y="7"/>
                  </a:lnTo>
                  <a:lnTo>
                    <a:pt x="146" y="0"/>
                  </a:lnTo>
                  <a:lnTo>
                    <a:pt x="133" y="7"/>
                  </a:lnTo>
                  <a:lnTo>
                    <a:pt x="127" y="14"/>
                  </a:lnTo>
                  <a:lnTo>
                    <a:pt x="120" y="28"/>
                  </a:lnTo>
                  <a:lnTo>
                    <a:pt x="127" y="36"/>
                  </a:lnTo>
                  <a:lnTo>
                    <a:pt x="120" y="36"/>
                  </a:lnTo>
                  <a:lnTo>
                    <a:pt x="114" y="36"/>
                  </a:lnTo>
                  <a:lnTo>
                    <a:pt x="108" y="28"/>
                  </a:lnTo>
                  <a:lnTo>
                    <a:pt x="101" y="28"/>
                  </a:lnTo>
                  <a:lnTo>
                    <a:pt x="95" y="28"/>
                  </a:lnTo>
                  <a:lnTo>
                    <a:pt x="82" y="50"/>
                  </a:lnTo>
                  <a:lnTo>
                    <a:pt x="70" y="50"/>
                  </a:lnTo>
                  <a:lnTo>
                    <a:pt x="70" y="57"/>
                  </a:lnTo>
                  <a:lnTo>
                    <a:pt x="63" y="72"/>
                  </a:lnTo>
                  <a:lnTo>
                    <a:pt x="63" y="79"/>
                  </a:lnTo>
                  <a:lnTo>
                    <a:pt x="31" y="93"/>
                  </a:lnTo>
                  <a:lnTo>
                    <a:pt x="19" y="101"/>
                  </a:lnTo>
                  <a:lnTo>
                    <a:pt x="12" y="101"/>
                  </a:lnTo>
                  <a:lnTo>
                    <a:pt x="6" y="101"/>
                  </a:lnTo>
                  <a:lnTo>
                    <a:pt x="6" y="144"/>
                  </a:lnTo>
                  <a:lnTo>
                    <a:pt x="0" y="144"/>
                  </a:lnTo>
                  <a:lnTo>
                    <a:pt x="0" y="151"/>
                  </a:lnTo>
                  <a:lnTo>
                    <a:pt x="6" y="165"/>
                  </a:lnTo>
                  <a:lnTo>
                    <a:pt x="12" y="209"/>
                  </a:lnTo>
                  <a:lnTo>
                    <a:pt x="6" y="216"/>
                  </a:lnTo>
                  <a:lnTo>
                    <a:pt x="12" y="223"/>
                  </a:lnTo>
                  <a:lnTo>
                    <a:pt x="25" y="223"/>
                  </a:lnTo>
                  <a:lnTo>
                    <a:pt x="31" y="223"/>
                  </a:lnTo>
                  <a:lnTo>
                    <a:pt x="38" y="216"/>
                  </a:lnTo>
                  <a:lnTo>
                    <a:pt x="63" y="216"/>
                  </a:lnTo>
                  <a:lnTo>
                    <a:pt x="95" y="194"/>
                  </a:lnTo>
                  <a:lnTo>
                    <a:pt x="114" y="194"/>
                  </a:lnTo>
                  <a:lnTo>
                    <a:pt x="139" y="201"/>
                  </a:lnTo>
                  <a:lnTo>
                    <a:pt x="146" y="216"/>
                  </a:lnTo>
                  <a:lnTo>
                    <a:pt x="146" y="223"/>
                  </a:lnTo>
                  <a:lnTo>
                    <a:pt x="146" y="216"/>
                  </a:lnTo>
                  <a:lnTo>
                    <a:pt x="152" y="216"/>
                  </a:lnTo>
                  <a:lnTo>
                    <a:pt x="158" y="209"/>
                  </a:lnTo>
                  <a:lnTo>
                    <a:pt x="158" y="216"/>
                  </a:lnTo>
                  <a:lnTo>
                    <a:pt x="152" y="223"/>
                  </a:lnTo>
                  <a:lnTo>
                    <a:pt x="158" y="223"/>
                  </a:lnTo>
                  <a:lnTo>
                    <a:pt x="158" y="230"/>
                  </a:lnTo>
                  <a:lnTo>
                    <a:pt x="165" y="238"/>
                  </a:lnTo>
                  <a:lnTo>
                    <a:pt x="165" y="245"/>
                  </a:lnTo>
                  <a:lnTo>
                    <a:pt x="171" y="252"/>
                  </a:lnTo>
                  <a:lnTo>
                    <a:pt x="177" y="252"/>
                  </a:lnTo>
                  <a:lnTo>
                    <a:pt x="184" y="259"/>
                  </a:lnTo>
                  <a:lnTo>
                    <a:pt x="190" y="252"/>
                  </a:lnTo>
                  <a:lnTo>
                    <a:pt x="197" y="252"/>
                  </a:lnTo>
                  <a:lnTo>
                    <a:pt x="209" y="259"/>
                  </a:lnTo>
                  <a:lnTo>
                    <a:pt x="216" y="252"/>
                  </a:lnTo>
                  <a:lnTo>
                    <a:pt x="222" y="245"/>
                  </a:lnTo>
                  <a:lnTo>
                    <a:pt x="228" y="245"/>
                  </a:lnTo>
                  <a:lnTo>
                    <a:pt x="235" y="245"/>
                  </a:lnTo>
                  <a:lnTo>
                    <a:pt x="241" y="216"/>
                  </a:lnTo>
                  <a:lnTo>
                    <a:pt x="266" y="194"/>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116" name="Freeform 170"/>
            <p:cNvSpPr>
              <a:spLocks/>
            </p:cNvSpPr>
            <p:nvPr/>
          </p:nvSpPr>
          <p:spPr bwMode="auto">
            <a:xfrm>
              <a:off x="5077" y="980"/>
              <a:ext cx="64" cy="22"/>
            </a:xfrm>
            <a:custGeom>
              <a:avLst/>
              <a:gdLst>
                <a:gd name="T0" fmla="*/ 26 w 64"/>
                <a:gd name="T1" fmla="*/ 15 h 22"/>
                <a:gd name="T2" fmla="*/ 13 w 64"/>
                <a:gd name="T3" fmla="*/ 15 h 22"/>
                <a:gd name="T4" fmla="*/ 13 w 64"/>
                <a:gd name="T5" fmla="*/ 8 h 22"/>
                <a:gd name="T6" fmla="*/ 0 w 64"/>
                <a:gd name="T7" fmla="*/ 0 h 22"/>
                <a:gd name="T8" fmla="*/ 7 w 64"/>
                <a:gd name="T9" fmla="*/ 0 h 22"/>
                <a:gd name="T10" fmla="*/ 13 w 64"/>
                <a:gd name="T11" fmla="*/ 0 h 22"/>
                <a:gd name="T12" fmla="*/ 26 w 64"/>
                <a:gd name="T13" fmla="*/ 0 h 22"/>
                <a:gd name="T14" fmla="*/ 32 w 64"/>
                <a:gd name="T15" fmla="*/ 0 h 22"/>
                <a:gd name="T16" fmla="*/ 38 w 64"/>
                <a:gd name="T17" fmla="*/ 0 h 22"/>
                <a:gd name="T18" fmla="*/ 45 w 64"/>
                <a:gd name="T19" fmla="*/ 0 h 22"/>
                <a:gd name="T20" fmla="*/ 57 w 64"/>
                <a:gd name="T21" fmla="*/ 8 h 22"/>
                <a:gd name="T22" fmla="*/ 57 w 64"/>
                <a:gd name="T23" fmla="*/ 15 h 22"/>
                <a:gd name="T24" fmla="*/ 64 w 64"/>
                <a:gd name="T25" fmla="*/ 15 h 22"/>
                <a:gd name="T26" fmla="*/ 64 w 64"/>
                <a:gd name="T27" fmla="*/ 22 h 22"/>
                <a:gd name="T28" fmla="*/ 38 w 64"/>
                <a:gd name="T29" fmla="*/ 22 h 22"/>
                <a:gd name="T30" fmla="*/ 32 w 64"/>
                <a:gd name="T31" fmla="*/ 15 h 22"/>
                <a:gd name="T32" fmla="*/ 32 w 64"/>
                <a:gd name="T33" fmla="*/ 15 h 22"/>
                <a:gd name="T34" fmla="*/ 26 w 64"/>
                <a:gd name="T35" fmla="*/ 15 h 22"/>
                <a:gd name="T36" fmla="*/ 26 w 64"/>
                <a:gd name="T37" fmla="*/ 15 h 2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4"/>
                <a:gd name="T58" fmla="*/ 0 h 22"/>
                <a:gd name="T59" fmla="*/ 64 w 64"/>
                <a:gd name="T60" fmla="*/ 22 h 2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4" h="22">
                  <a:moveTo>
                    <a:pt x="26" y="15"/>
                  </a:moveTo>
                  <a:lnTo>
                    <a:pt x="13" y="15"/>
                  </a:lnTo>
                  <a:lnTo>
                    <a:pt x="13" y="8"/>
                  </a:lnTo>
                  <a:lnTo>
                    <a:pt x="0" y="0"/>
                  </a:lnTo>
                  <a:lnTo>
                    <a:pt x="7" y="0"/>
                  </a:lnTo>
                  <a:lnTo>
                    <a:pt x="13" y="0"/>
                  </a:lnTo>
                  <a:lnTo>
                    <a:pt x="26" y="0"/>
                  </a:lnTo>
                  <a:lnTo>
                    <a:pt x="32" y="0"/>
                  </a:lnTo>
                  <a:lnTo>
                    <a:pt x="38" y="0"/>
                  </a:lnTo>
                  <a:lnTo>
                    <a:pt x="45" y="0"/>
                  </a:lnTo>
                  <a:lnTo>
                    <a:pt x="57" y="8"/>
                  </a:lnTo>
                  <a:lnTo>
                    <a:pt x="57" y="15"/>
                  </a:lnTo>
                  <a:lnTo>
                    <a:pt x="64" y="15"/>
                  </a:lnTo>
                  <a:lnTo>
                    <a:pt x="64" y="22"/>
                  </a:lnTo>
                  <a:lnTo>
                    <a:pt x="38" y="22"/>
                  </a:lnTo>
                  <a:lnTo>
                    <a:pt x="32" y="15"/>
                  </a:lnTo>
                  <a:lnTo>
                    <a:pt x="26" y="15"/>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117" name="Freeform 171"/>
            <p:cNvSpPr>
              <a:spLocks/>
            </p:cNvSpPr>
            <p:nvPr/>
          </p:nvSpPr>
          <p:spPr bwMode="auto">
            <a:xfrm>
              <a:off x="5077" y="980"/>
              <a:ext cx="64" cy="22"/>
            </a:xfrm>
            <a:custGeom>
              <a:avLst/>
              <a:gdLst>
                <a:gd name="T0" fmla="*/ 26 w 64"/>
                <a:gd name="T1" fmla="*/ 15 h 22"/>
                <a:gd name="T2" fmla="*/ 13 w 64"/>
                <a:gd name="T3" fmla="*/ 15 h 22"/>
                <a:gd name="T4" fmla="*/ 13 w 64"/>
                <a:gd name="T5" fmla="*/ 8 h 22"/>
                <a:gd name="T6" fmla="*/ 0 w 64"/>
                <a:gd name="T7" fmla="*/ 0 h 22"/>
                <a:gd name="T8" fmla="*/ 7 w 64"/>
                <a:gd name="T9" fmla="*/ 0 h 22"/>
                <a:gd name="T10" fmla="*/ 13 w 64"/>
                <a:gd name="T11" fmla="*/ 0 h 22"/>
                <a:gd name="T12" fmla="*/ 26 w 64"/>
                <a:gd name="T13" fmla="*/ 0 h 22"/>
                <a:gd name="T14" fmla="*/ 32 w 64"/>
                <a:gd name="T15" fmla="*/ 0 h 22"/>
                <a:gd name="T16" fmla="*/ 38 w 64"/>
                <a:gd name="T17" fmla="*/ 0 h 22"/>
                <a:gd name="T18" fmla="*/ 45 w 64"/>
                <a:gd name="T19" fmla="*/ 0 h 22"/>
                <a:gd name="T20" fmla="*/ 57 w 64"/>
                <a:gd name="T21" fmla="*/ 8 h 22"/>
                <a:gd name="T22" fmla="*/ 57 w 64"/>
                <a:gd name="T23" fmla="*/ 15 h 22"/>
                <a:gd name="T24" fmla="*/ 64 w 64"/>
                <a:gd name="T25" fmla="*/ 15 h 22"/>
                <a:gd name="T26" fmla="*/ 64 w 64"/>
                <a:gd name="T27" fmla="*/ 22 h 22"/>
                <a:gd name="T28" fmla="*/ 38 w 64"/>
                <a:gd name="T29" fmla="*/ 22 h 22"/>
                <a:gd name="T30" fmla="*/ 32 w 64"/>
                <a:gd name="T31" fmla="*/ 15 h 22"/>
                <a:gd name="T32" fmla="*/ 26 w 64"/>
                <a:gd name="T33" fmla="*/ 15 h 2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4"/>
                <a:gd name="T52" fmla="*/ 0 h 22"/>
                <a:gd name="T53" fmla="*/ 64 w 64"/>
                <a:gd name="T54" fmla="*/ 22 h 2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4" h="22">
                  <a:moveTo>
                    <a:pt x="26" y="15"/>
                  </a:moveTo>
                  <a:lnTo>
                    <a:pt x="13" y="15"/>
                  </a:lnTo>
                  <a:lnTo>
                    <a:pt x="13" y="8"/>
                  </a:lnTo>
                  <a:lnTo>
                    <a:pt x="0" y="0"/>
                  </a:lnTo>
                  <a:lnTo>
                    <a:pt x="7" y="0"/>
                  </a:lnTo>
                  <a:lnTo>
                    <a:pt x="13" y="0"/>
                  </a:lnTo>
                  <a:lnTo>
                    <a:pt x="26" y="0"/>
                  </a:lnTo>
                  <a:lnTo>
                    <a:pt x="32" y="0"/>
                  </a:lnTo>
                  <a:lnTo>
                    <a:pt x="38" y="0"/>
                  </a:lnTo>
                  <a:lnTo>
                    <a:pt x="45" y="0"/>
                  </a:lnTo>
                  <a:lnTo>
                    <a:pt x="57" y="8"/>
                  </a:lnTo>
                  <a:lnTo>
                    <a:pt x="57" y="15"/>
                  </a:lnTo>
                  <a:lnTo>
                    <a:pt x="64" y="15"/>
                  </a:lnTo>
                  <a:lnTo>
                    <a:pt x="64" y="22"/>
                  </a:lnTo>
                  <a:lnTo>
                    <a:pt x="38" y="22"/>
                  </a:lnTo>
                  <a:lnTo>
                    <a:pt x="32" y="15"/>
                  </a:lnTo>
                  <a:lnTo>
                    <a:pt x="26" y="15"/>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118" name="Freeform 172"/>
            <p:cNvSpPr>
              <a:spLocks/>
            </p:cNvSpPr>
            <p:nvPr/>
          </p:nvSpPr>
          <p:spPr bwMode="auto">
            <a:xfrm>
              <a:off x="5001" y="872"/>
              <a:ext cx="83" cy="108"/>
            </a:xfrm>
            <a:custGeom>
              <a:avLst/>
              <a:gdLst>
                <a:gd name="T0" fmla="*/ 38 w 83"/>
                <a:gd name="T1" fmla="*/ 58 h 108"/>
                <a:gd name="T2" fmla="*/ 38 w 83"/>
                <a:gd name="T3" fmla="*/ 58 h 108"/>
                <a:gd name="T4" fmla="*/ 38 w 83"/>
                <a:gd name="T5" fmla="*/ 51 h 108"/>
                <a:gd name="T6" fmla="*/ 38 w 83"/>
                <a:gd name="T7" fmla="*/ 51 h 108"/>
                <a:gd name="T8" fmla="*/ 38 w 83"/>
                <a:gd name="T9" fmla="*/ 51 h 108"/>
                <a:gd name="T10" fmla="*/ 32 w 83"/>
                <a:gd name="T11" fmla="*/ 44 h 108"/>
                <a:gd name="T12" fmla="*/ 32 w 83"/>
                <a:gd name="T13" fmla="*/ 36 h 108"/>
                <a:gd name="T14" fmla="*/ 26 w 83"/>
                <a:gd name="T15" fmla="*/ 36 h 108"/>
                <a:gd name="T16" fmla="*/ 26 w 83"/>
                <a:gd name="T17" fmla="*/ 29 h 108"/>
                <a:gd name="T18" fmla="*/ 26 w 83"/>
                <a:gd name="T19" fmla="*/ 29 h 108"/>
                <a:gd name="T20" fmla="*/ 19 w 83"/>
                <a:gd name="T21" fmla="*/ 22 h 108"/>
                <a:gd name="T22" fmla="*/ 19 w 83"/>
                <a:gd name="T23" fmla="*/ 22 h 108"/>
                <a:gd name="T24" fmla="*/ 6 w 83"/>
                <a:gd name="T25" fmla="*/ 15 h 108"/>
                <a:gd name="T26" fmla="*/ 0 w 83"/>
                <a:gd name="T27" fmla="*/ 0 h 108"/>
                <a:gd name="T28" fmla="*/ 6 w 83"/>
                <a:gd name="T29" fmla="*/ 0 h 108"/>
                <a:gd name="T30" fmla="*/ 6 w 83"/>
                <a:gd name="T31" fmla="*/ 0 h 108"/>
                <a:gd name="T32" fmla="*/ 13 w 83"/>
                <a:gd name="T33" fmla="*/ 0 h 108"/>
                <a:gd name="T34" fmla="*/ 19 w 83"/>
                <a:gd name="T35" fmla="*/ 0 h 108"/>
                <a:gd name="T36" fmla="*/ 26 w 83"/>
                <a:gd name="T37" fmla="*/ 7 h 108"/>
                <a:gd name="T38" fmla="*/ 32 w 83"/>
                <a:gd name="T39" fmla="*/ 15 h 108"/>
                <a:gd name="T40" fmla="*/ 45 w 83"/>
                <a:gd name="T41" fmla="*/ 29 h 108"/>
                <a:gd name="T42" fmla="*/ 57 w 83"/>
                <a:gd name="T43" fmla="*/ 36 h 108"/>
                <a:gd name="T44" fmla="*/ 64 w 83"/>
                <a:gd name="T45" fmla="*/ 44 h 108"/>
                <a:gd name="T46" fmla="*/ 64 w 83"/>
                <a:gd name="T47" fmla="*/ 58 h 108"/>
                <a:gd name="T48" fmla="*/ 76 w 83"/>
                <a:gd name="T49" fmla="*/ 72 h 108"/>
                <a:gd name="T50" fmla="*/ 83 w 83"/>
                <a:gd name="T51" fmla="*/ 80 h 108"/>
                <a:gd name="T52" fmla="*/ 83 w 83"/>
                <a:gd name="T53" fmla="*/ 80 h 108"/>
                <a:gd name="T54" fmla="*/ 83 w 83"/>
                <a:gd name="T55" fmla="*/ 87 h 108"/>
                <a:gd name="T56" fmla="*/ 83 w 83"/>
                <a:gd name="T57" fmla="*/ 101 h 108"/>
                <a:gd name="T58" fmla="*/ 76 w 83"/>
                <a:gd name="T59" fmla="*/ 101 h 108"/>
                <a:gd name="T60" fmla="*/ 70 w 83"/>
                <a:gd name="T61" fmla="*/ 108 h 108"/>
                <a:gd name="T62" fmla="*/ 70 w 83"/>
                <a:gd name="T63" fmla="*/ 101 h 108"/>
                <a:gd name="T64" fmla="*/ 51 w 83"/>
                <a:gd name="T65" fmla="*/ 80 h 108"/>
                <a:gd name="T66" fmla="*/ 38 w 83"/>
                <a:gd name="T67" fmla="*/ 58 h 108"/>
                <a:gd name="T68" fmla="*/ 38 w 83"/>
                <a:gd name="T69" fmla="*/ 58 h 10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83"/>
                <a:gd name="T106" fmla="*/ 0 h 108"/>
                <a:gd name="T107" fmla="*/ 83 w 83"/>
                <a:gd name="T108" fmla="*/ 108 h 10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83" h="108">
                  <a:moveTo>
                    <a:pt x="38" y="58"/>
                  </a:moveTo>
                  <a:lnTo>
                    <a:pt x="38" y="58"/>
                  </a:lnTo>
                  <a:lnTo>
                    <a:pt x="38" y="51"/>
                  </a:lnTo>
                  <a:lnTo>
                    <a:pt x="32" y="44"/>
                  </a:lnTo>
                  <a:lnTo>
                    <a:pt x="32" y="36"/>
                  </a:lnTo>
                  <a:lnTo>
                    <a:pt x="26" y="36"/>
                  </a:lnTo>
                  <a:lnTo>
                    <a:pt x="26" y="29"/>
                  </a:lnTo>
                  <a:lnTo>
                    <a:pt x="19" y="22"/>
                  </a:lnTo>
                  <a:lnTo>
                    <a:pt x="6" y="15"/>
                  </a:lnTo>
                  <a:lnTo>
                    <a:pt x="0" y="0"/>
                  </a:lnTo>
                  <a:lnTo>
                    <a:pt x="6" y="0"/>
                  </a:lnTo>
                  <a:lnTo>
                    <a:pt x="13" y="0"/>
                  </a:lnTo>
                  <a:lnTo>
                    <a:pt x="19" y="0"/>
                  </a:lnTo>
                  <a:lnTo>
                    <a:pt x="26" y="7"/>
                  </a:lnTo>
                  <a:lnTo>
                    <a:pt x="32" y="15"/>
                  </a:lnTo>
                  <a:lnTo>
                    <a:pt x="45" y="29"/>
                  </a:lnTo>
                  <a:lnTo>
                    <a:pt x="57" y="36"/>
                  </a:lnTo>
                  <a:lnTo>
                    <a:pt x="64" y="44"/>
                  </a:lnTo>
                  <a:lnTo>
                    <a:pt x="64" y="58"/>
                  </a:lnTo>
                  <a:lnTo>
                    <a:pt x="76" y="72"/>
                  </a:lnTo>
                  <a:lnTo>
                    <a:pt x="83" y="80"/>
                  </a:lnTo>
                  <a:lnTo>
                    <a:pt x="83" y="87"/>
                  </a:lnTo>
                  <a:lnTo>
                    <a:pt x="83" y="101"/>
                  </a:lnTo>
                  <a:lnTo>
                    <a:pt x="76" y="101"/>
                  </a:lnTo>
                  <a:lnTo>
                    <a:pt x="70" y="108"/>
                  </a:lnTo>
                  <a:lnTo>
                    <a:pt x="70" y="101"/>
                  </a:lnTo>
                  <a:lnTo>
                    <a:pt x="51" y="80"/>
                  </a:lnTo>
                  <a:lnTo>
                    <a:pt x="38" y="58"/>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119" name="Freeform 173"/>
            <p:cNvSpPr>
              <a:spLocks/>
            </p:cNvSpPr>
            <p:nvPr/>
          </p:nvSpPr>
          <p:spPr bwMode="auto">
            <a:xfrm>
              <a:off x="5001" y="872"/>
              <a:ext cx="83" cy="108"/>
            </a:xfrm>
            <a:custGeom>
              <a:avLst/>
              <a:gdLst>
                <a:gd name="T0" fmla="*/ 38 w 83"/>
                <a:gd name="T1" fmla="*/ 58 h 108"/>
                <a:gd name="T2" fmla="*/ 38 w 83"/>
                <a:gd name="T3" fmla="*/ 51 h 108"/>
                <a:gd name="T4" fmla="*/ 32 w 83"/>
                <a:gd name="T5" fmla="*/ 44 h 108"/>
                <a:gd name="T6" fmla="*/ 32 w 83"/>
                <a:gd name="T7" fmla="*/ 36 h 108"/>
                <a:gd name="T8" fmla="*/ 26 w 83"/>
                <a:gd name="T9" fmla="*/ 36 h 108"/>
                <a:gd name="T10" fmla="*/ 26 w 83"/>
                <a:gd name="T11" fmla="*/ 29 h 108"/>
                <a:gd name="T12" fmla="*/ 19 w 83"/>
                <a:gd name="T13" fmla="*/ 22 h 108"/>
                <a:gd name="T14" fmla="*/ 6 w 83"/>
                <a:gd name="T15" fmla="*/ 15 h 108"/>
                <a:gd name="T16" fmla="*/ 0 w 83"/>
                <a:gd name="T17" fmla="*/ 0 h 108"/>
                <a:gd name="T18" fmla="*/ 6 w 83"/>
                <a:gd name="T19" fmla="*/ 0 h 108"/>
                <a:gd name="T20" fmla="*/ 13 w 83"/>
                <a:gd name="T21" fmla="*/ 0 h 108"/>
                <a:gd name="T22" fmla="*/ 19 w 83"/>
                <a:gd name="T23" fmla="*/ 0 h 108"/>
                <a:gd name="T24" fmla="*/ 26 w 83"/>
                <a:gd name="T25" fmla="*/ 7 h 108"/>
                <a:gd name="T26" fmla="*/ 32 w 83"/>
                <a:gd name="T27" fmla="*/ 15 h 108"/>
                <a:gd name="T28" fmla="*/ 45 w 83"/>
                <a:gd name="T29" fmla="*/ 29 h 108"/>
                <a:gd name="T30" fmla="*/ 57 w 83"/>
                <a:gd name="T31" fmla="*/ 36 h 108"/>
                <a:gd name="T32" fmla="*/ 64 w 83"/>
                <a:gd name="T33" fmla="*/ 44 h 108"/>
                <a:gd name="T34" fmla="*/ 64 w 83"/>
                <a:gd name="T35" fmla="*/ 58 h 108"/>
                <a:gd name="T36" fmla="*/ 76 w 83"/>
                <a:gd name="T37" fmla="*/ 72 h 108"/>
                <a:gd name="T38" fmla="*/ 83 w 83"/>
                <a:gd name="T39" fmla="*/ 80 h 108"/>
                <a:gd name="T40" fmla="*/ 83 w 83"/>
                <a:gd name="T41" fmla="*/ 87 h 108"/>
                <a:gd name="T42" fmla="*/ 83 w 83"/>
                <a:gd name="T43" fmla="*/ 101 h 108"/>
                <a:gd name="T44" fmla="*/ 76 w 83"/>
                <a:gd name="T45" fmla="*/ 101 h 108"/>
                <a:gd name="T46" fmla="*/ 70 w 83"/>
                <a:gd name="T47" fmla="*/ 108 h 108"/>
                <a:gd name="T48" fmla="*/ 70 w 83"/>
                <a:gd name="T49" fmla="*/ 101 h 108"/>
                <a:gd name="T50" fmla="*/ 51 w 83"/>
                <a:gd name="T51" fmla="*/ 80 h 108"/>
                <a:gd name="T52" fmla="*/ 38 w 83"/>
                <a:gd name="T53" fmla="*/ 58 h 10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83"/>
                <a:gd name="T82" fmla="*/ 0 h 108"/>
                <a:gd name="T83" fmla="*/ 83 w 83"/>
                <a:gd name="T84" fmla="*/ 108 h 10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83" h="108">
                  <a:moveTo>
                    <a:pt x="38" y="58"/>
                  </a:moveTo>
                  <a:lnTo>
                    <a:pt x="38" y="51"/>
                  </a:lnTo>
                  <a:lnTo>
                    <a:pt x="32" y="44"/>
                  </a:lnTo>
                  <a:lnTo>
                    <a:pt x="32" y="36"/>
                  </a:lnTo>
                  <a:lnTo>
                    <a:pt x="26" y="36"/>
                  </a:lnTo>
                  <a:lnTo>
                    <a:pt x="26" y="29"/>
                  </a:lnTo>
                  <a:lnTo>
                    <a:pt x="19" y="22"/>
                  </a:lnTo>
                  <a:lnTo>
                    <a:pt x="6" y="15"/>
                  </a:lnTo>
                  <a:lnTo>
                    <a:pt x="0" y="0"/>
                  </a:lnTo>
                  <a:lnTo>
                    <a:pt x="6" y="0"/>
                  </a:lnTo>
                  <a:lnTo>
                    <a:pt x="13" y="0"/>
                  </a:lnTo>
                  <a:lnTo>
                    <a:pt x="19" y="0"/>
                  </a:lnTo>
                  <a:lnTo>
                    <a:pt x="26" y="7"/>
                  </a:lnTo>
                  <a:lnTo>
                    <a:pt x="32" y="15"/>
                  </a:lnTo>
                  <a:lnTo>
                    <a:pt x="45" y="29"/>
                  </a:lnTo>
                  <a:lnTo>
                    <a:pt x="57" y="36"/>
                  </a:lnTo>
                  <a:lnTo>
                    <a:pt x="64" y="44"/>
                  </a:lnTo>
                  <a:lnTo>
                    <a:pt x="64" y="58"/>
                  </a:lnTo>
                  <a:lnTo>
                    <a:pt x="76" y="72"/>
                  </a:lnTo>
                  <a:lnTo>
                    <a:pt x="83" y="80"/>
                  </a:lnTo>
                  <a:lnTo>
                    <a:pt x="83" y="87"/>
                  </a:lnTo>
                  <a:lnTo>
                    <a:pt x="83" y="101"/>
                  </a:lnTo>
                  <a:lnTo>
                    <a:pt x="76" y="101"/>
                  </a:lnTo>
                  <a:lnTo>
                    <a:pt x="70" y="108"/>
                  </a:lnTo>
                  <a:lnTo>
                    <a:pt x="70" y="101"/>
                  </a:lnTo>
                  <a:lnTo>
                    <a:pt x="51" y="80"/>
                  </a:lnTo>
                  <a:lnTo>
                    <a:pt x="38" y="58"/>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120" name="Freeform 174"/>
            <p:cNvSpPr>
              <a:spLocks/>
            </p:cNvSpPr>
            <p:nvPr/>
          </p:nvSpPr>
          <p:spPr bwMode="auto">
            <a:xfrm>
              <a:off x="5096" y="743"/>
              <a:ext cx="13" cy="7"/>
            </a:xfrm>
            <a:custGeom>
              <a:avLst/>
              <a:gdLst>
                <a:gd name="T0" fmla="*/ 0 w 13"/>
                <a:gd name="T1" fmla="*/ 7 h 7"/>
                <a:gd name="T2" fmla="*/ 7 w 13"/>
                <a:gd name="T3" fmla="*/ 0 h 7"/>
                <a:gd name="T4" fmla="*/ 7 w 13"/>
                <a:gd name="T5" fmla="*/ 0 h 7"/>
                <a:gd name="T6" fmla="*/ 13 w 13"/>
                <a:gd name="T7" fmla="*/ 7 h 7"/>
                <a:gd name="T8" fmla="*/ 7 w 13"/>
                <a:gd name="T9" fmla="*/ 7 h 7"/>
                <a:gd name="T10" fmla="*/ 0 w 13"/>
                <a:gd name="T11" fmla="*/ 7 h 7"/>
                <a:gd name="T12" fmla="*/ 0 w 13"/>
                <a:gd name="T13" fmla="*/ 7 h 7"/>
                <a:gd name="T14" fmla="*/ 0 w 13"/>
                <a:gd name="T15" fmla="*/ 7 h 7"/>
                <a:gd name="T16" fmla="*/ 0 60000 65536"/>
                <a:gd name="T17" fmla="*/ 0 60000 65536"/>
                <a:gd name="T18" fmla="*/ 0 60000 65536"/>
                <a:gd name="T19" fmla="*/ 0 60000 65536"/>
                <a:gd name="T20" fmla="*/ 0 60000 65536"/>
                <a:gd name="T21" fmla="*/ 0 60000 65536"/>
                <a:gd name="T22" fmla="*/ 0 60000 65536"/>
                <a:gd name="T23" fmla="*/ 0 60000 65536"/>
                <a:gd name="T24" fmla="*/ 0 w 13"/>
                <a:gd name="T25" fmla="*/ 0 h 7"/>
                <a:gd name="T26" fmla="*/ 13 w 13"/>
                <a:gd name="T27" fmla="*/ 7 h 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 h="7">
                  <a:moveTo>
                    <a:pt x="0" y="7"/>
                  </a:moveTo>
                  <a:lnTo>
                    <a:pt x="7" y="0"/>
                  </a:lnTo>
                  <a:lnTo>
                    <a:pt x="13" y="7"/>
                  </a:lnTo>
                  <a:lnTo>
                    <a:pt x="7" y="7"/>
                  </a:lnTo>
                  <a:lnTo>
                    <a:pt x="0" y="7"/>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121" name="Freeform 175"/>
            <p:cNvSpPr>
              <a:spLocks/>
            </p:cNvSpPr>
            <p:nvPr/>
          </p:nvSpPr>
          <p:spPr bwMode="auto">
            <a:xfrm>
              <a:off x="5096" y="743"/>
              <a:ext cx="13" cy="7"/>
            </a:xfrm>
            <a:custGeom>
              <a:avLst/>
              <a:gdLst>
                <a:gd name="T0" fmla="*/ 0 w 13"/>
                <a:gd name="T1" fmla="*/ 7 h 7"/>
                <a:gd name="T2" fmla="*/ 7 w 13"/>
                <a:gd name="T3" fmla="*/ 0 h 7"/>
                <a:gd name="T4" fmla="*/ 13 w 13"/>
                <a:gd name="T5" fmla="*/ 7 h 7"/>
                <a:gd name="T6" fmla="*/ 7 w 13"/>
                <a:gd name="T7" fmla="*/ 7 h 7"/>
                <a:gd name="T8" fmla="*/ 0 w 13"/>
                <a:gd name="T9" fmla="*/ 7 h 7"/>
                <a:gd name="T10" fmla="*/ 0 60000 65536"/>
                <a:gd name="T11" fmla="*/ 0 60000 65536"/>
                <a:gd name="T12" fmla="*/ 0 60000 65536"/>
                <a:gd name="T13" fmla="*/ 0 60000 65536"/>
                <a:gd name="T14" fmla="*/ 0 60000 65536"/>
                <a:gd name="T15" fmla="*/ 0 w 13"/>
                <a:gd name="T16" fmla="*/ 0 h 7"/>
                <a:gd name="T17" fmla="*/ 13 w 13"/>
                <a:gd name="T18" fmla="*/ 7 h 7"/>
              </a:gdLst>
              <a:ahLst/>
              <a:cxnLst>
                <a:cxn ang="T10">
                  <a:pos x="T0" y="T1"/>
                </a:cxn>
                <a:cxn ang="T11">
                  <a:pos x="T2" y="T3"/>
                </a:cxn>
                <a:cxn ang="T12">
                  <a:pos x="T4" y="T5"/>
                </a:cxn>
                <a:cxn ang="T13">
                  <a:pos x="T6" y="T7"/>
                </a:cxn>
                <a:cxn ang="T14">
                  <a:pos x="T8" y="T9"/>
                </a:cxn>
              </a:cxnLst>
              <a:rect l="T15" t="T16" r="T17" b="T18"/>
              <a:pathLst>
                <a:path w="13" h="7">
                  <a:moveTo>
                    <a:pt x="0" y="7"/>
                  </a:moveTo>
                  <a:lnTo>
                    <a:pt x="7" y="0"/>
                  </a:lnTo>
                  <a:lnTo>
                    <a:pt x="13" y="7"/>
                  </a:lnTo>
                  <a:lnTo>
                    <a:pt x="7" y="7"/>
                  </a:lnTo>
                  <a:lnTo>
                    <a:pt x="0" y="7"/>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82947" name="WordArt 176"/>
          <p:cNvSpPr>
            <a:spLocks noChangeArrowheads="1" noChangeShapeType="1" noTextEdit="1"/>
          </p:cNvSpPr>
          <p:nvPr/>
        </p:nvSpPr>
        <p:spPr bwMode="auto">
          <a:xfrm>
            <a:off x="2360613" y="1447800"/>
            <a:ext cx="4878387" cy="2393950"/>
          </a:xfrm>
          <a:prstGeom prst="rect">
            <a:avLst/>
          </a:prstGeom>
        </p:spPr>
        <p:txBody>
          <a:bodyPr wrap="none" fromWordArt="1">
            <a:prstTxWarp prst="textPlain">
              <a:avLst>
                <a:gd name="adj" fmla="val 50023"/>
              </a:avLst>
            </a:prstTxWarp>
          </a:bodyPr>
          <a:lstStyle/>
          <a:p>
            <a:pPr algn="ctr"/>
            <a:r>
              <a:rPr lang="zh-CN" altLang="en-US" sz="9600" kern="10">
                <a:ln w="19050">
                  <a:solidFill>
                    <a:srgbClr val="99CCFF"/>
                  </a:solidFill>
                  <a:round/>
                  <a:headEnd/>
                  <a:tailEnd/>
                </a:ln>
                <a:solidFill>
                  <a:srgbClr val="0066CC"/>
                </a:solidFill>
                <a:effectLst>
                  <a:outerShdw dist="107763" dir="13500000" algn="ctr" rotWithShape="0">
                    <a:srgbClr val="990000">
                      <a:alpha val="50000"/>
                    </a:srgbClr>
                  </a:outerShdw>
                </a:effectLst>
                <a:latin typeface="华文行楷" panose="02010800040101010101" pitchFamily="2" charset="-122"/>
                <a:ea typeface="华文行楷" panose="02010800040101010101" pitchFamily="2" charset="-122"/>
              </a:rPr>
              <a:t>汇报结束</a:t>
            </a:r>
          </a:p>
          <a:p>
            <a:pPr algn="ctr"/>
            <a:r>
              <a:rPr lang="zh-CN" altLang="en-US" sz="9600" kern="10">
                <a:ln w="19050">
                  <a:solidFill>
                    <a:srgbClr val="99CCFF"/>
                  </a:solidFill>
                  <a:round/>
                  <a:headEnd/>
                  <a:tailEnd/>
                </a:ln>
                <a:solidFill>
                  <a:srgbClr val="0066CC"/>
                </a:solidFill>
                <a:effectLst>
                  <a:outerShdw dist="107763" dir="13500000" algn="ctr" rotWithShape="0">
                    <a:srgbClr val="990000">
                      <a:alpha val="50000"/>
                    </a:srgbClr>
                  </a:outerShdw>
                </a:effectLst>
                <a:latin typeface="华文行楷" panose="02010800040101010101" pitchFamily="2" charset="-122"/>
                <a:ea typeface="华文行楷" panose="02010800040101010101" pitchFamily="2" charset="-122"/>
              </a:rPr>
              <a:t>请指正！</a:t>
            </a:r>
          </a:p>
        </p:txBody>
      </p:sp>
      <p:pic>
        <p:nvPicPr>
          <p:cNvPr id="82948" name="Picture 177" descr="TRD0081"/>
          <p:cNvPicPr>
            <a:picLocks noChangeAspect="1" noChangeArrowheads="1"/>
          </p:cNvPicPr>
          <p:nvPr/>
        </p:nvPicPr>
        <p:blipFill>
          <a:blip r:embed="rId3">
            <a:clrChange>
              <a:clrFrom>
                <a:srgbClr val="8C777C"/>
              </a:clrFrom>
              <a:clrTo>
                <a:srgbClr val="8C777C">
                  <a:alpha val="0"/>
                </a:srgbClr>
              </a:clrTo>
            </a:clrChange>
            <a:extLst>
              <a:ext uri="{28A0092B-C50C-407E-A947-70E740481C1C}">
                <a14:useLocalDpi xmlns:a14="http://schemas.microsoft.com/office/drawing/2010/main"/>
              </a:ext>
            </a:extLst>
          </a:blip>
          <a:srcRect/>
          <a:stretch>
            <a:fillRect/>
          </a:stretch>
        </p:blipFill>
        <p:spPr bwMode="auto">
          <a:xfrm>
            <a:off x="2051050" y="3889375"/>
            <a:ext cx="5040313" cy="199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theme/theme1.xml><?xml version="1.0" encoding="utf-8"?>
<a:theme xmlns:a="http://schemas.openxmlformats.org/drawingml/2006/main" name="1_默认设计模板">
  <a:themeElements>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9050" cap="flat" cmpd="sng" algn="ctr">
          <a:solidFill>
            <a:srgbClr val="FF0000"/>
          </a:solidFill>
          <a:prstDash val="solid"/>
          <a:round/>
          <a:headEnd type="none" w="med" len="med"/>
          <a:tailEnd type="none" w="med" len="med"/>
        </a:ln>
        <a:effectLst/>
      </a:spPr>
      <a:bodyPr vert="horz" wrap="square" lIns="0" tIns="45720" rIns="0" bIns="45720" numCol="1" anchor="t" anchorCtr="0" compatLnSpc="1">
        <a:prstTxWarp prst="textNoShape">
          <a:avLst/>
        </a:prstTxWarp>
      </a:bodyPr>
      <a:lstStyle>
        <a:defPPr marL="342900" marR="0" indent="-342900" algn="l" defTabSz="914400" rtl="0" eaLnBrk="1" fontAlgn="base" latinLnBrk="0" hangingPunct="1">
          <a:lnSpc>
            <a:spcPct val="120000"/>
          </a:lnSpc>
          <a:spcBef>
            <a:spcPct val="20000"/>
          </a:spcBef>
          <a:spcAft>
            <a:spcPct val="0"/>
          </a:spcAft>
          <a:buClrTx/>
          <a:buSzTx/>
          <a:buFontTx/>
          <a:buNone/>
          <a:tabLst/>
          <a:defRPr kumimoji="0" lang="zh-CN" altLang="en-US" sz="2400" b="0" i="0" u="none" strike="noStrike" cap="none" normalizeH="0" baseline="0" smtClean="0">
            <a:ln>
              <a:noFill/>
            </a:ln>
            <a:solidFill>
              <a:schemeClr val="tx1"/>
            </a:solidFill>
            <a:effectLst/>
            <a:latin typeface="华文中宋" pitchFamily="2" charset="-122"/>
            <a:ea typeface="华文中宋" pitchFamily="2" charset="-122"/>
          </a:defRPr>
        </a:defPPr>
      </a:lstStyle>
    </a:spDef>
    <a:lnDef>
      <a:spPr bwMode="auto">
        <a:xfrm>
          <a:off x="0" y="0"/>
          <a:ext cx="1" cy="1"/>
        </a:xfrm>
        <a:custGeom>
          <a:avLst/>
          <a:gdLst/>
          <a:ahLst/>
          <a:cxnLst/>
          <a:rect l="0" t="0" r="0" b="0"/>
          <a:pathLst/>
        </a:custGeom>
        <a:noFill/>
        <a:ln w="19050" cap="flat" cmpd="sng" algn="ctr">
          <a:solidFill>
            <a:srgbClr val="FF0000"/>
          </a:solidFill>
          <a:prstDash val="solid"/>
          <a:round/>
          <a:headEnd type="none" w="med" len="med"/>
          <a:tailEnd type="none" w="med" len="med"/>
        </a:ln>
        <a:effectLst/>
      </a:spPr>
      <a:bodyPr vert="horz" wrap="square" lIns="0" tIns="45720" rIns="0" bIns="45720" numCol="1" anchor="t" anchorCtr="0" compatLnSpc="1">
        <a:prstTxWarp prst="textNoShape">
          <a:avLst/>
        </a:prstTxWarp>
      </a:bodyPr>
      <a:lstStyle>
        <a:defPPr marL="342900" marR="0" indent="-342900" algn="l" defTabSz="914400" rtl="0" eaLnBrk="1" fontAlgn="base" latinLnBrk="0" hangingPunct="1">
          <a:lnSpc>
            <a:spcPct val="120000"/>
          </a:lnSpc>
          <a:spcBef>
            <a:spcPct val="20000"/>
          </a:spcBef>
          <a:spcAft>
            <a:spcPct val="0"/>
          </a:spcAft>
          <a:buClrTx/>
          <a:buSzTx/>
          <a:buFontTx/>
          <a:buNone/>
          <a:tabLst/>
          <a:defRPr kumimoji="0" lang="zh-CN" altLang="en-US" sz="2400" b="0" i="0" u="none" strike="noStrike" cap="none" normalizeH="0" baseline="0" smtClean="0">
            <a:ln>
              <a:noFill/>
            </a:ln>
            <a:solidFill>
              <a:schemeClr val="tx1"/>
            </a:solidFill>
            <a:effectLst/>
            <a:latin typeface="华文中宋" pitchFamily="2" charset="-122"/>
            <a:ea typeface="华文中宋" pitchFamily="2" charset="-122"/>
          </a:defRPr>
        </a:defPPr>
      </a:lstStyle>
    </a:lnDef>
  </a:objectDefaults>
  <a:extraClrSchemeLst>
    <a:extraClrScheme>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默认设计模板">
  <a:themeElements>
    <a:clrScheme name="2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文档" ma:contentTypeID="0x010100BE2BA7A3709D814AACB6C66C8DE85797" ma:contentTypeVersion="0" ma:contentTypeDescription="新建文档。" ma:contentTypeScope="" ma:versionID="ddbfc4c7d324e821162b1658c35cb8a5">
  <xsd:schema xmlns:xsd="http://www.w3.org/2001/XMLSchema" xmlns:xs="http://www.w3.org/2001/XMLSchema" xmlns:p="http://schemas.microsoft.com/office/2006/metadata/properties" targetNamespace="http://schemas.microsoft.com/office/2006/metadata/properties" ma:root="true" ma:fieldsID="5a76fa9dab7b61420f74989603208ec3">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内容类型"/>
        <xsd:element ref="dc:title" minOccurs="0" maxOccurs="1" ma:index="4" ma:displayName="标题"/>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62999BF-2613-42D8-9F05-3C78D970871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0EBFDF72-3F68-48DE-9FE0-CBE06B6CF233}">
  <ds:schemaRefs>
    <ds:schemaRef ds:uri="http://purl.org/dc/dcmitype/"/>
    <ds:schemaRef ds:uri="http://schemas.openxmlformats.org/package/2006/metadata/core-properties"/>
    <ds:schemaRef ds:uri="http://purl.org/dc/elements/1.1/"/>
    <ds:schemaRef ds:uri="http://schemas.microsoft.com/office/2006/metadata/properties"/>
    <ds:schemaRef ds:uri="http://purl.org/dc/terms/"/>
    <ds:schemaRef ds:uri="http://schemas.microsoft.com/office/2006/documentManagement/types"/>
    <ds:schemaRef ds:uri="http://www.w3.org/XML/1998/namespace"/>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59678</TotalTime>
  <Words>1212</Words>
  <Application>Microsoft Office PowerPoint</Application>
  <PresentationFormat>全屏显示(4:3)</PresentationFormat>
  <Paragraphs>262</Paragraphs>
  <Slides>20</Slides>
  <Notes>6</Notes>
  <HiddenSlides>0</HiddenSlides>
  <MMClips>0</MMClips>
  <ScaleCrop>false</ScaleCrop>
  <HeadingPairs>
    <vt:vector size="8" baseType="variant">
      <vt:variant>
        <vt:lpstr>已用的字体</vt:lpstr>
      </vt:variant>
      <vt:variant>
        <vt:i4>9</vt:i4>
      </vt:variant>
      <vt:variant>
        <vt:lpstr>主题</vt:lpstr>
      </vt:variant>
      <vt:variant>
        <vt:i4>2</vt:i4>
      </vt:variant>
      <vt:variant>
        <vt:lpstr>嵌入 OLE 服务器</vt:lpstr>
      </vt:variant>
      <vt:variant>
        <vt:i4>2</vt:i4>
      </vt:variant>
      <vt:variant>
        <vt:lpstr>幻灯片标题</vt:lpstr>
      </vt:variant>
      <vt:variant>
        <vt:i4>20</vt:i4>
      </vt:variant>
    </vt:vector>
  </HeadingPairs>
  <TitlesOfParts>
    <vt:vector size="33" baseType="lpstr">
      <vt:lpstr>黑体</vt:lpstr>
      <vt:lpstr>华文新魏</vt:lpstr>
      <vt:lpstr>华文行楷</vt:lpstr>
      <vt:lpstr>华文中宋</vt:lpstr>
      <vt:lpstr>宋体</vt:lpstr>
      <vt:lpstr>微软雅黑</vt:lpstr>
      <vt:lpstr>Arial</vt:lpstr>
      <vt:lpstr>Cambria Math</vt:lpstr>
      <vt:lpstr>Times New Roman</vt:lpstr>
      <vt:lpstr>1_默认设计模板</vt:lpstr>
      <vt:lpstr>2_默认设计模板</vt:lpstr>
      <vt:lpstr>Graph</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cesar david</cp:lastModifiedBy>
  <cp:revision>3513</cp:revision>
  <cp:lastPrinted>1601-01-01T00:00:00Z</cp:lastPrinted>
  <dcterms:created xsi:type="dcterms:W3CDTF">1601-01-01T00:00:00Z</dcterms:created>
  <dcterms:modified xsi:type="dcterms:W3CDTF">2021-04-13T09:57:51Z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